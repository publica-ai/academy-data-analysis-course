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Inter" charset="1" panose="02000503000000020004"/>
      <p:regular r:id="rId29"/>
    </p:embeddedFont>
    <p:embeddedFont>
      <p:font typeface="Inter Medium" charset="1" panose="02000503000000020004"/>
      <p:regular r:id="rId30"/>
    </p:embeddedFont>
    <p:embeddedFont>
      <p:font typeface="Poppins Bold" charset="1" panose="00000800000000000000"/>
      <p:regular r:id="rId31"/>
    </p:embeddedFont>
    <p:embeddedFont>
      <p:font typeface="Poppins" charset="1" panose="00000500000000000000"/>
      <p:regular r:id="rId33"/>
    </p:embeddedFont>
    <p:embeddedFont>
      <p:font typeface="Poppins Italics" charset="1" panose="00000500000000000000"/>
      <p:regular r:id="rId35"/>
    </p:embeddedFont>
    <p:embeddedFont>
      <p:font typeface="Roboto Mono" charset="1" panose="00000000000000000000"/>
      <p:regular r:id="rId40"/>
    </p:embeddedFont>
    <p:embeddedFont>
      <p:font typeface="Roboto Mono Bold" charset="1" panose="00000000000000000000"/>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notesMaster" Target="notesMasters/notesMaster1.xml"/><Relationship Id="rId27" Type="http://schemas.openxmlformats.org/officeDocument/2006/relationships/theme" Target="theme/theme2.xml"/><Relationship Id="rId28" Type="http://schemas.openxmlformats.org/officeDocument/2006/relationships/notesSlide" Target="notesSlides/notesSlide1.xml"/><Relationship Id="rId29" Type="http://schemas.openxmlformats.org/officeDocument/2006/relationships/font" Target="fonts/font29.fntdata"/><Relationship Id="rId30" Type="http://schemas.openxmlformats.org/officeDocument/2006/relationships/font" Target="fonts/font30.fntdata"/><Relationship Id="rId31" Type="http://schemas.openxmlformats.org/officeDocument/2006/relationships/font" Target="fonts/font31.fntdata"/><Relationship Id="rId32" Type="http://schemas.openxmlformats.org/officeDocument/2006/relationships/notesSlide" Target="notesSlides/notesSlide2.xml"/><Relationship Id="rId33" Type="http://schemas.openxmlformats.org/officeDocument/2006/relationships/font" Target="fonts/font33.fntdata"/><Relationship Id="rId34" Type="http://schemas.openxmlformats.org/officeDocument/2006/relationships/notesSlide" Target="notesSlides/notesSlide3.xml"/><Relationship Id="rId35" Type="http://schemas.openxmlformats.org/officeDocument/2006/relationships/font" Target="fonts/font35.fntdata"/><Relationship Id="rId36" Type="http://schemas.openxmlformats.org/officeDocument/2006/relationships/notesSlide" Target="notesSlides/notesSlide4.xml"/><Relationship Id="rId37" Type="http://schemas.openxmlformats.org/officeDocument/2006/relationships/notesSlide" Target="notesSlides/notesSlide5.xml"/><Relationship Id="rId38" Type="http://schemas.openxmlformats.org/officeDocument/2006/relationships/notesSlide" Target="notesSlides/notesSlide6.xml"/><Relationship Id="rId39" Type="http://schemas.openxmlformats.org/officeDocument/2006/relationships/notesSlide" Target="notesSlides/notesSlide7.xml"/><Relationship Id="rId40" Type="http://schemas.openxmlformats.org/officeDocument/2006/relationships/font" Target="fonts/font40.fntdata"/><Relationship Id="rId41" Type="http://schemas.openxmlformats.org/officeDocument/2006/relationships/notesSlide" Target="notesSlides/notesSlide8.xml"/><Relationship Id="rId42" Type="http://schemas.openxmlformats.org/officeDocument/2006/relationships/notesSlide" Target="notesSlides/notesSlide9.xml"/><Relationship Id="rId43" Type="http://schemas.openxmlformats.org/officeDocument/2006/relationships/notesSlide" Target="notesSlides/notesSlide10.xml"/><Relationship Id="rId44" Type="http://schemas.openxmlformats.org/officeDocument/2006/relationships/notesSlide" Target="notesSlides/notesSlide11.xml"/><Relationship Id="rId45" Type="http://schemas.openxmlformats.org/officeDocument/2006/relationships/font" Target="fonts/font45.fntdata"/><Relationship Id="rId46" Type="http://schemas.openxmlformats.org/officeDocument/2006/relationships/notesSlide" Target="notesSlides/notesSlide12.xml"/><Relationship Id="rId47" Type="http://schemas.openxmlformats.org/officeDocument/2006/relationships/notesSlide" Target="notesSlides/notesSlide13.xml"/><Relationship Id="rId48" Type="http://schemas.openxmlformats.org/officeDocument/2006/relationships/notesSlide" Target="notesSlides/notesSlide14.xml"/><Relationship Id="rId49" Type="http://schemas.openxmlformats.org/officeDocument/2006/relationships/notesSlide" Target="notesSlides/notesSlide15.xml"/><Relationship Id="rId50" Type="http://schemas.openxmlformats.org/officeDocument/2006/relationships/notesSlide" Target="notesSlides/notesSlide16.xml"/><Relationship Id="rId51" Type="http://schemas.openxmlformats.org/officeDocument/2006/relationships/notesSlide" Target="notesSlides/notesSlide17.xml"/><Relationship Id="rId52" Type="http://schemas.openxmlformats.org/officeDocument/2006/relationships/notesSlide" Target="notesSlides/notesSlide18.xml"/><Relationship Id="rId53" Type="http://schemas.openxmlformats.org/officeDocument/2006/relationships/notesSlide" Target="notesSlides/notesSlide19.xml"/><Relationship Id="rId54" Type="http://schemas.openxmlformats.org/officeDocument/2006/relationships/notesSlide" Target="notesSlides/not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IDEA THIS SLIDE DELIVERS: there is a difference between producing an analysis and producing a product, and this module is about the second one.</a:t>
            </a:r>
          </a:p>
          <a:p>
            <a:r>
              <a:rPr lang="en-US"/>
              <a:t/>
            </a:r>
          </a:p>
          <a:p>
            <a:r>
              <a:rPr lang="en-US"/>
              <a:t>Everything trainees have built so far has been an analysis: a one-off answer to a one-off question. Business intelligence produces something different. Adaeze opens it herself, filters it herself, drills in herself. You are not in the room and it keeps working.</a:t>
            </a:r>
          </a:p>
          <a:p>
            <a:r>
              <a:rPr lang="en-US"/>
              <a:t/>
            </a:r>
          </a:p>
          <a:p>
            <a:r>
              <a:rPr lang="en-US"/>
              <a:t>WHAT TO SAY (about three minutes):</a:t>
            </a:r>
          </a:p>
          <a:p>
            <a:r>
              <a:rPr lang="en-US"/>
              <a:t>"I want to introduce you to someone you are going to spend two modules with. Adaeze Nwosu is the operations manager at SwiftRoute Logistics, a last-mile delivery company running out of Lagos into Ogun and Oyo.</a:t>
            </a:r>
          </a:p>
          <a:p>
            <a:r>
              <a:rPr lang="en-US"/>
              <a:t/>
            </a:r>
          </a:p>
          <a:p>
            <a:r>
              <a:rPr lang="en-US"/>
              <a:t>Every morning, before her riders dispatch, she opens one screen and answers three questions. Which routes slipped yesterday. Which riders are carrying the load. And whether the month is still on track against the promise she made her clients, which is that ninety percent of deliveries arrive inside the window.</a:t>
            </a:r>
          </a:p>
          <a:p>
            <a:r>
              <a:rPr lang="en-US"/>
              <a:t/>
            </a:r>
          </a:p>
          <a:p>
            <a:r>
              <a:rPr lang="en-US"/>
              <a:t>Notice what she does not do. She does not open Excel. She does not write SQL. She does not ring an analyst. Somebody built her a product, and it refreshes itself overnight."</a:t>
            </a:r>
          </a:p>
          <a:p>
            <a:r>
              <a:rPr lang="en-US"/>
              <a:t/>
            </a:r>
          </a:p>
          <a:p>
            <a:r>
              <a:rPr lang="en-US"/>
              <a:t>THE QUESTION TO ASK: "Has anyone here ever been asked the same question three weeks in a row?" Most hands go up. Take one story briefly. It makes the problem personal before you offer the solution.</a:t>
            </a:r>
          </a:p>
          <a:p>
            <a:r>
              <a:rPr lang="en-US"/>
              <a:t/>
            </a:r>
          </a:p>
          <a:p>
            <a:r>
              <a:rPr lang="en-US"/>
              <a:t>ON THE DISCLAIMER: read it aloud. It models the programme's responsible-data standard and sets up Topic 7.6, where trainees apply the same rule to their own capstone dataset.</a:t>
            </a:r>
          </a:p>
          <a:p>
            <a:r>
              <a:rPr lang="en-US"/>
              <a:t/>
            </a:r>
          </a:p>
          <a:p>
            <a:r>
              <a:rPr lang="en-US"/>
              <a:t>TIMING: 3 minutes.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jpe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jpeg"/><Relationship Id="rId10"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8.png"/><Relationship Id="rId7" Type="http://schemas.openxmlformats.org/officeDocument/2006/relationships/image" Target="../media/image4.jpeg"/><Relationship Id="rId8" Type="http://schemas.openxmlformats.org/officeDocument/2006/relationships/image" Target="../media/image12.png"/><Relationship Id="rId9" Type="http://schemas.openxmlformats.org/officeDocument/2006/relationships/image" Target="../media/image1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12.png"/><Relationship Id="rId7" Type="http://schemas.openxmlformats.org/officeDocument/2006/relationships/image" Target="../media/image13.svg"/><Relationship Id="rId8" Type="http://schemas.openxmlformats.org/officeDocument/2006/relationships/image" Target="../media/image8.png"/><Relationship Id="rId9"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8.png"/><Relationship Id="rId7" Type="http://schemas.openxmlformats.org/officeDocument/2006/relationships/image" Target="../media/image4.jpeg"/><Relationship Id="rId8" Type="http://schemas.openxmlformats.org/officeDocument/2006/relationships/image" Target="../media/image12.png"/><Relationship Id="rId9" Type="http://schemas.openxmlformats.org/officeDocument/2006/relationships/image" Target="../media/image1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12.png"/><Relationship Id="rId7" Type="http://schemas.openxmlformats.org/officeDocument/2006/relationships/image" Target="../media/image13.svg"/><Relationship Id="rId8" Type="http://schemas.openxmlformats.org/officeDocument/2006/relationships/image" Target="../media/image8.png"/><Relationship Id="rId9"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8.png"/><Relationship Id="rId7" Type="http://schemas.openxmlformats.org/officeDocument/2006/relationships/image" Target="../media/image4.jpeg"/><Relationship Id="rId8" Type="http://schemas.openxmlformats.org/officeDocument/2006/relationships/image" Target="../media/image12.png"/><Relationship Id="rId9" Type="http://schemas.openxmlformats.org/officeDocument/2006/relationships/image" Target="../media/image13.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8.png"/><Relationship Id="rId7" Type="http://schemas.openxmlformats.org/officeDocument/2006/relationships/image" Target="../media/image4.jpeg"/><Relationship Id="rId8" Type="http://schemas.openxmlformats.org/officeDocument/2006/relationships/image" Target="../media/image12.png"/><Relationship Id="rId9" Type="http://schemas.openxmlformats.org/officeDocument/2006/relationships/image" Target="../media/image13.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12.png"/><Relationship Id="rId7" Type="http://schemas.openxmlformats.org/officeDocument/2006/relationships/image" Target="../media/image13.svg"/><Relationship Id="rId8" Type="http://schemas.openxmlformats.org/officeDocument/2006/relationships/image" Target="../media/image8.png"/><Relationship Id="rId9"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4.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12.png"/><Relationship Id="rId7" Type="http://schemas.openxmlformats.org/officeDocument/2006/relationships/image" Target="../media/image13.svg"/><Relationship Id="rId8" Type="http://schemas.openxmlformats.org/officeDocument/2006/relationships/image" Target="../media/image8.png"/><Relationship Id="rId9" Type="http://schemas.openxmlformats.org/officeDocument/2006/relationships/image" Target="../media/image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4.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4.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4.jpeg"/><Relationship Id="rId10"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4.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1430000" y="0"/>
            <a:ext cx="2286000" cy="1907553"/>
            <a:chOff x="0" y="0"/>
            <a:chExt cx="3048000" cy="2543404"/>
          </a:xfrm>
        </p:grpSpPr>
        <p:sp>
          <p:nvSpPr>
            <p:cNvPr name="Freeform 4" id="4"/>
            <p:cNvSpPr/>
            <p:nvPr/>
          </p:nvSpPr>
          <p:spPr>
            <a:xfrm flipH="false" flipV="false" rot="0">
              <a:off x="0" y="0"/>
              <a:ext cx="3048000" cy="2543429"/>
            </a:xfrm>
            <a:custGeom>
              <a:avLst/>
              <a:gdLst/>
              <a:ahLst/>
              <a:cxnLst/>
              <a:rect r="r" b="b" t="t" l="l"/>
              <a:pathLst>
                <a:path h="2543429" w="3048000">
                  <a:moveTo>
                    <a:pt x="0" y="0"/>
                  </a:moveTo>
                  <a:lnTo>
                    <a:pt x="3048000" y="0"/>
                  </a:lnTo>
                  <a:lnTo>
                    <a:pt x="3048000" y="2543429"/>
                  </a:lnTo>
                  <a:lnTo>
                    <a:pt x="0" y="2543429"/>
                  </a:lnTo>
                  <a:lnTo>
                    <a:pt x="0" y="0"/>
                  </a:lnTo>
                  <a:close/>
                </a:path>
              </a:pathLst>
            </a:custGeom>
            <a:blipFill>
              <a:blip r:embed="rId4"/>
              <a:stretch>
                <a:fillRect l="0" t="0" r="-8" b="1"/>
              </a:stretch>
            </a:blipFill>
          </p:spPr>
        </p:sp>
      </p:grpSp>
      <p:grpSp>
        <p:nvGrpSpPr>
          <p:cNvPr name="Group 5" id="5"/>
          <p:cNvGrpSpPr/>
          <p:nvPr/>
        </p:nvGrpSpPr>
        <p:grpSpPr>
          <a:xfrm rot="0">
            <a:off x="15001875" y="714375"/>
            <a:ext cx="2857500" cy="2857500"/>
            <a:chOff x="0" y="0"/>
            <a:chExt cx="3810000" cy="3810000"/>
          </a:xfrm>
        </p:grpSpPr>
        <p:sp>
          <p:nvSpPr>
            <p:cNvPr name="Freeform 6" id="6"/>
            <p:cNvSpPr/>
            <p:nvPr/>
          </p:nvSpPr>
          <p:spPr>
            <a:xfrm flipH="false" flipV="false" rot="0">
              <a:off x="0" y="0"/>
              <a:ext cx="3810000" cy="3810000"/>
            </a:xfrm>
            <a:custGeom>
              <a:avLst/>
              <a:gdLst/>
              <a:ahLst/>
              <a:cxnLst/>
              <a:rect r="r" b="b" t="t" l="l"/>
              <a:pathLst>
                <a:path h="3810000" w="3810000">
                  <a:moveTo>
                    <a:pt x="0" y="1905000"/>
                  </a:moveTo>
                  <a:cubicBezTo>
                    <a:pt x="0" y="852932"/>
                    <a:pt x="852932" y="0"/>
                    <a:pt x="1905000" y="0"/>
                  </a:cubicBezTo>
                  <a:cubicBezTo>
                    <a:pt x="2957068" y="0"/>
                    <a:pt x="3810000" y="852932"/>
                    <a:pt x="3810000" y="1905000"/>
                  </a:cubicBezTo>
                  <a:cubicBezTo>
                    <a:pt x="3810000" y="2957068"/>
                    <a:pt x="2957068" y="3810000"/>
                    <a:pt x="1905000" y="3810000"/>
                  </a:cubicBezTo>
                  <a:cubicBezTo>
                    <a:pt x="852932" y="3810000"/>
                    <a:pt x="0" y="2957068"/>
                    <a:pt x="0" y="1905000"/>
                  </a:cubicBezTo>
                  <a:close/>
                </a:path>
              </a:pathLst>
            </a:custGeom>
            <a:solidFill>
              <a:srgbClr val="387F7F">
                <a:alpha val="0"/>
              </a:srgbClr>
            </a:solidFill>
          </p:spPr>
        </p:sp>
      </p:grpSp>
      <p:grpSp>
        <p:nvGrpSpPr>
          <p:cNvPr name="Group 7" id="7"/>
          <p:cNvGrpSpPr/>
          <p:nvPr/>
        </p:nvGrpSpPr>
        <p:grpSpPr>
          <a:xfrm rot="0">
            <a:off x="0" y="6429375"/>
            <a:ext cx="1907553" cy="1286104"/>
            <a:chOff x="0" y="0"/>
            <a:chExt cx="2543404" cy="1714805"/>
          </a:xfrm>
        </p:grpSpPr>
        <p:sp>
          <p:nvSpPr>
            <p:cNvPr name="Freeform 8" id="8"/>
            <p:cNvSpPr/>
            <p:nvPr/>
          </p:nvSpPr>
          <p:spPr>
            <a:xfrm flipH="false" flipV="false" rot="0">
              <a:off x="0" y="0"/>
              <a:ext cx="2543429" cy="1714754"/>
            </a:xfrm>
            <a:custGeom>
              <a:avLst/>
              <a:gdLst/>
              <a:ahLst/>
              <a:cxnLst/>
              <a:rect r="r" b="b" t="t" l="l"/>
              <a:pathLst>
                <a:path h="1714754" w="2543429">
                  <a:moveTo>
                    <a:pt x="0" y="0"/>
                  </a:moveTo>
                  <a:lnTo>
                    <a:pt x="2543429" y="0"/>
                  </a:lnTo>
                  <a:lnTo>
                    <a:pt x="2543429" y="1714754"/>
                  </a:lnTo>
                  <a:lnTo>
                    <a:pt x="0" y="1714754"/>
                  </a:lnTo>
                  <a:lnTo>
                    <a:pt x="0" y="0"/>
                  </a:lnTo>
                  <a:close/>
                </a:path>
              </a:pathLst>
            </a:custGeom>
            <a:blipFill>
              <a:blip r:embed="rId5"/>
              <a:stretch>
                <a:fillRect l="0" t="0" r="-7" b="-2"/>
              </a:stretch>
            </a:blipFill>
          </p:spPr>
        </p:sp>
      </p:grpSp>
      <p:grpSp>
        <p:nvGrpSpPr>
          <p:cNvPr name="Group 9" id="9"/>
          <p:cNvGrpSpPr/>
          <p:nvPr/>
        </p:nvGrpSpPr>
        <p:grpSpPr>
          <a:xfrm rot="0">
            <a:off x="1143000" y="2828906"/>
            <a:ext cx="16002000" cy="438950"/>
            <a:chOff x="0" y="0"/>
            <a:chExt cx="21336000" cy="585267"/>
          </a:xfrm>
        </p:grpSpPr>
        <p:sp>
          <p:nvSpPr>
            <p:cNvPr name="Freeform 10" id="10"/>
            <p:cNvSpPr/>
            <p:nvPr/>
          </p:nvSpPr>
          <p:spPr>
            <a:xfrm flipH="false" flipV="false" rot="0">
              <a:off x="0" y="0"/>
              <a:ext cx="21336000" cy="585270"/>
            </a:xfrm>
            <a:custGeom>
              <a:avLst/>
              <a:gdLst/>
              <a:ahLst/>
              <a:cxnLst/>
              <a:rect r="r" b="b" t="t" l="l"/>
              <a:pathLst>
                <a:path h="585270" w="21336000">
                  <a:moveTo>
                    <a:pt x="0" y="0"/>
                  </a:moveTo>
                  <a:lnTo>
                    <a:pt x="21336000" y="0"/>
                  </a:lnTo>
                  <a:lnTo>
                    <a:pt x="21336000" y="585270"/>
                  </a:lnTo>
                  <a:lnTo>
                    <a:pt x="0" y="585270"/>
                  </a:lnTo>
                  <a:close/>
                </a:path>
              </a:pathLst>
            </a:custGeom>
            <a:blipFill>
              <a:blip r:embed="rId6">
                <a:alphaModFix amt="0"/>
              </a:blip>
              <a:stretch>
                <a:fillRect l="0" t="-673523" r="0" b="-647129"/>
              </a:stretch>
            </a:blipFill>
          </p:spPr>
        </p:sp>
        <p:sp>
          <p:nvSpPr>
            <p:cNvPr name="TextBox 11" id="11"/>
            <p:cNvSpPr txBox="true"/>
            <p:nvPr/>
          </p:nvSpPr>
          <p:spPr>
            <a:xfrm>
              <a:off x="0" y="0"/>
              <a:ext cx="21336000" cy="585267"/>
            </a:xfrm>
            <a:prstGeom prst="rect">
              <a:avLst/>
            </a:prstGeom>
          </p:spPr>
          <p:txBody>
            <a:bodyPr anchor="ctr" rtlCol="false" tIns="0" lIns="0" bIns="0" rIns="0"/>
            <a:lstStyle/>
            <a:p>
              <a:pPr algn="l">
                <a:lnSpc>
                  <a:spcPts val="2520"/>
                </a:lnSpc>
              </a:pPr>
              <a:r>
                <a:rPr lang="en-US" sz="2100">
                  <a:solidFill>
                    <a:srgbClr val="387F7F"/>
                  </a:solidFill>
                  <a:latin typeface="Inter"/>
                  <a:ea typeface="Inter"/>
                  <a:cs typeface="Inter"/>
                  <a:sym typeface="Inter"/>
                </a:rPr>
                <a:t>BU</a:t>
              </a:r>
              <a:r>
                <a:rPr lang="en-US" sz="2100">
                  <a:solidFill>
                    <a:srgbClr val="387F7F"/>
                  </a:solidFill>
                  <a:latin typeface="Inter"/>
                  <a:ea typeface="Inter"/>
                  <a:cs typeface="Inter"/>
                  <a:sym typeface="Inter"/>
                </a:rPr>
                <a:t>SINESS INTELLIGENCE WITH POWER BI</a:t>
              </a:r>
            </a:p>
          </p:txBody>
        </p:sp>
      </p:grpSp>
      <p:grpSp>
        <p:nvGrpSpPr>
          <p:cNvPr name="Group 12" id="12"/>
          <p:cNvGrpSpPr/>
          <p:nvPr/>
        </p:nvGrpSpPr>
        <p:grpSpPr>
          <a:xfrm rot="0">
            <a:off x="1143000" y="3349571"/>
            <a:ext cx="16002000" cy="675680"/>
            <a:chOff x="0" y="0"/>
            <a:chExt cx="21336000" cy="900906"/>
          </a:xfrm>
        </p:grpSpPr>
        <p:sp>
          <p:nvSpPr>
            <p:cNvPr name="Freeform 13" id="13"/>
            <p:cNvSpPr/>
            <p:nvPr/>
          </p:nvSpPr>
          <p:spPr>
            <a:xfrm flipH="false" flipV="false" rot="0">
              <a:off x="0" y="0"/>
              <a:ext cx="21336000" cy="900899"/>
            </a:xfrm>
            <a:custGeom>
              <a:avLst/>
              <a:gdLst/>
              <a:ahLst/>
              <a:cxnLst/>
              <a:rect r="r" b="b" t="t" l="l"/>
              <a:pathLst>
                <a:path h="900899" w="21336000">
                  <a:moveTo>
                    <a:pt x="0" y="0"/>
                  </a:moveTo>
                  <a:lnTo>
                    <a:pt x="21336000" y="0"/>
                  </a:lnTo>
                  <a:lnTo>
                    <a:pt x="21336000" y="900899"/>
                  </a:lnTo>
                  <a:lnTo>
                    <a:pt x="0" y="900899"/>
                  </a:lnTo>
                  <a:close/>
                </a:path>
              </a:pathLst>
            </a:custGeom>
            <a:blipFill>
              <a:blip r:embed="rId6">
                <a:alphaModFix amt="0"/>
              </a:blip>
              <a:stretch>
                <a:fillRect l="0" t="-423868" r="0" b="-399060"/>
              </a:stretch>
            </a:blipFill>
          </p:spPr>
        </p:sp>
        <p:sp>
          <p:nvSpPr>
            <p:cNvPr name="TextBox 14" id="14"/>
            <p:cNvSpPr txBox="true"/>
            <p:nvPr/>
          </p:nvSpPr>
          <p:spPr>
            <a:xfrm>
              <a:off x="0" y="0"/>
              <a:ext cx="21336000" cy="900906"/>
            </a:xfrm>
            <a:prstGeom prst="rect">
              <a:avLst/>
            </a:prstGeom>
          </p:spPr>
          <p:txBody>
            <a:bodyPr anchor="ctr" rtlCol="false" tIns="0" lIns="0" bIns="0" rIns="0"/>
            <a:lstStyle/>
            <a:p>
              <a:pPr algn="l">
                <a:lnSpc>
                  <a:spcPts val="3840"/>
                </a:lnSpc>
              </a:pPr>
              <a:r>
                <a:rPr lang="en-US" b="true" sz="3200">
                  <a:solidFill>
                    <a:srgbClr val="64748B"/>
                  </a:solidFill>
                  <a:latin typeface="Inter Medium"/>
                  <a:ea typeface="Inter Medium"/>
                  <a:cs typeface="Inter Medium"/>
                  <a:sym typeface="Inter Medium"/>
                </a:rPr>
                <a:t>Module 7: Loading, Modelling and Dashboards</a:t>
              </a:r>
            </a:p>
          </p:txBody>
        </p:sp>
      </p:grpSp>
      <p:grpSp>
        <p:nvGrpSpPr>
          <p:cNvPr name="Group 15" id="15"/>
          <p:cNvGrpSpPr/>
          <p:nvPr/>
        </p:nvGrpSpPr>
        <p:grpSpPr>
          <a:xfrm rot="0">
            <a:off x="1143000" y="8572500"/>
            <a:ext cx="16002000" cy="28804"/>
            <a:chOff x="0" y="0"/>
            <a:chExt cx="21336000" cy="38405"/>
          </a:xfrm>
        </p:grpSpPr>
        <p:sp>
          <p:nvSpPr>
            <p:cNvPr name="Freeform 16" id="16"/>
            <p:cNvSpPr/>
            <p:nvPr/>
          </p:nvSpPr>
          <p:spPr>
            <a:xfrm flipH="false" flipV="false" rot="0">
              <a:off x="0" y="0"/>
              <a:ext cx="21336000" cy="38354"/>
            </a:xfrm>
            <a:custGeom>
              <a:avLst/>
              <a:gdLst/>
              <a:ahLst/>
              <a:cxnLst/>
              <a:rect r="r" b="b" t="t" l="l"/>
              <a:pathLst>
                <a:path h="38354" w="21336000">
                  <a:moveTo>
                    <a:pt x="0" y="0"/>
                  </a:moveTo>
                  <a:lnTo>
                    <a:pt x="21336000" y="0"/>
                  </a:lnTo>
                  <a:lnTo>
                    <a:pt x="21336000" y="38354"/>
                  </a:lnTo>
                  <a:lnTo>
                    <a:pt x="0" y="38354"/>
                  </a:lnTo>
                  <a:close/>
                </a:path>
              </a:pathLst>
            </a:custGeom>
            <a:solidFill>
              <a:srgbClr val="E2E8F0"/>
            </a:solidFill>
          </p:spPr>
        </p:sp>
      </p:grpSp>
      <p:grpSp>
        <p:nvGrpSpPr>
          <p:cNvPr name="Group 17" id="17"/>
          <p:cNvGrpSpPr/>
          <p:nvPr/>
        </p:nvGrpSpPr>
        <p:grpSpPr>
          <a:xfrm rot="0">
            <a:off x="1143000" y="9001125"/>
            <a:ext cx="385648" cy="342900"/>
            <a:chOff x="0" y="0"/>
            <a:chExt cx="514198" cy="457200"/>
          </a:xfrm>
        </p:grpSpPr>
        <p:sp>
          <p:nvSpPr>
            <p:cNvPr name="Freeform 18" id="18"/>
            <p:cNvSpPr/>
            <p:nvPr/>
          </p:nvSpPr>
          <p:spPr>
            <a:xfrm flipH="false" flipV="false" rot="0">
              <a:off x="0" y="0"/>
              <a:ext cx="514223" cy="457200"/>
            </a:xfrm>
            <a:custGeom>
              <a:avLst/>
              <a:gdLst/>
              <a:ahLst/>
              <a:cxnLst/>
              <a:rect r="r" b="b" t="t" l="l"/>
              <a:pathLst>
                <a:path h="457200" w="514223">
                  <a:moveTo>
                    <a:pt x="0" y="0"/>
                  </a:moveTo>
                  <a:lnTo>
                    <a:pt x="514223" y="0"/>
                  </a:lnTo>
                  <a:lnTo>
                    <a:pt x="514223" y="457200"/>
                  </a:lnTo>
                  <a:lnTo>
                    <a:pt x="0" y="457200"/>
                  </a:lnTo>
                  <a:lnTo>
                    <a:pt x="0" y="0"/>
                  </a:lnTo>
                  <a:close/>
                </a:path>
              </a:pathLst>
            </a:custGeom>
            <a:blipFill>
              <a:blip r:embed="rId7"/>
              <a:stretch>
                <a:fillRect l="0" t="0" r="-24" b="0"/>
              </a:stretch>
            </a:blipFill>
          </p:spPr>
        </p:sp>
      </p:grpSp>
      <p:grpSp>
        <p:nvGrpSpPr>
          <p:cNvPr name="Group 19" id="19"/>
          <p:cNvGrpSpPr/>
          <p:nvPr/>
        </p:nvGrpSpPr>
        <p:grpSpPr>
          <a:xfrm rot="0">
            <a:off x="1643062" y="9001125"/>
            <a:ext cx="2143354" cy="438950"/>
            <a:chOff x="0" y="0"/>
            <a:chExt cx="2857805" cy="585267"/>
          </a:xfrm>
        </p:grpSpPr>
        <p:sp>
          <p:nvSpPr>
            <p:cNvPr name="Freeform 20" id="20"/>
            <p:cNvSpPr/>
            <p:nvPr/>
          </p:nvSpPr>
          <p:spPr>
            <a:xfrm flipH="false" flipV="false" rot="0">
              <a:off x="0" y="0"/>
              <a:ext cx="2857800" cy="585270"/>
            </a:xfrm>
            <a:custGeom>
              <a:avLst/>
              <a:gdLst/>
              <a:ahLst/>
              <a:cxnLst/>
              <a:rect r="r" b="b" t="t" l="l"/>
              <a:pathLst>
                <a:path h="585270" w="2857800">
                  <a:moveTo>
                    <a:pt x="0" y="0"/>
                  </a:moveTo>
                  <a:lnTo>
                    <a:pt x="2857800" y="0"/>
                  </a:lnTo>
                  <a:lnTo>
                    <a:pt x="2857800" y="585270"/>
                  </a:lnTo>
                  <a:lnTo>
                    <a:pt x="0" y="585270"/>
                  </a:lnTo>
                  <a:close/>
                </a:path>
              </a:pathLst>
            </a:custGeom>
            <a:blipFill>
              <a:blip r:embed="rId6">
                <a:alphaModFix amt="0"/>
              </a:blip>
              <a:stretch>
                <a:fillRect l="0" t="-58339" r="0" b="-31946"/>
              </a:stretch>
            </a:blipFill>
          </p:spPr>
        </p:sp>
        <p:sp>
          <p:nvSpPr>
            <p:cNvPr name="TextBox 21" id="21"/>
            <p:cNvSpPr txBox="true"/>
            <p:nvPr/>
          </p:nvSpPr>
          <p:spPr>
            <a:xfrm>
              <a:off x="0" y="0"/>
              <a:ext cx="2857805" cy="585267"/>
            </a:xfrm>
            <a:prstGeom prst="rect">
              <a:avLst/>
            </a:prstGeom>
          </p:spPr>
          <p:txBody>
            <a:bodyPr anchor="ctr" rtlCol="false" tIns="0" lIns="0" bIns="0" rIns="0"/>
            <a:lstStyle/>
            <a:p>
              <a:pPr algn="l">
                <a:lnSpc>
                  <a:spcPts val="2520"/>
                </a:lnSpc>
              </a:pPr>
              <a:r>
                <a:rPr lang="en-US" sz="2100">
                  <a:solidFill>
                    <a:srgbClr val="64748B"/>
                  </a:solidFill>
                  <a:latin typeface="Inter"/>
                  <a:ea typeface="Inter"/>
                  <a:cs typeface="Inter"/>
                  <a:sym typeface="Inter"/>
                </a:rPr>
                <a:t>Topic 3 of 6</a:t>
              </a:r>
            </a:p>
          </p:txBody>
        </p:sp>
      </p:grpSp>
      <p:sp>
        <p:nvSpPr>
          <p:cNvPr name="Freeform 22" id="22"/>
          <p:cNvSpPr/>
          <p:nvPr/>
        </p:nvSpPr>
        <p:spPr>
          <a:xfrm flipH="false" flipV="false" rot="0">
            <a:off x="1143000" y="552450"/>
            <a:ext cx="2124669" cy="1845806"/>
          </a:xfrm>
          <a:custGeom>
            <a:avLst/>
            <a:gdLst/>
            <a:ahLst/>
            <a:cxnLst/>
            <a:rect r="r" b="b" t="t" l="l"/>
            <a:pathLst>
              <a:path h="1845806" w="2124669">
                <a:moveTo>
                  <a:pt x="0" y="0"/>
                </a:moveTo>
                <a:lnTo>
                  <a:pt x="2124669" y="0"/>
                </a:lnTo>
                <a:lnTo>
                  <a:pt x="2124669" y="1845806"/>
                </a:lnTo>
                <a:lnTo>
                  <a:pt x="0" y="1845806"/>
                </a:lnTo>
                <a:lnTo>
                  <a:pt x="0" y="0"/>
                </a:lnTo>
                <a:close/>
              </a:path>
            </a:pathLst>
          </a:custGeom>
          <a:blipFill>
            <a:blip r:embed="rId8"/>
            <a:stretch>
              <a:fillRect l="0" t="0" r="0" b="0"/>
            </a:stretch>
          </a:blipFill>
        </p:spPr>
      </p:sp>
      <p:grpSp>
        <p:nvGrpSpPr>
          <p:cNvPr name="Group 23" id="23"/>
          <p:cNvGrpSpPr/>
          <p:nvPr/>
        </p:nvGrpSpPr>
        <p:grpSpPr>
          <a:xfrm rot="0">
            <a:off x="11001070" y="1733550"/>
            <a:ext cx="6258230" cy="6258230"/>
            <a:chOff x="0" y="0"/>
            <a:chExt cx="8890000" cy="8890000"/>
          </a:xfrm>
        </p:grpSpPr>
        <p:sp>
          <p:nvSpPr>
            <p:cNvPr name="Freeform 24" id="24"/>
            <p:cNvSpPr/>
            <p:nvPr/>
          </p:nvSpPr>
          <p:spPr>
            <a:xfrm flipH="false" flipV="false" rot="0">
              <a:off x="0" y="0"/>
              <a:ext cx="8890000" cy="8890000"/>
            </a:xfrm>
            <a:custGeom>
              <a:avLst/>
              <a:gdLst/>
              <a:ahLst/>
              <a:cxnLst/>
              <a:rect r="r" b="b" t="t" l="l"/>
              <a:pathLst>
                <a:path h="8890000" w="8890000">
                  <a:moveTo>
                    <a:pt x="270611" y="0"/>
                  </a:moveTo>
                  <a:lnTo>
                    <a:pt x="8619389" y="0"/>
                  </a:lnTo>
                  <a:cubicBezTo>
                    <a:pt x="8768843" y="0"/>
                    <a:pt x="8890000" y="121157"/>
                    <a:pt x="8890000" y="270611"/>
                  </a:cubicBezTo>
                  <a:lnTo>
                    <a:pt x="8890000" y="8619389"/>
                  </a:lnTo>
                  <a:cubicBezTo>
                    <a:pt x="8890000" y="8768843"/>
                    <a:pt x="8768843" y="8890000"/>
                    <a:pt x="8619389" y="8890000"/>
                  </a:cubicBezTo>
                  <a:lnTo>
                    <a:pt x="270611" y="8890000"/>
                  </a:lnTo>
                  <a:cubicBezTo>
                    <a:pt x="121157" y="8890000"/>
                    <a:pt x="0" y="8768843"/>
                    <a:pt x="0" y="8619389"/>
                  </a:cubicBezTo>
                  <a:lnTo>
                    <a:pt x="0" y="270611"/>
                  </a:lnTo>
                  <a:cubicBezTo>
                    <a:pt x="0" y="121157"/>
                    <a:pt x="121157" y="0"/>
                    <a:pt x="270611" y="0"/>
                  </a:cubicBezTo>
                  <a:close/>
                </a:path>
              </a:pathLst>
            </a:custGeom>
            <a:blipFill>
              <a:blip r:embed="rId9"/>
              <a:stretch>
                <a:fillRect l="-24489" t="0" r="-24489" b="0"/>
              </a:stretch>
            </a:blipFill>
          </p:spPr>
        </p:sp>
      </p:grpSp>
      <p:grpSp>
        <p:nvGrpSpPr>
          <p:cNvPr name="Group 25" id="25"/>
          <p:cNvGrpSpPr/>
          <p:nvPr/>
        </p:nvGrpSpPr>
        <p:grpSpPr>
          <a:xfrm rot="0">
            <a:off x="16497824" y="8924125"/>
            <a:ext cx="647224" cy="571500"/>
            <a:chOff x="0" y="0"/>
            <a:chExt cx="862965" cy="762000"/>
          </a:xfrm>
        </p:grpSpPr>
        <p:sp>
          <p:nvSpPr>
            <p:cNvPr name="Freeform 26" id="2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10"/>
              <a:stretch>
                <a:fillRect l="-772" t="0" r="-772" b="0"/>
              </a:stretch>
            </a:blipFill>
          </p:spPr>
        </p:sp>
      </p:grpSp>
      <p:sp>
        <p:nvSpPr>
          <p:cNvPr name="TextBox 27" id="27"/>
          <p:cNvSpPr txBox="true"/>
          <p:nvPr/>
        </p:nvSpPr>
        <p:spPr>
          <a:xfrm rot="0">
            <a:off x="1143000" y="4116229"/>
            <a:ext cx="8235255" cy="2840037"/>
          </a:xfrm>
          <a:prstGeom prst="rect">
            <a:avLst/>
          </a:prstGeom>
        </p:spPr>
        <p:txBody>
          <a:bodyPr anchor="t" rtlCol="false" tIns="0" lIns="0" bIns="0" rIns="0">
            <a:spAutoFit/>
          </a:bodyPr>
          <a:lstStyle/>
          <a:p>
            <a:pPr algn="l">
              <a:lnSpc>
                <a:spcPts val="11125"/>
              </a:lnSpc>
            </a:pPr>
            <a:r>
              <a:rPr lang="en-US" sz="8900" b="true">
                <a:solidFill>
                  <a:srgbClr val="000000"/>
                </a:solidFill>
                <a:latin typeface="Poppins Bold"/>
                <a:ea typeface="Poppins Bold"/>
                <a:cs typeface="Poppins Bold"/>
                <a:sym typeface="Poppins Bold"/>
              </a:rPr>
              <a:t>DAX</a:t>
            </a:r>
          </a:p>
          <a:p>
            <a:pPr algn="l">
              <a:lnSpc>
                <a:spcPts val="10750"/>
              </a:lnSpc>
            </a:pPr>
            <a:r>
              <a:rPr lang="en-US" b="true" sz="8600">
                <a:solidFill>
                  <a:srgbClr val="387F7F"/>
                </a:solidFill>
                <a:latin typeface="Poppins Bold"/>
                <a:ea typeface="Poppins Bold"/>
                <a:cs typeface="Poppins Bold"/>
                <a:sym typeface="Poppins Bold"/>
              </a:rPr>
              <a:t>Fundamentals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2973150" cy="1571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By th</a:t>
            </a:r>
            <a:r>
              <a:rPr lang="en-US" sz="5000">
                <a:solidFill>
                  <a:srgbClr val="388080"/>
                </a:solidFill>
                <a:latin typeface="Poppins"/>
                <a:ea typeface="Poppins"/>
                <a:cs typeface="Poppins"/>
                <a:sym typeface="Poppins"/>
              </a:rPr>
              <a:t>e end of this topic, the trainee can…</a:t>
            </a:r>
          </a:p>
          <a:p>
            <a:pPr algn="l">
              <a:lnSpc>
                <a:spcPts val="6000"/>
              </a:lnSpc>
            </a:pP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10" id="10"/>
          <p:cNvGrpSpPr/>
          <p:nvPr/>
        </p:nvGrpSpPr>
        <p:grpSpPr>
          <a:xfrm rot="0">
            <a:off x="1028700" y="2606040"/>
            <a:ext cx="7063740" cy="4800600"/>
            <a:chOff x="0" y="0"/>
            <a:chExt cx="9418320" cy="6400800"/>
          </a:xfrm>
        </p:grpSpPr>
        <p:sp>
          <p:nvSpPr>
            <p:cNvPr name="Freeform 11" id="11"/>
            <p:cNvSpPr/>
            <p:nvPr/>
          </p:nvSpPr>
          <p:spPr>
            <a:xfrm flipH="false" flipV="false" rot="0">
              <a:off x="0" y="0"/>
              <a:ext cx="9418320" cy="6400800"/>
            </a:xfrm>
            <a:custGeom>
              <a:avLst/>
              <a:gdLst/>
              <a:ahLst/>
              <a:cxnLst/>
              <a:rect r="r" b="b" t="t" l="l"/>
              <a:pathLst>
                <a:path h="6400800" w="9418320">
                  <a:moveTo>
                    <a:pt x="0" y="182880"/>
                  </a:moveTo>
                  <a:cubicBezTo>
                    <a:pt x="0" y="81915"/>
                    <a:pt x="81915" y="0"/>
                    <a:pt x="182880" y="0"/>
                  </a:cubicBezTo>
                  <a:lnTo>
                    <a:pt x="9235440" y="0"/>
                  </a:lnTo>
                  <a:cubicBezTo>
                    <a:pt x="9336405" y="0"/>
                    <a:pt x="9418320" y="81915"/>
                    <a:pt x="9418320" y="182880"/>
                  </a:cubicBezTo>
                  <a:lnTo>
                    <a:pt x="9418320" y="6217920"/>
                  </a:lnTo>
                  <a:cubicBezTo>
                    <a:pt x="9418320" y="6318885"/>
                    <a:pt x="9336405" y="6400800"/>
                    <a:pt x="9235440" y="6400800"/>
                  </a:cubicBezTo>
                  <a:lnTo>
                    <a:pt x="182880" y="6400800"/>
                  </a:lnTo>
                  <a:cubicBezTo>
                    <a:pt x="81915" y="6400800"/>
                    <a:pt x="0" y="6318885"/>
                    <a:pt x="0" y="6217920"/>
                  </a:cubicBezTo>
                  <a:close/>
                </a:path>
              </a:pathLst>
            </a:custGeom>
            <a:solidFill>
              <a:srgbClr val="FFFFFF"/>
            </a:solidFill>
          </p:spPr>
        </p:sp>
      </p:grpSp>
      <p:grpSp>
        <p:nvGrpSpPr>
          <p:cNvPr name="Group 12" id="12"/>
          <p:cNvGrpSpPr/>
          <p:nvPr/>
        </p:nvGrpSpPr>
        <p:grpSpPr>
          <a:xfrm rot="0">
            <a:off x="1028700" y="2606040"/>
            <a:ext cx="7063740" cy="123444"/>
            <a:chOff x="0" y="0"/>
            <a:chExt cx="9418320" cy="164592"/>
          </a:xfrm>
        </p:grpSpPr>
        <p:sp>
          <p:nvSpPr>
            <p:cNvPr name="Freeform 13" id="13"/>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387F7F"/>
            </a:solidFill>
          </p:spPr>
        </p:sp>
      </p:grpSp>
      <p:grpSp>
        <p:nvGrpSpPr>
          <p:cNvPr name="Group 14" id="14"/>
          <p:cNvGrpSpPr/>
          <p:nvPr/>
        </p:nvGrpSpPr>
        <p:grpSpPr>
          <a:xfrm rot="0">
            <a:off x="1604772" y="3360420"/>
            <a:ext cx="1069848" cy="1069848"/>
            <a:chOff x="0" y="0"/>
            <a:chExt cx="1426464" cy="1426464"/>
          </a:xfrm>
        </p:grpSpPr>
        <p:sp>
          <p:nvSpPr>
            <p:cNvPr name="Freeform 15" id="15"/>
            <p:cNvSpPr/>
            <p:nvPr/>
          </p:nvSpPr>
          <p:spPr>
            <a:xfrm flipH="false" flipV="false" rot="0">
              <a:off x="0" y="0"/>
              <a:ext cx="1426464" cy="1426464"/>
            </a:xfrm>
            <a:custGeom>
              <a:avLst/>
              <a:gdLst/>
              <a:ahLst/>
              <a:cxnLst/>
              <a:rect r="r" b="b" t="t" l="l"/>
              <a:pathLst>
                <a:path h="1426464" w="1426464">
                  <a:moveTo>
                    <a:pt x="0" y="713232"/>
                  </a:moveTo>
                  <a:cubicBezTo>
                    <a:pt x="0" y="319278"/>
                    <a:pt x="319278" y="0"/>
                    <a:pt x="713232" y="0"/>
                  </a:cubicBezTo>
                  <a:cubicBezTo>
                    <a:pt x="1107186" y="0"/>
                    <a:pt x="1426464" y="319278"/>
                    <a:pt x="1426464" y="713232"/>
                  </a:cubicBezTo>
                  <a:cubicBezTo>
                    <a:pt x="1426464" y="1107186"/>
                    <a:pt x="1107186" y="1426464"/>
                    <a:pt x="713232" y="1426464"/>
                  </a:cubicBezTo>
                  <a:cubicBezTo>
                    <a:pt x="319278" y="1426464"/>
                    <a:pt x="0" y="1107186"/>
                    <a:pt x="0" y="713232"/>
                  </a:cubicBezTo>
                  <a:close/>
                </a:path>
              </a:pathLst>
            </a:custGeom>
            <a:solidFill>
              <a:srgbClr val="387F7F"/>
            </a:solidFill>
          </p:spPr>
        </p:sp>
      </p:grpSp>
      <p:grpSp>
        <p:nvGrpSpPr>
          <p:cNvPr name="Group 16" id="16"/>
          <p:cNvGrpSpPr/>
          <p:nvPr/>
        </p:nvGrpSpPr>
        <p:grpSpPr>
          <a:xfrm rot="0">
            <a:off x="1604772" y="3360420"/>
            <a:ext cx="1069848" cy="1069848"/>
            <a:chOff x="0" y="0"/>
            <a:chExt cx="1426464" cy="1426464"/>
          </a:xfrm>
        </p:grpSpPr>
        <p:sp>
          <p:nvSpPr>
            <p:cNvPr name="Freeform 17" id="17"/>
            <p:cNvSpPr/>
            <p:nvPr/>
          </p:nvSpPr>
          <p:spPr>
            <a:xfrm flipH="false" flipV="false" rot="0">
              <a:off x="0" y="0"/>
              <a:ext cx="1426464" cy="1426464"/>
            </a:xfrm>
            <a:custGeom>
              <a:avLst/>
              <a:gdLst/>
              <a:ahLst/>
              <a:cxnLst/>
              <a:rect r="r" b="b" t="t" l="l"/>
              <a:pathLst>
                <a:path h="1426464" w="1426464">
                  <a:moveTo>
                    <a:pt x="0" y="0"/>
                  </a:moveTo>
                  <a:lnTo>
                    <a:pt x="1426464" y="0"/>
                  </a:lnTo>
                  <a:lnTo>
                    <a:pt x="1426464" y="1426464"/>
                  </a:lnTo>
                  <a:lnTo>
                    <a:pt x="0" y="1426464"/>
                  </a:lnTo>
                  <a:close/>
                </a:path>
              </a:pathLst>
            </a:custGeom>
            <a:blipFill>
              <a:blip r:embed="rId7">
                <a:alphaModFix amt="0"/>
              </a:blip>
              <a:stretch>
                <a:fillRect l="-78303" t="0" r="-78303" b="0"/>
              </a:stretch>
            </a:blipFill>
          </p:spPr>
        </p:sp>
        <p:sp>
          <p:nvSpPr>
            <p:cNvPr name="TextBox 18" id="18"/>
            <p:cNvSpPr txBox="true"/>
            <p:nvPr/>
          </p:nvSpPr>
          <p:spPr>
            <a:xfrm>
              <a:off x="0" y="-38100"/>
              <a:ext cx="1426464" cy="1464564"/>
            </a:xfrm>
            <a:prstGeom prst="rect">
              <a:avLst/>
            </a:prstGeom>
          </p:spPr>
          <p:txBody>
            <a:bodyPr anchor="ctr" rtlCol="false" tIns="0" lIns="0" bIns="0" rIns="0"/>
            <a:lstStyle/>
            <a:p>
              <a:pPr algn="ctr">
                <a:lnSpc>
                  <a:spcPts val="4680"/>
                </a:lnSpc>
              </a:pPr>
              <a:r>
                <a:rPr lang="en-US" sz="3900" b="true">
                  <a:solidFill>
                    <a:srgbClr val="FFFFFF"/>
                  </a:solidFill>
                  <a:latin typeface="Poppins Bold"/>
                  <a:ea typeface="Poppins Bold"/>
                  <a:cs typeface="Poppins Bold"/>
                  <a:sym typeface="Poppins Bold"/>
                </a:rPr>
                <a:t>ƒ</a:t>
              </a:r>
            </a:p>
          </p:txBody>
        </p:sp>
      </p:grpSp>
      <p:grpSp>
        <p:nvGrpSpPr>
          <p:cNvPr name="Group 19" id="19"/>
          <p:cNvGrpSpPr/>
          <p:nvPr/>
        </p:nvGrpSpPr>
        <p:grpSpPr>
          <a:xfrm rot="0">
            <a:off x="1604772" y="4732020"/>
            <a:ext cx="5911596" cy="685800"/>
            <a:chOff x="0" y="0"/>
            <a:chExt cx="7882128" cy="914400"/>
          </a:xfrm>
        </p:grpSpPr>
        <p:sp>
          <p:nvSpPr>
            <p:cNvPr name="Freeform 20" id="20"/>
            <p:cNvSpPr/>
            <p:nvPr/>
          </p:nvSpPr>
          <p:spPr>
            <a:xfrm flipH="false" flipV="false" rot="0">
              <a:off x="0" y="0"/>
              <a:ext cx="7882128" cy="914400"/>
            </a:xfrm>
            <a:custGeom>
              <a:avLst/>
              <a:gdLst/>
              <a:ahLst/>
              <a:cxnLst/>
              <a:rect r="r" b="b" t="t" l="l"/>
              <a:pathLst>
                <a:path h="914400" w="7882128">
                  <a:moveTo>
                    <a:pt x="0" y="0"/>
                  </a:moveTo>
                  <a:lnTo>
                    <a:pt x="7882128" y="0"/>
                  </a:lnTo>
                  <a:lnTo>
                    <a:pt x="7882128" y="914400"/>
                  </a:lnTo>
                  <a:lnTo>
                    <a:pt x="0" y="914400"/>
                  </a:lnTo>
                  <a:close/>
                </a:path>
              </a:pathLst>
            </a:custGeom>
            <a:blipFill>
              <a:blip r:embed="rId7">
                <a:alphaModFix amt="0"/>
              </a:blip>
              <a:stretch>
                <a:fillRect l="0" t="-117961" r="0" b="-117961"/>
              </a:stretch>
            </a:blipFill>
          </p:spPr>
        </p:sp>
        <p:sp>
          <p:nvSpPr>
            <p:cNvPr name="TextBox 21" id="21"/>
            <p:cNvSpPr txBox="true"/>
            <p:nvPr/>
          </p:nvSpPr>
          <p:spPr>
            <a:xfrm>
              <a:off x="0" y="-28575"/>
              <a:ext cx="7882128" cy="942975"/>
            </a:xfrm>
            <a:prstGeom prst="rect">
              <a:avLst/>
            </a:prstGeom>
          </p:spPr>
          <p:txBody>
            <a:bodyPr anchor="ctr" rtlCol="false" tIns="0" lIns="0" bIns="0" rIns="0"/>
            <a:lstStyle/>
            <a:p>
              <a:pPr algn="l">
                <a:lnSpc>
                  <a:spcPts val="4140"/>
                </a:lnSpc>
              </a:pPr>
              <a:r>
                <a:rPr lang="en-US" sz="3450" b="true">
                  <a:solidFill>
                    <a:srgbClr val="387F7F"/>
                  </a:solidFill>
                  <a:latin typeface="Poppins Bold"/>
                  <a:ea typeface="Poppins Bold"/>
                  <a:cs typeface="Poppins Bold"/>
                  <a:sym typeface="Poppins Bold"/>
                </a:rPr>
                <a:t>Write</a:t>
              </a:r>
            </a:p>
          </p:txBody>
        </p:sp>
      </p:grpSp>
      <p:sp>
        <p:nvSpPr>
          <p:cNvPr name="TextBox 22" id="22"/>
          <p:cNvSpPr txBox="true"/>
          <p:nvPr/>
        </p:nvSpPr>
        <p:spPr>
          <a:xfrm rot="0">
            <a:off x="1604772" y="5399532"/>
            <a:ext cx="5911596" cy="1760220"/>
          </a:xfrm>
          <a:prstGeom prst="rect">
            <a:avLst/>
          </a:prstGeom>
        </p:spPr>
        <p:txBody>
          <a:bodyPr anchor="t" rtlCol="false" tIns="0" lIns="0" bIns="0" rIns="0">
            <a:spAutoFit/>
          </a:bodyPr>
          <a:lstStyle/>
          <a:p>
            <a:pPr algn="l">
              <a:lnSpc>
                <a:spcPts val="3645"/>
              </a:lnSpc>
            </a:pPr>
            <a:r>
              <a:rPr lang="en-US" sz="2250">
                <a:solidFill>
                  <a:srgbClr val="475569"/>
                </a:solidFill>
                <a:latin typeface="Poppins"/>
                <a:ea typeface="Poppins"/>
                <a:cs typeface="Poppins"/>
                <a:sym typeface="Poppins"/>
              </a:rPr>
              <a:t>essential DAX measures: an aggregation, a ratio using DIVIDE, and a time comparison using CALCULATE.</a:t>
            </a:r>
          </a:p>
        </p:txBody>
      </p:sp>
      <p:grpSp>
        <p:nvGrpSpPr>
          <p:cNvPr name="Group 23" id="23"/>
          <p:cNvGrpSpPr/>
          <p:nvPr/>
        </p:nvGrpSpPr>
        <p:grpSpPr>
          <a:xfrm rot="0">
            <a:off x="8709660" y="2606040"/>
            <a:ext cx="7063740" cy="4800600"/>
            <a:chOff x="0" y="0"/>
            <a:chExt cx="9418320" cy="6400800"/>
          </a:xfrm>
        </p:grpSpPr>
        <p:sp>
          <p:nvSpPr>
            <p:cNvPr name="Freeform 24" id="24"/>
            <p:cNvSpPr/>
            <p:nvPr/>
          </p:nvSpPr>
          <p:spPr>
            <a:xfrm flipH="false" flipV="false" rot="0">
              <a:off x="0" y="0"/>
              <a:ext cx="9418320" cy="6400800"/>
            </a:xfrm>
            <a:custGeom>
              <a:avLst/>
              <a:gdLst/>
              <a:ahLst/>
              <a:cxnLst/>
              <a:rect r="r" b="b" t="t" l="l"/>
              <a:pathLst>
                <a:path h="6400800" w="9418320">
                  <a:moveTo>
                    <a:pt x="0" y="182880"/>
                  </a:moveTo>
                  <a:cubicBezTo>
                    <a:pt x="0" y="81915"/>
                    <a:pt x="81915" y="0"/>
                    <a:pt x="182880" y="0"/>
                  </a:cubicBezTo>
                  <a:lnTo>
                    <a:pt x="9235440" y="0"/>
                  </a:lnTo>
                  <a:cubicBezTo>
                    <a:pt x="9336405" y="0"/>
                    <a:pt x="9418320" y="81915"/>
                    <a:pt x="9418320" y="182880"/>
                  </a:cubicBezTo>
                  <a:lnTo>
                    <a:pt x="9418320" y="6217920"/>
                  </a:lnTo>
                  <a:cubicBezTo>
                    <a:pt x="9418320" y="6318885"/>
                    <a:pt x="9336405" y="6400800"/>
                    <a:pt x="9235440" y="6400800"/>
                  </a:cubicBezTo>
                  <a:lnTo>
                    <a:pt x="182880" y="6400800"/>
                  </a:lnTo>
                  <a:cubicBezTo>
                    <a:pt x="81915" y="6400800"/>
                    <a:pt x="0" y="6318885"/>
                    <a:pt x="0" y="6217920"/>
                  </a:cubicBezTo>
                  <a:close/>
                </a:path>
              </a:pathLst>
            </a:custGeom>
            <a:solidFill>
              <a:srgbClr val="FFFFFF"/>
            </a:solidFill>
          </p:spPr>
        </p:sp>
      </p:grpSp>
      <p:grpSp>
        <p:nvGrpSpPr>
          <p:cNvPr name="Group 25" id="25"/>
          <p:cNvGrpSpPr/>
          <p:nvPr/>
        </p:nvGrpSpPr>
        <p:grpSpPr>
          <a:xfrm rot="0">
            <a:off x="8709660" y="2606040"/>
            <a:ext cx="7063740" cy="123444"/>
            <a:chOff x="0" y="0"/>
            <a:chExt cx="9418320" cy="164592"/>
          </a:xfrm>
        </p:grpSpPr>
        <p:sp>
          <p:nvSpPr>
            <p:cNvPr name="Freeform 26" id="26"/>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387F7F"/>
            </a:solidFill>
          </p:spPr>
        </p:sp>
      </p:grpSp>
      <p:grpSp>
        <p:nvGrpSpPr>
          <p:cNvPr name="Group 27" id="27"/>
          <p:cNvGrpSpPr/>
          <p:nvPr/>
        </p:nvGrpSpPr>
        <p:grpSpPr>
          <a:xfrm rot="0">
            <a:off x="9285732" y="3360420"/>
            <a:ext cx="1069848" cy="1069848"/>
            <a:chOff x="0" y="0"/>
            <a:chExt cx="1426464" cy="1426464"/>
          </a:xfrm>
        </p:grpSpPr>
        <p:sp>
          <p:nvSpPr>
            <p:cNvPr name="Freeform 28" id="28"/>
            <p:cNvSpPr/>
            <p:nvPr/>
          </p:nvSpPr>
          <p:spPr>
            <a:xfrm flipH="false" flipV="false" rot="0">
              <a:off x="0" y="0"/>
              <a:ext cx="1426464" cy="1426464"/>
            </a:xfrm>
            <a:custGeom>
              <a:avLst/>
              <a:gdLst/>
              <a:ahLst/>
              <a:cxnLst/>
              <a:rect r="r" b="b" t="t" l="l"/>
              <a:pathLst>
                <a:path h="1426464" w="1426464">
                  <a:moveTo>
                    <a:pt x="0" y="713232"/>
                  </a:moveTo>
                  <a:cubicBezTo>
                    <a:pt x="0" y="319278"/>
                    <a:pt x="319278" y="0"/>
                    <a:pt x="713232" y="0"/>
                  </a:cubicBezTo>
                  <a:cubicBezTo>
                    <a:pt x="1107186" y="0"/>
                    <a:pt x="1426464" y="319278"/>
                    <a:pt x="1426464" y="713232"/>
                  </a:cubicBezTo>
                  <a:cubicBezTo>
                    <a:pt x="1426464" y="1107186"/>
                    <a:pt x="1107186" y="1426464"/>
                    <a:pt x="713232" y="1426464"/>
                  </a:cubicBezTo>
                  <a:cubicBezTo>
                    <a:pt x="319278" y="1426464"/>
                    <a:pt x="0" y="1107186"/>
                    <a:pt x="0" y="713232"/>
                  </a:cubicBezTo>
                  <a:close/>
                </a:path>
              </a:pathLst>
            </a:custGeom>
            <a:solidFill>
              <a:srgbClr val="387F7F"/>
            </a:solidFill>
          </p:spPr>
        </p:sp>
      </p:grpSp>
      <p:grpSp>
        <p:nvGrpSpPr>
          <p:cNvPr name="Group 29" id="29"/>
          <p:cNvGrpSpPr/>
          <p:nvPr/>
        </p:nvGrpSpPr>
        <p:grpSpPr>
          <a:xfrm rot="0">
            <a:off x="9285732" y="3360420"/>
            <a:ext cx="1069848" cy="1069848"/>
            <a:chOff x="0" y="0"/>
            <a:chExt cx="1426464" cy="1426464"/>
          </a:xfrm>
        </p:grpSpPr>
        <p:sp>
          <p:nvSpPr>
            <p:cNvPr name="Freeform 30" id="30"/>
            <p:cNvSpPr/>
            <p:nvPr/>
          </p:nvSpPr>
          <p:spPr>
            <a:xfrm flipH="false" flipV="false" rot="0">
              <a:off x="0" y="0"/>
              <a:ext cx="1426464" cy="1426464"/>
            </a:xfrm>
            <a:custGeom>
              <a:avLst/>
              <a:gdLst/>
              <a:ahLst/>
              <a:cxnLst/>
              <a:rect r="r" b="b" t="t" l="l"/>
              <a:pathLst>
                <a:path h="1426464" w="1426464">
                  <a:moveTo>
                    <a:pt x="0" y="0"/>
                  </a:moveTo>
                  <a:lnTo>
                    <a:pt x="1426464" y="0"/>
                  </a:lnTo>
                  <a:lnTo>
                    <a:pt x="1426464" y="1426464"/>
                  </a:lnTo>
                  <a:lnTo>
                    <a:pt x="0" y="1426464"/>
                  </a:lnTo>
                  <a:close/>
                </a:path>
              </a:pathLst>
            </a:custGeom>
            <a:blipFill>
              <a:blip r:embed="rId7">
                <a:alphaModFix amt="0"/>
              </a:blip>
              <a:stretch>
                <a:fillRect l="-78303" t="0" r="-78303" b="0"/>
              </a:stretch>
            </a:blipFill>
          </p:spPr>
        </p:sp>
        <p:sp>
          <p:nvSpPr>
            <p:cNvPr name="TextBox 31" id="31"/>
            <p:cNvSpPr txBox="true"/>
            <p:nvPr/>
          </p:nvSpPr>
          <p:spPr>
            <a:xfrm>
              <a:off x="0" y="-38100"/>
              <a:ext cx="1426464" cy="1464564"/>
            </a:xfrm>
            <a:prstGeom prst="rect">
              <a:avLst/>
            </a:prstGeom>
          </p:spPr>
          <p:txBody>
            <a:bodyPr anchor="ctr" rtlCol="false" tIns="0" lIns="0" bIns="0" rIns="0"/>
            <a:lstStyle/>
            <a:p>
              <a:pPr algn="ctr">
                <a:lnSpc>
                  <a:spcPts val="4680"/>
                </a:lnSpc>
              </a:pPr>
              <a:r>
                <a:rPr lang="en-US" sz="3900" b="true">
                  <a:solidFill>
                    <a:srgbClr val="FFFFFF"/>
                  </a:solidFill>
                  <a:latin typeface="Poppins Bold"/>
                  <a:ea typeface="Poppins Bold"/>
                  <a:cs typeface="Poppins Bold"/>
                  <a:sym typeface="Poppins Bold"/>
                </a:rPr>
                <a:t>✓</a:t>
              </a:r>
            </a:p>
          </p:txBody>
        </p:sp>
      </p:grpSp>
      <p:grpSp>
        <p:nvGrpSpPr>
          <p:cNvPr name="Group 32" id="32"/>
          <p:cNvGrpSpPr/>
          <p:nvPr/>
        </p:nvGrpSpPr>
        <p:grpSpPr>
          <a:xfrm rot="0">
            <a:off x="9285732" y="4732020"/>
            <a:ext cx="5911596" cy="685800"/>
            <a:chOff x="0" y="0"/>
            <a:chExt cx="7882128" cy="914400"/>
          </a:xfrm>
        </p:grpSpPr>
        <p:sp>
          <p:nvSpPr>
            <p:cNvPr name="Freeform 33" id="33"/>
            <p:cNvSpPr/>
            <p:nvPr/>
          </p:nvSpPr>
          <p:spPr>
            <a:xfrm flipH="false" flipV="false" rot="0">
              <a:off x="0" y="0"/>
              <a:ext cx="7882128" cy="914400"/>
            </a:xfrm>
            <a:custGeom>
              <a:avLst/>
              <a:gdLst/>
              <a:ahLst/>
              <a:cxnLst/>
              <a:rect r="r" b="b" t="t" l="l"/>
              <a:pathLst>
                <a:path h="914400" w="7882128">
                  <a:moveTo>
                    <a:pt x="0" y="0"/>
                  </a:moveTo>
                  <a:lnTo>
                    <a:pt x="7882128" y="0"/>
                  </a:lnTo>
                  <a:lnTo>
                    <a:pt x="7882128" y="914400"/>
                  </a:lnTo>
                  <a:lnTo>
                    <a:pt x="0" y="914400"/>
                  </a:lnTo>
                  <a:close/>
                </a:path>
              </a:pathLst>
            </a:custGeom>
            <a:blipFill>
              <a:blip r:embed="rId7">
                <a:alphaModFix amt="0"/>
              </a:blip>
              <a:stretch>
                <a:fillRect l="0" t="-117961" r="0" b="-117961"/>
              </a:stretch>
            </a:blipFill>
          </p:spPr>
        </p:sp>
        <p:sp>
          <p:nvSpPr>
            <p:cNvPr name="TextBox 34" id="34"/>
            <p:cNvSpPr txBox="true"/>
            <p:nvPr/>
          </p:nvSpPr>
          <p:spPr>
            <a:xfrm>
              <a:off x="0" y="-28575"/>
              <a:ext cx="7882128" cy="942975"/>
            </a:xfrm>
            <a:prstGeom prst="rect">
              <a:avLst/>
            </a:prstGeom>
          </p:spPr>
          <p:txBody>
            <a:bodyPr anchor="ctr" rtlCol="false" tIns="0" lIns="0" bIns="0" rIns="0"/>
            <a:lstStyle/>
            <a:p>
              <a:pPr algn="l">
                <a:lnSpc>
                  <a:spcPts val="4140"/>
                </a:lnSpc>
              </a:pPr>
              <a:r>
                <a:rPr lang="en-US" sz="3450" b="true">
                  <a:solidFill>
                    <a:srgbClr val="387F7F"/>
                  </a:solidFill>
                  <a:latin typeface="Poppins Bold"/>
                  <a:ea typeface="Poppins Bold"/>
                  <a:cs typeface="Poppins Bold"/>
                  <a:sym typeface="Poppins Bold"/>
                </a:rPr>
                <a:t>Verify</a:t>
              </a:r>
            </a:p>
          </p:txBody>
        </p:sp>
      </p:grpSp>
      <p:sp>
        <p:nvSpPr>
          <p:cNvPr name="TextBox 35" id="35"/>
          <p:cNvSpPr txBox="true"/>
          <p:nvPr/>
        </p:nvSpPr>
        <p:spPr>
          <a:xfrm rot="0">
            <a:off x="9285732" y="5399532"/>
            <a:ext cx="5911596" cy="1760220"/>
          </a:xfrm>
          <a:prstGeom prst="rect">
            <a:avLst/>
          </a:prstGeom>
        </p:spPr>
        <p:txBody>
          <a:bodyPr anchor="t" rtlCol="false" tIns="0" lIns="0" bIns="0" rIns="0">
            <a:spAutoFit/>
          </a:bodyPr>
          <a:lstStyle/>
          <a:p>
            <a:pPr algn="l">
              <a:lnSpc>
                <a:spcPts val="3645"/>
              </a:lnSpc>
            </a:pPr>
            <a:r>
              <a:rPr lang="en-US" sz="2250">
                <a:solidFill>
                  <a:srgbClr val="475569"/>
                </a:solidFill>
                <a:latin typeface="Poppins"/>
                <a:ea typeface="Poppins"/>
                <a:cs typeface="Poppins"/>
                <a:sym typeface="Poppins"/>
              </a:rPr>
              <a:t>measure results against source data before trusting them.</a:t>
            </a:r>
          </a:p>
        </p:txBody>
      </p:sp>
      <p:sp>
        <p:nvSpPr>
          <p:cNvPr name="Freeform 36" id="36"/>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279648" y="589542"/>
            <a:ext cx="10516112" cy="1876425"/>
          </a:xfrm>
          <a:prstGeom prst="rect">
            <a:avLst/>
          </a:prstGeom>
        </p:spPr>
        <p:txBody>
          <a:bodyPr anchor="t" rtlCol="false" tIns="0" lIns="0" bIns="0" rIns="0">
            <a:spAutoFit/>
          </a:bodyPr>
          <a:lstStyle/>
          <a:p>
            <a:pPr algn="l">
              <a:lnSpc>
                <a:spcPts val="4800"/>
              </a:lnSpc>
            </a:pPr>
            <a:r>
              <a:rPr lang="en-US" sz="4000">
                <a:solidFill>
                  <a:srgbClr val="388080"/>
                </a:solidFill>
                <a:latin typeface="Poppins"/>
                <a:ea typeface="Poppins"/>
                <a:cs typeface="Poppins"/>
                <a:sym typeface="Poppins"/>
              </a:rPr>
              <a:t>Our on-time rate is 82 percent.</a:t>
            </a:r>
          </a:p>
          <a:p>
            <a:pPr algn="l">
              <a:lnSpc>
                <a:spcPts val="4800"/>
              </a:lnSpc>
            </a:pPr>
            <a:r>
              <a:rPr lang="en-US" sz="4000">
                <a:solidFill>
                  <a:srgbClr val="388080"/>
                </a:solidFill>
                <a:latin typeface="Poppins"/>
                <a:ea typeface="Poppins"/>
                <a:cs typeface="Poppins"/>
                <a:sym typeface="Poppins"/>
              </a:rPr>
              <a:t>Why does </a:t>
            </a:r>
            <a:r>
              <a:rPr lang="en-US" sz="4000">
                <a:solidFill>
                  <a:srgbClr val="388080"/>
                </a:solidFill>
                <a:latin typeface="Poppins"/>
                <a:ea typeface="Poppins"/>
                <a:cs typeface="Poppins"/>
                <a:sym typeface="Poppins"/>
              </a:rPr>
              <a:t>the regional</a:t>
            </a:r>
            <a:r>
              <a:rPr lang="en-US" sz="4000">
                <a:solidFill>
                  <a:srgbClr val="388080"/>
                </a:solidFill>
                <a:latin typeface="Poppins"/>
                <a:ea typeface="Poppins"/>
                <a:cs typeface="Poppins"/>
                <a:sym typeface="Poppins"/>
              </a:rPr>
              <a:t> report say 79?</a:t>
            </a:r>
          </a:p>
          <a:p>
            <a:pPr algn="l">
              <a:lnSpc>
                <a:spcPts val="4800"/>
              </a:lnSpc>
            </a:pP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1795760" y="0"/>
            <a:ext cx="6487668" cy="10287000"/>
            <a:chOff x="0" y="0"/>
            <a:chExt cx="8650224" cy="13716000"/>
          </a:xfrm>
        </p:grpSpPr>
        <p:sp>
          <p:nvSpPr>
            <p:cNvPr name="Freeform 12" id="12"/>
            <p:cNvSpPr/>
            <p:nvPr/>
          </p:nvSpPr>
          <p:spPr>
            <a:xfrm flipH="false" flipV="false" rot="0">
              <a:off x="0" y="0"/>
              <a:ext cx="8650224" cy="13716000"/>
            </a:xfrm>
            <a:custGeom>
              <a:avLst/>
              <a:gdLst/>
              <a:ahLst/>
              <a:cxnLst/>
              <a:rect r="r" b="b" t="t" l="l"/>
              <a:pathLst>
                <a:path h="13716000" w="8650224">
                  <a:moveTo>
                    <a:pt x="0" y="0"/>
                  </a:moveTo>
                  <a:lnTo>
                    <a:pt x="8650224" y="0"/>
                  </a:lnTo>
                  <a:lnTo>
                    <a:pt x="8650224" y="13716000"/>
                  </a:lnTo>
                  <a:lnTo>
                    <a:pt x="0" y="13716000"/>
                  </a:lnTo>
                  <a:close/>
                </a:path>
              </a:pathLst>
            </a:custGeom>
            <a:solidFill>
              <a:srgbClr val="20494A">
                <a:alpha val="14902"/>
              </a:srgbClr>
            </a:solidFill>
          </p:spPr>
        </p:sp>
      </p:grpSp>
      <p:grpSp>
        <p:nvGrpSpPr>
          <p:cNvPr name="Group 13" id="13"/>
          <p:cNvGrpSpPr/>
          <p:nvPr/>
        </p:nvGrpSpPr>
        <p:grpSpPr>
          <a:xfrm rot="0">
            <a:off x="11795760" y="2880360"/>
            <a:ext cx="6309360" cy="1508760"/>
            <a:chOff x="0" y="0"/>
            <a:chExt cx="8412480" cy="2011680"/>
          </a:xfrm>
        </p:grpSpPr>
        <p:sp>
          <p:nvSpPr>
            <p:cNvPr name="Freeform 14" id="14"/>
            <p:cNvSpPr/>
            <p:nvPr/>
          </p:nvSpPr>
          <p:spPr>
            <a:xfrm flipH="false" flipV="false" rot="0">
              <a:off x="0" y="0"/>
              <a:ext cx="8412480" cy="2011680"/>
            </a:xfrm>
            <a:custGeom>
              <a:avLst/>
              <a:gdLst/>
              <a:ahLst/>
              <a:cxnLst/>
              <a:rect r="r" b="b" t="t" l="l"/>
              <a:pathLst>
                <a:path h="2011680" w="8412480">
                  <a:moveTo>
                    <a:pt x="0" y="0"/>
                  </a:moveTo>
                  <a:lnTo>
                    <a:pt x="8412480" y="0"/>
                  </a:lnTo>
                  <a:lnTo>
                    <a:pt x="8412480" y="2011680"/>
                  </a:lnTo>
                  <a:lnTo>
                    <a:pt x="0" y="2011680"/>
                  </a:lnTo>
                  <a:close/>
                </a:path>
              </a:pathLst>
            </a:custGeom>
            <a:blipFill>
              <a:blip r:embed="rId9">
                <a:alphaModFix amt="0"/>
              </a:blip>
              <a:stretch>
                <a:fillRect l="0" t="-31482" r="0" b="-31482"/>
              </a:stretch>
            </a:blipFill>
          </p:spPr>
        </p:sp>
        <p:sp>
          <p:nvSpPr>
            <p:cNvPr name="TextBox 15" id="15"/>
            <p:cNvSpPr txBox="true"/>
            <p:nvPr/>
          </p:nvSpPr>
          <p:spPr>
            <a:xfrm>
              <a:off x="0" y="-85725"/>
              <a:ext cx="8412480" cy="2097405"/>
            </a:xfrm>
            <a:prstGeom prst="rect">
              <a:avLst/>
            </a:prstGeom>
          </p:spPr>
          <p:txBody>
            <a:bodyPr anchor="ctr" rtlCol="false" tIns="0" lIns="0" bIns="0" rIns="0"/>
            <a:lstStyle/>
            <a:p>
              <a:pPr algn="ctr">
                <a:lnSpc>
                  <a:spcPts val="11160"/>
                </a:lnSpc>
              </a:pPr>
              <a:r>
                <a:rPr lang="en-US" b="true" sz="9300">
                  <a:solidFill>
                    <a:srgbClr val="000000"/>
                  </a:solidFill>
                  <a:latin typeface="Poppins Bold"/>
                  <a:ea typeface="Poppins Bold"/>
                  <a:cs typeface="Poppins Bold"/>
                  <a:sym typeface="Poppins Bold"/>
                </a:rPr>
                <a:t>82%</a:t>
              </a:r>
            </a:p>
          </p:txBody>
        </p:sp>
      </p:grpSp>
      <p:grpSp>
        <p:nvGrpSpPr>
          <p:cNvPr name="Group 16" id="16"/>
          <p:cNvGrpSpPr/>
          <p:nvPr/>
        </p:nvGrpSpPr>
        <p:grpSpPr>
          <a:xfrm rot="0">
            <a:off x="11795760" y="4457700"/>
            <a:ext cx="6309360" cy="548640"/>
            <a:chOff x="0" y="0"/>
            <a:chExt cx="8412480" cy="731520"/>
          </a:xfrm>
        </p:grpSpPr>
        <p:sp>
          <p:nvSpPr>
            <p:cNvPr name="Freeform 17" id="17"/>
            <p:cNvSpPr/>
            <p:nvPr/>
          </p:nvSpPr>
          <p:spPr>
            <a:xfrm flipH="false" flipV="false" rot="0">
              <a:off x="0" y="0"/>
              <a:ext cx="8412480" cy="731520"/>
            </a:xfrm>
            <a:custGeom>
              <a:avLst/>
              <a:gdLst/>
              <a:ahLst/>
              <a:cxnLst/>
              <a:rect r="r" b="b" t="t" l="l"/>
              <a:pathLst>
                <a:path h="731520" w="8412480">
                  <a:moveTo>
                    <a:pt x="0" y="0"/>
                  </a:moveTo>
                  <a:lnTo>
                    <a:pt x="8412480" y="0"/>
                  </a:lnTo>
                  <a:lnTo>
                    <a:pt x="8412480" y="731520"/>
                  </a:lnTo>
                  <a:lnTo>
                    <a:pt x="0" y="731520"/>
                  </a:lnTo>
                  <a:close/>
                </a:path>
              </a:pathLst>
            </a:custGeom>
            <a:blipFill>
              <a:blip r:embed="rId9">
                <a:alphaModFix amt="0"/>
              </a:blip>
              <a:stretch>
                <a:fillRect l="0" t="-174077" r="0" b="-174077"/>
              </a:stretch>
            </a:blipFill>
          </p:spPr>
        </p:sp>
        <p:sp>
          <p:nvSpPr>
            <p:cNvPr name="TextBox 18" id="18"/>
            <p:cNvSpPr txBox="true"/>
            <p:nvPr/>
          </p:nvSpPr>
          <p:spPr>
            <a:xfrm>
              <a:off x="0" y="-28575"/>
              <a:ext cx="8412480" cy="760095"/>
            </a:xfrm>
            <a:prstGeom prst="rect">
              <a:avLst/>
            </a:prstGeom>
          </p:spPr>
          <p:txBody>
            <a:bodyPr anchor="ctr" rtlCol="false" tIns="0" lIns="0" bIns="0" rIns="0"/>
            <a:lstStyle/>
            <a:p>
              <a:pPr algn="ctr">
                <a:lnSpc>
                  <a:spcPts val="2700"/>
                </a:lnSpc>
              </a:pPr>
              <a:r>
                <a:rPr lang="en-US" sz="2250">
                  <a:solidFill>
                    <a:srgbClr val="20494A"/>
                  </a:solidFill>
                  <a:latin typeface="Poppins"/>
                  <a:ea typeface="Poppins"/>
                  <a:cs typeface="Poppins"/>
                  <a:sym typeface="Poppins"/>
                </a:rPr>
                <a:t>vs</a:t>
              </a:r>
            </a:p>
          </p:txBody>
        </p:sp>
      </p:grpSp>
      <p:grpSp>
        <p:nvGrpSpPr>
          <p:cNvPr name="Group 19" id="19"/>
          <p:cNvGrpSpPr/>
          <p:nvPr/>
        </p:nvGrpSpPr>
        <p:grpSpPr>
          <a:xfrm rot="0">
            <a:off x="11795760" y="4937760"/>
            <a:ext cx="6309360" cy="1508760"/>
            <a:chOff x="0" y="0"/>
            <a:chExt cx="8412480" cy="2011680"/>
          </a:xfrm>
        </p:grpSpPr>
        <p:sp>
          <p:nvSpPr>
            <p:cNvPr name="Freeform 20" id="20"/>
            <p:cNvSpPr/>
            <p:nvPr/>
          </p:nvSpPr>
          <p:spPr>
            <a:xfrm flipH="false" flipV="false" rot="0">
              <a:off x="0" y="0"/>
              <a:ext cx="8412480" cy="2011680"/>
            </a:xfrm>
            <a:custGeom>
              <a:avLst/>
              <a:gdLst/>
              <a:ahLst/>
              <a:cxnLst/>
              <a:rect r="r" b="b" t="t" l="l"/>
              <a:pathLst>
                <a:path h="2011680" w="8412480">
                  <a:moveTo>
                    <a:pt x="0" y="0"/>
                  </a:moveTo>
                  <a:lnTo>
                    <a:pt x="8412480" y="0"/>
                  </a:lnTo>
                  <a:lnTo>
                    <a:pt x="8412480" y="2011680"/>
                  </a:lnTo>
                  <a:lnTo>
                    <a:pt x="0" y="2011680"/>
                  </a:lnTo>
                  <a:close/>
                </a:path>
              </a:pathLst>
            </a:custGeom>
            <a:blipFill>
              <a:blip r:embed="rId9">
                <a:alphaModFix amt="0"/>
              </a:blip>
              <a:stretch>
                <a:fillRect l="0" t="-31482" r="0" b="-31482"/>
              </a:stretch>
            </a:blipFill>
          </p:spPr>
        </p:sp>
        <p:sp>
          <p:nvSpPr>
            <p:cNvPr name="TextBox 21" id="21"/>
            <p:cNvSpPr txBox="true"/>
            <p:nvPr/>
          </p:nvSpPr>
          <p:spPr>
            <a:xfrm>
              <a:off x="0" y="-85725"/>
              <a:ext cx="8412480" cy="2097405"/>
            </a:xfrm>
            <a:prstGeom prst="rect">
              <a:avLst/>
            </a:prstGeom>
          </p:spPr>
          <p:txBody>
            <a:bodyPr anchor="ctr" rtlCol="false" tIns="0" lIns="0" bIns="0" rIns="0"/>
            <a:lstStyle/>
            <a:p>
              <a:pPr algn="ctr">
                <a:lnSpc>
                  <a:spcPts val="11160"/>
                </a:lnSpc>
              </a:pPr>
              <a:r>
                <a:rPr lang="en-US" b="true" sz="9300">
                  <a:solidFill>
                    <a:srgbClr val="387F7F"/>
                  </a:solidFill>
                  <a:latin typeface="Poppins Bold"/>
                  <a:ea typeface="Poppins Bold"/>
                  <a:cs typeface="Poppins Bold"/>
                  <a:sym typeface="Poppins Bold"/>
                </a:rPr>
                <a:t>79%</a:t>
              </a:r>
            </a:p>
          </p:txBody>
        </p:sp>
      </p:grpSp>
      <p:grpSp>
        <p:nvGrpSpPr>
          <p:cNvPr name="Group 22" id="22"/>
          <p:cNvGrpSpPr/>
          <p:nvPr/>
        </p:nvGrpSpPr>
        <p:grpSpPr>
          <a:xfrm rot="0">
            <a:off x="11795760" y="6652260"/>
            <a:ext cx="6309360" cy="1234440"/>
            <a:chOff x="0" y="0"/>
            <a:chExt cx="8412480" cy="1645920"/>
          </a:xfrm>
        </p:grpSpPr>
        <p:sp>
          <p:nvSpPr>
            <p:cNvPr name="Freeform 23" id="23"/>
            <p:cNvSpPr/>
            <p:nvPr/>
          </p:nvSpPr>
          <p:spPr>
            <a:xfrm flipH="false" flipV="false" rot="0">
              <a:off x="0" y="0"/>
              <a:ext cx="8412480" cy="1645920"/>
            </a:xfrm>
            <a:custGeom>
              <a:avLst/>
              <a:gdLst/>
              <a:ahLst/>
              <a:cxnLst/>
              <a:rect r="r" b="b" t="t" l="l"/>
              <a:pathLst>
                <a:path h="1645920" w="8412480">
                  <a:moveTo>
                    <a:pt x="0" y="0"/>
                  </a:moveTo>
                  <a:lnTo>
                    <a:pt x="8412480" y="0"/>
                  </a:lnTo>
                  <a:lnTo>
                    <a:pt x="8412480" y="1645920"/>
                  </a:lnTo>
                  <a:lnTo>
                    <a:pt x="0" y="1645920"/>
                  </a:lnTo>
                  <a:close/>
                </a:path>
              </a:pathLst>
            </a:custGeom>
            <a:blipFill>
              <a:blip r:embed="rId9">
                <a:alphaModFix amt="0"/>
              </a:blip>
              <a:stretch>
                <a:fillRect l="0" t="-49590" r="0" b="-49590"/>
              </a:stretch>
            </a:blipFill>
          </p:spPr>
        </p:sp>
        <p:sp>
          <p:nvSpPr>
            <p:cNvPr name="TextBox 24" id="24"/>
            <p:cNvSpPr txBox="true"/>
            <p:nvPr/>
          </p:nvSpPr>
          <p:spPr>
            <a:xfrm>
              <a:off x="0" y="-104775"/>
              <a:ext cx="8412480" cy="1750695"/>
            </a:xfrm>
            <a:prstGeom prst="rect">
              <a:avLst/>
            </a:prstGeom>
          </p:spPr>
          <p:txBody>
            <a:bodyPr anchor="ctr" rtlCol="false" tIns="0" lIns="0" bIns="0" rIns="0"/>
            <a:lstStyle/>
            <a:p>
              <a:pPr algn="ctr">
                <a:lnSpc>
                  <a:spcPts val="3510"/>
                </a:lnSpc>
              </a:pPr>
              <a:r>
                <a:rPr lang="en-US" sz="2250">
                  <a:solidFill>
                    <a:srgbClr val="000000"/>
                  </a:solidFill>
                  <a:latin typeface="Poppins"/>
                  <a:ea typeface="Poppins"/>
                  <a:cs typeface="Poppins"/>
                  <a:sym typeface="Poppins"/>
                </a:rPr>
                <a:t>Same data. Same week.</a:t>
              </a:r>
            </a:p>
            <a:p>
              <a:pPr algn="ctr">
                <a:lnSpc>
                  <a:spcPts val="3510"/>
                </a:lnSpc>
              </a:pPr>
              <a:r>
                <a:rPr lang="en-US" sz="2250">
                  <a:solidFill>
                    <a:srgbClr val="000000"/>
                  </a:solidFill>
                  <a:latin typeface="Poppins"/>
                  <a:ea typeface="Poppins"/>
                  <a:cs typeface="Poppins"/>
                  <a:sym typeface="Poppins"/>
                </a:rPr>
                <a:t>Two competent analysts.</a:t>
              </a:r>
            </a:p>
          </p:txBody>
        </p:sp>
      </p:grpSp>
      <p:sp>
        <p:nvSpPr>
          <p:cNvPr name="TextBox 25" id="25"/>
          <p:cNvSpPr txBox="true"/>
          <p:nvPr/>
        </p:nvSpPr>
        <p:spPr>
          <a:xfrm rot="0">
            <a:off x="971550" y="2308860"/>
            <a:ext cx="9875520" cy="653415"/>
          </a:xfrm>
          <a:prstGeom prst="rect">
            <a:avLst/>
          </a:prstGeom>
        </p:spPr>
        <p:txBody>
          <a:bodyPr anchor="t" rtlCol="false" tIns="0" lIns="0" bIns="0" rIns="0">
            <a:spAutoFit/>
          </a:bodyPr>
          <a:lstStyle/>
          <a:p>
            <a:pPr algn="l">
              <a:lnSpc>
                <a:spcPts val="3402"/>
              </a:lnSpc>
            </a:pPr>
            <a:r>
              <a:rPr lang="en-US" sz="2100" i="true">
                <a:solidFill>
                  <a:srgbClr val="387F7F"/>
                </a:solidFill>
                <a:latin typeface="Poppins Italics"/>
                <a:ea typeface="Poppins Italics"/>
                <a:cs typeface="Poppins Italics"/>
                <a:sym typeface="Poppins Italics"/>
              </a:rPr>
              <a:t>Adaeze, to her analyst, on a Tuesday</a:t>
            </a:r>
          </a:p>
        </p:txBody>
      </p:sp>
      <p:grpSp>
        <p:nvGrpSpPr>
          <p:cNvPr name="Group 26" id="26"/>
          <p:cNvGrpSpPr/>
          <p:nvPr/>
        </p:nvGrpSpPr>
        <p:grpSpPr>
          <a:xfrm rot="0">
            <a:off x="857250" y="3832430"/>
            <a:ext cx="10149840" cy="3429000"/>
            <a:chOff x="0" y="0"/>
            <a:chExt cx="13533120" cy="4572000"/>
          </a:xfrm>
        </p:grpSpPr>
        <p:sp>
          <p:nvSpPr>
            <p:cNvPr name="Freeform 27" id="27"/>
            <p:cNvSpPr/>
            <p:nvPr/>
          </p:nvSpPr>
          <p:spPr>
            <a:xfrm flipH="false" flipV="false" rot="0">
              <a:off x="0" y="0"/>
              <a:ext cx="13533120" cy="4572000"/>
            </a:xfrm>
            <a:custGeom>
              <a:avLst/>
              <a:gdLst/>
              <a:ahLst/>
              <a:cxnLst/>
              <a:rect r="r" b="b" t="t" l="l"/>
              <a:pathLst>
                <a:path h="4572000" w="13533120">
                  <a:moveTo>
                    <a:pt x="0" y="182880"/>
                  </a:moveTo>
                  <a:cubicBezTo>
                    <a:pt x="0" y="81915"/>
                    <a:pt x="81915" y="0"/>
                    <a:pt x="182880" y="0"/>
                  </a:cubicBezTo>
                  <a:lnTo>
                    <a:pt x="13350239" y="0"/>
                  </a:lnTo>
                  <a:cubicBezTo>
                    <a:pt x="13451204" y="0"/>
                    <a:pt x="13533120" y="81915"/>
                    <a:pt x="13533120" y="182880"/>
                  </a:cubicBezTo>
                  <a:lnTo>
                    <a:pt x="13533120" y="4389120"/>
                  </a:lnTo>
                  <a:cubicBezTo>
                    <a:pt x="13533120" y="4490085"/>
                    <a:pt x="13451204" y="4572000"/>
                    <a:pt x="13350239" y="4572000"/>
                  </a:cubicBezTo>
                  <a:lnTo>
                    <a:pt x="182880" y="4572000"/>
                  </a:lnTo>
                  <a:cubicBezTo>
                    <a:pt x="81915" y="4572000"/>
                    <a:pt x="0" y="4490085"/>
                    <a:pt x="0" y="4389120"/>
                  </a:cubicBezTo>
                  <a:close/>
                </a:path>
              </a:pathLst>
            </a:custGeom>
            <a:solidFill>
              <a:srgbClr val="FFFFFF"/>
            </a:solidFill>
          </p:spPr>
        </p:sp>
      </p:grpSp>
      <p:sp>
        <p:nvSpPr>
          <p:cNvPr name="TextBox 28" id="28"/>
          <p:cNvSpPr txBox="true"/>
          <p:nvPr/>
        </p:nvSpPr>
        <p:spPr>
          <a:xfrm rot="0">
            <a:off x="1364742" y="4148660"/>
            <a:ext cx="9189720" cy="1329690"/>
          </a:xfrm>
          <a:prstGeom prst="rect">
            <a:avLst/>
          </a:prstGeom>
        </p:spPr>
        <p:txBody>
          <a:bodyPr anchor="t" rtlCol="false" tIns="0" lIns="0" bIns="0" rIns="0">
            <a:spAutoFit/>
          </a:bodyPr>
          <a:lstStyle/>
          <a:p>
            <a:pPr algn="l">
              <a:lnSpc>
                <a:spcPts val="3682"/>
              </a:lnSpc>
            </a:pPr>
            <a:r>
              <a:rPr lang="en-US" sz="2325">
                <a:solidFill>
                  <a:srgbClr val="475569"/>
                </a:solidFill>
                <a:latin typeface="Poppins"/>
                <a:ea typeface="Poppins"/>
                <a:cs typeface="Poppins"/>
                <a:sym typeface="Poppins"/>
              </a:rPr>
              <a:t>Both numbers came from the same data. Both measures were written by competent people. Neither contains a syntax error.</a:t>
            </a:r>
          </a:p>
        </p:txBody>
      </p:sp>
      <p:sp>
        <p:nvSpPr>
          <p:cNvPr name="TextBox 29" id="29"/>
          <p:cNvSpPr txBox="true"/>
          <p:nvPr/>
        </p:nvSpPr>
        <p:spPr>
          <a:xfrm rot="0">
            <a:off x="1364742" y="5520260"/>
            <a:ext cx="9189720" cy="1466850"/>
          </a:xfrm>
          <a:prstGeom prst="rect">
            <a:avLst/>
          </a:prstGeom>
        </p:spPr>
        <p:txBody>
          <a:bodyPr anchor="t" rtlCol="false" tIns="0" lIns="0" bIns="0" rIns="0">
            <a:spAutoFit/>
          </a:bodyPr>
          <a:lstStyle/>
          <a:p>
            <a:pPr algn="l">
              <a:lnSpc>
                <a:spcPts val="3682"/>
              </a:lnSpc>
            </a:pPr>
            <a:r>
              <a:rPr lang="en-US" sz="2325">
                <a:solidFill>
                  <a:srgbClr val="475569"/>
                </a:solidFill>
                <a:latin typeface="Poppins"/>
                <a:ea typeface="Poppins"/>
                <a:cs typeface="Poppins"/>
                <a:sym typeface="Poppins"/>
              </a:rPr>
              <a:t>They disagree because they define “on time” differently. One counts cancelled deliveries in the denominator. The other does not.</a:t>
            </a:r>
          </a:p>
        </p:txBody>
      </p:sp>
      <p:grpSp>
        <p:nvGrpSpPr>
          <p:cNvPr name="Group 30" id="30"/>
          <p:cNvGrpSpPr/>
          <p:nvPr/>
        </p:nvGrpSpPr>
        <p:grpSpPr>
          <a:xfrm rot="0">
            <a:off x="857250" y="7604330"/>
            <a:ext cx="10149840" cy="1165860"/>
            <a:chOff x="0" y="0"/>
            <a:chExt cx="13533120" cy="1554480"/>
          </a:xfrm>
        </p:grpSpPr>
        <p:sp>
          <p:nvSpPr>
            <p:cNvPr name="Freeform 31" id="31"/>
            <p:cNvSpPr/>
            <p:nvPr/>
          </p:nvSpPr>
          <p:spPr>
            <a:xfrm flipH="false" flipV="false" rot="0">
              <a:off x="0" y="0"/>
              <a:ext cx="13533120" cy="1554480"/>
            </a:xfrm>
            <a:custGeom>
              <a:avLst/>
              <a:gdLst/>
              <a:ahLst/>
              <a:cxnLst/>
              <a:rect r="r" b="b" t="t" l="l"/>
              <a:pathLst>
                <a:path h="1554480" w="13533120">
                  <a:moveTo>
                    <a:pt x="0" y="164592"/>
                  </a:moveTo>
                  <a:cubicBezTo>
                    <a:pt x="0" y="73660"/>
                    <a:pt x="73660" y="0"/>
                    <a:pt x="164592" y="0"/>
                  </a:cubicBezTo>
                  <a:lnTo>
                    <a:pt x="13368528" y="0"/>
                  </a:lnTo>
                  <a:cubicBezTo>
                    <a:pt x="13459461" y="0"/>
                    <a:pt x="13533120" y="73660"/>
                    <a:pt x="13533120" y="164592"/>
                  </a:cubicBezTo>
                  <a:lnTo>
                    <a:pt x="13533120" y="1389888"/>
                  </a:lnTo>
                  <a:cubicBezTo>
                    <a:pt x="13533120" y="1480820"/>
                    <a:pt x="13459461" y="1554480"/>
                    <a:pt x="13368528" y="1554480"/>
                  </a:cubicBezTo>
                  <a:lnTo>
                    <a:pt x="164592" y="1554480"/>
                  </a:lnTo>
                  <a:cubicBezTo>
                    <a:pt x="73660" y="1554480"/>
                    <a:pt x="0" y="1480820"/>
                    <a:pt x="0" y="1389888"/>
                  </a:cubicBezTo>
                  <a:close/>
                </a:path>
              </a:pathLst>
            </a:custGeom>
            <a:solidFill>
              <a:srgbClr val="FBF3E6"/>
            </a:solidFill>
          </p:spPr>
        </p:sp>
      </p:grpSp>
      <p:grpSp>
        <p:nvGrpSpPr>
          <p:cNvPr name="Group 32" id="32"/>
          <p:cNvGrpSpPr/>
          <p:nvPr/>
        </p:nvGrpSpPr>
        <p:grpSpPr>
          <a:xfrm rot="0">
            <a:off x="857250" y="7604330"/>
            <a:ext cx="102870" cy="1165860"/>
            <a:chOff x="0" y="0"/>
            <a:chExt cx="137160" cy="1554480"/>
          </a:xfrm>
        </p:grpSpPr>
        <p:sp>
          <p:nvSpPr>
            <p:cNvPr name="Freeform 33" id="33"/>
            <p:cNvSpPr/>
            <p:nvPr/>
          </p:nvSpPr>
          <p:spPr>
            <a:xfrm flipH="false" flipV="false" rot="0">
              <a:off x="0" y="0"/>
              <a:ext cx="137160" cy="1554480"/>
            </a:xfrm>
            <a:custGeom>
              <a:avLst/>
              <a:gdLst/>
              <a:ahLst/>
              <a:cxnLst/>
              <a:rect r="r" b="b" t="t" l="l"/>
              <a:pathLst>
                <a:path h="1554480" w="137160">
                  <a:moveTo>
                    <a:pt x="0" y="0"/>
                  </a:moveTo>
                  <a:lnTo>
                    <a:pt x="137160" y="0"/>
                  </a:lnTo>
                  <a:lnTo>
                    <a:pt x="137160" y="1554480"/>
                  </a:lnTo>
                  <a:lnTo>
                    <a:pt x="0" y="1554480"/>
                  </a:lnTo>
                  <a:close/>
                </a:path>
              </a:pathLst>
            </a:custGeom>
            <a:solidFill>
              <a:srgbClr val="C9821F"/>
            </a:solidFill>
          </p:spPr>
        </p:sp>
      </p:grpSp>
      <p:grpSp>
        <p:nvGrpSpPr>
          <p:cNvPr name="Group 34" id="34"/>
          <p:cNvGrpSpPr/>
          <p:nvPr/>
        </p:nvGrpSpPr>
        <p:grpSpPr>
          <a:xfrm rot="0">
            <a:off x="1364742" y="7604330"/>
            <a:ext cx="9601200" cy="1165860"/>
            <a:chOff x="0" y="0"/>
            <a:chExt cx="12801600" cy="1554480"/>
          </a:xfrm>
        </p:grpSpPr>
        <p:sp>
          <p:nvSpPr>
            <p:cNvPr name="Freeform 35" id="35"/>
            <p:cNvSpPr/>
            <p:nvPr/>
          </p:nvSpPr>
          <p:spPr>
            <a:xfrm flipH="false" flipV="false" rot="0">
              <a:off x="0" y="0"/>
              <a:ext cx="12801600" cy="1554480"/>
            </a:xfrm>
            <a:custGeom>
              <a:avLst/>
              <a:gdLst/>
              <a:ahLst/>
              <a:cxnLst/>
              <a:rect r="r" b="b" t="t" l="l"/>
              <a:pathLst>
                <a:path h="1554480" w="12801600">
                  <a:moveTo>
                    <a:pt x="0" y="0"/>
                  </a:moveTo>
                  <a:lnTo>
                    <a:pt x="12801600" y="0"/>
                  </a:lnTo>
                  <a:lnTo>
                    <a:pt x="12801600" y="1554480"/>
                  </a:lnTo>
                  <a:lnTo>
                    <a:pt x="0" y="1554480"/>
                  </a:lnTo>
                  <a:close/>
                </a:path>
              </a:pathLst>
            </a:custGeom>
            <a:blipFill>
              <a:blip r:embed="rId9">
                <a:alphaModFix amt="0"/>
              </a:blip>
              <a:stretch>
                <a:fillRect l="0" t="-110465" r="0" b="-110465"/>
              </a:stretch>
            </a:blipFill>
          </p:spPr>
        </p:sp>
        <p:sp>
          <p:nvSpPr>
            <p:cNvPr name="TextBox 36" id="36"/>
            <p:cNvSpPr txBox="true"/>
            <p:nvPr/>
          </p:nvSpPr>
          <p:spPr>
            <a:xfrm>
              <a:off x="0" y="-114300"/>
              <a:ext cx="12801600" cy="1668780"/>
            </a:xfrm>
            <a:prstGeom prst="rect">
              <a:avLst/>
            </a:prstGeom>
          </p:spPr>
          <p:txBody>
            <a:bodyPr anchor="ctr" rtlCol="false" tIns="0" lIns="0" bIns="0" rIns="0"/>
            <a:lstStyle/>
            <a:p>
              <a:pPr algn="l">
                <a:lnSpc>
                  <a:spcPts val="3645"/>
                </a:lnSpc>
              </a:pPr>
              <a:r>
                <a:rPr lang="en-US" sz="2250" b="true">
                  <a:solidFill>
                    <a:srgbClr val="8A5A12"/>
                  </a:solidFill>
                  <a:latin typeface="Poppins Bold"/>
                  <a:ea typeface="Poppins Bold"/>
                  <a:cs typeface="Poppins Bold"/>
                  <a:sym typeface="Poppins Bold"/>
                </a:rPr>
                <a:t>A measure is a definition before it is a calculation.</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81050"/>
            <a:ext cx="14497050" cy="1323975"/>
          </a:xfrm>
          <a:prstGeom prst="rect">
            <a:avLst/>
          </a:prstGeom>
        </p:spPr>
        <p:txBody>
          <a:bodyPr anchor="t" rtlCol="false" tIns="0" lIns="0" bIns="0" rIns="0">
            <a:spAutoFit/>
          </a:bodyPr>
          <a:lstStyle/>
          <a:p>
            <a:pPr algn="l">
              <a:lnSpc>
                <a:spcPts val="5160"/>
              </a:lnSpc>
            </a:pPr>
            <a:r>
              <a:rPr lang="en-US" sz="4300">
                <a:solidFill>
                  <a:srgbClr val="388080"/>
                </a:solidFill>
                <a:latin typeface="Poppins"/>
                <a:ea typeface="Poppins"/>
                <a:cs typeface="Poppins"/>
                <a:sym typeface="Poppins"/>
              </a:rPr>
              <a:t>A calculated column and a measure are not the same thing</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10" id="10"/>
          <p:cNvGrpSpPr/>
          <p:nvPr/>
        </p:nvGrpSpPr>
        <p:grpSpPr>
          <a:xfrm rot="0">
            <a:off x="895350" y="2400300"/>
            <a:ext cx="7063740" cy="4869180"/>
            <a:chOff x="0" y="0"/>
            <a:chExt cx="9418320" cy="6492240"/>
          </a:xfrm>
        </p:grpSpPr>
        <p:sp>
          <p:nvSpPr>
            <p:cNvPr name="Freeform 11" id="11"/>
            <p:cNvSpPr/>
            <p:nvPr/>
          </p:nvSpPr>
          <p:spPr>
            <a:xfrm flipH="false" flipV="false" rot="0">
              <a:off x="0" y="0"/>
              <a:ext cx="9418320" cy="6492240"/>
            </a:xfrm>
            <a:custGeom>
              <a:avLst/>
              <a:gdLst/>
              <a:ahLst/>
              <a:cxnLst/>
              <a:rect r="r" b="b" t="t" l="l"/>
              <a:pathLst>
                <a:path h="6492240" w="9418320">
                  <a:moveTo>
                    <a:pt x="0" y="182880"/>
                  </a:moveTo>
                  <a:cubicBezTo>
                    <a:pt x="0" y="81915"/>
                    <a:pt x="81915" y="0"/>
                    <a:pt x="182880" y="0"/>
                  </a:cubicBezTo>
                  <a:lnTo>
                    <a:pt x="9235440" y="0"/>
                  </a:lnTo>
                  <a:cubicBezTo>
                    <a:pt x="9336405" y="0"/>
                    <a:pt x="9418320" y="81915"/>
                    <a:pt x="9418320" y="182880"/>
                  </a:cubicBezTo>
                  <a:lnTo>
                    <a:pt x="9418320" y="6309360"/>
                  </a:lnTo>
                  <a:cubicBezTo>
                    <a:pt x="9418320" y="6410325"/>
                    <a:pt x="9336405" y="6492240"/>
                    <a:pt x="9235440" y="6492240"/>
                  </a:cubicBezTo>
                  <a:lnTo>
                    <a:pt x="182880" y="6492240"/>
                  </a:lnTo>
                  <a:cubicBezTo>
                    <a:pt x="81915" y="6492240"/>
                    <a:pt x="0" y="6410325"/>
                    <a:pt x="0" y="6309360"/>
                  </a:cubicBezTo>
                  <a:close/>
                </a:path>
              </a:pathLst>
            </a:custGeom>
            <a:solidFill>
              <a:srgbClr val="FFFFFF"/>
            </a:solidFill>
          </p:spPr>
        </p:sp>
      </p:grpSp>
      <p:grpSp>
        <p:nvGrpSpPr>
          <p:cNvPr name="Group 12" id="12"/>
          <p:cNvGrpSpPr/>
          <p:nvPr/>
        </p:nvGrpSpPr>
        <p:grpSpPr>
          <a:xfrm rot="0">
            <a:off x="895350" y="2400300"/>
            <a:ext cx="7063740" cy="850392"/>
            <a:chOff x="0" y="0"/>
            <a:chExt cx="9418320" cy="1133856"/>
          </a:xfrm>
        </p:grpSpPr>
        <p:sp>
          <p:nvSpPr>
            <p:cNvPr name="Freeform 13" id="13"/>
            <p:cNvSpPr/>
            <p:nvPr/>
          </p:nvSpPr>
          <p:spPr>
            <a:xfrm flipH="false" flipV="false" rot="0">
              <a:off x="0" y="0"/>
              <a:ext cx="9418320" cy="1133856"/>
            </a:xfrm>
            <a:custGeom>
              <a:avLst/>
              <a:gdLst/>
              <a:ahLst/>
              <a:cxnLst/>
              <a:rect r="r" b="b" t="t" l="l"/>
              <a:pathLst>
                <a:path h="1133856" w="9418320">
                  <a:moveTo>
                    <a:pt x="0" y="182880"/>
                  </a:moveTo>
                  <a:cubicBezTo>
                    <a:pt x="0" y="81915"/>
                    <a:pt x="81915" y="0"/>
                    <a:pt x="182880" y="0"/>
                  </a:cubicBezTo>
                  <a:lnTo>
                    <a:pt x="9235440" y="0"/>
                  </a:lnTo>
                  <a:cubicBezTo>
                    <a:pt x="9336405" y="0"/>
                    <a:pt x="9418320" y="81915"/>
                    <a:pt x="9418320" y="182880"/>
                  </a:cubicBezTo>
                  <a:lnTo>
                    <a:pt x="9418320" y="950976"/>
                  </a:lnTo>
                  <a:cubicBezTo>
                    <a:pt x="9418320" y="1051941"/>
                    <a:pt x="9336405" y="1133856"/>
                    <a:pt x="9235440" y="1133856"/>
                  </a:cubicBezTo>
                  <a:lnTo>
                    <a:pt x="182880" y="1133856"/>
                  </a:lnTo>
                  <a:cubicBezTo>
                    <a:pt x="81915" y="1133856"/>
                    <a:pt x="0" y="1051941"/>
                    <a:pt x="0" y="950976"/>
                  </a:cubicBezTo>
                  <a:close/>
                </a:path>
              </a:pathLst>
            </a:custGeom>
            <a:solidFill>
              <a:srgbClr val="20494A"/>
            </a:solidFill>
          </p:spPr>
        </p:sp>
      </p:grpSp>
      <p:grpSp>
        <p:nvGrpSpPr>
          <p:cNvPr name="Group 14" id="14"/>
          <p:cNvGrpSpPr/>
          <p:nvPr/>
        </p:nvGrpSpPr>
        <p:grpSpPr>
          <a:xfrm rot="0">
            <a:off x="895350" y="2825496"/>
            <a:ext cx="7063740" cy="425196"/>
            <a:chOff x="0" y="0"/>
            <a:chExt cx="9418320" cy="566928"/>
          </a:xfrm>
        </p:grpSpPr>
        <p:sp>
          <p:nvSpPr>
            <p:cNvPr name="Freeform 15" id="15"/>
            <p:cNvSpPr/>
            <p:nvPr/>
          </p:nvSpPr>
          <p:spPr>
            <a:xfrm flipH="false" flipV="false" rot="0">
              <a:off x="0" y="0"/>
              <a:ext cx="9418320" cy="566928"/>
            </a:xfrm>
            <a:custGeom>
              <a:avLst/>
              <a:gdLst/>
              <a:ahLst/>
              <a:cxnLst/>
              <a:rect r="r" b="b" t="t" l="l"/>
              <a:pathLst>
                <a:path h="566928" w="9418320">
                  <a:moveTo>
                    <a:pt x="0" y="0"/>
                  </a:moveTo>
                  <a:lnTo>
                    <a:pt x="9418320" y="0"/>
                  </a:lnTo>
                  <a:lnTo>
                    <a:pt x="9418320" y="566928"/>
                  </a:lnTo>
                  <a:lnTo>
                    <a:pt x="0" y="566928"/>
                  </a:lnTo>
                  <a:close/>
                </a:path>
              </a:pathLst>
            </a:custGeom>
            <a:solidFill>
              <a:srgbClr val="20494A"/>
            </a:solidFill>
          </p:spPr>
        </p:sp>
      </p:grpSp>
      <p:grpSp>
        <p:nvGrpSpPr>
          <p:cNvPr name="Group 16" id="16"/>
          <p:cNvGrpSpPr/>
          <p:nvPr/>
        </p:nvGrpSpPr>
        <p:grpSpPr>
          <a:xfrm rot="0">
            <a:off x="895350" y="2400300"/>
            <a:ext cx="7063740" cy="850392"/>
            <a:chOff x="0" y="0"/>
            <a:chExt cx="9418320" cy="1133856"/>
          </a:xfrm>
        </p:grpSpPr>
        <p:sp>
          <p:nvSpPr>
            <p:cNvPr name="Freeform 17" id="17"/>
            <p:cNvSpPr/>
            <p:nvPr/>
          </p:nvSpPr>
          <p:spPr>
            <a:xfrm flipH="false" flipV="false" rot="0">
              <a:off x="0" y="0"/>
              <a:ext cx="9418320" cy="1133856"/>
            </a:xfrm>
            <a:custGeom>
              <a:avLst/>
              <a:gdLst/>
              <a:ahLst/>
              <a:cxnLst/>
              <a:rect r="r" b="b" t="t" l="l"/>
              <a:pathLst>
                <a:path h="1133856" w="9418320">
                  <a:moveTo>
                    <a:pt x="0" y="0"/>
                  </a:moveTo>
                  <a:lnTo>
                    <a:pt x="9418320" y="0"/>
                  </a:lnTo>
                  <a:lnTo>
                    <a:pt x="9418320" y="1133856"/>
                  </a:lnTo>
                  <a:lnTo>
                    <a:pt x="0" y="1133856"/>
                  </a:lnTo>
                  <a:close/>
                </a:path>
              </a:pathLst>
            </a:custGeom>
            <a:blipFill>
              <a:blip r:embed="rId7">
                <a:alphaModFix amt="0"/>
              </a:blip>
              <a:stretch>
                <a:fillRect l="0" t="-111851" r="0" b="-111851"/>
              </a:stretch>
            </a:blipFill>
          </p:spPr>
        </p:sp>
        <p:sp>
          <p:nvSpPr>
            <p:cNvPr name="TextBox 18" id="18"/>
            <p:cNvSpPr txBox="true"/>
            <p:nvPr/>
          </p:nvSpPr>
          <p:spPr>
            <a:xfrm>
              <a:off x="0" y="-19050"/>
              <a:ext cx="9418320" cy="1152906"/>
            </a:xfrm>
            <a:prstGeom prst="rect">
              <a:avLst/>
            </a:prstGeom>
          </p:spPr>
          <p:txBody>
            <a:bodyPr anchor="ctr" rtlCol="false" tIns="0" lIns="0" bIns="0" rIns="0"/>
            <a:lstStyle/>
            <a:p>
              <a:pPr algn="ctr">
                <a:lnSpc>
                  <a:spcPts val="2340"/>
                </a:lnSpc>
              </a:pPr>
              <a:r>
                <a:rPr lang="en-US" b="true" sz="1950" spc="150">
                  <a:solidFill>
                    <a:srgbClr val="FFFFFF"/>
                  </a:solidFill>
                  <a:latin typeface="Poppins Bold"/>
                  <a:ea typeface="Poppins Bold"/>
                  <a:cs typeface="Poppins Bold"/>
                  <a:sym typeface="Poppins Bold"/>
                </a:rPr>
                <a:t>▤   CALCULATED COLUMN</a:t>
              </a:r>
            </a:p>
          </p:txBody>
        </p:sp>
      </p:grpSp>
      <p:sp>
        <p:nvSpPr>
          <p:cNvPr name="TextBox 19" id="19"/>
          <p:cNvSpPr txBox="true"/>
          <p:nvPr/>
        </p:nvSpPr>
        <p:spPr>
          <a:xfrm rot="0">
            <a:off x="1334262" y="3480435"/>
            <a:ext cx="6185916" cy="2005965"/>
          </a:xfrm>
          <a:prstGeom prst="rect">
            <a:avLst/>
          </a:prstGeom>
        </p:spPr>
        <p:txBody>
          <a:bodyPr anchor="t" rtlCol="false" tIns="0" lIns="0" bIns="0" rIns="0">
            <a:spAutoFit/>
          </a:bodyPr>
          <a:lstStyle/>
          <a:p>
            <a:pPr algn="l">
              <a:lnSpc>
                <a:spcPts val="3042"/>
              </a:lnSpc>
            </a:pPr>
            <a:r>
              <a:rPr lang="en-US" sz="1950">
                <a:solidFill>
                  <a:srgbClr val="475569"/>
                </a:solidFill>
                <a:latin typeface="Poppins"/>
                <a:ea typeface="Poppins"/>
                <a:cs typeface="Poppins"/>
                <a:sym typeface="Poppins"/>
              </a:rPr>
              <a:t>Computed once, per row, when the data loads. Stored in the file. Takes up memory. Exists whether or not anyone looks at it.</a:t>
            </a:r>
          </a:p>
        </p:txBody>
      </p:sp>
      <p:sp>
        <p:nvSpPr>
          <p:cNvPr name="TextBox 20" id="20"/>
          <p:cNvSpPr txBox="true"/>
          <p:nvPr/>
        </p:nvSpPr>
        <p:spPr>
          <a:xfrm rot="0">
            <a:off x="1334262" y="5459730"/>
            <a:ext cx="6185916" cy="643890"/>
          </a:xfrm>
          <a:prstGeom prst="rect">
            <a:avLst/>
          </a:prstGeom>
        </p:spPr>
        <p:txBody>
          <a:bodyPr anchor="t" rtlCol="false" tIns="0" lIns="0" bIns="0" rIns="0">
            <a:spAutoFit/>
          </a:bodyPr>
          <a:lstStyle/>
          <a:p>
            <a:pPr algn="l">
              <a:lnSpc>
                <a:spcPts val="3037"/>
              </a:lnSpc>
            </a:pPr>
            <a:r>
              <a:rPr lang="en-US" sz="1875" b="true">
                <a:solidFill>
                  <a:srgbClr val="387F7F"/>
                </a:solidFill>
                <a:latin typeface="Poppins Bold"/>
                <a:ea typeface="Poppins Bold"/>
                <a:cs typeface="Poppins Bold"/>
                <a:sym typeface="Poppins Bold"/>
              </a:rPr>
              <a:t>Use for something you want to filter, group or slice BY.</a:t>
            </a:r>
          </a:p>
        </p:txBody>
      </p:sp>
      <p:grpSp>
        <p:nvGrpSpPr>
          <p:cNvPr name="Group 21" id="21"/>
          <p:cNvGrpSpPr/>
          <p:nvPr/>
        </p:nvGrpSpPr>
        <p:grpSpPr>
          <a:xfrm rot="0">
            <a:off x="1334262" y="6172200"/>
            <a:ext cx="6185916" cy="822960"/>
            <a:chOff x="0" y="0"/>
            <a:chExt cx="8247888" cy="1097280"/>
          </a:xfrm>
        </p:grpSpPr>
        <p:sp>
          <p:nvSpPr>
            <p:cNvPr name="Freeform 22" id="22"/>
            <p:cNvSpPr/>
            <p:nvPr/>
          </p:nvSpPr>
          <p:spPr>
            <a:xfrm flipH="false" flipV="false" rot="0">
              <a:off x="0" y="0"/>
              <a:ext cx="8247888" cy="1097280"/>
            </a:xfrm>
            <a:custGeom>
              <a:avLst/>
              <a:gdLst/>
              <a:ahLst/>
              <a:cxnLst/>
              <a:rect r="r" b="b" t="t" l="l"/>
              <a:pathLst>
                <a:path h="1097280" w="8247888">
                  <a:moveTo>
                    <a:pt x="0" y="109728"/>
                  </a:moveTo>
                  <a:cubicBezTo>
                    <a:pt x="0" y="49149"/>
                    <a:pt x="49149" y="0"/>
                    <a:pt x="109728" y="0"/>
                  </a:cubicBezTo>
                  <a:lnTo>
                    <a:pt x="8138160" y="0"/>
                  </a:lnTo>
                  <a:cubicBezTo>
                    <a:pt x="8198739" y="0"/>
                    <a:pt x="8247888" y="49149"/>
                    <a:pt x="8247888" y="109728"/>
                  </a:cubicBezTo>
                  <a:lnTo>
                    <a:pt x="8247888" y="987552"/>
                  </a:lnTo>
                  <a:cubicBezTo>
                    <a:pt x="8247888" y="1048131"/>
                    <a:pt x="8198739" y="1097280"/>
                    <a:pt x="8138160" y="1097280"/>
                  </a:cubicBezTo>
                  <a:lnTo>
                    <a:pt x="109728" y="1097280"/>
                  </a:lnTo>
                  <a:cubicBezTo>
                    <a:pt x="49149" y="1097280"/>
                    <a:pt x="0" y="1048131"/>
                    <a:pt x="0" y="987552"/>
                  </a:cubicBezTo>
                  <a:close/>
                </a:path>
              </a:pathLst>
            </a:custGeom>
            <a:solidFill>
              <a:srgbClr val="EEF4F4"/>
            </a:solidFill>
          </p:spPr>
        </p:sp>
      </p:grpSp>
      <p:grpSp>
        <p:nvGrpSpPr>
          <p:cNvPr name="Group 23" id="23"/>
          <p:cNvGrpSpPr/>
          <p:nvPr/>
        </p:nvGrpSpPr>
        <p:grpSpPr>
          <a:xfrm rot="0">
            <a:off x="1471422" y="6172200"/>
            <a:ext cx="5911596" cy="822960"/>
            <a:chOff x="0" y="0"/>
            <a:chExt cx="7882128" cy="1097280"/>
          </a:xfrm>
        </p:grpSpPr>
        <p:sp>
          <p:nvSpPr>
            <p:cNvPr name="Freeform 24" id="24"/>
            <p:cNvSpPr/>
            <p:nvPr/>
          </p:nvSpPr>
          <p:spPr>
            <a:xfrm flipH="false" flipV="false" rot="0">
              <a:off x="0" y="0"/>
              <a:ext cx="7882128" cy="1097280"/>
            </a:xfrm>
            <a:custGeom>
              <a:avLst/>
              <a:gdLst/>
              <a:ahLst/>
              <a:cxnLst/>
              <a:rect r="r" b="b" t="t" l="l"/>
              <a:pathLst>
                <a:path h="1097280" w="7882128">
                  <a:moveTo>
                    <a:pt x="0" y="0"/>
                  </a:moveTo>
                  <a:lnTo>
                    <a:pt x="7882128" y="0"/>
                  </a:lnTo>
                  <a:lnTo>
                    <a:pt x="7882128" y="1097280"/>
                  </a:lnTo>
                  <a:lnTo>
                    <a:pt x="0" y="1097280"/>
                  </a:lnTo>
                  <a:close/>
                </a:path>
              </a:pathLst>
            </a:custGeom>
            <a:blipFill>
              <a:blip r:embed="rId7">
                <a:alphaModFix amt="0"/>
              </a:blip>
              <a:stretch>
                <a:fillRect l="0" t="-89967" r="0" b="-89967"/>
              </a:stretch>
            </a:blipFill>
          </p:spPr>
        </p:sp>
        <p:sp>
          <p:nvSpPr>
            <p:cNvPr name="TextBox 25" id="25"/>
            <p:cNvSpPr txBox="true"/>
            <p:nvPr/>
          </p:nvSpPr>
          <p:spPr>
            <a:xfrm>
              <a:off x="0" y="-47625"/>
              <a:ext cx="7882128" cy="1144905"/>
            </a:xfrm>
            <a:prstGeom prst="rect">
              <a:avLst/>
            </a:prstGeom>
          </p:spPr>
          <p:txBody>
            <a:bodyPr anchor="ctr" rtlCol="false" tIns="0" lIns="0" bIns="0" rIns="0"/>
            <a:lstStyle/>
            <a:p>
              <a:pPr algn="ctr">
                <a:lnSpc>
                  <a:spcPts val="2376"/>
                </a:lnSpc>
              </a:pPr>
              <a:r>
                <a:rPr lang="en-US" sz="1650" i="true">
                  <a:solidFill>
                    <a:srgbClr val="475569"/>
                  </a:solidFill>
                  <a:latin typeface="Poppins Italics"/>
                  <a:ea typeface="Poppins Italics"/>
                  <a:cs typeface="Poppins Italics"/>
                  <a:sym typeface="Poppins Italics"/>
                </a:rPr>
                <a:t>“Delay band: On time / Under 30 late / Over 30 late”</a:t>
              </a:r>
            </a:p>
          </p:txBody>
        </p:sp>
      </p:grpSp>
      <p:grpSp>
        <p:nvGrpSpPr>
          <p:cNvPr name="Group 26" id="26"/>
          <p:cNvGrpSpPr/>
          <p:nvPr/>
        </p:nvGrpSpPr>
        <p:grpSpPr>
          <a:xfrm rot="0">
            <a:off x="8576310" y="2400300"/>
            <a:ext cx="7063740" cy="4869180"/>
            <a:chOff x="0" y="0"/>
            <a:chExt cx="9418320" cy="6492240"/>
          </a:xfrm>
        </p:grpSpPr>
        <p:sp>
          <p:nvSpPr>
            <p:cNvPr name="Freeform 27" id="27"/>
            <p:cNvSpPr/>
            <p:nvPr/>
          </p:nvSpPr>
          <p:spPr>
            <a:xfrm flipH="false" flipV="false" rot="0">
              <a:off x="0" y="0"/>
              <a:ext cx="9418320" cy="6492240"/>
            </a:xfrm>
            <a:custGeom>
              <a:avLst/>
              <a:gdLst/>
              <a:ahLst/>
              <a:cxnLst/>
              <a:rect r="r" b="b" t="t" l="l"/>
              <a:pathLst>
                <a:path h="6492240" w="9418320">
                  <a:moveTo>
                    <a:pt x="0" y="182880"/>
                  </a:moveTo>
                  <a:cubicBezTo>
                    <a:pt x="0" y="81915"/>
                    <a:pt x="81915" y="0"/>
                    <a:pt x="182880" y="0"/>
                  </a:cubicBezTo>
                  <a:lnTo>
                    <a:pt x="9235440" y="0"/>
                  </a:lnTo>
                  <a:cubicBezTo>
                    <a:pt x="9336405" y="0"/>
                    <a:pt x="9418320" y="81915"/>
                    <a:pt x="9418320" y="182880"/>
                  </a:cubicBezTo>
                  <a:lnTo>
                    <a:pt x="9418320" y="6309360"/>
                  </a:lnTo>
                  <a:cubicBezTo>
                    <a:pt x="9418320" y="6410325"/>
                    <a:pt x="9336405" y="6492240"/>
                    <a:pt x="9235440" y="6492240"/>
                  </a:cubicBezTo>
                  <a:lnTo>
                    <a:pt x="182880" y="6492240"/>
                  </a:lnTo>
                  <a:cubicBezTo>
                    <a:pt x="81915" y="6492240"/>
                    <a:pt x="0" y="6410325"/>
                    <a:pt x="0" y="6309360"/>
                  </a:cubicBezTo>
                  <a:close/>
                </a:path>
              </a:pathLst>
            </a:custGeom>
            <a:solidFill>
              <a:srgbClr val="FFFFFF"/>
            </a:solidFill>
          </p:spPr>
        </p:sp>
      </p:grpSp>
      <p:grpSp>
        <p:nvGrpSpPr>
          <p:cNvPr name="Group 28" id="28"/>
          <p:cNvGrpSpPr/>
          <p:nvPr/>
        </p:nvGrpSpPr>
        <p:grpSpPr>
          <a:xfrm rot="0">
            <a:off x="8576310" y="2400300"/>
            <a:ext cx="7063740" cy="850392"/>
            <a:chOff x="0" y="0"/>
            <a:chExt cx="9418320" cy="1133856"/>
          </a:xfrm>
        </p:grpSpPr>
        <p:sp>
          <p:nvSpPr>
            <p:cNvPr name="Freeform 29" id="29"/>
            <p:cNvSpPr/>
            <p:nvPr/>
          </p:nvSpPr>
          <p:spPr>
            <a:xfrm flipH="false" flipV="false" rot="0">
              <a:off x="0" y="0"/>
              <a:ext cx="9418320" cy="1133856"/>
            </a:xfrm>
            <a:custGeom>
              <a:avLst/>
              <a:gdLst/>
              <a:ahLst/>
              <a:cxnLst/>
              <a:rect r="r" b="b" t="t" l="l"/>
              <a:pathLst>
                <a:path h="1133856" w="9418320">
                  <a:moveTo>
                    <a:pt x="0" y="182880"/>
                  </a:moveTo>
                  <a:cubicBezTo>
                    <a:pt x="0" y="81915"/>
                    <a:pt x="81915" y="0"/>
                    <a:pt x="182880" y="0"/>
                  </a:cubicBezTo>
                  <a:lnTo>
                    <a:pt x="9235440" y="0"/>
                  </a:lnTo>
                  <a:cubicBezTo>
                    <a:pt x="9336405" y="0"/>
                    <a:pt x="9418320" y="81915"/>
                    <a:pt x="9418320" y="182880"/>
                  </a:cubicBezTo>
                  <a:lnTo>
                    <a:pt x="9418320" y="950976"/>
                  </a:lnTo>
                  <a:cubicBezTo>
                    <a:pt x="9418320" y="1051941"/>
                    <a:pt x="9336405" y="1133856"/>
                    <a:pt x="9235440" y="1133856"/>
                  </a:cubicBezTo>
                  <a:lnTo>
                    <a:pt x="182880" y="1133856"/>
                  </a:lnTo>
                  <a:cubicBezTo>
                    <a:pt x="81915" y="1133856"/>
                    <a:pt x="0" y="1051941"/>
                    <a:pt x="0" y="950976"/>
                  </a:cubicBezTo>
                  <a:close/>
                </a:path>
              </a:pathLst>
            </a:custGeom>
            <a:solidFill>
              <a:srgbClr val="387F7F"/>
            </a:solidFill>
          </p:spPr>
        </p:sp>
      </p:grpSp>
      <p:grpSp>
        <p:nvGrpSpPr>
          <p:cNvPr name="Group 30" id="30"/>
          <p:cNvGrpSpPr/>
          <p:nvPr/>
        </p:nvGrpSpPr>
        <p:grpSpPr>
          <a:xfrm rot="0">
            <a:off x="8576310" y="2825496"/>
            <a:ext cx="7063740" cy="425196"/>
            <a:chOff x="0" y="0"/>
            <a:chExt cx="9418320" cy="566928"/>
          </a:xfrm>
        </p:grpSpPr>
        <p:sp>
          <p:nvSpPr>
            <p:cNvPr name="Freeform 31" id="31"/>
            <p:cNvSpPr/>
            <p:nvPr/>
          </p:nvSpPr>
          <p:spPr>
            <a:xfrm flipH="false" flipV="false" rot="0">
              <a:off x="0" y="0"/>
              <a:ext cx="9418320" cy="566928"/>
            </a:xfrm>
            <a:custGeom>
              <a:avLst/>
              <a:gdLst/>
              <a:ahLst/>
              <a:cxnLst/>
              <a:rect r="r" b="b" t="t" l="l"/>
              <a:pathLst>
                <a:path h="566928" w="9418320">
                  <a:moveTo>
                    <a:pt x="0" y="0"/>
                  </a:moveTo>
                  <a:lnTo>
                    <a:pt x="9418320" y="0"/>
                  </a:lnTo>
                  <a:lnTo>
                    <a:pt x="9418320" y="566928"/>
                  </a:lnTo>
                  <a:lnTo>
                    <a:pt x="0" y="566928"/>
                  </a:lnTo>
                  <a:close/>
                </a:path>
              </a:pathLst>
            </a:custGeom>
            <a:solidFill>
              <a:srgbClr val="387F7F"/>
            </a:solidFill>
          </p:spPr>
        </p:sp>
      </p:grpSp>
      <p:grpSp>
        <p:nvGrpSpPr>
          <p:cNvPr name="Group 32" id="32"/>
          <p:cNvGrpSpPr/>
          <p:nvPr/>
        </p:nvGrpSpPr>
        <p:grpSpPr>
          <a:xfrm rot="0">
            <a:off x="8576310" y="2400300"/>
            <a:ext cx="7063740" cy="850392"/>
            <a:chOff x="0" y="0"/>
            <a:chExt cx="9418320" cy="1133856"/>
          </a:xfrm>
        </p:grpSpPr>
        <p:sp>
          <p:nvSpPr>
            <p:cNvPr name="Freeform 33" id="33"/>
            <p:cNvSpPr/>
            <p:nvPr/>
          </p:nvSpPr>
          <p:spPr>
            <a:xfrm flipH="false" flipV="false" rot="0">
              <a:off x="0" y="0"/>
              <a:ext cx="9418320" cy="1133856"/>
            </a:xfrm>
            <a:custGeom>
              <a:avLst/>
              <a:gdLst/>
              <a:ahLst/>
              <a:cxnLst/>
              <a:rect r="r" b="b" t="t" l="l"/>
              <a:pathLst>
                <a:path h="1133856" w="9418320">
                  <a:moveTo>
                    <a:pt x="0" y="0"/>
                  </a:moveTo>
                  <a:lnTo>
                    <a:pt x="9418320" y="0"/>
                  </a:lnTo>
                  <a:lnTo>
                    <a:pt x="9418320" y="1133856"/>
                  </a:lnTo>
                  <a:lnTo>
                    <a:pt x="0" y="1133856"/>
                  </a:lnTo>
                  <a:close/>
                </a:path>
              </a:pathLst>
            </a:custGeom>
            <a:blipFill>
              <a:blip r:embed="rId7">
                <a:alphaModFix amt="0"/>
              </a:blip>
              <a:stretch>
                <a:fillRect l="0" t="-111851" r="0" b="-111851"/>
              </a:stretch>
            </a:blipFill>
          </p:spPr>
        </p:sp>
        <p:sp>
          <p:nvSpPr>
            <p:cNvPr name="TextBox 34" id="34"/>
            <p:cNvSpPr txBox="true"/>
            <p:nvPr/>
          </p:nvSpPr>
          <p:spPr>
            <a:xfrm>
              <a:off x="0" y="-19050"/>
              <a:ext cx="9418320" cy="1152906"/>
            </a:xfrm>
            <a:prstGeom prst="rect">
              <a:avLst/>
            </a:prstGeom>
          </p:spPr>
          <p:txBody>
            <a:bodyPr anchor="ctr" rtlCol="false" tIns="0" lIns="0" bIns="0" rIns="0"/>
            <a:lstStyle/>
            <a:p>
              <a:pPr algn="ctr">
                <a:lnSpc>
                  <a:spcPts val="2340"/>
                </a:lnSpc>
              </a:pPr>
              <a:r>
                <a:rPr lang="en-US" b="true" sz="1950" spc="150">
                  <a:solidFill>
                    <a:srgbClr val="FFFFFF"/>
                  </a:solidFill>
                  <a:latin typeface="Poppins Bold"/>
                  <a:ea typeface="Poppins Bold"/>
                  <a:cs typeface="Poppins Bold"/>
                  <a:sym typeface="Poppins Bold"/>
                </a:rPr>
                <a:t>ƒ   MEASURE</a:t>
              </a:r>
            </a:p>
          </p:txBody>
        </p:sp>
      </p:grpSp>
      <p:sp>
        <p:nvSpPr>
          <p:cNvPr name="TextBox 35" id="35"/>
          <p:cNvSpPr txBox="true"/>
          <p:nvPr/>
        </p:nvSpPr>
        <p:spPr>
          <a:xfrm rot="0">
            <a:off x="9015222" y="3480435"/>
            <a:ext cx="6185916" cy="2005965"/>
          </a:xfrm>
          <a:prstGeom prst="rect">
            <a:avLst/>
          </a:prstGeom>
        </p:spPr>
        <p:txBody>
          <a:bodyPr anchor="t" rtlCol="false" tIns="0" lIns="0" bIns="0" rIns="0">
            <a:spAutoFit/>
          </a:bodyPr>
          <a:lstStyle/>
          <a:p>
            <a:pPr algn="l">
              <a:lnSpc>
                <a:spcPts val="3042"/>
              </a:lnSpc>
            </a:pPr>
            <a:r>
              <a:rPr lang="en-US" sz="1950">
                <a:solidFill>
                  <a:srgbClr val="475569"/>
                </a:solidFill>
                <a:latin typeface="Poppins"/>
                <a:ea typeface="Poppins"/>
                <a:cs typeface="Poppins"/>
                <a:sym typeface="Poppins"/>
              </a:rPr>
              <a:t>Computed on demand, when a visual asks, and re-computed for every cell of every chart. Stores nothing. Responds to whatever filters apply.</a:t>
            </a:r>
          </a:p>
        </p:txBody>
      </p:sp>
      <p:sp>
        <p:nvSpPr>
          <p:cNvPr name="TextBox 36" id="36"/>
          <p:cNvSpPr txBox="true"/>
          <p:nvPr/>
        </p:nvSpPr>
        <p:spPr>
          <a:xfrm rot="0">
            <a:off x="9015222" y="5459730"/>
            <a:ext cx="6185916" cy="643890"/>
          </a:xfrm>
          <a:prstGeom prst="rect">
            <a:avLst/>
          </a:prstGeom>
        </p:spPr>
        <p:txBody>
          <a:bodyPr anchor="t" rtlCol="false" tIns="0" lIns="0" bIns="0" rIns="0">
            <a:spAutoFit/>
          </a:bodyPr>
          <a:lstStyle/>
          <a:p>
            <a:pPr algn="l">
              <a:lnSpc>
                <a:spcPts val="3037"/>
              </a:lnSpc>
            </a:pPr>
            <a:r>
              <a:rPr lang="en-US" sz="1875" b="true">
                <a:solidFill>
                  <a:srgbClr val="387F7F"/>
                </a:solidFill>
                <a:latin typeface="Poppins Bold"/>
                <a:ea typeface="Poppins Bold"/>
                <a:cs typeface="Poppins Bold"/>
                <a:sym typeface="Poppins Bold"/>
              </a:rPr>
              <a:t>Use for an aggregated number.</a:t>
            </a:r>
          </a:p>
        </p:txBody>
      </p:sp>
      <p:grpSp>
        <p:nvGrpSpPr>
          <p:cNvPr name="Group 37" id="37"/>
          <p:cNvGrpSpPr/>
          <p:nvPr/>
        </p:nvGrpSpPr>
        <p:grpSpPr>
          <a:xfrm rot="0">
            <a:off x="9015222" y="6172200"/>
            <a:ext cx="6185916" cy="822960"/>
            <a:chOff x="0" y="0"/>
            <a:chExt cx="8247888" cy="1097280"/>
          </a:xfrm>
        </p:grpSpPr>
        <p:sp>
          <p:nvSpPr>
            <p:cNvPr name="Freeform 38" id="38"/>
            <p:cNvSpPr/>
            <p:nvPr/>
          </p:nvSpPr>
          <p:spPr>
            <a:xfrm flipH="false" flipV="false" rot="0">
              <a:off x="0" y="0"/>
              <a:ext cx="8247888" cy="1097280"/>
            </a:xfrm>
            <a:custGeom>
              <a:avLst/>
              <a:gdLst/>
              <a:ahLst/>
              <a:cxnLst/>
              <a:rect r="r" b="b" t="t" l="l"/>
              <a:pathLst>
                <a:path h="1097280" w="8247888">
                  <a:moveTo>
                    <a:pt x="0" y="109728"/>
                  </a:moveTo>
                  <a:cubicBezTo>
                    <a:pt x="0" y="49149"/>
                    <a:pt x="49149" y="0"/>
                    <a:pt x="109728" y="0"/>
                  </a:cubicBezTo>
                  <a:lnTo>
                    <a:pt x="8138160" y="0"/>
                  </a:lnTo>
                  <a:cubicBezTo>
                    <a:pt x="8198739" y="0"/>
                    <a:pt x="8247888" y="49149"/>
                    <a:pt x="8247888" y="109728"/>
                  </a:cubicBezTo>
                  <a:lnTo>
                    <a:pt x="8247888" y="987552"/>
                  </a:lnTo>
                  <a:cubicBezTo>
                    <a:pt x="8247888" y="1048131"/>
                    <a:pt x="8198739" y="1097280"/>
                    <a:pt x="8138160" y="1097280"/>
                  </a:cubicBezTo>
                  <a:lnTo>
                    <a:pt x="109728" y="1097280"/>
                  </a:lnTo>
                  <a:cubicBezTo>
                    <a:pt x="49149" y="1097280"/>
                    <a:pt x="0" y="1048131"/>
                    <a:pt x="0" y="987552"/>
                  </a:cubicBezTo>
                  <a:close/>
                </a:path>
              </a:pathLst>
            </a:custGeom>
            <a:solidFill>
              <a:srgbClr val="EEF4F4"/>
            </a:solidFill>
          </p:spPr>
        </p:sp>
      </p:grpSp>
      <p:grpSp>
        <p:nvGrpSpPr>
          <p:cNvPr name="Group 39" id="39"/>
          <p:cNvGrpSpPr/>
          <p:nvPr/>
        </p:nvGrpSpPr>
        <p:grpSpPr>
          <a:xfrm rot="0">
            <a:off x="9152382" y="6172200"/>
            <a:ext cx="5911596" cy="822960"/>
            <a:chOff x="0" y="0"/>
            <a:chExt cx="7882128" cy="1097280"/>
          </a:xfrm>
        </p:grpSpPr>
        <p:sp>
          <p:nvSpPr>
            <p:cNvPr name="Freeform 40" id="40"/>
            <p:cNvSpPr/>
            <p:nvPr/>
          </p:nvSpPr>
          <p:spPr>
            <a:xfrm flipH="false" flipV="false" rot="0">
              <a:off x="0" y="0"/>
              <a:ext cx="7882128" cy="1097280"/>
            </a:xfrm>
            <a:custGeom>
              <a:avLst/>
              <a:gdLst/>
              <a:ahLst/>
              <a:cxnLst/>
              <a:rect r="r" b="b" t="t" l="l"/>
              <a:pathLst>
                <a:path h="1097280" w="7882128">
                  <a:moveTo>
                    <a:pt x="0" y="0"/>
                  </a:moveTo>
                  <a:lnTo>
                    <a:pt x="7882128" y="0"/>
                  </a:lnTo>
                  <a:lnTo>
                    <a:pt x="7882128" y="1097280"/>
                  </a:lnTo>
                  <a:lnTo>
                    <a:pt x="0" y="1097280"/>
                  </a:lnTo>
                  <a:close/>
                </a:path>
              </a:pathLst>
            </a:custGeom>
            <a:blipFill>
              <a:blip r:embed="rId7">
                <a:alphaModFix amt="0"/>
              </a:blip>
              <a:stretch>
                <a:fillRect l="0" t="-89967" r="0" b="-89967"/>
              </a:stretch>
            </a:blipFill>
          </p:spPr>
        </p:sp>
        <p:sp>
          <p:nvSpPr>
            <p:cNvPr name="TextBox 41" id="41"/>
            <p:cNvSpPr txBox="true"/>
            <p:nvPr/>
          </p:nvSpPr>
          <p:spPr>
            <a:xfrm>
              <a:off x="0" y="-47625"/>
              <a:ext cx="7882128" cy="1144905"/>
            </a:xfrm>
            <a:prstGeom prst="rect">
              <a:avLst/>
            </a:prstGeom>
          </p:spPr>
          <p:txBody>
            <a:bodyPr anchor="ctr" rtlCol="false" tIns="0" lIns="0" bIns="0" rIns="0"/>
            <a:lstStyle/>
            <a:p>
              <a:pPr algn="ctr">
                <a:lnSpc>
                  <a:spcPts val="2376"/>
                </a:lnSpc>
              </a:pPr>
              <a:r>
                <a:rPr lang="en-US" sz="1650" i="true">
                  <a:solidFill>
                    <a:srgbClr val="475569"/>
                  </a:solidFill>
                  <a:latin typeface="Poppins Italics"/>
                  <a:ea typeface="Poppins Italics"/>
                  <a:cs typeface="Poppins Italics"/>
                  <a:sym typeface="Poppins Italics"/>
                </a:rPr>
                <a:t>Totals, counts, averages, rates, comparisons</a:t>
              </a:r>
            </a:p>
          </p:txBody>
        </p:sp>
      </p:grpSp>
      <p:grpSp>
        <p:nvGrpSpPr>
          <p:cNvPr name="Group 42" id="42"/>
          <p:cNvGrpSpPr/>
          <p:nvPr/>
        </p:nvGrpSpPr>
        <p:grpSpPr>
          <a:xfrm rot="0">
            <a:off x="895350" y="7543800"/>
            <a:ext cx="14744700" cy="1303020"/>
            <a:chOff x="0" y="0"/>
            <a:chExt cx="19659600" cy="1737360"/>
          </a:xfrm>
        </p:grpSpPr>
        <p:sp>
          <p:nvSpPr>
            <p:cNvPr name="Freeform 43" id="43"/>
            <p:cNvSpPr/>
            <p:nvPr/>
          </p:nvSpPr>
          <p:spPr>
            <a:xfrm flipH="false" flipV="false" rot="0">
              <a:off x="0" y="0"/>
              <a:ext cx="19659600" cy="1737360"/>
            </a:xfrm>
            <a:custGeom>
              <a:avLst/>
              <a:gdLst/>
              <a:ahLst/>
              <a:cxnLst/>
              <a:rect r="r" b="b" t="t" l="l"/>
              <a:pathLst>
                <a:path h="1737360" w="19659600">
                  <a:moveTo>
                    <a:pt x="0" y="164592"/>
                  </a:moveTo>
                  <a:cubicBezTo>
                    <a:pt x="0" y="73660"/>
                    <a:pt x="73660" y="0"/>
                    <a:pt x="164592" y="0"/>
                  </a:cubicBezTo>
                  <a:lnTo>
                    <a:pt x="19495008" y="0"/>
                  </a:lnTo>
                  <a:cubicBezTo>
                    <a:pt x="19585939" y="0"/>
                    <a:pt x="19659600" y="73660"/>
                    <a:pt x="19659600" y="164592"/>
                  </a:cubicBezTo>
                  <a:lnTo>
                    <a:pt x="19659600" y="1572768"/>
                  </a:lnTo>
                  <a:cubicBezTo>
                    <a:pt x="19659600" y="1663700"/>
                    <a:pt x="19585939" y="1737360"/>
                    <a:pt x="19495008" y="1737360"/>
                  </a:cubicBezTo>
                  <a:lnTo>
                    <a:pt x="164592" y="1737360"/>
                  </a:lnTo>
                  <a:cubicBezTo>
                    <a:pt x="73660" y="1737360"/>
                    <a:pt x="0" y="1663700"/>
                    <a:pt x="0" y="1572768"/>
                  </a:cubicBezTo>
                  <a:close/>
                </a:path>
              </a:pathLst>
            </a:custGeom>
            <a:solidFill>
              <a:srgbClr val="EEF4F4"/>
            </a:solidFill>
          </p:spPr>
        </p:sp>
      </p:grpSp>
      <p:grpSp>
        <p:nvGrpSpPr>
          <p:cNvPr name="Group 44" id="44"/>
          <p:cNvGrpSpPr/>
          <p:nvPr/>
        </p:nvGrpSpPr>
        <p:grpSpPr>
          <a:xfrm rot="0">
            <a:off x="895350" y="7543800"/>
            <a:ext cx="102870" cy="1303020"/>
            <a:chOff x="0" y="0"/>
            <a:chExt cx="137160" cy="1737360"/>
          </a:xfrm>
        </p:grpSpPr>
        <p:sp>
          <p:nvSpPr>
            <p:cNvPr name="Freeform 45" id="45"/>
            <p:cNvSpPr/>
            <p:nvPr/>
          </p:nvSpPr>
          <p:spPr>
            <a:xfrm flipH="false" flipV="false" rot="0">
              <a:off x="0" y="0"/>
              <a:ext cx="137160" cy="1737360"/>
            </a:xfrm>
            <a:custGeom>
              <a:avLst/>
              <a:gdLst/>
              <a:ahLst/>
              <a:cxnLst/>
              <a:rect r="r" b="b" t="t" l="l"/>
              <a:pathLst>
                <a:path h="1737360" w="137160">
                  <a:moveTo>
                    <a:pt x="0" y="0"/>
                  </a:moveTo>
                  <a:lnTo>
                    <a:pt x="137160" y="0"/>
                  </a:lnTo>
                  <a:lnTo>
                    <a:pt x="137160" y="1737360"/>
                  </a:lnTo>
                  <a:lnTo>
                    <a:pt x="0" y="1737360"/>
                  </a:lnTo>
                  <a:close/>
                </a:path>
              </a:pathLst>
            </a:custGeom>
            <a:solidFill>
              <a:srgbClr val="387F7F"/>
            </a:solidFill>
          </p:spPr>
        </p:sp>
      </p:grpSp>
      <p:grpSp>
        <p:nvGrpSpPr>
          <p:cNvPr name="Group 46" id="46"/>
          <p:cNvGrpSpPr/>
          <p:nvPr/>
        </p:nvGrpSpPr>
        <p:grpSpPr>
          <a:xfrm rot="0">
            <a:off x="1443990" y="7543800"/>
            <a:ext cx="13853160" cy="1303020"/>
            <a:chOff x="0" y="0"/>
            <a:chExt cx="18470880" cy="1737360"/>
          </a:xfrm>
        </p:grpSpPr>
        <p:sp>
          <p:nvSpPr>
            <p:cNvPr name="Freeform 47" id="47"/>
            <p:cNvSpPr/>
            <p:nvPr/>
          </p:nvSpPr>
          <p:spPr>
            <a:xfrm flipH="false" flipV="false" rot="0">
              <a:off x="0" y="0"/>
              <a:ext cx="18470880" cy="1737360"/>
            </a:xfrm>
            <a:custGeom>
              <a:avLst/>
              <a:gdLst/>
              <a:ahLst/>
              <a:cxnLst/>
              <a:rect r="r" b="b" t="t" l="l"/>
              <a:pathLst>
                <a:path h="1737360" w="18470880">
                  <a:moveTo>
                    <a:pt x="0" y="0"/>
                  </a:moveTo>
                  <a:lnTo>
                    <a:pt x="18470880" y="0"/>
                  </a:lnTo>
                  <a:lnTo>
                    <a:pt x="18470880" y="1737360"/>
                  </a:lnTo>
                  <a:lnTo>
                    <a:pt x="0" y="1737360"/>
                  </a:lnTo>
                  <a:close/>
                </a:path>
              </a:pathLst>
            </a:custGeom>
            <a:blipFill>
              <a:blip r:embed="rId7">
                <a:alphaModFix amt="0"/>
              </a:blip>
              <a:stretch>
                <a:fillRect l="0" t="-157156" r="0" b="-157156"/>
              </a:stretch>
            </a:blipFill>
          </p:spPr>
        </p:sp>
        <p:sp>
          <p:nvSpPr>
            <p:cNvPr name="TextBox 48" id="48"/>
            <p:cNvSpPr txBox="true"/>
            <p:nvPr/>
          </p:nvSpPr>
          <p:spPr>
            <a:xfrm>
              <a:off x="0" y="-114300"/>
              <a:ext cx="18470880" cy="1851660"/>
            </a:xfrm>
            <a:prstGeom prst="rect">
              <a:avLst/>
            </a:prstGeom>
          </p:spPr>
          <p:txBody>
            <a:bodyPr anchor="ctr" rtlCol="false" tIns="0" lIns="0" bIns="0" rIns="0"/>
            <a:lstStyle/>
            <a:p>
              <a:pPr algn="l">
                <a:lnSpc>
                  <a:spcPts val="3645"/>
                </a:lnSpc>
              </a:pPr>
              <a:r>
                <a:rPr lang="en-US" sz="2250" b="true">
                  <a:solidFill>
                    <a:srgbClr val="387F7F"/>
                  </a:solidFill>
                  <a:latin typeface="Poppins Bold"/>
                  <a:ea typeface="Poppins Bold"/>
                  <a:cs typeface="Poppins Bold"/>
                  <a:sym typeface="Poppins Bold"/>
                </a:rPr>
                <a:t>Default to a measure. Reach for a column only when you need the result on an axis or in a slicer.</a:t>
              </a:r>
            </a:p>
          </p:txBody>
        </p:sp>
      </p:grpSp>
      <p:sp>
        <p:nvSpPr>
          <p:cNvPr name="Freeform 49" id="49"/>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5" id="5"/>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497824" y="8924125"/>
            <a:ext cx="647224" cy="571500"/>
            <a:chOff x="0" y="0"/>
            <a:chExt cx="862965" cy="762000"/>
          </a:xfrm>
        </p:grpSpPr>
        <p:sp>
          <p:nvSpPr>
            <p:cNvPr name="Freeform 7" id="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8" id="8"/>
          <p:cNvGrpSpPr/>
          <p:nvPr/>
        </p:nvGrpSpPr>
        <p:grpSpPr>
          <a:xfrm rot="0">
            <a:off x="0" y="0"/>
            <a:ext cx="18287543" cy="10287000"/>
            <a:chOff x="0" y="0"/>
            <a:chExt cx="24383390" cy="13716000"/>
          </a:xfrm>
        </p:grpSpPr>
        <p:sp>
          <p:nvSpPr>
            <p:cNvPr name="Freeform 9" id="9"/>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20494A"/>
            </a:solidFill>
          </p:spPr>
        </p:sp>
      </p:grpSp>
      <p:grpSp>
        <p:nvGrpSpPr>
          <p:cNvPr name="Group 10" id="10"/>
          <p:cNvGrpSpPr/>
          <p:nvPr/>
        </p:nvGrpSpPr>
        <p:grpSpPr>
          <a:xfrm rot="0">
            <a:off x="1124712" y="7399782"/>
            <a:ext cx="219456" cy="219456"/>
            <a:chOff x="0" y="0"/>
            <a:chExt cx="292608" cy="292608"/>
          </a:xfrm>
        </p:grpSpPr>
        <p:sp>
          <p:nvSpPr>
            <p:cNvPr name="Freeform 11" id="11"/>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2" id="12"/>
          <p:cNvGrpSpPr/>
          <p:nvPr/>
        </p:nvGrpSpPr>
        <p:grpSpPr>
          <a:xfrm rot="0">
            <a:off x="1124712" y="7975854"/>
            <a:ext cx="219456" cy="219456"/>
            <a:chOff x="0" y="0"/>
            <a:chExt cx="292608" cy="292608"/>
          </a:xfrm>
        </p:grpSpPr>
        <p:sp>
          <p:nvSpPr>
            <p:cNvPr name="Freeform 13" id="13"/>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4" id="14"/>
          <p:cNvGrpSpPr/>
          <p:nvPr/>
        </p:nvGrpSpPr>
        <p:grpSpPr>
          <a:xfrm rot="0">
            <a:off x="1124712" y="8551926"/>
            <a:ext cx="219456" cy="219456"/>
            <a:chOff x="0" y="0"/>
            <a:chExt cx="292608" cy="292608"/>
          </a:xfrm>
        </p:grpSpPr>
        <p:sp>
          <p:nvSpPr>
            <p:cNvPr name="Freeform 15" id="15"/>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6" id="16"/>
          <p:cNvGrpSpPr/>
          <p:nvPr/>
        </p:nvGrpSpPr>
        <p:grpSpPr>
          <a:xfrm rot="0">
            <a:off x="850392" y="480060"/>
            <a:ext cx="4389120" cy="2880360"/>
            <a:chOff x="0" y="0"/>
            <a:chExt cx="5852160" cy="3840480"/>
          </a:xfrm>
        </p:grpSpPr>
        <p:sp>
          <p:nvSpPr>
            <p:cNvPr name="Freeform 17" id="17"/>
            <p:cNvSpPr/>
            <p:nvPr/>
          </p:nvSpPr>
          <p:spPr>
            <a:xfrm flipH="false" flipV="false" rot="0">
              <a:off x="0" y="0"/>
              <a:ext cx="5852160" cy="3840480"/>
            </a:xfrm>
            <a:custGeom>
              <a:avLst/>
              <a:gdLst/>
              <a:ahLst/>
              <a:cxnLst/>
              <a:rect r="r" b="b" t="t" l="l"/>
              <a:pathLst>
                <a:path h="3840480" w="5852160">
                  <a:moveTo>
                    <a:pt x="0" y="0"/>
                  </a:moveTo>
                  <a:lnTo>
                    <a:pt x="5852160" y="0"/>
                  </a:lnTo>
                  <a:lnTo>
                    <a:pt x="5852160" y="3840480"/>
                  </a:lnTo>
                  <a:lnTo>
                    <a:pt x="0" y="3840480"/>
                  </a:lnTo>
                  <a:close/>
                </a:path>
              </a:pathLst>
            </a:custGeom>
            <a:blipFill>
              <a:blip r:embed="rId9">
                <a:alphaModFix amt="0"/>
              </a:blip>
              <a:stretch>
                <a:fillRect l="-34199" t="0" r="-34199" b="0"/>
              </a:stretch>
            </a:blipFill>
          </p:spPr>
        </p:sp>
        <p:sp>
          <p:nvSpPr>
            <p:cNvPr name="TextBox 18" id="18"/>
            <p:cNvSpPr txBox="true"/>
            <p:nvPr/>
          </p:nvSpPr>
          <p:spPr>
            <a:xfrm>
              <a:off x="0" y="-190500"/>
              <a:ext cx="5852160" cy="4030980"/>
            </a:xfrm>
            <a:prstGeom prst="rect">
              <a:avLst/>
            </a:prstGeom>
          </p:spPr>
          <p:txBody>
            <a:bodyPr anchor="ctr" rtlCol="false" tIns="0" lIns="0" bIns="0" rIns="0"/>
            <a:lstStyle/>
            <a:p>
              <a:pPr algn="l">
                <a:lnSpc>
                  <a:spcPts val="23400"/>
                </a:lnSpc>
              </a:pPr>
              <a:r>
                <a:rPr lang="en-US" sz="19500" b="true">
                  <a:solidFill>
                    <a:srgbClr val="2F6364"/>
                  </a:solidFill>
                  <a:latin typeface="Poppins Bold"/>
                  <a:ea typeface="Poppins Bold"/>
                  <a:cs typeface="Poppins Bold"/>
                  <a:sym typeface="Poppins Bold"/>
                </a:rPr>
                <a:t>01</a:t>
              </a:r>
            </a:p>
          </p:txBody>
        </p:sp>
      </p:grpSp>
      <p:grpSp>
        <p:nvGrpSpPr>
          <p:cNvPr name="Group 19" id="19"/>
          <p:cNvGrpSpPr/>
          <p:nvPr/>
        </p:nvGrpSpPr>
        <p:grpSpPr>
          <a:xfrm rot="0">
            <a:off x="1069848" y="3730752"/>
            <a:ext cx="10149840" cy="466344"/>
            <a:chOff x="0" y="0"/>
            <a:chExt cx="13533120" cy="621792"/>
          </a:xfrm>
        </p:grpSpPr>
        <p:sp>
          <p:nvSpPr>
            <p:cNvPr name="Freeform 20" id="20"/>
            <p:cNvSpPr/>
            <p:nvPr/>
          </p:nvSpPr>
          <p:spPr>
            <a:xfrm flipH="false" flipV="false" rot="0">
              <a:off x="0" y="0"/>
              <a:ext cx="13533120" cy="621792"/>
            </a:xfrm>
            <a:custGeom>
              <a:avLst/>
              <a:gdLst/>
              <a:ahLst/>
              <a:cxnLst/>
              <a:rect r="r" b="b" t="t" l="l"/>
              <a:pathLst>
                <a:path h="621792" w="13533120">
                  <a:moveTo>
                    <a:pt x="0" y="0"/>
                  </a:moveTo>
                  <a:lnTo>
                    <a:pt x="13533120" y="0"/>
                  </a:lnTo>
                  <a:lnTo>
                    <a:pt x="13533120" y="621792"/>
                  </a:lnTo>
                  <a:lnTo>
                    <a:pt x="0" y="621792"/>
                  </a:lnTo>
                  <a:close/>
                </a:path>
              </a:pathLst>
            </a:custGeom>
            <a:blipFill>
              <a:blip r:embed="rId9">
                <a:alphaModFix amt="0"/>
              </a:blip>
              <a:stretch>
                <a:fillRect l="0" t="-374086" r="0" b="-374086"/>
              </a:stretch>
            </a:blipFill>
          </p:spPr>
        </p:sp>
        <p:sp>
          <p:nvSpPr>
            <p:cNvPr name="TextBox 21" id="21"/>
            <p:cNvSpPr txBox="true"/>
            <p:nvPr/>
          </p:nvSpPr>
          <p:spPr>
            <a:xfrm>
              <a:off x="0" y="-19050"/>
              <a:ext cx="13533120" cy="640842"/>
            </a:xfrm>
            <a:prstGeom prst="rect">
              <a:avLst/>
            </a:prstGeom>
          </p:spPr>
          <p:txBody>
            <a:bodyPr anchor="ctr" rtlCol="false" tIns="0" lIns="0" bIns="0" rIns="0"/>
            <a:lstStyle/>
            <a:p>
              <a:pPr algn="l">
                <a:lnSpc>
                  <a:spcPts val="2340"/>
                </a:lnSpc>
              </a:pPr>
              <a:r>
                <a:rPr lang="en-US" b="true" sz="1950" spc="375">
                  <a:solidFill>
                    <a:srgbClr val="8FBEBE"/>
                  </a:solidFill>
                  <a:latin typeface="Poppins Bold"/>
                  <a:ea typeface="Poppins Bold"/>
                  <a:cs typeface="Poppins Bold"/>
                  <a:sym typeface="Poppins Bold"/>
                </a:rPr>
                <a:t>PART ONE</a:t>
              </a:r>
            </a:p>
          </p:txBody>
        </p:sp>
      </p:grpSp>
      <p:grpSp>
        <p:nvGrpSpPr>
          <p:cNvPr name="Group 22" id="22"/>
          <p:cNvGrpSpPr/>
          <p:nvPr/>
        </p:nvGrpSpPr>
        <p:grpSpPr>
          <a:xfrm rot="0">
            <a:off x="1069848" y="4361688"/>
            <a:ext cx="1851660" cy="116586"/>
            <a:chOff x="0" y="0"/>
            <a:chExt cx="2468880" cy="155448"/>
          </a:xfrm>
        </p:grpSpPr>
        <p:sp>
          <p:nvSpPr>
            <p:cNvPr name="Freeform 23" id="23"/>
            <p:cNvSpPr/>
            <p:nvPr/>
          </p:nvSpPr>
          <p:spPr>
            <a:xfrm flipH="false" flipV="false" rot="0">
              <a:off x="0" y="0"/>
              <a:ext cx="2468880" cy="155448"/>
            </a:xfrm>
            <a:custGeom>
              <a:avLst/>
              <a:gdLst/>
              <a:ahLst/>
              <a:cxnLst/>
              <a:rect r="r" b="b" t="t" l="l"/>
              <a:pathLst>
                <a:path h="155448" w="2468880">
                  <a:moveTo>
                    <a:pt x="0" y="0"/>
                  </a:moveTo>
                  <a:lnTo>
                    <a:pt x="2468880" y="0"/>
                  </a:lnTo>
                  <a:lnTo>
                    <a:pt x="2468880" y="155448"/>
                  </a:lnTo>
                  <a:lnTo>
                    <a:pt x="0" y="155448"/>
                  </a:lnTo>
                  <a:close/>
                </a:path>
              </a:pathLst>
            </a:custGeom>
            <a:solidFill>
              <a:srgbClr val="387F7F"/>
            </a:solidFill>
          </p:spPr>
        </p:sp>
      </p:grpSp>
      <p:grpSp>
        <p:nvGrpSpPr>
          <p:cNvPr name="Group 24" id="24"/>
          <p:cNvGrpSpPr/>
          <p:nvPr/>
        </p:nvGrpSpPr>
        <p:grpSpPr>
          <a:xfrm rot="0">
            <a:off x="1069848" y="4732020"/>
            <a:ext cx="11109960" cy="2194560"/>
            <a:chOff x="0" y="0"/>
            <a:chExt cx="14813280" cy="2926080"/>
          </a:xfrm>
        </p:grpSpPr>
        <p:sp>
          <p:nvSpPr>
            <p:cNvPr name="Freeform 25" id="25"/>
            <p:cNvSpPr/>
            <p:nvPr/>
          </p:nvSpPr>
          <p:spPr>
            <a:xfrm flipH="false" flipV="false" rot="0">
              <a:off x="0" y="0"/>
              <a:ext cx="14813280" cy="2926080"/>
            </a:xfrm>
            <a:custGeom>
              <a:avLst/>
              <a:gdLst/>
              <a:ahLst/>
              <a:cxnLst/>
              <a:rect r="r" b="b" t="t" l="l"/>
              <a:pathLst>
                <a:path h="2926080" w="14813280">
                  <a:moveTo>
                    <a:pt x="0" y="0"/>
                  </a:moveTo>
                  <a:lnTo>
                    <a:pt x="14813280" y="0"/>
                  </a:lnTo>
                  <a:lnTo>
                    <a:pt x="14813280" y="2926080"/>
                  </a:lnTo>
                  <a:lnTo>
                    <a:pt x="0" y="2926080"/>
                  </a:lnTo>
                  <a:close/>
                </a:path>
              </a:pathLst>
            </a:custGeom>
            <a:blipFill>
              <a:blip r:embed="rId9">
                <a:alphaModFix amt="0"/>
              </a:blip>
              <a:stretch>
                <a:fillRect l="0" t="-48643" r="0" b="-48643"/>
              </a:stretch>
            </a:blipFill>
          </p:spPr>
        </p:sp>
        <p:sp>
          <p:nvSpPr>
            <p:cNvPr name="TextBox 26" id="26"/>
            <p:cNvSpPr txBox="true"/>
            <p:nvPr/>
          </p:nvSpPr>
          <p:spPr>
            <a:xfrm>
              <a:off x="0" y="-104775"/>
              <a:ext cx="14813280" cy="3030855"/>
            </a:xfrm>
            <a:prstGeom prst="rect">
              <a:avLst/>
            </a:prstGeom>
          </p:spPr>
          <p:txBody>
            <a:bodyPr anchor="ctr" rtlCol="false" tIns="0" lIns="0" bIns="0" rIns="0"/>
            <a:lstStyle/>
            <a:p>
              <a:pPr algn="l">
                <a:lnSpc>
                  <a:spcPts val="6998"/>
                </a:lnSpc>
              </a:pPr>
              <a:r>
                <a:rPr lang="en-US" sz="5400" b="true">
                  <a:solidFill>
                    <a:srgbClr val="FFFFFF"/>
                  </a:solidFill>
                  <a:latin typeface="Poppins Bold"/>
                  <a:ea typeface="Poppins Bold"/>
                  <a:cs typeface="Poppins Bold"/>
                  <a:sym typeface="Poppins Bold"/>
                </a:rPr>
                <a:t>Filter context</a:t>
              </a:r>
            </a:p>
          </p:txBody>
        </p:sp>
      </p:grpSp>
      <p:grpSp>
        <p:nvGrpSpPr>
          <p:cNvPr name="Group 27" id="27"/>
          <p:cNvGrpSpPr/>
          <p:nvPr/>
        </p:nvGrpSpPr>
        <p:grpSpPr>
          <a:xfrm rot="0">
            <a:off x="1645920" y="7283196"/>
            <a:ext cx="9875520" cy="466344"/>
            <a:chOff x="0" y="0"/>
            <a:chExt cx="13167360" cy="621792"/>
          </a:xfrm>
        </p:grpSpPr>
        <p:sp>
          <p:nvSpPr>
            <p:cNvPr name="Freeform 28" id="28"/>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29" id="29"/>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Understand why the same measure returns different numbers</a:t>
              </a:r>
            </a:p>
          </p:txBody>
        </p:sp>
      </p:grpSp>
      <p:grpSp>
        <p:nvGrpSpPr>
          <p:cNvPr name="Group 30" id="30"/>
          <p:cNvGrpSpPr/>
          <p:nvPr/>
        </p:nvGrpSpPr>
        <p:grpSpPr>
          <a:xfrm rot="0">
            <a:off x="1645920" y="7859268"/>
            <a:ext cx="9875520" cy="466344"/>
            <a:chOff x="0" y="0"/>
            <a:chExt cx="13167360" cy="621792"/>
          </a:xfrm>
        </p:grpSpPr>
        <p:sp>
          <p:nvSpPr>
            <p:cNvPr name="Freeform 31" id="31"/>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2" id="32"/>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See what a visual actually hands your measure</a:t>
              </a:r>
            </a:p>
          </p:txBody>
        </p:sp>
      </p:grpSp>
      <p:grpSp>
        <p:nvGrpSpPr>
          <p:cNvPr name="Group 33" id="33"/>
          <p:cNvGrpSpPr/>
          <p:nvPr/>
        </p:nvGrpSpPr>
        <p:grpSpPr>
          <a:xfrm rot="0">
            <a:off x="1645920" y="8435340"/>
            <a:ext cx="9875520" cy="466344"/>
            <a:chOff x="0" y="0"/>
            <a:chExt cx="13167360" cy="621792"/>
          </a:xfrm>
        </p:grpSpPr>
        <p:sp>
          <p:nvSpPr>
            <p:cNvPr name="Freeform 34" id="34"/>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5" id="35"/>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Learn the one idea that makes DAX click</a:t>
              </a:r>
            </a:p>
          </p:txBody>
        </p:sp>
      </p:grpSp>
      <p:sp>
        <p:nvSpPr>
          <p:cNvPr name="Freeform 36" id="36"/>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71525"/>
            <a:ext cx="17145000" cy="1371600"/>
          </a:xfrm>
          <a:prstGeom prst="rect">
            <a:avLst/>
          </a:prstGeom>
        </p:spPr>
        <p:txBody>
          <a:bodyPr anchor="t" rtlCol="false" tIns="0" lIns="0" bIns="0" rIns="0">
            <a:spAutoFit/>
          </a:bodyPr>
          <a:lstStyle/>
          <a:p>
            <a:pPr algn="l">
              <a:lnSpc>
                <a:spcPts val="5280"/>
              </a:lnSpc>
            </a:pPr>
            <a:r>
              <a:rPr lang="en-US" sz="4400">
                <a:solidFill>
                  <a:srgbClr val="388080"/>
                </a:solidFill>
                <a:latin typeface="Poppins"/>
                <a:ea typeface="Poppins"/>
                <a:cs typeface="Poppins"/>
                <a:sym typeface="Poppins"/>
              </a:rPr>
              <a:t>Every number on a dashboard is an answer to a filtered question</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10" id="10"/>
          <p:cNvGrpSpPr/>
          <p:nvPr/>
        </p:nvGrpSpPr>
        <p:grpSpPr>
          <a:xfrm rot="0">
            <a:off x="1167765" y="2537460"/>
            <a:ext cx="6035040" cy="685800"/>
            <a:chOff x="0" y="0"/>
            <a:chExt cx="8046720" cy="914400"/>
          </a:xfrm>
        </p:grpSpPr>
        <p:sp>
          <p:nvSpPr>
            <p:cNvPr name="Freeform 11" id="11"/>
            <p:cNvSpPr/>
            <p:nvPr/>
          </p:nvSpPr>
          <p:spPr>
            <a:xfrm flipH="false" flipV="false" rot="0">
              <a:off x="0" y="0"/>
              <a:ext cx="8046720" cy="914400"/>
            </a:xfrm>
            <a:custGeom>
              <a:avLst/>
              <a:gdLst/>
              <a:ahLst/>
              <a:cxnLst/>
              <a:rect r="r" b="b" t="t" l="l"/>
              <a:pathLst>
                <a:path h="914400" w="8046720">
                  <a:moveTo>
                    <a:pt x="0" y="128016"/>
                  </a:moveTo>
                  <a:cubicBezTo>
                    <a:pt x="0" y="57277"/>
                    <a:pt x="57277" y="0"/>
                    <a:pt x="128016" y="0"/>
                  </a:cubicBezTo>
                  <a:lnTo>
                    <a:pt x="7918704" y="0"/>
                  </a:lnTo>
                  <a:cubicBezTo>
                    <a:pt x="7989443" y="0"/>
                    <a:pt x="8046720" y="57277"/>
                    <a:pt x="8046720" y="128016"/>
                  </a:cubicBezTo>
                  <a:lnTo>
                    <a:pt x="8046720" y="786384"/>
                  </a:lnTo>
                  <a:cubicBezTo>
                    <a:pt x="8046720" y="857123"/>
                    <a:pt x="7989443" y="914400"/>
                    <a:pt x="7918704" y="914400"/>
                  </a:cubicBezTo>
                  <a:lnTo>
                    <a:pt x="128016" y="914400"/>
                  </a:lnTo>
                  <a:cubicBezTo>
                    <a:pt x="57277" y="914400"/>
                    <a:pt x="0" y="857123"/>
                    <a:pt x="0" y="786384"/>
                  </a:cubicBezTo>
                  <a:close/>
                </a:path>
              </a:pathLst>
            </a:custGeom>
            <a:solidFill>
              <a:srgbClr val="EEF4F4"/>
            </a:solidFill>
          </p:spPr>
        </p:sp>
      </p:grpSp>
      <p:grpSp>
        <p:nvGrpSpPr>
          <p:cNvPr name="Group 12" id="12"/>
          <p:cNvGrpSpPr/>
          <p:nvPr/>
        </p:nvGrpSpPr>
        <p:grpSpPr>
          <a:xfrm rot="0">
            <a:off x="1167765" y="2537460"/>
            <a:ext cx="6035040" cy="685800"/>
            <a:chOff x="0" y="0"/>
            <a:chExt cx="8046720" cy="914400"/>
          </a:xfrm>
        </p:grpSpPr>
        <p:sp>
          <p:nvSpPr>
            <p:cNvPr name="Freeform 13" id="13"/>
            <p:cNvSpPr/>
            <p:nvPr/>
          </p:nvSpPr>
          <p:spPr>
            <a:xfrm flipH="false" flipV="false" rot="0">
              <a:off x="0" y="0"/>
              <a:ext cx="8046720" cy="914400"/>
            </a:xfrm>
            <a:custGeom>
              <a:avLst/>
              <a:gdLst/>
              <a:ahLst/>
              <a:cxnLst/>
              <a:rect r="r" b="b" t="t" l="l"/>
              <a:pathLst>
                <a:path h="914400" w="8046720">
                  <a:moveTo>
                    <a:pt x="0" y="0"/>
                  </a:moveTo>
                  <a:lnTo>
                    <a:pt x="8046720" y="0"/>
                  </a:lnTo>
                  <a:lnTo>
                    <a:pt x="8046720" y="914400"/>
                  </a:lnTo>
                  <a:lnTo>
                    <a:pt x="0" y="914400"/>
                  </a:lnTo>
                  <a:close/>
                </a:path>
              </a:pathLst>
            </a:custGeom>
            <a:blipFill>
              <a:blip r:embed="rId7">
                <a:alphaModFix amt="0"/>
              </a:blip>
              <a:stretch>
                <a:fillRect l="0" t="-121468" r="0" b="-121468"/>
              </a:stretch>
            </a:blipFill>
          </p:spPr>
        </p:sp>
        <p:sp>
          <p:nvSpPr>
            <p:cNvPr name="TextBox 14" id="14"/>
            <p:cNvSpPr txBox="true"/>
            <p:nvPr/>
          </p:nvSpPr>
          <p:spPr>
            <a:xfrm>
              <a:off x="0" y="-9525"/>
              <a:ext cx="8046720" cy="923925"/>
            </a:xfrm>
            <a:prstGeom prst="rect">
              <a:avLst/>
            </a:prstGeom>
          </p:spPr>
          <p:txBody>
            <a:bodyPr anchor="ctr" rtlCol="false" tIns="0" lIns="0" bIns="0" rIns="0"/>
            <a:lstStyle/>
            <a:p>
              <a:pPr algn="ctr">
                <a:lnSpc>
                  <a:spcPts val="2070"/>
                </a:lnSpc>
              </a:pPr>
              <a:r>
                <a:rPr lang="en-US" sz="1725">
                  <a:solidFill>
                    <a:srgbClr val="475569"/>
                  </a:solidFill>
                  <a:latin typeface="Poppins"/>
                  <a:ea typeface="Poppins"/>
                  <a:cs typeface="Poppins"/>
                  <a:sym typeface="Poppins"/>
                </a:rPr>
                <a:t>All 41,280 deliveries</a:t>
              </a:r>
            </a:p>
          </p:txBody>
        </p:sp>
      </p:grpSp>
      <p:grpSp>
        <p:nvGrpSpPr>
          <p:cNvPr name="Group 15" id="15"/>
          <p:cNvGrpSpPr/>
          <p:nvPr/>
        </p:nvGrpSpPr>
        <p:grpSpPr>
          <a:xfrm rot="0">
            <a:off x="1489634" y="3387852"/>
            <a:ext cx="5391302" cy="685800"/>
            <a:chOff x="0" y="0"/>
            <a:chExt cx="7188403" cy="914400"/>
          </a:xfrm>
        </p:grpSpPr>
        <p:sp>
          <p:nvSpPr>
            <p:cNvPr name="Freeform 16" id="16"/>
            <p:cNvSpPr/>
            <p:nvPr/>
          </p:nvSpPr>
          <p:spPr>
            <a:xfrm flipH="false" flipV="false" rot="0">
              <a:off x="0" y="0"/>
              <a:ext cx="7188454" cy="914400"/>
            </a:xfrm>
            <a:custGeom>
              <a:avLst/>
              <a:gdLst/>
              <a:ahLst/>
              <a:cxnLst/>
              <a:rect r="r" b="b" t="t" l="l"/>
              <a:pathLst>
                <a:path h="914400" w="7188454">
                  <a:moveTo>
                    <a:pt x="0" y="128016"/>
                  </a:moveTo>
                  <a:cubicBezTo>
                    <a:pt x="0" y="57277"/>
                    <a:pt x="57277" y="0"/>
                    <a:pt x="128016" y="0"/>
                  </a:cubicBezTo>
                  <a:lnTo>
                    <a:pt x="7060438" y="0"/>
                  </a:lnTo>
                  <a:cubicBezTo>
                    <a:pt x="7131177" y="0"/>
                    <a:pt x="7188454" y="57277"/>
                    <a:pt x="7188454" y="128016"/>
                  </a:cubicBezTo>
                  <a:lnTo>
                    <a:pt x="7188454" y="786384"/>
                  </a:lnTo>
                  <a:cubicBezTo>
                    <a:pt x="7188454" y="857123"/>
                    <a:pt x="7131177" y="914400"/>
                    <a:pt x="7060438" y="914400"/>
                  </a:cubicBezTo>
                  <a:lnTo>
                    <a:pt x="128016" y="914400"/>
                  </a:lnTo>
                  <a:cubicBezTo>
                    <a:pt x="57277" y="914400"/>
                    <a:pt x="0" y="857123"/>
                    <a:pt x="0" y="786384"/>
                  </a:cubicBezTo>
                  <a:close/>
                </a:path>
              </a:pathLst>
            </a:custGeom>
            <a:solidFill>
              <a:srgbClr val="EEF4F4"/>
            </a:solidFill>
          </p:spPr>
        </p:sp>
      </p:grpSp>
      <p:grpSp>
        <p:nvGrpSpPr>
          <p:cNvPr name="Group 17" id="17"/>
          <p:cNvGrpSpPr/>
          <p:nvPr/>
        </p:nvGrpSpPr>
        <p:grpSpPr>
          <a:xfrm rot="0">
            <a:off x="1489634" y="3387852"/>
            <a:ext cx="5391302" cy="685800"/>
            <a:chOff x="0" y="0"/>
            <a:chExt cx="7188403" cy="914400"/>
          </a:xfrm>
        </p:grpSpPr>
        <p:sp>
          <p:nvSpPr>
            <p:cNvPr name="Freeform 18" id="18"/>
            <p:cNvSpPr/>
            <p:nvPr/>
          </p:nvSpPr>
          <p:spPr>
            <a:xfrm flipH="false" flipV="false" rot="0">
              <a:off x="0" y="0"/>
              <a:ext cx="7188404" cy="914400"/>
            </a:xfrm>
            <a:custGeom>
              <a:avLst/>
              <a:gdLst/>
              <a:ahLst/>
              <a:cxnLst/>
              <a:rect r="r" b="b" t="t" l="l"/>
              <a:pathLst>
                <a:path h="914400" w="7188404">
                  <a:moveTo>
                    <a:pt x="0" y="0"/>
                  </a:moveTo>
                  <a:lnTo>
                    <a:pt x="7188404" y="0"/>
                  </a:lnTo>
                  <a:lnTo>
                    <a:pt x="7188404" y="914400"/>
                  </a:lnTo>
                  <a:lnTo>
                    <a:pt x="0" y="914400"/>
                  </a:lnTo>
                  <a:close/>
                </a:path>
              </a:pathLst>
            </a:custGeom>
            <a:blipFill>
              <a:blip r:embed="rId7">
                <a:alphaModFix amt="0"/>
              </a:blip>
              <a:stretch>
                <a:fillRect l="0" t="-103178" r="0" b="-103178"/>
              </a:stretch>
            </a:blipFill>
          </p:spPr>
        </p:sp>
        <p:sp>
          <p:nvSpPr>
            <p:cNvPr name="TextBox 19" id="19"/>
            <p:cNvSpPr txBox="true"/>
            <p:nvPr/>
          </p:nvSpPr>
          <p:spPr>
            <a:xfrm>
              <a:off x="0" y="-9525"/>
              <a:ext cx="7188403" cy="923925"/>
            </a:xfrm>
            <a:prstGeom prst="rect">
              <a:avLst/>
            </a:prstGeom>
          </p:spPr>
          <p:txBody>
            <a:bodyPr anchor="ctr" rtlCol="false" tIns="0" lIns="0" bIns="0" rIns="0"/>
            <a:lstStyle/>
            <a:p>
              <a:pPr algn="ctr">
                <a:lnSpc>
                  <a:spcPts val="2070"/>
                </a:lnSpc>
              </a:pPr>
              <a:r>
                <a:rPr lang="en-US" sz="1725">
                  <a:solidFill>
                    <a:srgbClr val="475569"/>
                  </a:solidFill>
                  <a:latin typeface="Poppins"/>
                  <a:ea typeface="Poppins"/>
                  <a:cs typeface="Poppins"/>
                  <a:sym typeface="Poppins"/>
                </a:rPr>
                <a:t>Year = 2025</a:t>
              </a:r>
            </a:p>
          </p:txBody>
        </p:sp>
      </p:grpSp>
      <p:grpSp>
        <p:nvGrpSpPr>
          <p:cNvPr name="Group 20" id="20"/>
          <p:cNvGrpSpPr/>
          <p:nvPr/>
        </p:nvGrpSpPr>
        <p:grpSpPr>
          <a:xfrm rot="0">
            <a:off x="1811503" y="4238244"/>
            <a:ext cx="4747565" cy="685800"/>
            <a:chOff x="0" y="0"/>
            <a:chExt cx="6330086" cy="914400"/>
          </a:xfrm>
        </p:grpSpPr>
        <p:sp>
          <p:nvSpPr>
            <p:cNvPr name="Freeform 21" id="21"/>
            <p:cNvSpPr/>
            <p:nvPr/>
          </p:nvSpPr>
          <p:spPr>
            <a:xfrm flipH="false" flipV="false" rot="0">
              <a:off x="0" y="0"/>
              <a:ext cx="6330061" cy="914400"/>
            </a:xfrm>
            <a:custGeom>
              <a:avLst/>
              <a:gdLst/>
              <a:ahLst/>
              <a:cxnLst/>
              <a:rect r="r" b="b" t="t" l="l"/>
              <a:pathLst>
                <a:path h="914400" w="6330061">
                  <a:moveTo>
                    <a:pt x="0" y="128016"/>
                  </a:moveTo>
                  <a:cubicBezTo>
                    <a:pt x="0" y="57277"/>
                    <a:pt x="57277" y="0"/>
                    <a:pt x="128016" y="0"/>
                  </a:cubicBezTo>
                  <a:lnTo>
                    <a:pt x="6202045" y="0"/>
                  </a:lnTo>
                  <a:cubicBezTo>
                    <a:pt x="6272784" y="0"/>
                    <a:pt x="6330061" y="57277"/>
                    <a:pt x="6330061" y="128016"/>
                  </a:cubicBezTo>
                  <a:lnTo>
                    <a:pt x="6330061" y="786384"/>
                  </a:lnTo>
                  <a:cubicBezTo>
                    <a:pt x="6330061" y="857123"/>
                    <a:pt x="6272784" y="914400"/>
                    <a:pt x="6202045" y="914400"/>
                  </a:cubicBezTo>
                  <a:lnTo>
                    <a:pt x="128016" y="914400"/>
                  </a:lnTo>
                  <a:cubicBezTo>
                    <a:pt x="57277" y="914400"/>
                    <a:pt x="0" y="857123"/>
                    <a:pt x="0" y="786384"/>
                  </a:cubicBezTo>
                  <a:close/>
                </a:path>
              </a:pathLst>
            </a:custGeom>
            <a:solidFill>
              <a:srgbClr val="EEF4F4"/>
            </a:solidFill>
          </p:spPr>
        </p:sp>
      </p:grpSp>
      <p:grpSp>
        <p:nvGrpSpPr>
          <p:cNvPr name="Group 22" id="22"/>
          <p:cNvGrpSpPr/>
          <p:nvPr/>
        </p:nvGrpSpPr>
        <p:grpSpPr>
          <a:xfrm rot="0">
            <a:off x="1811503" y="4238244"/>
            <a:ext cx="4747565" cy="685800"/>
            <a:chOff x="0" y="0"/>
            <a:chExt cx="6330086" cy="914400"/>
          </a:xfrm>
        </p:grpSpPr>
        <p:sp>
          <p:nvSpPr>
            <p:cNvPr name="Freeform 23" id="23"/>
            <p:cNvSpPr/>
            <p:nvPr/>
          </p:nvSpPr>
          <p:spPr>
            <a:xfrm flipH="false" flipV="false" rot="0">
              <a:off x="0" y="0"/>
              <a:ext cx="6330086" cy="914400"/>
            </a:xfrm>
            <a:custGeom>
              <a:avLst/>
              <a:gdLst/>
              <a:ahLst/>
              <a:cxnLst/>
              <a:rect r="r" b="b" t="t" l="l"/>
              <a:pathLst>
                <a:path h="914400" w="6330086">
                  <a:moveTo>
                    <a:pt x="0" y="0"/>
                  </a:moveTo>
                  <a:lnTo>
                    <a:pt x="6330086" y="0"/>
                  </a:lnTo>
                  <a:lnTo>
                    <a:pt x="6330086" y="914400"/>
                  </a:lnTo>
                  <a:lnTo>
                    <a:pt x="0" y="914400"/>
                  </a:lnTo>
                  <a:close/>
                </a:path>
              </a:pathLst>
            </a:custGeom>
            <a:blipFill>
              <a:blip r:embed="rId7">
                <a:alphaModFix amt="0"/>
              </a:blip>
              <a:stretch>
                <a:fillRect l="0" t="-84888" r="0" b="-84888"/>
              </a:stretch>
            </a:blipFill>
          </p:spPr>
        </p:sp>
        <p:sp>
          <p:nvSpPr>
            <p:cNvPr name="TextBox 24" id="24"/>
            <p:cNvSpPr txBox="true"/>
            <p:nvPr/>
          </p:nvSpPr>
          <p:spPr>
            <a:xfrm>
              <a:off x="0" y="-9525"/>
              <a:ext cx="6330086" cy="923925"/>
            </a:xfrm>
            <a:prstGeom prst="rect">
              <a:avLst/>
            </a:prstGeom>
          </p:spPr>
          <p:txBody>
            <a:bodyPr anchor="ctr" rtlCol="false" tIns="0" lIns="0" bIns="0" rIns="0"/>
            <a:lstStyle/>
            <a:p>
              <a:pPr algn="ctr">
                <a:lnSpc>
                  <a:spcPts val="2070"/>
                </a:lnSpc>
              </a:pPr>
              <a:r>
                <a:rPr lang="en-US" sz="1725">
                  <a:solidFill>
                    <a:srgbClr val="475569"/>
                  </a:solidFill>
                  <a:latin typeface="Poppins"/>
                  <a:ea typeface="Poppins"/>
                  <a:cs typeface="Poppins"/>
                  <a:sym typeface="Poppins"/>
                </a:rPr>
                <a:t>Month = March</a:t>
              </a:r>
            </a:p>
          </p:txBody>
        </p:sp>
      </p:grpSp>
      <p:grpSp>
        <p:nvGrpSpPr>
          <p:cNvPr name="Group 25" id="25"/>
          <p:cNvGrpSpPr/>
          <p:nvPr/>
        </p:nvGrpSpPr>
        <p:grpSpPr>
          <a:xfrm rot="0">
            <a:off x="2133371" y="5088636"/>
            <a:ext cx="4103827" cy="685800"/>
            <a:chOff x="0" y="0"/>
            <a:chExt cx="5471770" cy="914400"/>
          </a:xfrm>
        </p:grpSpPr>
        <p:sp>
          <p:nvSpPr>
            <p:cNvPr name="Freeform 26" id="26"/>
            <p:cNvSpPr/>
            <p:nvPr/>
          </p:nvSpPr>
          <p:spPr>
            <a:xfrm flipH="false" flipV="false" rot="0">
              <a:off x="0" y="0"/>
              <a:ext cx="5471795" cy="914400"/>
            </a:xfrm>
            <a:custGeom>
              <a:avLst/>
              <a:gdLst/>
              <a:ahLst/>
              <a:cxnLst/>
              <a:rect r="r" b="b" t="t" l="l"/>
              <a:pathLst>
                <a:path h="914400" w="5471795">
                  <a:moveTo>
                    <a:pt x="0" y="128016"/>
                  </a:moveTo>
                  <a:cubicBezTo>
                    <a:pt x="0" y="57277"/>
                    <a:pt x="57277" y="0"/>
                    <a:pt x="128016" y="0"/>
                  </a:cubicBezTo>
                  <a:lnTo>
                    <a:pt x="5343779" y="0"/>
                  </a:lnTo>
                  <a:cubicBezTo>
                    <a:pt x="5414518" y="0"/>
                    <a:pt x="5471795" y="57277"/>
                    <a:pt x="5471795" y="128016"/>
                  </a:cubicBezTo>
                  <a:lnTo>
                    <a:pt x="5471795" y="786384"/>
                  </a:lnTo>
                  <a:cubicBezTo>
                    <a:pt x="5471795" y="857123"/>
                    <a:pt x="5414518" y="914400"/>
                    <a:pt x="5343779" y="914400"/>
                  </a:cubicBezTo>
                  <a:lnTo>
                    <a:pt x="128016" y="914400"/>
                  </a:lnTo>
                  <a:cubicBezTo>
                    <a:pt x="57277" y="914400"/>
                    <a:pt x="0" y="857123"/>
                    <a:pt x="0" y="786384"/>
                  </a:cubicBezTo>
                  <a:close/>
                </a:path>
              </a:pathLst>
            </a:custGeom>
            <a:solidFill>
              <a:srgbClr val="387F7F"/>
            </a:solidFill>
          </p:spPr>
        </p:sp>
      </p:grpSp>
      <p:grpSp>
        <p:nvGrpSpPr>
          <p:cNvPr name="Group 27" id="27"/>
          <p:cNvGrpSpPr/>
          <p:nvPr/>
        </p:nvGrpSpPr>
        <p:grpSpPr>
          <a:xfrm rot="0">
            <a:off x="2133371" y="5088636"/>
            <a:ext cx="4103827" cy="685800"/>
            <a:chOff x="0" y="0"/>
            <a:chExt cx="5471770" cy="914400"/>
          </a:xfrm>
        </p:grpSpPr>
        <p:sp>
          <p:nvSpPr>
            <p:cNvPr name="Freeform 28" id="28"/>
            <p:cNvSpPr/>
            <p:nvPr/>
          </p:nvSpPr>
          <p:spPr>
            <a:xfrm flipH="false" flipV="false" rot="0">
              <a:off x="0" y="0"/>
              <a:ext cx="5471770" cy="914400"/>
            </a:xfrm>
            <a:custGeom>
              <a:avLst/>
              <a:gdLst/>
              <a:ahLst/>
              <a:cxnLst/>
              <a:rect r="r" b="b" t="t" l="l"/>
              <a:pathLst>
                <a:path h="914400" w="5471770">
                  <a:moveTo>
                    <a:pt x="0" y="0"/>
                  </a:moveTo>
                  <a:lnTo>
                    <a:pt x="5471770" y="0"/>
                  </a:lnTo>
                  <a:lnTo>
                    <a:pt x="5471770" y="914400"/>
                  </a:lnTo>
                  <a:lnTo>
                    <a:pt x="0" y="914400"/>
                  </a:lnTo>
                  <a:close/>
                </a:path>
              </a:pathLst>
            </a:custGeom>
            <a:blipFill>
              <a:blip r:embed="rId7">
                <a:alphaModFix amt="0"/>
              </a:blip>
              <a:stretch>
                <a:fillRect l="0" t="-66598" r="0" b="-66598"/>
              </a:stretch>
            </a:blipFill>
          </p:spPr>
        </p:sp>
        <p:sp>
          <p:nvSpPr>
            <p:cNvPr name="TextBox 29" id="29"/>
            <p:cNvSpPr txBox="true"/>
            <p:nvPr/>
          </p:nvSpPr>
          <p:spPr>
            <a:xfrm>
              <a:off x="0" y="-9525"/>
              <a:ext cx="5471770" cy="923925"/>
            </a:xfrm>
            <a:prstGeom prst="rect">
              <a:avLst/>
            </a:prstGeom>
          </p:spPr>
          <p:txBody>
            <a:bodyPr anchor="ctr" rtlCol="false" tIns="0" lIns="0" bIns="0" rIns="0"/>
            <a:lstStyle/>
            <a:p>
              <a:pPr algn="ctr">
                <a:lnSpc>
                  <a:spcPts val="2070"/>
                </a:lnSpc>
              </a:pPr>
              <a:r>
                <a:rPr lang="en-US" sz="1725" b="true">
                  <a:solidFill>
                    <a:srgbClr val="FFFFFF"/>
                  </a:solidFill>
                  <a:latin typeface="Poppins Bold"/>
                  <a:ea typeface="Poppins Bold"/>
                  <a:cs typeface="Poppins Bold"/>
                  <a:sym typeface="Poppins Bold"/>
                </a:rPr>
                <a:t>Hub = Apapa</a:t>
              </a:r>
            </a:p>
          </p:txBody>
        </p:sp>
      </p:grpSp>
      <p:grpSp>
        <p:nvGrpSpPr>
          <p:cNvPr name="Group 30" id="30"/>
          <p:cNvGrpSpPr/>
          <p:nvPr/>
        </p:nvGrpSpPr>
        <p:grpSpPr>
          <a:xfrm rot="0">
            <a:off x="1167765" y="5856732"/>
            <a:ext cx="6035040" cy="356616"/>
            <a:chOff x="0" y="0"/>
            <a:chExt cx="8046720" cy="475488"/>
          </a:xfrm>
        </p:grpSpPr>
        <p:sp>
          <p:nvSpPr>
            <p:cNvPr name="Freeform 31" id="31"/>
            <p:cNvSpPr/>
            <p:nvPr/>
          </p:nvSpPr>
          <p:spPr>
            <a:xfrm flipH="false" flipV="false" rot="0">
              <a:off x="0" y="0"/>
              <a:ext cx="8046720" cy="475488"/>
            </a:xfrm>
            <a:custGeom>
              <a:avLst/>
              <a:gdLst/>
              <a:ahLst/>
              <a:cxnLst/>
              <a:rect r="r" b="b" t="t" l="l"/>
              <a:pathLst>
                <a:path h="475488" w="8046720">
                  <a:moveTo>
                    <a:pt x="0" y="0"/>
                  </a:moveTo>
                  <a:lnTo>
                    <a:pt x="8046720" y="0"/>
                  </a:lnTo>
                  <a:lnTo>
                    <a:pt x="8046720" y="475488"/>
                  </a:lnTo>
                  <a:lnTo>
                    <a:pt x="0" y="475488"/>
                  </a:lnTo>
                  <a:close/>
                </a:path>
              </a:pathLst>
            </a:custGeom>
            <a:blipFill>
              <a:blip r:embed="rId7">
                <a:alphaModFix amt="0"/>
              </a:blip>
              <a:stretch>
                <a:fillRect l="0" t="-279746" r="0" b="-279746"/>
              </a:stretch>
            </a:blipFill>
          </p:spPr>
        </p:sp>
        <p:sp>
          <p:nvSpPr>
            <p:cNvPr name="TextBox 32" id="32"/>
            <p:cNvSpPr txBox="true"/>
            <p:nvPr/>
          </p:nvSpPr>
          <p:spPr>
            <a:xfrm>
              <a:off x="0" y="-9525"/>
              <a:ext cx="8046720" cy="485013"/>
            </a:xfrm>
            <a:prstGeom prst="rect">
              <a:avLst/>
            </a:prstGeom>
          </p:spPr>
          <p:txBody>
            <a:bodyPr anchor="ctr" rtlCol="false" tIns="0" lIns="0" bIns="0" rIns="0"/>
            <a:lstStyle/>
            <a:p>
              <a:pPr algn="ctr">
                <a:lnSpc>
                  <a:spcPts val="1980"/>
                </a:lnSpc>
              </a:pPr>
              <a:r>
                <a:rPr lang="en-US" sz="1650">
                  <a:solidFill>
                    <a:srgbClr val="7FB3B3"/>
                  </a:solidFill>
                  <a:latin typeface="Poppins"/>
                  <a:ea typeface="Poppins"/>
                  <a:cs typeface="Poppins"/>
                  <a:sym typeface="Poppins"/>
                </a:rPr>
                <a:t>▼</a:t>
              </a:r>
            </a:p>
          </p:txBody>
        </p:sp>
      </p:grpSp>
      <p:grpSp>
        <p:nvGrpSpPr>
          <p:cNvPr name="Group 33" id="33"/>
          <p:cNvGrpSpPr/>
          <p:nvPr/>
        </p:nvGrpSpPr>
        <p:grpSpPr>
          <a:xfrm rot="0">
            <a:off x="1167765" y="6240780"/>
            <a:ext cx="6035040" cy="754380"/>
            <a:chOff x="0" y="0"/>
            <a:chExt cx="8046720" cy="1005840"/>
          </a:xfrm>
        </p:grpSpPr>
        <p:sp>
          <p:nvSpPr>
            <p:cNvPr name="Freeform 34" id="34"/>
            <p:cNvSpPr/>
            <p:nvPr/>
          </p:nvSpPr>
          <p:spPr>
            <a:xfrm flipH="false" flipV="false" rot="0">
              <a:off x="0" y="0"/>
              <a:ext cx="8046720" cy="1005840"/>
            </a:xfrm>
            <a:custGeom>
              <a:avLst/>
              <a:gdLst/>
              <a:ahLst/>
              <a:cxnLst/>
              <a:rect r="r" b="b" t="t" l="l"/>
              <a:pathLst>
                <a:path h="1005840" w="8046720">
                  <a:moveTo>
                    <a:pt x="0" y="0"/>
                  </a:moveTo>
                  <a:lnTo>
                    <a:pt x="8046720" y="0"/>
                  </a:lnTo>
                  <a:lnTo>
                    <a:pt x="8046720" y="1005840"/>
                  </a:lnTo>
                  <a:lnTo>
                    <a:pt x="0" y="1005840"/>
                  </a:lnTo>
                  <a:close/>
                </a:path>
              </a:pathLst>
            </a:custGeom>
            <a:blipFill>
              <a:blip r:embed="rId7">
                <a:alphaModFix amt="0"/>
              </a:blip>
              <a:stretch>
                <a:fillRect l="0" t="-105880" r="0" b="-105880"/>
              </a:stretch>
            </a:blipFill>
          </p:spPr>
        </p:sp>
        <p:sp>
          <p:nvSpPr>
            <p:cNvPr name="TextBox 35" id="35"/>
            <p:cNvSpPr txBox="true"/>
            <p:nvPr/>
          </p:nvSpPr>
          <p:spPr>
            <a:xfrm>
              <a:off x="0" y="-38100"/>
              <a:ext cx="8046720" cy="1043940"/>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527</a:t>
              </a:r>
            </a:p>
          </p:txBody>
        </p:sp>
      </p:grpSp>
      <p:sp>
        <p:nvSpPr>
          <p:cNvPr name="TextBox 36" id="36"/>
          <p:cNvSpPr txBox="true"/>
          <p:nvPr/>
        </p:nvSpPr>
        <p:spPr>
          <a:xfrm rot="0">
            <a:off x="1167765" y="6987540"/>
            <a:ext cx="6035040" cy="556260"/>
          </a:xfrm>
          <a:prstGeom prst="rect">
            <a:avLst/>
          </a:prstGeom>
        </p:spPr>
        <p:txBody>
          <a:bodyPr anchor="t" rtlCol="false" tIns="0" lIns="0" bIns="0" rIns="0">
            <a:spAutoFit/>
          </a:bodyPr>
          <a:lstStyle/>
          <a:p>
            <a:pPr algn="ctr">
              <a:lnSpc>
                <a:spcPts val="2794"/>
              </a:lnSpc>
            </a:pPr>
            <a:r>
              <a:rPr lang="en-US" sz="1725" i="true">
                <a:solidFill>
                  <a:srgbClr val="64748B"/>
                </a:solidFill>
                <a:latin typeface="Poppins Italics"/>
                <a:ea typeface="Poppins Italics"/>
                <a:cs typeface="Poppins Italics"/>
                <a:sym typeface="Poppins Italics"/>
              </a:rPr>
              <a:t>what the measure actually counts</a:t>
            </a:r>
          </a:p>
        </p:txBody>
      </p:sp>
      <p:grpSp>
        <p:nvGrpSpPr>
          <p:cNvPr name="Group 37" id="37"/>
          <p:cNvGrpSpPr/>
          <p:nvPr/>
        </p:nvGrpSpPr>
        <p:grpSpPr>
          <a:xfrm rot="0">
            <a:off x="8162925" y="2537460"/>
            <a:ext cx="7543800" cy="4937760"/>
            <a:chOff x="0" y="0"/>
            <a:chExt cx="10058400" cy="6583680"/>
          </a:xfrm>
        </p:grpSpPr>
        <p:sp>
          <p:nvSpPr>
            <p:cNvPr name="Freeform 38" id="38"/>
            <p:cNvSpPr/>
            <p:nvPr/>
          </p:nvSpPr>
          <p:spPr>
            <a:xfrm flipH="false" flipV="false" rot="0">
              <a:off x="0" y="0"/>
              <a:ext cx="10058400" cy="6583680"/>
            </a:xfrm>
            <a:custGeom>
              <a:avLst/>
              <a:gdLst/>
              <a:ahLst/>
              <a:cxnLst/>
              <a:rect r="r" b="b" t="t" l="l"/>
              <a:pathLst>
                <a:path h="6583680" w="10058400">
                  <a:moveTo>
                    <a:pt x="0" y="182880"/>
                  </a:moveTo>
                  <a:cubicBezTo>
                    <a:pt x="0" y="81915"/>
                    <a:pt x="81915" y="0"/>
                    <a:pt x="182880" y="0"/>
                  </a:cubicBezTo>
                  <a:lnTo>
                    <a:pt x="9875520" y="0"/>
                  </a:lnTo>
                  <a:cubicBezTo>
                    <a:pt x="9976485" y="0"/>
                    <a:pt x="10058400" y="81915"/>
                    <a:pt x="10058400" y="182880"/>
                  </a:cubicBezTo>
                  <a:lnTo>
                    <a:pt x="10058400" y="6400800"/>
                  </a:lnTo>
                  <a:cubicBezTo>
                    <a:pt x="10058400" y="6501765"/>
                    <a:pt x="9976485" y="6583680"/>
                    <a:pt x="9875520" y="6583680"/>
                  </a:cubicBezTo>
                  <a:lnTo>
                    <a:pt x="182880" y="6583680"/>
                  </a:lnTo>
                  <a:cubicBezTo>
                    <a:pt x="81915" y="6583680"/>
                    <a:pt x="0" y="6501765"/>
                    <a:pt x="0" y="6400800"/>
                  </a:cubicBezTo>
                  <a:close/>
                </a:path>
              </a:pathLst>
            </a:custGeom>
            <a:solidFill>
              <a:srgbClr val="FFFFFF"/>
            </a:solidFill>
          </p:spPr>
        </p:sp>
      </p:grpSp>
      <p:sp>
        <p:nvSpPr>
          <p:cNvPr name="TextBox 39" id="39"/>
          <p:cNvSpPr txBox="true"/>
          <p:nvPr/>
        </p:nvSpPr>
        <p:spPr>
          <a:xfrm rot="0">
            <a:off x="8642985" y="2844165"/>
            <a:ext cx="6652260" cy="927735"/>
          </a:xfrm>
          <a:prstGeom prst="rect">
            <a:avLst/>
          </a:prstGeom>
        </p:spPr>
        <p:txBody>
          <a:bodyPr anchor="t" rtlCol="false" tIns="0" lIns="0" bIns="0" rIns="0">
            <a:spAutoFit/>
          </a:bodyPr>
          <a:lstStyle/>
          <a:p>
            <a:pPr algn="l">
              <a:lnSpc>
                <a:spcPts val="3510"/>
              </a:lnSpc>
            </a:pPr>
            <a:r>
              <a:rPr lang="en-US" sz="2250" b="true">
                <a:solidFill>
                  <a:srgbClr val="0A1A23"/>
                </a:solidFill>
                <a:latin typeface="Poppins Bold"/>
                <a:ea typeface="Poppins Bold"/>
                <a:cs typeface="Poppins Bold"/>
                <a:sym typeface="Poppins Bold"/>
              </a:rPr>
              <a:t>Look at one bar in a chart of deliveries by month, filtered to the Apapa hub.</a:t>
            </a:r>
          </a:p>
        </p:txBody>
      </p:sp>
      <p:sp>
        <p:nvSpPr>
          <p:cNvPr name="TextBox 40" id="40"/>
          <p:cNvSpPr txBox="true"/>
          <p:nvPr/>
        </p:nvSpPr>
        <p:spPr>
          <a:xfrm rot="0">
            <a:off x="8642985" y="3813810"/>
            <a:ext cx="6652260" cy="1329690"/>
          </a:xfrm>
          <a:prstGeom prst="rect">
            <a:avLst/>
          </a:prstGeom>
        </p:spPr>
        <p:txBody>
          <a:bodyPr anchor="t" rtlCol="false" tIns="0" lIns="0" bIns="0" rIns="0">
            <a:spAutoFit/>
          </a:bodyPr>
          <a:lstStyle/>
          <a:p>
            <a:pPr algn="l">
              <a:lnSpc>
                <a:spcPts val="3326"/>
              </a:lnSpc>
            </a:pPr>
            <a:r>
              <a:rPr lang="en-US" sz="2100">
                <a:solidFill>
                  <a:srgbClr val="475569"/>
                </a:solidFill>
                <a:latin typeface="Poppins"/>
                <a:ea typeface="Poppins"/>
                <a:cs typeface="Poppins"/>
                <a:sym typeface="Poppins"/>
              </a:rPr>
              <a:t>That bar is not “the total”. It is the total for March, for Apapa, for whatever the page filters say.</a:t>
            </a:r>
          </a:p>
        </p:txBody>
      </p:sp>
      <p:sp>
        <p:nvSpPr>
          <p:cNvPr name="TextBox 41" id="41"/>
          <p:cNvSpPr txBox="true"/>
          <p:nvPr/>
        </p:nvSpPr>
        <p:spPr>
          <a:xfrm rot="0">
            <a:off x="8642985" y="5185410"/>
            <a:ext cx="6652260" cy="1466850"/>
          </a:xfrm>
          <a:prstGeom prst="rect">
            <a:avLst/>
          </a:prstGeom>
        </p:spPr>
        <p:txBody>
          <a:bodyPr anchor="t" rtlCol="false" tIns="0" lIns="0" bIns="0" rIns="0">
            <a:spAutoFit/>
          </a:bodyPr>
          <a:lstStyle/>
          <a:p>
            <a:pPr algn="l">
              <a:lnSpc>
                <a:spcPts val="3326"/>
              </a:lnSpc>
            </a:pPr>
            <a:r>
              <a:rPr lang="en-US" sz="2100">
                <a:solidFill>
                  <a:srgbClr val="475569"/>
                </a:solidFill>
                <a:latin typeface="Poppins"/>
                <a:ea typeface="Poppins"/>
                <a:cs typeface="Poppins"/>
                <a:sym typeface="Poppins"/>
              </a:rPr>
              <a:t>Power BI works out that set of filters first, applies it to the model, and only then runs your measure against what survives.</a:t>
            </a:r>
          </a:p>
        </p:txBody>
      </p:sp>
      <p:grpSp>
        <p:nvGrpSpPr>
          <p:cNvPr name="Group 42" id="42"/>
          <p:cNvGrpSpPr/>
          <p:nvPr/>
        </p:nvGrpSpPr>
        <p:grpSpPr>
          <a:xfrm rot="0">
            <a:off x="8642985" y="6720840"/>
            <a:ext cx="6652260" cy="576072"/>
            <a:chOff x="0" y="0"/>
            <a:chExt cx="8869680" cy="768096"/>
          </a:xfrm>
        </p:grpSpPr>
        <p:sp>
          <p:nvSpPr>
            <p:cNvPr name="Freeform 43" id="43"/>
            <p:cNvSpPr/>
            <p:nvPr/>
          </p:nvSpPr>
          <p:spPr>
            <a:xfrm flipH="false" flipV="false" rot="0">
              <a:off x="0" y="0"/>
              <a:ext cx="8869680" cy="768096"/>
            </a:xfrm>
            <a:custGeom>
              <a:avLst/>
              <a:gdLst/>
              <a:ahLst/>
              <a:cxnLst/>
              <a:rect r="r" b="b" t="t" l="l"/>
              <a:pathLst>
                <a:path h="768096" w="8869680">
                  <a:moveTo>
                    <a:pt x="0" y="365760"/>
                  </a:moveTo>
                  <a:cubicBezTo>
                    <a:pt x="0" y="163703"/>
                    <a:pt x="163703" y="0"/>
                    <a:pt x="365760" y="0"/>
                  </a:cubicBezTo>
                  <a:lnTo>
                    <a:pt x="8503920" y="0"/>
                  </a:lnTo>
                  <a:cubicBezTo>
                    <a:pt x="8705976" y="0"/>
                    <a:pt x="8869680" y="163703"/>
                    <a:pt x="8869680" y="365760"/>
                  </a:cubicBezTo>
                  <a:lnTo>
                    <a:pt x="8869680" y="402336"/>
                  </a:lnTo>
                  <a:cubicBezTo>
                    <a:pt x="8869680" y="604393"/>
                    <a:pt x="8705976" y="768096"/>
                    <a:pt x="8503920" y="768096"/>
                  </a:cubicBezTo>
                  <a:lnTo>
                    <a:pt x="365760" y="768096"/>
                  </a:lnTo>
                  <a:cubicBezTo>
                    <a:pt x="163703" y="768096"/>
                    <a:pt x="0" y="604393"/>
                    <a:pt x="0" y="402336"/>
                  </a:cubicBezTo>
                  <a:close/>
                </a:path>
              </a:pathLst>
            </a:custGeom>
            <a:solidFill>
              <a:srgbClr val="EEF4F4"/>
            </a:solidFill>
          </p:spPr>
        </p:sp>
      </p:grpSp>
      <p:grpSp>
        <p:nvGrpSpPr>
          <p:cNvPr name="Group 44" id="44"/>
          <p:cNvGrpSpPr/>
          <p:nvPr/>
        </p:nvGrpSpPr>
        <p:grpSpPr>
          <a:xfrm rot="0">
            <a:off x="8642985" y="6720840"/>
            <a:ext cx="6652260" cy="576072"/>
            <a:chOff x="0" y="0"/>
            <a:chExt cx="8869680" cy="768096"/>
          </a:xfrm>
        </p:grpSpPr>
        <p:sp>
          <p:nvSpPr>
            <p:cNvPr name="Freeform 45" id="45"/>
            <p:cNvSpPr/>
            <p:nvPr/>
          </p:nvSpPr>
          <p:spPr>
            <a:xfrm flipH="false" flipV="false" rot="0">
              <a:off x="0" y="0"/>
              <a:ext cx="8869680" cy="768096"/>
            </a:xfrm>
            <a:custGeom>
              <a:avLst/>
              <a:gdLst/>
              <a:ahLst/>
              <a:cxnLst/>
              <a:rect r="r" b="b" t="t" l="l"/>
              <a:pathLst>
                <a:path h="768096" w="8869680">
                  <a:moveTo>
                    <a:pt x="0" y="0"/>
                  </a:moveTo>
                  <a:lnTo>
                    <a:pt x="8869680" y="0"/>
                  </a:lnTo>
                  <a:lnTo>
                    <a:pt x="8869680" y="768096"/>
                  </a:lnTo>
                  <a:lnTo>
                    <a:pt x="0" y="768096"/>
                  </a:lnTo>
                  <a:close/>
                </a:path>
              </a:pathLst>
            </a:custGeom>
            <a:blipFill>
              <a:blip r:embed="rId7">
                <a:alphaModFix amt="0"/>
              </a:blip>
              <a:stretch>
                <a:fillRect l="0" t="-175005" r="0" b="-175005"/>
              </a:stretch>
            </a:blipFill>
          </p:spPr>
        </p:sp>
        <p:sp>
          <p:nvSpPr>
            <p:cNvPr name="TextBox 46" id="46"/>
            <p:cNvSpPr txBox="true"/>
            <p:nvPr/>
          </p:nvSpPr>
          <p:spPr>
            <a:xfrm>
              <a:off x="0" y="-19050"/>
              <a:ext cx="8869680" cy="787146"/>
            </a:xfrm>
            <a:prstGeom prst="rect">
              <a:avLst/>
            </a:prstGeom>
          </p:spPr>
          <p:txBody>
            <a:bodyPr anchor="ctr" rtlCol="false" tIns="0" lIns="0" bIns="0" rIns="0"/>
            <a:lstStyle/>
            <a:p>
              <a:pPr algn="ctr">
                <a:lnSpc>
                  <a:spcPts val="2160"/>
                </a:lnSpc>
              </a:pPr>
              <a:r>
                <a:rPr lang="en-US" sz="1800" b="true">
                  <a:solidFill>
                    <a:srgbClr val="387F7F"/>
                  </a:solidFill>
                  <a:latin typeface="Poppins Bold"/>
                  <a:ea typeface="Poppins Bold"/>
                  <a:cs typeface="Poppins Bold"/>
                  <a:sym typeface="Poppins Bold"/>
                </a:rPr>
                <a:t>That set of filters is the filter context.</a:t>
              </a:r>
            </a:p>
          </p:txBody>
        </p:sp>
      </p:grpSp>
      <p:grpSp>
        <p:nvGrpSpPr>
          <p:cNvPr name="Group 47" id="47"/>
          <p:cNvGrpSpPr/>
          <p:nvPr/>
        </p:nvGrpSpPr>
        <p:grpSpPr>
          <a:xfrm rot="0">
            <a:off x="962025" y="7886700"/>
            <a:ext cx="14744700" cy="1303020"/>
            <a:chOff x="0" y="0"/>
            <a:chExt cx="19659600" cy="1737360"/>
          </a:xfrm>
        </p:grpSpPr>
        <p:sp>
          <p:nvSpPr>
            <p:cNvPr name="Freeform 48" id="48"/>
            <p:cNvSpPr/>
            <p:nvPr/>
          </p:nvSpPr>
          <p:spPr>
            <a:xfrm flipH="false" flipV="false" rot="0">
              <a:off x="0" y="0"/>
              <a:ext cx="19659600" cy="1737360"/>
            </a:xfrm>
            <a:custGeom>
              <a:avLst/>
              <a:gdLst/>
              <a:ahLst/>
              <a:cxnLst/>
              <a:rect r="r" b="b" t="t" l="l"/>
              <a:pathLst>
                <a:path h="1737360" w="19659600">
                  <a:moveTo>
                    <a:pt x="0" y="164592"/>
                  </a:moveTo>
                  <a:cubicBezTo>
                    <a:pt x="0" y="73660"/>
                    <a:pt x="73660" y="0"/>
                    <a:pt x="164592" y="0"/>
                  </a:cubicBezTo>
                  <a:lnTo>
                    <a:pt x="19495008" y="0"/>
                  </a:lnTo>
                  <a:cubicBezTo>
                    <a:pt x="19585939" y="0"/>
                    <a:pt x="19659600" y="73660"/>
                    <a:pt x="19659600" y="164592"/>
                  </a:cubicBezTo>
                  <a:lnTo>
                    <a:pt x="19659600" y="1572768"/>
                  </a:lnTo>
                  <a:cubicBezTo>
                    <a:pt x="19659600" y="1663700"/>
                    <a:pt x="19585939" y="1737360"/>
                    <a:pt x="19495008" y="1737360"/>
                  </a:cubicBezTo>
                  <a:lnTo>
                    <a:pt x="164592" y="1737360"/>
                  </a:lnTo>
                  <a:cubicBezTo>
                    <a:pt x="73660" y="1737360"/>
                    <a:pt x="0" y="1663700"/>
                    <a:pt x="0" y="1572768"/>
                  </a:cubicBezTo>
                  <a:close/>
                </a:path>
              </a:pathLst>
            </a:custGeom>
            <a:solidFill>
              <a:srgbClr val="EEF4F4"/>
            </a:solidFill>
          </p:spPr>
        </p:sp>
      </p:grpSp>
      <p:grpSp>
        <p:nvGrpSpPr>
          <p:cNvPr name="Group 49" id="49"/>
          <p:cNvGrpSpPr/>
          <p:nvPr/>
        </p:nvGrpSpPr>
        <p:grpSpPr>
          <a:xfrm rot="0">
            <a:off x="962025" y="7886700"/>
            <a:ext cx="102870" cy="1303020"/>
            <a:chOff x="0" y="0"/>
            <a:chExt cx="137160" cy="1737360"/>
          </a:xfrm>
        </p:grpSpPr>
        <p:sp>
          <p:nvSpPr>
            <p:cNvPr name="Freeform 50" id="50"/>
            <p:cNvSpPr/>
            <p:nvPr/>
          </p:nvSpPr>
          <p:spPr>
            <a:xfrm flipH="false" flipV="false" rot="0">
              <a:off x="0" y="0"/>
              <a:ext cx="137160" cy="1737360"/>
            </a:xfrm>
            <a:custGeom>
              <a:avLst/>
              <a:gdLst/>
              <a:ahLst/>
              <a:cxnLst/>
              <a:rect r="r" b="b" t="t" l="l"/>
              <a:pathLst>
                <a:path h="1737360" w="137160">
                  <a:moveTo>
                    <a:pt x="0" y="0"/>
                  </a:moveTo>
                  <a:lnTo>
                    <a:pt x="137160" y="0"/>
                  </a:lnTo>
                  <a:lnTo>
                    <a:pt x="137160" y="1737360"/>
                  </a:lnTo>
                  <a:lnTo>
                    <a:pt x="0" y="1737360"/>
                  </a:lnTo>
                  <a:close/>
                </a:path>
              </a:pathLst>
            </a:custGeom>
            <a:solidFill>
              <a:srgbClr val="387F7F"/>
            </a:solidFill>
          </p:spPr>
        </p:sp>
      </p:grpSp>
      <p:grpSp>
        <p:nvGrpSpPr>
          <p:cNvPr name="Group 51" id="51"/>
          <p:cNvGrpSpPr/>
          <p:nvPr/>
        </p:nvGrpSpPr>
        <p:grpSpPr>
          <a:xfrm rot="0">
            <a:off x="1510665" y="7886700"/>
            <a:ext cx="13853160" cy="1303020"/>
            <a:chOff x="0" y="0"/>
            <a:chExt cx="18470880" cy="1737360"/>
          </a:xfrm>
        </p:grpSpPr>
        <p:sp>
          <p:nvSpPr>
            <p:cNvPr name="Freeform 52" id="52"/>
            <p:cNvSpPr/>
            <p:nvPr/>
          </p:nvSpPr>
          <p:spPr>
            <a:xfrm flipH="false" flipV="false" rot="0">
              <a:off x="0" y="0"/>
              <a:ext cx="18470880" cy="1737360"/>
            </a:xfrm>
            <a:custGeom>
              <a:avLst/>
              <a:gdLst/>
              <a:ahLst/>
              <a:cxnLst/>
              <a:rect r="r" b="b" t="t" l="l"/>
              <a:pathLst>
                <a:path h="1737360" w="18470880">
                  <a:moveTo>
                    <a:pt x="0" y="0"/>
                  </a:moveTo>
                  <a:lnTo>
                    <a:pt x="18470880" y="0"/>
                  </a:lnTo>
                  <a:lnTo>
                    <a:pt x="18470880" y="1737360"/>
                  </a:lnTo>
                  <a:lnTo>
                    <a:pt x="0" y="1737360"/>
                  </a:lnTo>
                  <a:close/>
                </a:path>
              </a:pathLst>
            </a:custGeom>
            <a:blipFill>
              <a:blip r:embed="rId7">
                <a:alphaModFix amt="0"/>
              </a:blip>
              <a:stretch>
                <a:fillRect l="0" t="-157156" r="0" b="-157156"/>
              </a:stretch>
            </a:blipFill>
          </p:spPr>
        </p:sp>
        <p:sp>
          <p:nvSpPr>
            <p:cNvPr name="TextBox 53" id="53"/>
            <p:cNvSpPr txBox="true"/>
            <p:nvPr/>
          </p:nvSpPr>
          <p:spPr>
            <a:xfrm>
              <a:off x="0" y="-114300"/>
              <a:ext cx="18470880" cy="1851660"/>
            </a:xfrm>
            <a:prstGeom prst="rect">
              <a:avLst/>
            </a:prstGeom>
          </p:spPr>
          <p:txBody>
            <a:bodyPr anchor="ctr" rtlCol="false" tIns="0" lIns="0" bIns="0" rIns="0"/>
            <a:lstStyle/>
            <a:p>
              <a:pPr algn="l">
                <a:lnSpc>
                  <a:spcPts val="3888"/>
                </a:lnSpc>
              </a:pPr>
              <a:r>
                <a:rPr lang="en-US" sz="2400" b="true">
                  <a:solidFill>
                    <a:srgbClr val="387F7F"/>
                  </a:solidFill>
                  <a:latin typeface="Poppins Bold"/>
                  <a:ea typeface="Poppins Bold"/>
                  <a:cs typeface="Poppins Bold"/>
                  <a:sym typeface="Poppins Bold"/>
                </a:rPr>
                <a:t>You write the definition once. The visuals supply the questions.</a:t>
              </a:r>
            </a:p>
          </p:txBody>
        </p:sp>
      </p:grpSp>
      <p:sp>
        <p:nvSpPr>
          <p:cNvPr name="Freeform 54" id="54"/>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81050"/>
            <a:ext cx="13386349" cy="1323975"/>
          </a:xfrm>
          <a:prstGeom prst="rect">
            <a:avLst/>
          </a:prstGeom>
        </p:spPr>
        <p:txBody>
          <a:bodyPr anchor="t" rtlCol="false" tIns="0" lIns="0" bIns="0" rIns="0">
            <a:spAutoFit/>
          </a:bodyPr>
          <a:lstStyle/>
          <a:p>
            <a:pPr algn="l">
              <a:lnSpc>
                <a:spcPts val="5160"/>
              </a:lnSpc>
            </a:pPr>
            <a:r>
              <a:rPr lang="en-US" sz="4300">
                <a:solidFill>
                  <a:srgbClr val="388080"/>
                </a:solidFill>
                <a:latin typeface="Poppins"/>
                <a:ea typeface="Poppins"/>
                <a:cs typeface="Poppins"/>
                <a:sym typeface="Poppins"/>
              </a:rPr>
              <a:t>One measure, written once, answering differently everywhere</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10" id="10"/>
          <p:cNvGrpSpPr/>
          <p:nvPr/>
        </p:nvGrpSpPr>
        <p:grpSpPr>
          <a:xfrm rot="0">
            <a:off x="895350" y="2588095"/>
            <a:ext cx="14744700" cy="685800"/>
            <a:chOff x="0" y="0"/>
            <a:chExt cx="19659600" cy="914400"/>
          </a:xfrm>
        </p:grpSpPr>
        <p:sp>
          <p:nvSpPr>
            <p:cNvPr name="Freeform 11" id="11"/>
            <p:cNvSpPr/>
            <p:nvPr/>
          </p:nvSpPr>
          <p:spPr>
            <a:xfrm flipH="false" flipV="false" rot="0">
              <a:off x="0" y="0"/>
              <a:ext cx="19659600" cy="914400"/>
            </a:xfrm>
            <a:custGeom>
              <a:avLst/>
              <a:gdLst/>
              <a:ahLst/>
              <a:cxnLst/>
              <a:rect r="r" b="b" t="t" l="l"/>
              <a:pathLst>
                <a:path h="914400" w="19659600">
                  <a:moveTo>
                    <a:pt x="0" y="146304"/>
                  </a:moveTo>
                  <a:cubicBezTo>
                    <a:pt x="0" y="65532"/>
                    <a:pt x="65532" y="0"/>
                    <a:pt x="146304" y="0"/>
                  </a:cubicBezTo>
                  <a:lnTo>
                    <a:pt x="19513296" y="0"/>
                  </a:lnTo>
                  <a:cubicBezTo>
                    <a:pt x="19594068" y="0"/>
                    <a:pt x="19659600" y="65532"/>
                    <a:pt x="19659600" y="146304"/>
                  </a:cubicBezTo>
                  <a:lnTo>
                    <a:pt x="19659600" y="768096"/>
                  </a:lnTo>
                  <a:cubicBezTo>
                    <a:pt x="19659600" y="848868"/>
                    <a:pt x="19594068" y="914400"/>
                    <a:pt x="19513296" y="914400"/>
                  </a:cubicBezTo>
                  <a:lnTo>
                    <a:pt x="146304" y="914400"/>
                  </a:lnTo>
                  <a:cubicBezTo>
                    <a:pt x="65532" y="914400"/>
                    <a:pt x="0" y="848868"/>
                    <a:pt x="0" y="768096"/>
                  </a:cubicBezTo>
                  <a:close/>
                </a:path>
              </a:pathLst>
            </a:custGeom>
            <a:solidFill>
              <a:srgbClr val="20494A"/>
            </a:solidFill>
          </p:spPr>
        </p:sp>
      </p:grpSp>
      <p:grpSp>
        <p:nvGrpSpPr>
          <p:cNvPr name="Group 12" id="12"/>
          <p:cNvGrpSpPr/>
          <p:nvPr/>
        </p:nvGrpSpPr>
        <p:grpSpPr>
          <a:xfrm rot="0">
            <a:off x="1101090" y="2588095"/>
            <a:ext cx="4389120" cy="685800"/>
            <a:chOff x="0" y="0"/>
            <a:chExt cx="5852160" cy="914400"/>
          </a:xfrm>
        </p:grpSpPr>
        <p:sp>
          <p:nvSpPr>
            <p:cNvPr name="Freeform 13" id="13"/>
            <p:cNvSpPr/>
            <p:nvPr/>
          </p:nvSpPr>
          <p:spPr>
            <a:xfrm flipH="false" flipV="false" rot="0">
              <a:off x="0" y="0"/>
              <a:ext cx="5852160" cy="914400"/>
            </a:xfrm>
            <a:custGeom>
              <a:avLst/>
              <a:gdLst/>
              <a:ahLst/>
              <a:cxnLst/>
              <a:rect r="r" b="b" t="t" l="l"/>
              <a:pathLst>
                <a:path h="914400" w="5852160">
                  <a:moveTo>
                    <a:pt x="0" y="0"/>
                  </a:moveTo>
                  <a:lnTo>
                    <a:pt x="5852160" y="0"/>
                  </a:lnTo>
                  <a:lnTo>
                    <a:pt x="5852160" y="914400"/>
                  </a:lnTo>
                  <a:lnTo>
                    <a:pt x="0" y="914400"/>
                  </a:lnTo>
                  <a:close/>
                </a:path>
              </a:pathLst>
            </a:custGeom>
            <a:blipFill>
              <a:blip r:embed="rId7">
                <a:alphaModFix amt="0"/>
              </a:blip>
              <a:stretch>
                <a:fillRect l="0" t="-74704" r="0" b="-74704"/>
              </a:stretch>
            </a:blipFill>
          </p:spPr>
        </p:sp>
        <p:sp>
          <p:nvSpPr>
            <p:cNvPr name="TextBox 14" id="14"/>
            <p:cNvSpPr txBox="true"/>
            <p:nvPr/>
          </p:nvSpPr>
          <p:spPr>
            <a:xfrm>
              <a:off x="0" y="-19050"/>
              <a:ext cx="5852160" cy="933450"/>
            </a:xfrm>
            <a:prstGeom prst="rect">
              <a:avLst/>
            </a:prstGeom>
          </p:spPr>
          <p:txBody>
            <a:bodyPr anchor="ctr" rtlCol="false" tIns="0" lIns="0" bIns="0" rIns="0"/>
            <a:lstStyle/>
            <a:p>
              <a:pPr algn="l">
                <a:lnSpc>
                  <a:spcPts val="2160"/>
                </a:lnSpc>
              </a:pPr>
              <a:r>
                <a:rPr lang="en-US" sz="1800" b="true">
                  <a:solidFill>
                    <a:srgbClr val="FFFFFF"/>
                  </a:solidFill>
                  <a:latin typeface="Poppins Bold"/>
                  <a:ea typeface="Poppins Bold"/>
                  <a:cs typeface="Poppins Bold"/>
                  <a:sym typeface="Poppins Bold"/>
                </a:rPr>
                <a:t>Where it appears</a:t>
              </a:r>
            </a:p>
          </p:txBody>
        </p:sp>
      </p:grpSp>
      <p:grpSp>
        <p:nvGrpSpPr>
          <p:cNvPr name="Group 15" id="15"/>
          <p:cNvGrpSpPr/>
          <p:nvPr/>
        </p:nvGrpSpPr>
        <p:grpSpPr>
          <a:xfrm rot="0">
            <a:off x="5764530" y="2588095"/>
            <a:ext cx="6172200" cy="685800"/>
            <a:chOff x="0" y="0"/>
            <a:chExt cx="8229600" cy="914400"/>
          </a:xfrm>
        </p:grpSpPr>
        <p:sp>
          <p:nvSpPr>
            <p:cNvPr name="Freeform 16" id="16"/>
            <p:cNvSpPr/>
            <p:nvPr/>
          </p:nvSpPr>
          <p:spPr>
            <a:xfrm flipH="false" flipV="false" rot="0">
              <a:off x="0" y="0"/>
              <a:ext cx="8229600" cy="914400"/>
            </a:xfrm>
            <a:custGeom>
              <a:avLst/>
              <a:gdLst/>
              <a:ahLst/>
              <a:cxnLst/>
              <a:rect r="r" b="b" t="t" l="l"/>
              <a:pathLst>
                <a:path h="914400" w="8229600">
                  <a:moveTo>
                    <a:pt x="0" y="0"/>
                  </a:moveTo>
                  <a:lnTo>
                    <a:pt x="8229600" y="0"/>
                  </a:lnTo>
                  <a:lnTo>
                    <a:pt x="8229600" y="914400"/>
                  </a:lnTo>
                  <a:lnTo>
                    <a:pt x="0" y="914400"/>
                  </a:lnTo>
                  <a:close/>
                </a:path>
              </a:pathLst>
            </a:custGeom>
            <a:blipFill>
              <a:blip r:embed="rId7">
                <a:alphaModFix amt="0"/>
              </a:blip>
              <a:stretch>
                <a:fillRect l="0" t="-125365" r="0" b="-125365"/>
              </a:stretch>
            </a:blipFill>
          </p:spPr>
        </p:sp>
        <p:sp>
          <p:nvSpPr>
            <p:cNvPr name="TextBox 17" id="17"/>
            <p:cNvSpPr txBox="true"/>
            <p:nvPr/>
          </p:nvSpPr>
          <p:spPr>
            <a:xfrm>
              <a:off x="0" y="-19050"/>
              <a:ext cx="8229600" cy="933450"/>
            </a:xfrm>
            <a:prstGeom prst="rect">
              <a:avLst/>
            </a:prstGeom>
          </p:spPr>
          <p:txBody>
            <a:bodyPr anchor="ctr" rtlCol="false" tIns="0" lIns="0" bIns="0" rIns="0"/>
            <a:lstStyle/>
            <a:p>
              <a:pPr algn="l">
                <a:lnSpc>
                  <a:spcPts val="2160"/>
                </a:lnSpc>
              </a:pPr>
              <a:r>
                <a:rPr lang="en-US" sz="1800" b="true">
                  <a:solidFill>
                    <a:srgbClr val="FFFFFF"/>
                  </a:solidFill>
                  <a:latin typeface="Poppins Bold"/>
                  <a:ea typeface="Poppins Bold"/>
                  <a:cs typeface="Poppins Bold"/>
                  <a:sym typeface="Poppins Bold"/>
                </a:rPr>
                <a:t>Filter context</a:t>
              </a:r>
            </a:p>
          </p:txBody>
        </p:sp>
      </p:grpSp>
      <p:grpSp>
        <p:nvGrpSpPr>
          <p:cNvPr name="Group 18" id="18"/>
          <p:cNvGrpSpPr/>
          <p:nvPr/>
        </p:nvGrpSpPr>
        <p:grpSpPr>
          <a:xfrm rot="0">
            <a:off x="12211050" y="2588095"/>
            <a:ext cx="3154680" cy="685800"/>
            <a:chOff x="0" y="0"/>
            <a:chExt cx="4206240" cy="914400"/>
          </a:xfrm>
        </p:grpSpPr>
        <p:sp>
          <p:nvSpPr>
            <p:cNvPr name="Freeform 19" id="19"/>
            <p:cNvSpPr/>
            <p:nvPr/>
          </p:nvSpPr>
          <p:spPr>
            <a:xfrm flipH="false" flipV="false" rot="0">
              <a:off x="0" y="0"/>
              <a:ext cx="4206240" cy="914400"/>
            </a:xfrm>
            <a:custGeom>
              <a:avLst/>
              <a:gdLst/>
              <a:ahLst/>
              <a:cxnLst/>
              <a:rect r="r" b="b" t="t" l="l"/>
              <a:pathLst>
                <a:path h="914400" w="4206240">
                  <a:moveTo>
                    <a:pt x="0" y="0"/>
                  </a:moveTo>
                  <a:lnTo>
                    <a:pt x="4206240" y="0"/>
                  </a:lnTo>
                  <a:lnTo>
                    <a:pt x="4206240" y="914400"/>
                  </a:lnTo>
                  <a:lnTo>
                    <a:pt x="0" y="914400"/>
                  </a:lnTo>
                  <a:close/>
                </a:path>
              </a:pathLst>
            </a:custGeom>
            <a:blipFill>
              <a:blip r:embed="rId7">
                <a:alphaModFix amt="0"/>
              </a:blip>
              <a:stretch>
                <a:fillRect l="0" t="-39631" r="0" b="-39631"/>
              </a:stretch>
            </a:blipFill>
          </p:spPr>
        </p:sp>
        <p:sp>
          <p:nvSpPr>
            <p:cNvPr name="TextBox 20" id="20"/>
            <p:cNvSpPr txBox="true"/>
            <p:nvPr/>
          </p:nvSpPr>
          <p:spPr>
            <a:xfrm>
              <a:off x="0" y="-19050"/>
              <a:ext cx="4206240" cy="933450"/>
            </a:xfrm>
            <a:prstGeom prst="rect">
              <a:avLst/>
            </a:prstGeom>
          </p:spPr>
          <p:txBody>
            <a:bodyPr anchor="ctr" rtlCol="false" tIns="0" lIns="0" bIns="0" rIns="0"/>
            <a:lstStyle/>
            <a:p>
              <a:pPr algn="r">
                <a:lnSpc>
                  <a:spcPts val="2160"/>
                </a:lnSpc>
              </a:pPr>
              <a:r>
                <a:rPr lang="en-US" sz="1800" b="true">
                  <a:solidFill>
                    <a:srgbClr val="FFFFFF"/>
                  </a:solidFill>
                  <a:latin typeface="Poppins Bold"/>
                  <a:ea typeface="Poppins Bold"/>
                  <a:cs typeface="Poppins Bold"/>
                  <a:sym typeface="Poppins Bold"/>
                </a:rPr>
                <a:t>Total Deliveries returns</a:t>
              </a:r>
            </a:p>
          </p:txBody>
        </p:sp>
      </p:grpSp>
      <p:grpSp>
        <p:nvGrpSpPr>
          <p:cNvPr name="Group 21" id="21"/>
          <p:cNvGrpSpPr/>
          <p:nvPr/>
        </p:nvGrpSpPr>
        <p:grpSpPr>
          <a:xfrm rot="0">
            <a:off x="895350" y="3438487"/>
            <a:ext cx="14744700" cy="960120"/>
            <a:chOff x="0" y="0"/>
            <a:chExt cx="19659600" cy="1280160"/>
          </a:xfrm>
        </p:grpSpPr>
        <p:sp>
          <p:nvSpPr>
            <p:cNvPr name="Freeform 22" id="22"/>
            <p:cNvSpPr/>
            <p:nvPr/>
          </p:nvSpPr>
          <p:spPr>
            <a:xfrm flipH="false" flipV="false" rot="0">
              <a:off x="0" y="0"/>
              <a:ext cx="19659600" cy="1280160"/>
            </a:xfrm>
            <a:custGeom>
              <a:avLst/>
              <a:gdLst/>
              <a:ahLst/>
              <a:cxnLst/>
              <a:rect r="r" b="b" t="t" l="l"/>
              <a:pathLst>
                <a:path h="1280160" w="19659600">
                  <a:moveTo>
                    <a:pt x="0" y="182880"/>
                  </a:moveTo>
                  <a:cubicBezTo>
                    <a:pt x="0" y="81915"/>
                    <a:pt x="81915" y="0"/>
                    <a:pt x="182880" y="0"/>
                  </a:cubicBezTo>
                  <a:lnTo>
                    <a:pt x="19476720" y="0"/>
                  </a:lnTo>
                  <a:cubicBezTo>
                    <a:pt x="19577684" y="0"/>
                    <a:pt x="19659600" y="81915"/>
                    <a:pt x="19659600" y="182880"/>
                  </a:cubicBezTo>
                  <a:lnTo>
                    <a:pt x="19659600" y="1097280"/>
                  </a:lnTo>
                  <a:cubicBezTo>
                    <a:pt x="19659600" y="1198245"/>
                    <a:pt x="19577684" y="1280160"/>
                    <a:pt x="19476720" y="1280160"/>
                  </a:cubicBezTo>
                  <a:lnTo>
                    <a:pt x="182880" y="1280160"/>
                  </a:lnTo>
                  <a:cubicBezTo>
                    <a:pt x="81915" y="1280160"/>
                    <a:pt x="0" y="1198245"/>
                    <a:pt x="0" y="1097280"/>
                  </a:cubicBezTo>
                  <a:close/>
                </a:path>
              </a:pathLst>
            </a:custGeom>
            <a:solidFill>
              <a:srgbClr val="FFFFFF"/>
            </a:solidFill>
          </p:spPr>
        </p:sp>
      </p:grpSp>
      <p:grpSp>
        <p:nvGrpSpPr>
          <p:cNvPr name="Group 23" id="23"/>
          <p:cNvGrpSpPr/>
          <p:nvPr/>
        </p:nvGrpSpPr>
        <p:grpSpPr>
          <a:xfrm rot="0">
            <a:off x="1101090" y="3438487"/>
            <a:ext cx="4389120" cy="960120"/>
            <a:chOff x="0" y="0"/>
            <a:chExt cx="5852160" cy="1280160"/>
          </a:xfrm>
        </p:grpSpPr>
        <p:sp>
          <p:nvSpPr>
            <p:cNvPr name="Freeform 24" id="24"/>
            <p:cNvSpPr/>
            <p:nvPr/>
          </p:nvSpPr>
          <p:spPr>
            <a:xfrm flipH="false" flipV="false" rot="0">
              <a:off x="0" y="0"/>
              <a:ext cx="5852160" cy="1280160"/>
            </a:xfrm>
            <a:custGeom>
              <a:avLst/>
              <a:gdLst/>
              <a:ahLst/>
              <a:cxnLst/>
              <a:rect r="r" b="b" t="t" l="l"/>
              <a:pathLst>
                <a:path h="1280160" w="5852160">
                  <a:moveTo>
                    <a:pt x="0" y="0"/>
                  </a:moveTo>
                  <a:lnTo>
                    <a:pt x="5852160" y="0"/>
                  </a:lnTo>
                  <a:lnTo>
                    <a:pt x="5852160" y="1280160"/>
                  </a:lnTo>
                  <a:lnTo>
                    <a:pt x="0" y="1280160"/>
                  </a:lnTo>
                  <a:close/>
                </a:path>
              </a:pathLst>
            </a:custGeom>
            <a:blipFill>
              <a:blip r:embed="rId7">
                <a:alphaModFix amt="0"/>
              </a:blip>
              <a:stretch>
                <a:fillRect l="0" t="-39074" r="0" b="-39074"/>
              </a:stretch>
            </a:blipFill>
          </p:spPr>
        </p:sp>
        <p:sp>
          <p:nvSpPr>
            <p:cNvPr name="TextBox 25" id="25"/>
            <p:cNvSpPr txBox="true"/>
            <p:nvPr/>
          </p:nvSpPr>
          <p:spPr>
            <a:xfrm>
              <a:off x="0" y="-19050"/>
              <a:ext cx="5852160" cy="1299210"/>
            </a:xfrm>
            <a:prstGeom prst="rect">
              <a:avLst/>
            </a:prstGeom>
          </p:spPr>
          <p:txBody>
            <a:bodyPr anchor="ctr" rtlCol="false" tIns="0" lIns="0" bIns="0" rIns="0"/>
            <a:lstStyle/>
            <a:p>
              <a:pPr algn="l">
                <a:lnSpc>
                  <a:spcPts val="2430"/>
                </a:lnSpc>
              </a:pPr>
              <a:r>
                <a:rPr lang="en-US" sz="2025">
                  <a:solidFill>
                    <a:srgbClr val="475569"/>
                  </a:solidFill>
                  <a:latin typeface="Poppins"/>
                  <a:ea typeface="Poppins"/>
                  <a:cs typeface="Poppins"/>
                  <a:sym typeface="Poppins"/>
                </a:rPr>
                <a:t>Card on the page</a:t>
              </a:r>
            </a:p>
          </p:txBody>
        </p:sp>
      </p:grpSp>
      <p:grpSp>
        <p:nvGrpSpPr>
          <p:cNvPr name="Group 26" id="26"/>
          <p:cNvGrpSpPr/>
          <p:nvPr/>
        </p:nvGrpSpPr>
        <p:grpSpPr>
          <a:xfrm rot="0">
            <a:off x="5764530" y="3657943"/>
            <a:ext cx="5760720" cy="521208"/>
            <a:chOff x="0" y="0"/>
            <a:chExt cx="7680960" cy="694944"/>
          </a:xfrm>
        </p:grpSpPr>
        <p:sp>
          <p:nvSpPr>
            <p:cNvPr name="Freeform 27" id="27"/>
            <p:cNvSpPr/>
            <p:nvPr/>
          </p:nvSpPr>
          <p:spPr>
            <a:xfrm flipH="false" flipV="false" rot="0">
              <a:off x="0" y="0"/>
              <a:ext cx="7680960" cy="694944"/>
            </a:xfrm>
            <a:custGeom>
              <a:avLst/>
              <a:gdLst/>
              <a:ahLst/>
              <a:cxnLst/>
              <a:rect r="r" b="b" t="t" l="l"/>
              <a:pathLst>
                <a:path h="694944" w="7680960">
                  <a:moveTo>
                    <a:pt x="0" y="347472"/>
                  </a:moveTo>
                  <a:cubicBezTo>
                    <a:pt x="0" y="155575"/>
                    <a:pt x="155575" y="0"/>
                    <a:pt x="347472" y="0"/>
                  </a:cubicBezTo>
                  <a:lnTo>
                    <a:pt x="7333488" y="0"/>
                  </a:lnTo>
                  <a:cubicBezTo>
                    <a:pt x="7525385" y="0"/>
                    <a:pt x="7680960" y="155575"/>
                    <a:pt x="7680960" y="347472"/>
                  </a:cubicBezTo>
                  <a:cubicBezTo>
                    <a:pt x="7680960" y="539369"/>
                    <a:pt x="7525385" y="694944"/>
                    <a:pt x="7333488" y="694944"/>
                  </a:cubicBezTo>
                  <a:lnTo>
                    <a:pt x="347472" y="694944"/>
                  </a:lnTo>
                  <a:cubicBezTo>
                    <a:pt x="155575" y="694944"/>
                    <a:pt x="0" y="539369"/>
                    <a:pt x="0" y="347472"/>
                  </a:cubicBezTo>
                  <a:close/>
                </a:path>
              </a:pathLst>
            </a:custGeom>
            <a:solidFill>
              <a:srgbClr val="EEF4F4"/>
            </a:solidFill>
          </p:spPr>
        </p:sp>
      </p:grpSp>
      <p:grpSp>
        <p:nvGrpSpPr>
          <p:cNvPr name="Group 28" id="28"/>
          <p:cNvGrpSpPr/>
          <p:nvPr/>
        </p:nvGrpSpPr>
        <p:grpSpPr>
          <a:xfrm rot="0">
            <a:off x="5764530" y="3657943"/>
            <a:ext cx="5760720" cy="521208"/>
            <a:chOff x="0" y="0"/>
            <a:chExt cx="7680960" cy="694944"/>
          </a:xfrm>
        </p:grpSpPr>
        <p:sp>
          <p:nvSpPr>
            <p:cNvPr name="Freeform 29" id="29"/>
            <p:cNvSpPr/>
            <p:nvPr/>
          </p:nvSpPr>
          <p:spPr>
            <a:xfrm flipH="false" flipV="false" rot="0">
              <a:off x="0" y="0"/>
              <a:ext cx="7680960" cy="694944"/>
            </a:xfrm>
            <a:custGeom>
              <a:avLst/>
              <a:gdLst/>
              <a:ahLst/>
              <a:cxnLst/>
              <a:rect r="r" b="b" t="t" l="l"/>
              <a:pathLst>
                <a:path h="694944" w="7680960">
                  <a:moveTo>
                    <a:pt x="0" y="0"/>
                  </a:moveTo>
                  <a:lnTo>
                    <a:pt x="7680960" y="0"/>
                  </a:lnTo>
                  <a:lnTo>
                    <a:pt x="7680960" y="694944"/>
                  </a:lnTo>
                  <a:lnTo>
                    <a:pt x="0" y="694944"/>
                  </a:lnTo>
                  <a:close/>
                </a:path>
              </a:pathLst>
            </a:custGeom>
            <a:blipFill>
              <a:blip r:embed="rId7">
                <a:alphaModFix amt="0"/>
              </a:blip>
              <a:stretch>
                <a:fillRect l="0" t="-165360" r="0" b="-165360"/>
              </a:stretch>
            </a:blipFill>
          </p:spPr>
        </p:sp>
        <p:sp>
          <p:nvSpPr>
            <p:cNvPr name="TextBox 30" id="30"/>
            <p:cNvSpPr txBox="true"/>
            <p:nvPr/>
          </p:nvSpPr>
          <p:spPr>
            <a:xfrm>
              <a:off x="0" y="-9525"/>
              <a:ext cx="7680960" cy="704469"/>
            </a:xfrm>
            <a:prstGeom prst="rect">
              <a:avLst/>
            </a:prstGeom>
          </p:spPr>
          <p:txBody>
            <a:bodyPr anchor="ctr" rtlCol="false" tIns="0" lIns="0" bIns="0" rIns="0"/>
            <a:lstStyle/>
            <a:p>
              <a:pPr algn="ctr">
                <a:lnSpc>
                  <a:spcPts val="1980"/>
                </a:lnSpc>
              </a:pPr>
              <a:r>
                <a:rPr lang="en-US" sz="1650" b="true">
                  <a:solidFill>
                    <a:srgbClr val="387F7F"/>
                  </a:solidFill>
                  <a:latin typeface="Poppins Bold"/>
                  <a:ea typeface="Poppins Bold"/>
                  <a:cs typeface="Poppins Bold"/>
                  <a:sym typeface="Poppins Bold"/>
                </a:rPr>
                <a:t>Year 2025</a:t>
              </a:r>
            </a:p>
          </p:txBody>
        </p:sp>
      </p:grpSp>
      <p:grpSp>
        <p:nvGrpSpPr>
          <p:cNvPr name="Group 31" id="31"/>
          <p:cNvGrpSpPr/>
          <p:nvPr/>
        </p:nvGrpSpPr>
        <p:grpSpPr>
          <a:xfrm rot="0">
            <a:off x="12211050" y="3438487"/>
            <a:ext cx="3154680" cy="960120"/>
            <a:chOff x="0" y="0"/>
            <a:chExt cx="4206240" cy="1280160"/>
          </a:xfrm>
        </p:grpSpPr>
        <p:sp>
          <p:nvSpPr>
            <p:cNvPr name="Freeform 32" id="32"/>
            <p:cNvSpPr/>
            <p:nvPr/>
          </p:nvSpPr>
          <p:spPr>
            <a:xfrm flipH="false" flipV="false" rot="0">
              <a:off x="0" y="0"/>
              <a:ext cx="4206240" cy="1280160"/>
            </a:xfrm>
            <a:custGeom>
              <a:avLst/>
              <a:gdLst/>
              <a:ahLst/>
              <a:cxnLst/>
              <a:rect r="r" b="b" t="t" l="l"/>
              <a:pathLst>
                <a:path h="1280160" w="4206240">
                  <a:moveTo>
                    <a:pt x="0" y="0"/>
                  </a:moveTo>
                  <a:lnTo>
                    <a:pt x="4206240" y="0"/>
                  </a:lnTo>
                  <a:lnTo>
                    <a:pt x="4206240" y="1280160"/>
                  </a:lnTo>
                  <a:lnTo>
                    <a:pt x="0" y="1280160"/>
                  </a:lnTo>
                  <a:close/>
                </a:path>
              </a:pathLst>
            </a:custGeom>
            <a:blipFill>
              <a:blip r:embed="rId7">
                <a:alphaModFix amt="0"/>
              </a:blip>
              <a:stretch>
                <a:fillRect l="0" t="-14022" r="0" b="-14022"/>
              </a:stretch>
            </a:blipFill>
          </p:spPr>
        </p:sp>
        <p:sp>
          <p:nvSpPr>
            <p:cNvPr name="TextBox 33" id="33"/>
            <p:cNvSpPr txBox="true"/>
            <p:nvPr/>
          </p:nvSpPr>
          <p:spPr>
            <a:xfrm>
              <a:off x="0" y="-38100"/>
              <a:ext cx="4206240" cy="1318260"/>
            </a:xfrm>
            <a:prstGeom prst="rect">
              <a:avLst/>
            </a:prstGeom>
          </p:spPr>
          <p:txBody>
            <a:bodyPr anchor="ctr" rtlCol="false" tIns="0" lIns="0" bIns="0" rIns="0"/>
            <a:lstStyle/>
            <a:p>
              <a:pPr algn="r">
                <a:lnSpc>
                  <a:spcPts val="3419"/>
                </a:lnSpc>
              </a:pPr>
              <a:r>
                <a:rPr lang="en-US" sz="2850" b="true">
                  <a:solidFill>
                    <a:srgbClr val="387F7F"/>
                  </a:solidFill>
                  <a:latin typeface="Poppins Bold"/>
                  <a:ea typeface="Poppins Bold"/>
                  <a:cs typeface="Poppins Bold"/>
                  <a:sym typeface="Poppins Bold"/>
                </a:rPr>
                <a:t>41,280</a:t>
              </a:r>
            </a:p>
          </p:txBody>
        </p:sp>
      </p:grpSp>
      <p:grpSp>
        <p:nvGrpSpPr>
          <p:cNvPr name="Group 34" id="34"/>
          <p:cNvGrpSpPr/>
          <p:nvPr/>
        </p:nvGrpSpPr>
        <p:grpSpPr>
          <a:xfrm rot="0">
            <a:off x="895350" y="4563199"/>
            <a:ext cx="14744700" cy="960120"/>
            <a:chOff x="0" y="0"/>
            <a:chExt cx="19659600" cy="1280160"/>
          </a:xfrm>
        </p:grpSpPr>
        <p:sp>
          <p:nvSpPr>
            <p:cNvPr name="Freeform 35" id="35"/>
            <p:cNvSpPr/>
            <p:nvPr/>
          </p:nvSpPr>
          <p:spPr>
            <a:xfrm flipH="false" flipV="false" rot="0">
              <a:off x="0" y="0"/>
              <a:ext cx="19659600" cy="1280160"/>
            </a:xfrm>
            <a:custGeom>
              <a:avLst/>
              <a:gdLst/>
              <a:ahLst/>
              <a:cxnLst/>
              <a:rect r="r" b="b" t="t" l="l"/>
              <a:pathLst>
                <a:path h="1280160" w="19659600">
                  <a:moveTo>
                    <a:pt x="0" y="182880"/>
                  </a:moveTo>
                  <a:cubicBezTo>
                    <a:pt x="0" y="81915"/>
                    <a:pt x="81915" y="0"/>
                    <a:pt x="182880" y="0"/>
                  </a:cubicBezTo>
                  <a:lnTo>
                    <a:pt x="19476720" y="0"/>
                  </a:lnTo>
                  <a:cubicBezTo>
                    <a:pt x="19577684" y="0"/>
                    <a:pt x="19659600" y="81915"/>
                    <a:pt x="19659600" y="182880"/>
                  </a:cubicBezTo>
                  <a:lnTo>
                    <a:pt x="19659600" y="1097280"/>
                  </a:lnTo>
                  <a:cubicBezTo>
                    <a:pt x="19659600" y="1198245"/>
                    <a:pt x="19577684" y="1280160"/>
                    <a:pt x="19476720" y="1280160"/>
                  </a:cubicBezTo>
                  <a:lnTo>
                    <a:pt x="182880" y="1280160"/>
                  </a:lnTo>
                  <a:cubicBezTo>
                    <a:pt x="81915" y="1280160"/>
                    <a:pt x="0" y="1198245"/>
                    <a:pt x="0" y="1097280"/>
                  </a:cubicBezTo>
                  <a:close/>
                </a:path>
              </a:pathLst>
            </a:custGeom>
            <a:solidFill>
              <a:srgbClr val="FFFFFF"/>
            </a:solidFill>
          </p:spPr>
        </p:sp>
      </p:grpSp>
      <p:grpSp>
        <p:nvGrpSpPr>
          <p:cNvPr name="Group 36" id="36"/>
          <p:cNvGrpSpPr/>
          <p:nvPr/>
        </p:nvGrpSpPr>
        <p:grpSpPr>
          <a:xfrm rot="0">
            <a:off x="1101090" y="4563199"/>
            <a:ext cx="4389120" cy="960120"/>
            <a:chOff x="0" y="0"/>
            <a:chExt cx="5852160" cy="1280160"/>
          </a:xfrm>
        </p:grpSpPr>
        <p:sp>
          <p:nvSpPr>
            <p:cNvPr name="Freeform 37" id="37"/>
            <p:cNvSpPr/>
            <p:nvPr/>
          </p:nvSpPr>
          <p:spPr>
            <a:xfrm flipH="false" flipV="false" rot="0">
              <a:off x="0" y="0"/>
              <a:ext cx="5852160" cy="1280160"/>
            </a:xfrm>
            <a:custGeom>
              <a:avLst/>
              <a:gdLst/>
              <a:ahLst/>
              <a:cxnLst/>
              <a:rect r="r" b="b" t="t" l="l"/>
              <a:pathLst>
                <a:path h="1280160" w="5852160">
                  <a:moveTo>
                    <a:pt x="0" y="0"/>
                  </a:moveTo>
                  <a:lnTo>
                    <a:pt x="5852160" y="0"/>
                  </a:lnTo>
                  <a:lnTo>
                    <a:pt x="5852160" y="1280160"/>
                  </a:lnTo>
                  <a:lnTo>
                    <a:pt x="0" y="1280160"/>
                  </a:lnTo>
                  <a:close/>
                </a:path>
              </a:pathLst>
            </a:custGeom>
            <a:blipFill>
              <a:blip r:embed="rId7">
                <a:alphaModFix amt="0"/>
              </a:blip>
              <a:stretch>
                <a:fillRect l="0" t="-39074" r="0" b="-39074"/>
              </a:stretch>
            </a:blipFill>
          </p:spPr>
        </p:sp>
        <p:sp>
          <p:nvSpPr>
            <p:cNvPr name="TextBox 38" id="38"/>
            <p:cNvSpPr txBox="true"/>
            <p:nvPr/>
          </p:nvSpPr>
          <p:spPr>
            <a:xfrm>
              <a:off x="0" y="-19050"/>
              <a:ext cx="5852160" cy="1299210"/>
            </a:xfrm>
            <a:prstGeom prst="rect">
              <a:avLst/>
            </a:prstGeom>
          </p:spPr>
          <p:txBody>
            <a:bodyPr anchor="ctr" rtlCol="false" tIns="0" lIns="0" bIns="0" rIns="0"/>
            <a:lstStyle/>
            <a:p>
              <a:pPr algn="l">
                <a:lnSpc>
                  <a:spcPts val="2430"/>
                </a:lnSpc>
              </a:pPr>
              <a:r>
                <a:rPr lang="en-US" sz="2025">
                  <a:solidFill>
                    <a:srgbClr val="475569"/>
                  </a:solidFill>
                  <a:latin typeface="Poppins"/>
                  <a:ea typeface="Poppins"/>
                  <a:cs typeface="Poppins"/>
                  <a:sym typeface="Poppins"/>
                </a:rPr>
                <a:t>Bar for March</a:t>
              </a:r>
            </a:p>
          </p:txBody>
        </p:sp>
      </p:grpSp>
      <p:grpSp>
        <p:nvGrpSpPr>
          <p:cNvPr name="Group 39" id="39"/>
          <p:cNvGrpSpPr/>
          <p:nvPr/>
        </p:nvGrpSpPr>
        <p:grpSpPr>
          <a:xfrm rot="0">
            <a:off x="5764530" y="4782655"/>
            <a:ext cx="5760720" cy="521208"/>
            <a:chOff x="0" y="0"/>
            <a:chExt cx="7680960" cy="694944"/>
          </a:xfrm>
        </p:grpSpPr>
        <p:sp>
          <p:nvSpPr>
            <p:cNvPr name="Freeform 40" id="40"/>
            <p:cNvSpPr/>
            <p:nvPr/>
          </p:nvSpPr>
          <p:spPr>
            <a:xfrm flipH="false" flipV="false" rot="0">
              <a:off x="0" y="0"/>
              <a:ext cx="7680960" cy="694944"/>
            </a:xfrm>
            <a:custGeom>
              <a:avLst/>
              <a:gdLst/>
              <a:ahLst/>
              <a:cxnLst/>
              <a:rect r="r" b="b" t="t" l="l"/>
              <a:pathLst>
                <a:path h="694944" w="7680960">
                  <a:moveTo>
                    <a:pt x="0" y="347472"/>
                  </a:moveTo>
                  <a:cubicBezTo>
                    <a:pt x="0" y="155575"/>
                    <a:pt x="155575" y="0"/>
                    <a:pt x="347472" y="0"/>
                  </a:cubicBezTo>
                  <a:lnTo>
                    <a:pt x="7333488" y="0"/>
                  </a:lnTo>
                  <a:cubicBezTo>
                    <a:pt x="7525385" y="0"/>
                    <a:pt x="7680960" y="155575"/>
                    <a:pt x="7680960" y="347472"/>
                  </a:cubicBezTo>
                  <a:cubicBezTo>
                    <a:pt x="7680960" y="539369"/>
                    <a:pt x="7525385" y="694944"/>
                    <a:pt x="7333488" y="694944"/>
                  </a:cubicBezTo>
                  <a:lnTo>
                    <a:pt x="347472" y="694944"/>
                  </a:lnTo>
                  <a:cubicBezTo>
                    <a:pt x="155575" y="694944"/>
                    <a:pt x="0" y="539369"/>
                    <a:pt x="0" y="347472"/>
                  </a:cubicBezTo>
                  <a:close/>
                </a:path>
              </a:pathLst>
            </a:custGeom>
            <a:solidFill>
              <a:srgbClr val="EEF4F4"/>
            </a:solidFill>
          </p:spPr>
        </p:sp>
      </p:grpSp>
      <p:grpSp>
        <p:nvGrpSpPr>
          <p:cNvPr name="Group 41" id="41"/>
          <p:cNvGrpSpPr/>
          <p:nvPr/>
        </p:nvGrpSpPr>
        <p:grpSpPr>
          <a:xfrm rot="0">
            <a:off x="5764530" y="4782655"/>
            <a:ext cx="5760720" cy="521208"/>
            <a:chOff x="0" y="0"/>
            <a:chExt cx="7680960" cy="694944"/>
          </a:xfrm>
        </p:grpSpPr>
        <p:sp>
          <p:nvSpPr>
            <p:cNvPr name="Freeform 42" id="42"/>
            <p:cNvSpPr/>
            <p:nvPr/>
          </p:nvSpPr>
          <p:spPr>
            <a:xfrm flipH="false" flipV="false" rot="0">
              <a:off x="0" y="0"/>
              <a:ext cx="7680960" cy="694944"/>
            </a:xfrm>
            <a:custGeom>
              <a:avLst/>
              <a:gdLst/>
              <a:ahLst/>
              <a:cxnLst/>
              <a:rect r="r" b="b" t="t" l="l"/>
              <a:pathLst>
                <a:path h="694944" w="7680960">
                  <a:moveTo>
                    <a:pt x="0" y="0"/>
                  </a:moveTo>
                  <a:lnTo>
                    <a:pt x="7680960" y="0"/>
                  </a:lnTo>
                  <a:lnTo>
                    <a:pt x="7680960" y="694944"/>
                  </a:lnTo>
                  <a:lnTo>
                    <a:pt x="0" y="694944"/>
                  </a:lnTo>
                  <a:close/>
                </a:path>
              </a:pathLst>
            </a:custGeom>
            <a:blipFill>
              <a:blip r:embed="rId7">
                <a:alphaModFix amt="0"/>
              </a:blip>
              <a:stretch>
                <a:fillRect l="0" t="-165360" r="0" b="-165360"/>
              </a:stretch>
            </a:blipFill>
          </p:spPr>
        </p:sp>
        <p:sp>
          <p:nvSpPr>
            <p:cNvPr name="TextBox 43" id="43"/>
            <p:cNvSpPr txBox="true"/>
            <p:nvPr/>
          </p:nvSpPr>
          <p:spPr>
            <a:xfrm>
              <a:off x="0" y="-9525"/>
              <a:ext cx="7680960" cy="704469"/>
            </a:xfrm>
            <a:prstGeom prst="rect">
              <a:avLst/>
            </a:prstGeom>
          </p:spPr>
          <p:txBody>
            <a:bodyPr anchor="ctr" rtlCol="false" tIns="0" lIns="0" bIns="0" rIns="0"/>
            <a:lstStyle/>
            <a:p>
              <a:pPr algn="ctr">
                <a:lnSpc>
                  <a:spcPts val="1980"/>
                </a:lnSpc>
              </a:pPr>
              <a:r>
                <a:rPr lang="en-US" sz="1650" b="true">
                  <a:solidFill>
                    <a:srgbClr val="387F7F"/>
                  </a:solidFill>
                  <a:latin typeface="Poppins Bold"/>
                  <a:ea typeface="Poppins Bold"/>
                  <a:cs typeface="Poppins Bold"/>
                  <a:sym typeface="Poppins Bold"/>
                </a:rPr>
                <a:t>Year 2025, Month March</a:t>
              </a:r>
            </a:p>
          </p:txBody>
        </p:sp>
      </p:grpSp>
      <p:grpSp>
        <p:nvGrpSpPr>
          <p:cNvPr name="Group 44" id="44"/>
          <p:cNvGrpSpPr/>
          <p:nvPr/>
        </p:nvGrpSpPr>
        <p:grpSpPr>
          <a:xfrm rot="0">
            <a:off x="12211050" y="4563199"/>
            <a:ext cx="3154680" cy="960120"/>
            <a:chOff x="0" y="0"/>
            <a:chExt cx="4206240" cy="1280160"/>
          </a:xfrm>
        </p:grpSpPr>
        <p:sp>
          <p:nvSpPr>
            <p:cNvPr name="Freeform 45" id="45"/>
            <p:cNvSpPr/>
            <p:nvPr/>
          </p:nvSpPr>
          <p:spPr>
            <a:xfrm flipH="false" flipV="false" rot="0">
              <a:off x="0" y="0"/>
              <a:ext cx="4206240" cy="1280160"/>
            </a:xfrm>
            <a:custGeom>
              <a:avLst/>
              <a:gdLst/>
              <a:ahLst/>
              <a:cxnLst/>
              <a:rect r="r" b="b" t="t" l="l"/>
              <a:pathLst>
                <a:path h="1280160" w="4206240">
                  <a:moveTo>
                    <a:pt x="0" y="0"/>
                  </a:moveTo>
                  <a:lnTo>
                    <a:pt x="4206240" y="0"/>
                  </a:lnTo>
                  <a:lnTo>
                    <a:pt x="4206240" y="1280160"/>
                  </a:lnTo>
                  <a:lnTo>
                    <a:pt x="0" y="1280160"/>
                  </a:lnTo>
                  <a:close/>
                </a:path>
              </a:pathLst>
            </a:custGeom>
            <a:blipFill>
              <a:blip r:embed="rId7">
                <a:alphaModFix amt="0"/>
              </a:blip>
              <a:stretch>
                <a:fillRect l="0" t="-14022" r="0" b="-14022"/>
              </a:stretch>
            </a:blipFill>
          </p:spPr>
        </p:sp>
        <p:sp>
          <p:nvSpPr>
            <p:cNvPr name="TextBox 46" id="46"/>
            <p:cNvSpPr txBox="true"/>
            <p:nvPr/>
          </p:nvSpPr>
          <p:spPr>
            <a:xfrm>
              <a:off x="0" y="-38100"/>
              <a:ext cx="4206240" cy="1318260"/>
            </a:xfrm>
            <a:prstGeom prst="rect">
              <a:avLst/>
            </a:prstGeom>
          </p:spPr>
          <p:txBody>
            <a:bodyPr anchor="ctr" rtlCol="false" tIns="0" lIns="0" bIns="0" rIns="0"/>
            <a:lstStyle/>
            <a:p>
              <a:pPr algn="r">
                <a:lnSpc>
                  <a:spcPts val="3419"/>
                </a:lnSpc>
              </a:pPr>
              <a:r>
                <a:rPr lang="en-US" sz="2850" b="true">
                  <a:solidFill>
                    <a:srgbClr val="387F7F"/>
                  </a:solidFill>
                  <a:latin typeface="Poppins Bold"/>
                  <a:ea typeface="Poppins Bold"/>
                  <a:cs typeface="Poppins Bold"/>
                  <a:sym typeface="Poppins Bold"/>
                </a:rPr>
                <a:t>2,960</a:t>
              </a:r>
            </a:p>
          </p:txBody>
        </p:sp>
      </p:grpSp>
      <p:grpSp>
        <p:nvGrpSpPr>
          <p:cNvPr name="Group 47" id="47"/>
          <p:cNvGrpSpPr/>
          <p:nvPr/>
        </p:nvGrpSpPr>
        <p:grpSpPr>
          <a:xfrm rot="0">
            <a:off x="895350" y="5687911"/>
            <a:ext cx="14744700" cy="960120"/>
            <a:chOff x="0" y="0"/>
            <a:chExt cx="19659600" cy="1280160"/>
          </a:xfrm>
        </p:grpSpPr>
        <p:sp>
          <p:nvSpPr>
            <p:cNvPr name="Freeform 48" id="48"/>
            <p:cNvSpPr/>
            <p:nvPr/>
          </p:nvSpPr>
          <p:spPr>
            <a:xfrm flipH="false" flipV="false" rot="0">
              <a:off x="0" y="0"/>
              <a:ext cx="19659600" cy="1280160"/>
            </a:xfrm>
            <a:custGeom>
              <a:avLst/>
              <a:gdLst/>
              <a:ahLst/>
              <a:cxnLst/>
              <a:rect r="r" b="b" t="t" l="l"/>
              <a:pathLst>
                <a:path h="1280160" w="19659600">
                  <a:moveTo>
                    <a:pt x="0" y="182880"/>
                  </a:moveTo>
                  <a:cubicBezTo>
                    <a:pt x="0" y="81915"/>
                    <a:pt x="81915" y="0"/>
                    <a:pt x="182880" y="0"/>
                  </a:cubicBezTo>
                  <a:lnTo>
                    <a:pt x="19476720" y="0"/>
                  </a:lnTo>
                  <a:cubicBezTo>
                    <a:pt x="19577684" y="0"/>
                    <a:pt x="19659600" y="81915"/>
                    <a:pt x="19659600" y="182880"/>
                  </a:cubicBezTo>
                  <a:lnTo>
                    <a:pt x="19659600" y="1097280"/>
                  </a:lnTo>
                  <a:cubicBezTo>
                    <a:pt x="19659600" y="1198245"/>
                    <a:pt x="19577684" y="1280160"/>
                    <a:pt x="19476720" y="1280160"/>
                  </a:cubicBezTo>
                  <a:lnTo>
                    <a:pt x="182880" y="1280160"/>
                  </a:lnTo>
                  <a:cubicBezTo>
                    <a:pt x="81915" y="1280160"/>
                    <a:pt x="0" y="1198245"/>
                    <a:pt x="0" y="1097280"/>
                  </a:cubicBezTo>
                  <a:close/>
                </a:path>
              </a:pathLst>
            </a:custGeom>
            <a:solidFill>
              <a:srgbClr val="FFFFFF"/>
            </a:solidFill>
          </p:spPr>
        </p:sp>
      </p:grpSp>
      <p:grpSp>
        <p:nvGrpSpPr>
          <p:cNvPr name="Group 49" id="49"/>
          <p:cNvGrpSpPr/>
          <p:nvPr/>
        </p:nvGrpSpPr>
        <p:grpSpPr>
          <a:xfrm rot="0">
            <a:off x="1101090" y="5687911"/>
            <a:ext cx="4389120" cy="960120"/>
            <a:chOff x="0" y="0"/>
            <a:chExt cx="5852160" cy="1280160"/>
          </a:xfrm>
        </p:grpSpPr>
        <p:sp>
          <p:nvSpPr>
            <p:cNvPr name="Freeform 50" id="50"/>
            <p:cNvSpPr/>
            <p:nvPr/>
          </p:nvSpPr>
          <p:spPr>
            <a:xfrm flipH="false" flipV="false" rot="0">
              <a:off x="0" y="0"/>
              <a:ext cx="5852160" cy="1280160"/>
            </a:xfrm>
            <a:custGeom>
              <a:avLst/>
              <a:gdLst/>
              <a:ahLst/>
              <a:cxnLst/>
              <a:rect r="r" b="b" t="t" l="l"/>
              <a:pathLst>
                <a:path h="1280160" w="5852160">
                  <a:moveTo>
                    <a:pt x="0" y="0"/>
                  </a:moveTo>
                  <a:lnTo>
                    <a:pt x="5852160" y="0"/>
                  </a:lnTo>
                  <a:lnTo>
                    <a:pt x="5852160" y="1280160"/>
                  </a:lnTo>
                  <a:lnTo>
                    <a:pt x="0" y="1280160"/>
                  </a:lnTo>
                  <a:close/>
                </a:path>
              </a:pathLst>
            </a:custGeom>
            <a:blipFill>
              <a:blip r:embed="rId7">
                <a:alphaModFix amt="0"/>
              </a:blip>
              <a:stretch>
                <a:fillRect l="0" t="-39074" r="0" b="-39074"/>
              </a:stretch>
            </a:blipFill>
          </p:spPr>
        </p:sp>
        <p:sp>
          <p:nvSpPr>
            <p:cNvPr name="TextBox 51" id="51"/>
            <p:cNvSpPr txBox="true"/>
            <p:nvPr/>
          </p:nvSpPr>
          <p:spPr>
            <a:xfrm>
              <a:off x="0" y="-19050"/>
              <a:ext cx="5852160" cy="1299210"/>
            </a:xfrm>
            <a:prstGeom prst="rect">
              <a:avLst/>
            </a:prstGeom>
          </p:spPr>
          <p:txBody>
            <a:bodyPr anchor="ctr" rtlCol="false" tIns="0" lIns="0" bIns="0" rIns="0"/>
            <a:lstStyle/>
            <a:p>
              <a:pPr algn="l">
                <a:lnSpc>
                  <a:spcPts val="2430"/>
                </a:lnSpc>
              </a:pPr>
              <a:r>
                <a:rPr lang="en-US" sz="2025">
                  <a:solidFill>
                    <a:srgbClr val="475569"/>
                  </a:solidFill>
                  <a:latin typeface="Poppins"/>
                  <a:ea typeface="Poppins"/>
                  <a:cs typeface="Poppins"/>
                  <a:sym typeface="Poppins"/>
                </a:rPr>
                <a:t>Cell in a matrix</a:t>
              </a:r>
            </a:p>
          </p:txBody>
        </p:sp>
      </p:grpSp>
      <p:grpSp>
        <p:nvGrpSpPr>
          <p:cNvPr name="Group 52" id="52"/>
          <p:cNvGrpSpPr/>
          <p:nvPr/>
        </p:nvGrpSpPr>
        <p:grpSpPr>
          <a:xfrm rot="0">
            <a:off x="5764530" y="5907367"/>
            <a:ext cx="5760720" cy="521208"/>
            <a:chOff x="0" y="0"/>
            <a:chExt cx="7680960" cy="694944"/>
          </a:xfrm>
        </p:grpSpPr>
        <p:sp>
          <p:nvSpPr>
            <p:cNvPr name="Freeform 53" id="53"/>
            <p:cNvSpPr/>
            <p:nvPr/>
          </p:nvSpPr>
          <p:spPr>
            <a:xfrm flipH="false" flipV="false" rot="0">
              <a:off x="0" y="0"/>
              <a:ext cx="7680960" cy="694944"/>
            </a:xfrm>
            <a:custGeom>
              <a:avLst/>
              <a:gdLst/>
              <a:ahLst/>
              <a:cxnLst/>
              <a:rect r="r" b="b" t="t" l="l"/>
              <a:pathLst>
                <a:path h="694944" w="7680960">
                  <a:moveTo>
                    <a:pt x="0" y="347472"/>
                  </a:moveTo>
                  <a:cubicBezTo>
                    <a:pt x="0" y="155575"/>
                    <a:pt x="155575" y="0"/>
                    <a:pt x="347472" y="0"/>
                  </a:cubicBezTo>
                  <a:lnTo>
                    <a:pt x="7333488" y="0"/>
                  </a:lnTo>
                  <a:cubicBezTo>
                    <a:pt x="7525385" y="0"/>
                    <a:pt x="7680960" y="155575"/>
                    <a:pt x="7680960" y="347472"/>
                  </a:cubicBezTo>
                  <a:cubicBezTo>
                    <a:pt x="7680960" y="539369"/>
                    <a:pt x="7525385" y="694944"/>
                    <a:pt x="7333488" y="694944"/>
                  </a:cubicBezTo>
                  <a:lnTo>
                    <a:pt x="347472" y="694944"/>
                  </a:lnTo>
                  <a:cubicBezTo>
                    <a:pt x="155575" y="694944"/>
                    <a:pt x="0" y="539369"/>
                    <a:pt x="0" y="347472"/>
                  </a:cubicBezTo>
                  <a:close/>
                </a:path>
              </a:pathLst>
            </a:custGeom>
            <a:solidFill>
              <a:srgbClr val="EEF4F4"/>
            </a:solidFill>
          </p:spPr>
        </p:sp>
      </p:grpSp>
      <p:grpSp>
        <p:nvGrpSpPr>
          <p:cNvPr name="Group 54" id="54"/>
          <p:cNvGrpSpPr/>
          <p:nvPr/>
        </p:nvGrpSpPr>
        <p:grpSpPr>
          <a:xfrm rot="0">
            <a:off x="5764530" y="5907367"/>
            <a:ext cx="5760720" cy="521208"/>
            <a:chOff x="0" y="0"/>
            <a:chExt cx="7680960" cy="694944"/>
          </a:xfrm>
        </p:grpSpPr>
        <p:sp>
          <p:nvSpPr>
            <p:cNvPr name="Freeform 55" id="55"/>
            <p:cNvSpPr/>
            <p:nvPr/>
          </p:nvSpPr>
          <p:spPr>
            <a:xfrm flipH="false" flipV="false" rot="0">
              <a:off x="0" y="0"/>
              <a:ext cx="7680960" cy="694944"/>
            </a:xfrm>
            <a:custGeom>
              <a:avLst/>
              <a:gdLst/>
              <a:ahLst/>
              <a:cxnLst/>
              <a:rect r="r" b="b" t="t" l="l"/>
              <a:pathLst>
                <a:path h="694944" w="7680960">
                  <a:moveTo>
                    <a:pt x="0" y="0"/>
                  </a:moveTo>
                  <a:lnTo>
                    <a:pt x="7680960" y="0"/>
                  </a:lnTo>
                  <a:lnTo>
                    <a:pt x="7680960" y="694944"/>
                  </a:lnTo>
                  <a:lnTo>
                    <a:pt x="0" y="694944"/>
                  </a:lnTo>
                  <a:close/>
                </a:path>
              </a:pathLst>
            </a:custGeom>
            <a:blipFill>
              <a:blip r:embed="rId7">
                <a:alphaModFix amt="0"/>
              </a:blip>
              <a:stretch>
                <a:fillRect l="0" t="-165360" r="0" b="-165360"/>
              </a:stretch>
            </a:blipFill>
          </p:spPr>
        </p:sp>
        <p:sp>
          <p:nvSpPr>
            <p:cNvPr name="TextBox 56" id="56"/>
            <p:cNvSpPr txBox="true"/>
            <p:nvPr/>
          </p:nvSpPr>
          <p:spPr>
            <a:xfrm>
              <a:off x="0" y="-9525"/>
              <a:ext cx="7680960" cy="704469"/>
            </a:xfrm>
            <a:prstGeom prst="rect">
              <a:avLst/>
            </a:prstGeom>
          </p:spPr>
          <p:txBody>
            <a:bodyPr anchor="ctr" rtlCol="false" tIns="0" lIns="0" bIns="0" rIns="0"/>
            <a:lstStyle/>
            <a:p>
              <a:pPr algn="ctr">
                <a:lnSpc>
                  <a:spcPts val="1980"/>
                </a:lnSpc>
              </a:pPr>
              <a:r>
                <a:rPr lang="en-US" sz="1650" b="true">
                  <a:solidFill>
                    <a:srgbClr val="387F7F"/>
                  </a:solidFill>
                  <a:latin typeface="Poppins Bold"/>
                  <a:ea typeface="Poppins Bold"/>
                  <a:cs typeface="Poppins Bold"/>
                  <a:sym typeface="Poppins Bold"/>
                </a:rPr>
                <a:t>Year 2025, March, Hub Apapa</a:t>
              </a:r>
            </a:p>
          </p:txBody>
        </p:sp>
      </p:grpSp>
      <p:grpSp>
        <p:nvGrpSpPr>
          <p:cNvPr name="Group 57" id="57"/>
          <p:cNvGrpSpPr/>
          <p:nvPr/>
        </p:nvGrpSpPr>
        <p:grpSpPr>
          <a:xfrm rot="0">
            <a:off x="12211050" y="5687911"/>
            <a:ext cx="3154680" cy="960120"/>
            <a:chOff x="0" y="0"/>
            <a:chExt cx="4206240" cy="1280160"/>
          </a:xfrm>
        </p:grpSpPr>
        <p:sp>
          <p:nvSpPr>
            <p:cNvPr name="Freeform 58" id="58"/>
            <p:cNvSpPr/>
            <p:nvPr/>
          </p:nvSpPr>
          <p:spPr>
            <a:xfrm flipH="false" flipV="false" rot="0">
              <a:off x="0" y="0"/>
              <a:ext cx="4206240" cy="1280160"/>
            </a:xfrm>
            <a:custGeom>
              <a:avLst/>
              <a:gdLst/>
              <a:ahLst/>
              <a:cxnLst/>
              <a:rect r="r" b="b" t="t" l="l"/>
              <a:pathLst>
                <a:path h="1280160" w="4206240">
                  <a:moveTo>
                    <a:pt x="0" y="0"/>
                  </a:moveTo>
                  <a:lnTo>
                    <a:pt x="4206240" y="0"/>
                  </a:lnTo>
                  <a:lnTo>
                    <a:pt x="4206240" y="1280160"/>
                  </a:lnTo>
                  <a:lnTo>
                    <a:pt x="0" y="1280160"/>
                  </a:lnTo>
                  <a:close/>
                </a:path>
              </a:pathLst>
            </a:custGeom>
            <a:blipFill>
              <a:blip r:embed="rId7">
                <a:alphaModFix amt="0"/>
              </a:blip>
              <a:stretch>
                <a:fillRect l="0" t="-14022" r="0" b="-14022"/>
              </a:stretch>
            </a:blipFill>
          </p:spPr>
        </p:sp>
        <p:sp>
          <p:nvSpPr>
            <p:cNvPr name="TextBox 59" id="59"/>
            <p:cNvSpPr txBox="true"/>
            <p:nvPr/>
          </p:nvSpPr>
          <p:spPr>
            <a:xfrm>
              <a:off x="0" y="-38100"/>
              <a:ext cx="4206240" cy="1318260"/>
            </a:xfrm>
            <a:prstGeom prst="rect">
              <a:avLst/>
            </a:prstGeom>
          </p:spPr>
          <p:txBody>
            <a:bodyPr anchor="ctr" rtlCol="false" tIns="0" lIns="0" bIns="0" rIns="0"/>
            <a:lstStyle/>
            <a:p>
              <a:pPr algn="r">
                <a:lnSpc>
                  <a:spcPts val="3419"/>
                </a:lnSpc>
              </a:pPr>
              <a:r>
                <a:rPr lang="en-US" sz="2850" b="true">
                  <a:solidFill>
                    <a:srgbClr val="387F7F"/>
                  </a:solidFill>
                  <a:latin typeface="Poppins Bold"/>
                  <a:ea typeface="Poppins Bold"/>
                  <a:cs typeface="Poppins Bold"/>
                  <a:sym typeface="Poppins Bold"/>
                </a:rPr>
                <a:t>527</a:t>
              </a:r>
            </a:p>
          </p:txBody>
        </p:sp>
      </p:grpSp>
      <p:grpSp>
        <p:nvGrpSpPr>
          <p:cNvPr name="Group 60" id="60"/>
          <p:cNvGrpSpPr/>
          <p:nvPr/>
        </p:nvGrpSpPr>
        <p:grpSpPr>
          <a:xfrm rot="0">
            <a:off x="895350" y="6977215"/>
            <a:ext cx="14744700" cy="1234440"/>
            <a:chOff x="0" y="0"/>
            <a:chExt cx="19659600" cy="1645920"/>
          </a:xfrm>
        </p:grpSpPr>
        <p:sp>
          <p:nvSpPr>
            <p:cNvPr name="Freeform 61" id="61"/>
            <p:cNvSpPr/>
            <p:nvPr/>
          </p:nvSpPr>
          <p:spPr>
            <a:xfrm flipH="false" flipV="false" rot="0">
              <a:off x="0" y="0"/>
              <a:ext cx="19659600" cy="1645920"/>
            </a:xfrm>
            <a:custGeom>
              <a:avLst/>
              <a:gdLst/>
              <a:ahLst/>
              <a:cxnLst/>
              <a:rect r="r" b="b" t="t" l="l"/>
              <a:pathLst>
                <a:path h="1645920" w="19659600">
                  <a:moveTo>
                    <a:pt x="0" y="164592"/>
                  </a:moveTo>
                  <a:cubicBezTo>
                    <a:pt x="0" y="73660"/>
                    <a:pt x="73660" y="0"/>
                    <a:pt x="164592" y="0"/>
                  </a:cubicBezTo>
                  <a:lnTo>
                    <a:pt x="19495008" y="0"/>
                  </a:lnTo>
                  <a:cubicBezTo>
                    <a:pt x="19585939" y="0"/>
                    <a:pt x="19659600" y="73660"/>
                    <a:pt x="19659600" y="164592"/>
                  </a:cubicBezTo>
                  <a:lnTo>
                    <a:pt x="19659600" y="1481328"/>
                  </a:lnTo>
                  <a:cubicBezTo>
                    <a:pt x="19659600" y="1572260"/>
                    <a:pt x="19585939" y="1645920"/>
                    <a:pt x="19495008" y="1645920"/>
                  </a:cubicBezTo>
                  <a:lnTo>
                    <a:pt x="164592" y="1645920"/>
                  </a:lnTo>
                  <a:cubicBezTo>
                    <a:pt x="73660" y="1645920"/>
                    <a:pt x="0" y="1572260"/>
                    <a:pt x="0" y="1481328"/>
                  </a:cubicBezTo>
                  <a:close/>
                </a:path>
              </a:pathLst>
            </a:custGeom>
            <a:solidFill>
              <a:srgbClr val="10312F"/>
            </a:solidFill>
          </p:spPr>
        </p:sp>
      </p:grpSp>
      <p:grpSp>
        <p:nvGrpSpPr>
          <p:cNvPr name="Group 62" id="62"/>
          <p:cNvGrpSpPr/>
          <p:nvPr/>
        </p:nvGrpSpPr>
        <p:grpSpPr>
          <a:xfrm rot="0">
            <a:off x="1197102" y="6771475"/>
            <a:ext cx="2331720" cy="438912"/>
            <a:chOff x="0" y="0"/>
            <a:chExt cx="3108960" cy="585216"/>
          </a:xfrm>
        </p:grpSpPr>
        <p:sp>
          <p:nvSpPr>
            <p:cNvPr name="Freeform 63" id="63"/>
            <p:cNvSpPr/>
            <p:nvPr/>
          </p:nvSpPr>
          <p:spPr>
            <a:xfrm flipH="false" flipV="false" rot="0">
              <a:off x="0" y="0"/>
              <a:ext cx="3108960" cy="585216"/>
            </a:xfrm>
            <a:custGeom>
              <a:avLst/>
              <a:gdLst/>
              <a:ahLst/>
              <a:cxnLst/>
              <a:rect r="r" b="b" t="t" l="l"/>
              <a:pathLst>
                <a:path h="585216" w="3108960">
                  <a:moveTo>
                    <a:pt x="0" y="292608"/>
                  </a:moveTo>
                  <a:cubicBezTo>
                    <a:pt x="0" y="131064"/>
                    <a:pt x="131064" y="0"/>
                    <a:pt x="292608" y="0"/>
                  </a:cubicBezTo>
                  <a:lnTo>
                    <a:pt x="2816352" y="0"/>
                  </a:lnTo>
                  <a:cubicBezTo>
                    <a:pt x="2977896" y="0"/>
                    <a:pt x="3108960" y="131064"/>
                    <a:pt x="3108960" y="292608"/>
                  </a:cubicBezTo>
                  <a:cubicBezTo>
                    <a:pt x="3108960" y="454152"/>
                    <a:pt x="2977896" y="585216"/>
                    <a:pt x="2816352" y="585216"/>
                  </a:cubicBezTo>
                  <a:lnTo>
                    <a:pt x="292608" y="585216"/>
                  </a:lnTo>
                  <a:cubicBezTo>
                    <a:pt x="131064" y="585216"/>
                    <a:pt x="0" y="454152"/>
                    <a:pt x="0" y="292608"/>
                  </a:cubicBezTo>
                  <a:close/>
                </a:path>
              </a:pathLst>
            </a:custGeom>
            <a:solidFill>
              <a:srgbClr val="387F7F"/>
            </a:solidFill>
          </p:spPr>
        </p:sp>
      </p:grpSp>
      <p:grpSp>
        <p:nvGrpSpPr>
          <p:cNvPr name="Group 64" id="64"/>
          <p:cNvGrpSpPr/>
          <p:nvPr/>
        </p:nvGrpSpPr>
        <p:grpSpPr>
          <a:xfrm rot="0">
            <a:off x="1197102" y="6771475"/>
            <a:ext cx="2331720" cy="438912"/>
            <a:chOff x="0" y="0"/>
            <a:chExt cx="3108960" cy="585216"/>
          </a:xfrm>
        </p:grpSpPr>
        <p:sp>
          <p:nvSpPr>
            <p:cNvPr name="Freeform 65" id="65"/>
            <p:cNvSpPr/>
            <p:nvPr/>
          </p:nvSpPr>
          <p:spPr>
            <a:xfrm flipH="false" flipV="false" rot="0">
              <a:off x="0" y="0"/>
              <a:ext cx="3108960" cy="585216"/>
            </a:xfrm>
            <a:custGeom>
              <a:avLst/>
              <a:gdLst/>
              <a:ahLst/>
              <a:cxnLst/>
              <a:rect r="r" b="b" t="t" l="l"/>
              <a:pathLst>
                <a:path h="585216" w="3108960">
                  <a:moveTo>
                    <a:pt x="0" y="0"/>
                  </a:moveTo>
                  <a:lnTo>
                    <a:pt x="3108960" y="0"/>
                  </a:lnTo>
                  <a:lnTo>
                    <a:pt x="3108960" y="585216"/>
                  </a:lnTo>
                  <a:lnTo>
                    <a:pt x="0" y="585216"/>
                  </a:lnTo>
                  <a:close/>
                </a:path>
              </a:pathLst>
            </a:custGeom>
            <a:blipFill>
              <a:blip r:embed="rId7">
                <a:alphaModFix amt="0"/>
              </a:blip>
              <a:stretch>
                <a:fillRect l="0" t="-53514" r="0" b="-53514"/>
              </a:stretch>
            </a:blipFill>
          </p:spPr>
        </p:sp>
        <p:sp>
          <p:nvSpPr>
            <p:cNvPr name="TextBox 66" id="66"/>
            <p:cNvSpPr txBox="true"/>
            <p:nvPr/>
          </p:nvSpPr>
          <p:spPr>
            <a:xfrm>
              <a:off x="0" y="-19050"/>
              <a:ext cx="310896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WRITTEN ONCE</a:t>
              </a:r>
            </a:p>
          </p:txBody>
        </p:sp>
      </p:grpSp>
      <p:grpSp>
        <p:nvGrpSpPr>
          <p:cNvPr name="Group 67" id="67"/>
          <p:cNvGrpSpPr/>
          <p:nvPr/>
        </p:nvGrpSpPr>
        <p:grpSpPr>
          <a:xfrm rot="0">
            <a:off x="1306830" y="7388695"/>
            <a:ext cx="13921740" cy="548640"/>
            <a:chOff x="0" y="0"/>
            <a:chExt cx="18562320" cy="731520"/>
          </a:xfrm>
        </p:grpSpPr>
        <p:sp>
          <p:nvSpPr>
            <p:cNvPr name="Freeform 68" id="68"/>
            <p:cNvSpPr/>
            <p:nvPr/>
          </p:nvSpPr>
          <p:spPr>
            <a:xfrm flipH="false" flipV="false" rot="0">
              <a:off x="0" y="0"/>
              <a:ext cx="18562320" cy="731520"/>
            </a:xfrm>
            <a:custGeom>
              <a:avLst/>
              <a:gdLst/>
              <a:ahLst/>
              <a:cxnLst/>
              <a:rect r="r" b="b" t="t" l="l"/>
              <a:pathLst>
                <a:path h="731520" w="18562320">
                  <a:moveTo>
                    <a:pt x="0" y="0"/>
                  </a:moveTo>
                  <a:lnTo>
                    <a:pt x="18562320" y="0"/>
                  </a:lnTo>
                  <a:lnTo>
                    <a:pt x="18562320" y="731520"/>
                  </a:lnTo>
                  <a:lnTo>
                    <a:pt x="0" y="731520"/>
                  </a:lnTo>
                  <a:close/>
                </a:path>
              </a:pathLst>
            </a:custGeom>
            <a:blipFill>
              <a:blip r:embed="rId7">
                <a:alphaModFix amt="0"/>
              </a:blip>
              <a:stretch>
                <a:fillRect l="0" t="-444432" r="0" b="-444432"/>
              </a:stretch>
            </a:blipFill>
          </p:spPr>
        </p:sp>
        <p:sp>
          <p:nvSpPr>
            <p:cNvPr name="TextBox 69" id="69"/>
            <p:cNvSpPr txBox="true"/>
            <p:nvPr/>
          </p:nvSpPr>
          <p:spPr>
            <a:xfrm>
              <a:off x="0" y="-57150"/>
              <a:ext cx="18562320" cy="788670"/>
            </a:xfrm>
            <a:prstGeom prst="rect">
              <a:avLst/>
            </a:prstGeom>
          </p:spPr>
          <p:txBody>
            <a:bodyPr anchor="ctr" rtlCol="false" tIns="0" lIns="0" bIns="0" rIns="0"/>
            <a:lstStyle/>
            <a:p>
              <a:pPr algn="l">
                <a:lnSpc>
                  <a:spcPts val="2925"/>
                </a:lnSpc>
              </a:pPr>
              <a:r>
                <a:rPr lang="en-US" sz="1950">
                  <a:solidFill>
                    <a:srgbClr val="CFE6E3"/>
                  </a:solidFill>
                  <a:latin typeface="Roboto Mono"/>
                  <a:ea typeface="Roboto Mono"/>
                  <a:cs typeface="Roboto Mono"/>
                  <a:sym typeface="Roboto Mono"/>
                </a:rPr>
                <a:t>Total Deliveries = COUNTROWS ( swiftroute_deliveries )</a:t>
              </a:r>
            </a:p>
          </p:txBody>
        </p:sp>
      </p:grpSp>
      <p:grpSp>
        <p:nvGrpSpPr>
          <p:cNvPr name="Group 70" id="70"/>
          <p:cNvGrpSpPr/>
          <p:nvPr/>
        </p:nvGrpSpPr>
        <p:grpSpPr>
          <a:xfrm rot="0">
            <a:off x="895350" y="8554555"/>
            <a:ext cx="14744700" cy="960120"/>
            <a:chOff x="0" y="0"/>
            <a:chExt cx="19659600" cy="1280160"/>
          </a:xfrm>
        </p:grpSpPr>
        <p:sp>
          <p:nvSpPr>
            <p:cNvPr name="Freeform 71" id="71"/>
            <p:cNvSpPr/>
            <p:nvPr/>
          </p:nvSpPr>
          <p:spPr>
            <a:xfrm flipH="false" flipV="false" rot="0">
              <a:off x="0" y="0"/>
              <a:ext cx="19659600" cy="1280160"/>
            </a:xfrm>
            <a:custGeom>
              <a:avLst/>
              <a:gdLst/>
              <a:ahLst/>
              <a:cxnLst/>
              <a:rect r="r" b="b" t="t" l="l"/>
              <a:pathLst>
                <a:path h="1280160" w="19659600">
                  <a:moveTo>
                    <a:pt x="0" y="164592"/>
                  </a:moveTo>
                  <a:cubicBezTo>
                    <a:pt x="0" y="73660"/>
                    <a:pt x="73660" y="0"/>
                    <a:pt x="164592" y="0"/>
                  </a:cubicBezTo>
                  <a:lnTo>
                    <a:pt x="19495008" y="0"/>
                  </a:lnTo>
                  <a:cubicBezTo>
                    <a:pt x="19585939" y="0"/>
                    <a:pt x="19659600" y="73660"/>
                    <a:pt x="19659600" y="164592"/>
                  </a:cubicBezTo>
                  <a:lnTo>
                    <a:pt x="19659600" y="1115568"/>
                  </a:lnTo>
                  <a:cubicBezTo>
                    <a:pt x="19659600" y="1206500"/>
                    <a:pt x="19585939" y="1280160"/>
                    <a:pt x="19495008" y="1280160"/>
                  </a:cubicBezTo>
                  <a:lnTo>
                    <a:pt x="164592" y="1280160"/>
                  </a:lnTo>
                  <a:cubicBezTo>
                    <a:pt x="73660" y="1280160"/>
                    <a:pt x="0" y="1206500"/>
                    <a:pt x="0" y="1115568"/>
                  </a:cubicBezTo>
                  <a:close/>
                </a:path>
              </a:pathLst>
            </a:custGeom>
            <a:solidFill>
              <a:srgbClr val="EEF4F4"/>
            </a:solidFill>
          </p:spPr>
        </p:sp>
      </p:grpSp>
      <p:grpSp>
        <p:nvGrpSpPr>
          <p:cNvPr name="Group 72" id="72"/>
          <p:cNvGrpSpPr/>
          <p:nvPr/>
        </p:nvGrpSpPr>
        <p:grpSpPr>
          <a:xfrm rot="0">
            <a:off x="895350" y="8554555"/>
            <a:ext cx="102870" cy="960120"/>
            <a:chOff x="0" y="0"/>
            <a:chExt cx="137160" cy="1280160"/>
          </a:xfrm>
        </p:grpSpPr>
        <p:sp>
          <p:nvSpPr>
            <p:cNvPr name="Freeform 73" id="73"/>
            <p:cNvSpPr/>
            <p:nvPr/>
          </p:nvSpPr>
          <p:spPr>
            <a:xfrm flipH="false" flipV="false" rot="0">
              <a:off x="0" y="0"/>
              <a:ext cx="137160" cy="1280160"/>
            </a:xfrm>
            <a:custGeom>
              <a:avLst/>
              <a:gdLst/>
              <a:ahLst/>
              <a:cxnLst/>
              <a:rect r="r" b="b" t="t" l="l"/>
              <a:pathLst>
                <a:path h="1280160" w="137160">
                  <a:moveTo>
                    <a:pt x="0" y="0"/>
                  </a:moveTo>
                  <a:lnTo>
                    <a:pt x="137160" y="0"/>
                  </a:lnTo>
                  <a:lnTo>
                    <a:pt x="137160" y="1280160"/>
                  </a:lnTo>
                  <a:lnTo>
                    <a:pt x="0" y="1280160"/>
                  </a:lnTo>
                  <a:close/>
                </a:path>
              </a:pathLst>
            </a:custGeom>
            <a:solidFill>
              <a:srgbClr val="387F7F"/>
            </a:solidFill>
          </p:spPr>
        </p:sp>
      </p:grpSp>
      <p:grpSp>
        <p:nvGrpSpPr>
          <p:cNvPr name="Group 74" id="74"/>
          <p:cNvGrpSpPr/>
          <p:nvPr/>
        </p:nvGrpSpPr>
        <p:grpSpPr>
          <a:xfrm rot="0">
            <a:off x="1443990" y="8554555"/>
            <a:ext cx="13853160" cy="960120"/>
            <a:chOff x="0" y="0"/>
            <a:chExt cx="18470880" cy="1280160"/>
          </a:xfrm>
        </p:grpSpPr>
        <p:sp>
          <p:nvSpPr>
            <p:cNvPr name="Freeform 75" id="75"/>
            <p:cNvSpPr/>
            <p:nvPr/>
          </p:nvSpPr>
          <p:spPr>
            <a:xfrm flipH="false" flipV="false" rot="0">
              <a:off x="0" y="0"/>
              <a:ext cx="18470880" cy="1280160"/>
            </a:xfrm>
            <a:custGeom>
              <a:avLst/>
              <a:gdLst/>
              <a:ahLst/>
              <a:cxnLst/>
              <a:rect r="r" b="b" t="t" l="l"/>
              <a:pathLst>
                <a:path h="1280160" w="18470880">
                  <a:moveTo>
                    <a:pt x="0" y="0"/>
                  </a:moveTo>
                  <a:lnTo>
                    <a:pt x="18470880" y="0"/>
                  </a:lnTo>
                  <a:lnTo>
                    <a:pt x="18470880" y="1280160"/>
                  </a:lnTo>
                  <a:lnTo>
                    <a:pt x="0" y="1280160"/>
                  </a:lnTo>
                  <a:close/>
                </a:path>
              </a:pathLst>
            </a:custGeom>
            <a:blipFill>
              <a:blip r:embed="rId7">
                <a:alphaModFix amt="0"/>
              </a:blip>
              <a:stretch>
                <a:fillRect l="0" t="-231141" r="0" b="-231141"/>
              </a:stretch>
            </a:blipFill>
          </p:spPr>
        </p:sp>
        <p:sp>
          <p:nvSpPr>
            <p:cNvPr name="TextBox 76" id="76"/>
            <p:cNvSpPr txBox="true"/>
            <p:nvPr/>
          </p:nvSpPr>
          <p:spPr>
            <a:xfrm>
              <a:off x="0" y="-114300"/>
              <a:ext cx="18470880" cy="1394460"/>
            </a:xfrm>
            <a:prstGeom prst="rect">
              <a:avLst/>
            </a:prstGeom>
          </p:spPr>
          <p:txBody>
            <a:bodyPr anchor="ctr" rtlCol="false" tIns="0" lIns="0" bIns="0" rIns="0"/>
            <a:lstStyle/>
            <a:p>
              <a:pPr algn="l">
                <a:lnSpc>
                  <a:spcPts val="3523"/>
                </a:lnSpc>
              </a:pPr>
              <a:r>
                <a:rPr lang="en-US" sz="2175" b="true">
                  <a:solidFill>
                    <a:srgbClr val="387F7F"/>
                  </a:solidFill>
                  <a:latin typeface="Poppins Bold"/>
                  <a:ea typeface="Poppins Bold"/>
                  <a:cs typeface="Poppins Bold"/>
                  <a:sym typeface="Poppins Bold"/>
                </a:rPr>
                <a:t>Same measure. Three questions. Three correct answers.</a:t>
              </a:r>
            </a:p>
          </p:txBody>
        </p:sp>
      </p:grpSp>
      <p:sp>
        <p:nvSpPr>
          <p:cNvPr name="Freeform 77" id="77"/>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5" id="5"/>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497824" y="8924125"/>
            <a:ext cx="647224" cy="571500"/>
            <a:chOff x="0" y="0"/>
            <a:chExt cx="862965" cy="762000"/>
          </a:xfrm>
        </p:grpSpPr>
        <p:sp>
          <p:nvSpPr>
            <p:cNvPr name="Freeform 7" id="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8" id="8"/>
          <p:cNvGrpSpPr/>
          <p:nvPr/>
        </p:nvGrpSpPr>
        <p:grpSpPr>
          <a:xfrm rot="0">
            <a:off x="0" y="0"/>
            <a:ext cx="18287543" cy="10287000"/>
            <a:chOff x="0" y="0"/>
            <a:chExt cx="24383390" cy="13716000"/>
          </a:xfrm>
        </p:grpSpPr>
        <p:sp>
          <p:nvSpPr>
            <p:cNvPr name="Freeform 9" id="9"/>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20494A"/>
            </a:solidFill>
          </p:spPr>
        </p:sp>
      </p:grpSp>
      <p:grpSp>
        <p:nvGrpSpPr>
          <p:cNvPr name="Group 10" id="10"/>
          <p:cNvGrpSpPr/>
          <p:nvPr/>
        </p:nvGrpSpPr>
        <p:grpSpPr>
          <a:xfrm rot="0">
            <a:off x="1124712" y="7399782"/>
            <a:ext cx="219456" cy="219456"/>
            <a:chOff x="0" y="0"/>
            <a:chExt cx="292608" cy="292608"/>
          </a:xfrm>
        </p:grpSpPr>
        <p:sp>
          <p:nvSpPr>
            <p:cNvPr name="Freeform 11" id="11"/>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2" id="12"/>
          <p:cNvGrpSpPr/>
          <p:nvPr/>
        </p:nvGrpSpPr>
        <p:grpSpPr>
          <a:xfrm rot="0">
            <a:off x="1124712" y="7975854"/>
            <a:ext cx="219456" cy="219456"/>
            <a:chOff x="0" y="0"/>
            <a:chExt cx="292608" cy="292608"/>
          </a:xfrm>
        </p:grpSpPr>
        <p:sp>
          <p:nvSpPr>
            <p:cNvPr name="Freeform 13" id="13"/>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4" id="14"/>
          <p:cNvGrpSpPr/>
          <p:nvPr/>
        </p:nvGrpSpPr>
        <p:grpSpPr>
          <a:xfrm rot="0">
            <a:off x="1124712" y="8551926"/>
            <a:ext cx="219456" cy="219456"/>
            <a:chOff x="0" y="0"/>
            <a:chExt cx="292608" cy="292608"/>
          </a:xfrm>
        </p:grpSpPr>
        <p:sp>
          <p:nvSpPr>
            <p:cNvPr name="Freeform 15" id="15"/>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sp>
        <p:nvSpPr>
          <p:cNvPr name="Freeform 16" id="16"/>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850392" y="480060"/>
            <a:ext cx="4389120" cy="2880360"/>
            <a:chOff x="0" y="0"/>
            <a:chExt cx="5852160" cy="3840480"/>
          </a:xfrm>
        </p:grpSpPr>
        <p:sp>
          <p:nvSpPr>
            <p:cNvPr name="Freeform 18" id="18"/>
            <p:cNvSpPr/>
            <p:nvPr/>
          </p:nvSpPr>
          <p:spPr>
            <a:xfrm flipH="false" flipV="false" rot="0">
              <a:off x="0" y="0"/>
              <a:ext cx="5852160" cy="3840480"/>
            </a:xfrm>
            <a:custGeom>
              <a:avLst/>
              <a:gdLst/>
              <a:ahLst/>
              <a:cxnLst/>
              <a:rect r="r" b="b" t="t" l="l"/>
              <a:pathLst>
                <a:path h="3840480" w="5852160">
                  <a:moveTo>
                    <a:pt x="0" y="0"/>
                  </a:moveTo>
                  <a:lnTo>
                    <a:pt x="5852160" y="0"/>
                  </a:lnTo>
                  <a:lnTo>
                    <a:pt x="5852160" y="3840480"/>
                  </a:lnTo>
                  <a:lnTo>
                    <a:pt x="0" y="3840480"/>
                  </a:lnTo>
                  <a:close/>
                </a:path>
              </a:pathLst>
            </a:custGeom>
            <a:blipFill>
              <a:blip r:embed="rId9">
                <a:alphaModFix amt="0"/>
              </a:blip>
              <a:stretch>
                <a:fillRect l="-34199" t="0" r="-34199" b="0"/>
              </a:stretch>
            </a:blipFill>
          </p:spPr>
        </p:sp>
        <p:sp>
          <p:nvSpPr>
            <p:cNvPr name="TextBox 19" id="19"/>
            <p:cNvSpPr txBox="true"/>
            <p:nvPr/>
          </p:nvSpPr>
          <p:spPr>
            <a:xfrm>
              <a:off x="0" y="-190500"/>
              <a:ext cx="5852160" cy="4030980"/>
            </a:xfrm>
            <a:prstGeom prst="rect">
              <a:avLst/>
            </a:prstGeom>
          </p:spPr>
          <p:txBody>
            <a:bodyPr anchor="ctr" rtlCol="false" tIns="0" lIns="0" bIns="0" rIns="0"/>
            <a:lstStyle/>
            <a:p>
              <a:pPr algn="l">
                <a:lnSpc>
                  <a:spcPts val="23400"/>
                </a:lnSpc>
              </a:pPr>
              <a:r>
                <a:rPr lang="en-US" sz="19500" b="true">
                  <a:solidFill>
                    <a:srgbClr val="2F6364"/>
                  </a:solidFill>
                  <a:latin typeface="Poppins Bold"/>
                  <a:ea typeface="Poppins Bold"/>
                  <a:cs typeface="Poppins Bold"/>
                  <a:sym typeface="Poppins Bold"/>
                </a:rPr>
                <a:t>02</a:t>
              </a:r>
            </a:p>
          </p:txBody>
        </p:sp>
      </p:grpSp>
      <p:grpSp>
        <p:nvGrpSpPr>
          <p:cNvPr name="Group 20" id="20"/>
          <p:cNvGrpSpPr/>
          <p:nvPr/>
        </p:nvGrpSpPr>
        <p:grpSpPr>
          <a:xfrm rot="0">
            <a:off x="1069848" y="3730752"/>
            <a:ext cx="10149840" cy="466344"/>
            <a:chOff x="0" y="0"/>
            <a:chExt cx="13533120" cy="621792"/>
          </a:xfrm>
        </p:grpSpPr>
        <p:sp>
          <p:nvSpPr>
            <p:cNvPr name="Freeform 21" id="21"/>
            <p:cNvSpPr/>
            <p:nvPr/>
          </p:nvSpPr>
          <p:spPr>
            <a:xfrm flipH="false" flipV="false" rot="0">
              <a:off x="0" y="0"/>
              <a:ext cx="13533120" cy="621792"/>
            </a:xfrm>
            <a:custGeom>
              <a:avLst/>
              <a:gdLst/>
              <a:ahLst/>
              <a:cxnLst/>
              <a:rect r="r" b="b" t="t" l="l"/>
              <a:pathLst>
                <a:path h="621792" w="13533120">
                  <a:moveTo>
                    <a:pt x="0" y="0"/>
                  </a:moveTo>
                  <a:lnTo>
                    <a:pt x="13533120" y="0"/>
                  </a:lnTo>
                  <a:lnTo>
                    <a:pt x="13533120" y="621792"/>
                  </a:lnTo>
                  <a:lnTo>
                    <a:pt x="0" y="621792"/>
                  </a:lnTo>
                  <a:close/>
                </a:path>
              </a:pathLst>
            </a:custGeom>
            <a:blipFill>
              <a:blip r:embed="rId9">
                <a:alphaModFix amt="0"/>
              </a:blip>
              <a:stretch>
                <a:fillRect l="0" t="-374086" r="0" b="-374086"/>
              </a:stretch>
            </a:blipFill>
          </p:spPr>
        </p:sp>
        <p:sp>
          <p:nvSpPr>
            <p:cNvPr name="TextBox 22" id="22"/>
            <p:cNvSpPr txBox="true"/>
            <p:nvPr/>
          </p:nvSpPr>
          <p:spPr>
            <a:xfrm>
              <a:off x="0" y="-19050"/>
              <a:ext cx="13533120" cy="640842"/>
            </a:xfrm>
            <a:prstGeom prst="rect">
              <a:avLst/>
            </a:prstGeom>
          </p:spPr>
          <p:txBody>
            <a:bodyPr anchor="ctr" rtlCol="false" tIns="0" lIns="0" bIns="0" rIns="0"/>
            <a:lstStyle/>
            <a:p>
              <a:pPr algn="l">
                <a:lnSpc>
                  <a:spcPts val="2340"/>
                </a:lnSpc>
              </a:pPr>
              <a:r>
                <a:rPr lang="en-US" b="true" sz="1950" spc="375">
                  <a:solidFill>
                    <a:srgbClr val="8FBEBE"/>
                  </a:solidFill>
                  <a:latin typeface="Poppins Bold"/>
                  <a:ea typeface="Poppins Bold"/>
                  <a:cs typeface="Poppins Bold"/>
                  <a:sym typeface="Poppins Bold"/>
                </a:rPr>
                <a:t>PART TWO</a:t>
              </a:r>
            </a:p>
          </p:txBody>
        </p:sp>
      </p:grpSp>
      <p:grpSp>
        <p:nvGrpSpPr>
          <p:cNvPr name="Group 23" id="23"/>
          <p:cNvGrpSpPr/>
          <p:nvPr/>
        </p:nvGrpSpPr>
        <p:grpSpPr>
          <a:xfrm rot="0">
            <a:off x="1069848" y="4361688"/>
            <a:ext cx="1851660" cy="116586"/>
            <a:chOff x="0" y="0"/>
            <a:chExt cx="2468880" cy="155448"/>
          </a:xfrm>
        </p:grpSpPr>
        <p:sp>
          <p:nvSpPr>
            <p:cNvPr name="Freeform 24" id="24"/>
            <p:cNvSpPr/>
            <p:nvPr/>
          </p:nvSpPr>
          <p:spPr>
            <a:xfrm flipH="false" flipV="false" rot="0">
              <a:off x="0" y="0"/>
              <a:ext cx="2468880" cy="155448"/>
            </a:xfrm>
            <a:custGeom>
              <a:avLst/>
              <a:gdLst/>
              <a:ahLst/>
              <a:cxnLst/>
              <a:rect r="r" b="b" t="t" l="l"/>
              <a:pathLst>
                <a:path h="155448" w="2468880">
                  <a:moveTo>
                    <a:pt x="0" y="0"/>
                  </a:moveTo>
                  <a:lnTo>
                    <a:pt x="2468880" y="0"/>
                  </a:lnTo>
                  <a:lnTo>
                    <a:pt x="2468880" y="155448"/>
                  </a:lnTo>
                  <a:lnTo>
                    <a:pt x="0" y="155448"/>
                  </a:lnTo>
                  <a:close/>
                </a:path>
              </a:pathLst>
            </a:custGeom>
            <a:solidFill>
              <a:srgbClr val="387F7F"/>
            </a:solidFill>
          </p:spPr>
        </p:sp>
      </p:grpSp>
      <p:grpSp>
        <p:nvGrpSpPr>
          <p:cNvPr name="Group 25" id="25"/>
          <p:cNvGrpSpPr/>
          <p:nvPr/>
        </p:nvGrpSpPr>
        <p:grpSpPr>
          <a:xfrm rot="0">
            <a:off x="1069848" y="4732020"/>
            <a:ext cx="11109960" cy="2194560"/>
            <a:chOff x="0" y="0"/>
            <a:chExt cx="14813280" cy="2926080"/>
          </a:xfrm>
        </p:grpSpPr>
        <p:sp>
          <p:nvSpPr>
            <p:cNvPr name="Freeform 26" id="26"/>
            <p:cNvSpPr/>
            <p:nvPr/>
          </p:nvSpPr>
          <p:spPr>
            <a:xfrm flipH="false" flipV="false" rot="0">
              <a:off x="0" y="0"/>
              <a:ext cx="14813280" cy="2926080"/>
            </a:xfrm>
            <a:custGeom>
              <a:avLst/>
              <a:gdLst/>
              <a:ahLst/>
              <a:cxnLst/>
              <a:rect r="r" b="b" t="t" l="l"/>
              <a:pathLst>
                <a:path h="2926080" w="14813280">
                  <a:moveTo>
                    <a:pt x="0" y="0"/>
                  </a:moveTo>
                  <a:lnTo>
                    <a:pt x="14813280" y="0"/>
                  </a:lnTo>
                  <a:lnTo>
                    <a:pt x="14813280" y="2926080"/>
                  </a:lnTo>
                  <a:lnTo>
                    <a:pt x="0" y="2926080"/>
                  </a:lnTo>
                  <a:close/>
                </a:path>
              </a:pathLst>
            </a:custGeom>
            <a:blipFill>
              <a:blip r:embed="rId9">
                <a:alphaModFix amt="0"/>
              </a:blip>
              <a:stretch>
                <a:fillRect l="0" t="-48643" r="0" b="-48643"/>
              </a:stretch>
            </a:blipFill>
          </p:spPr>
        </p:sp>
        <p:sp>
          <p:nvSpPr>
            <p:cNvPr name="TextBox 27" id="27"/>
            <p:cNvSpPr txBox="true"/>
            <p:nvPr/>
          </p:nvSpPr>
          <p:spPr>
            <a:xfrm>
              <a:off x="0" y="-104775"/>
              <a:ext cx="14813280" cy="3030855"/>
            </a:xfrm>
            <a:prstGeom prst="rect">
              <a:avLst/>
            </a:prstGeom>
          </p:spPr>
          <p:txBody>
            <a:bodyPr anchor="ctr" rtlCol="false" tIns="0" lIns="0" bIns="0" rIns="0"/>
            <a:lstStyle/>
            <a:p>
              <a:pPr algn="l">
                <a:lnSpc>
                  <a:spcPts val="6998"/>
                </a:lnSpc>
              </a:pPr>
              <a:r>
                <a:rPr lang="en-US" sz="5400" b="true">
                  <a:solidFill>
                    <a:srgbClr val="FFFFFF"/>
                  </a:solidFill>
                  <a:latin typeface="Poppins Bold"/>
                  <a:ea typeface="Poppins Bold"/>
                  <a:cs typeface="Poppins Bold"/>
                  <a:sym typeface="Poppins Bold"/>
                </a:rPr>
                <a:t>The three measures</a:t>
              </a:r>
            </a:p>
          </p:txBody>
        </p:sp>
      </p:grpSp>
      <p:grpSp>
        <p:nvGrpSpPr>
          <p:cNvPr name="Group 28" id="28"/>
          <p:cNvGrpSpPr/>
          <p:nvPr/>
        </p:nvGrpSpPr>
        <p:grpSpPr>
          <a:xfrm rot="0">
            <a:off x="1645920" y="7283196"/>
            <a:ext cx="9875520" cy="466344"/>
            <a:chOff x="0" y="0"/>
            <a:chExt cx="13167360" cy="621792"/>
          </a:xfrm>
        </p:grpSpPr>
        <p:sp>
          <p:nvSpPr>
            <p:cNvPr name="Freeform 29" id="29"/>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0" id="30"/>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An aggregation, wrapped in a name</a:t>
              </a:r>
            </a:p>
          </p:txBody>
        </p:sp>
      </p:grpSp>
      <p:grpSp>
        <p:nvGrpSpPr>
          <p:cNvPr name="Group 31" id="31"/>
          <p:cNvGrpSpPr/>
          <p:nvPr/>
        </p:nvGrpSpPr>
        <p:grpSpPr>
          <a:xfrm rot="0">
            <a:off x="1645920" y="7859268"/>
            <a:ext cx="9875520" cy="466344"/>
            <a:chOff x="0" y="0"/>
            <a:chExt cx="13167360" cy="621792"/>
          </a:xfrm>
        </p:grpSpPr>
        <p:sp>
          <p:nvSpPr>
            <p:cNvPr name="Freeform 32" id="32"/>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3" id="33"/>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A ratio that will not break on zero</a:t>
              </a:r>
            </a:p>
          </p:txBody>
        </p:sp>
      </p:grpSp>
      <p:grpSp>
        <p:nvGrpSpPr>
          <p:cNvPr name="Group 34" id="34"/>
          <p:cNvGrpSpPr/>
          <p:nvPr/>
        </p:nvGrpSpPr>
        <p:grpSpPr>
          <a:xfrm rot="0">
            <a:off x="1645920" y="8435340"/>
            <a:ext cx="9875520" cy="466344"/>
            <a:chOff x="0" y="0"/>
            <a:chExt cx="13167360" cy="621792"/>
          </a:xfrm>
        </p:grpSpPr>
        <p:sp>
          <p:nvSpPr>
            <p:cNvPr name="Freeform 35" id="35"/>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6" id="36"/>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A time comparison in one line</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514227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Measure on</a:t>
            </a:r>
            <a:r>
              <a:rPr lang="en-US" sz="5000">
                <a:solidFill>
                  <a:srgbClr val="388080"/>
                </a:solidFill>
                <a:latin typeface="Poppins"/>
                <a:ea typeface="Poppins"/>
                <a:cs typeface="Poppins"/>
                <a:sym typeface="Poppins"/>
              </a:rPr>
              <a:t>e: wrap your aggregation in a name</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1028700" y="2742400"/>
            <a:ext cx="7680960" cy="1577340"/>
            <a:chOff x="0" y="0"/>
            <a:chExt cx="10241280" cy="2103120"/>
          </a:xfrm>
        </p:grpSpPr>
        <p:sp>
          <p:nvSpPr>
            <p:cNvPr name="Freeform 12" id="12"/>
            <p:cNvSpPr/>
            <p:nvPr/>
          </p:nvSpPr>
          <p:spPr>
            <a:xfrm flipH="false" flipV="false" rot="0">
              <a:off x="0" y="0"/>
              <a:ext cx="10241280" cy="2103120"/>
            </a:xfrm>
            <a:custGeom>
              <a:avLst/>
              <a:gdLst/>
              <a:ahLst/>
              <a:cxnLst/>
              <a:rect r="r" b="b" t="t" l="l"/>
              <a:pathLst>
                <a:path h="2103120" w="10241280">
                  <a:moveTo>
                    <a:pt x="0" y="164592"/>
                  </a:moveTo>
                  <a:cubicBezTo>
                    <a:pt x="0" y="73660"/>
                    <a:pt x="73660" y="0"/>
                    <a:pt x="164592" y="0"/>
                  </a:cubicBezTo>
                  <a:lnTo>
                    <a:pt x="10076688" y="0"/>
                  </a:lnTo>
                  <a:cubicBezTo>
                    <a:pt x="10167620" y="0"/>
                    <a:pt x="10241280" y="73660"/>
                    <a:pt x="10241280" y="164592"/>
                  </a:cubicBezTo>
                  <a:lnTo>
                    <a:pt x="10241280" y="1938528"/>
                  </a:lnTo>
                  <a:cubicBezTo>
                    <a:pt x="10241280" y="2029460"/>
                    <a:pt x="10167620" y="2103120"/>
                    <a:pt x="10076688" y="2103120"/>
                  </a:cubicBezTo>
                  <a:lnTo>
                    <a:pt x="164592" y="2103120"/>
                  </a:lnTo>
                  <a:cubicBezTo>
                    <a:pt x="73660" y="2103120"/>
                    <a:pt x="0" y="2029460"/>
                    <a:pt x="0" y="1938528"/>
                  </a:cubicBezTo>
                  <a:close/>
                </a:path>
              </a:pathLst>
            </a:custGeom>
            <a:solidFill>
              <a:srgbClr val="10312F"/>
            </a:solidFill>
          </p:spPr>
        </p:sp>
      </p:grpSp>
      <p:grpSp>
        <p:nvGrpSpPr>
          <p:cNvPr name="Group 13" id="13"/>
          <p:cNvGrpSpPr/>
          <p:nvPr/>
        </p:nvGrpSpPr>
        <p:grpSpPr>
          <a:xfrm rot="0">
            <a:off x="1330452" y="2536660"/>
            <a:ext cx="1508760" cy="438912"/>
            <a:chOff x="0" y="0"/>
            <a:chExt cx="2011680" cy="585216"/>
          </a:xfrm>
        </p:grpSpPr>
        <p:sp>
          <p:nvSpPr>
            <p:cNvPr name="Freeform 14" id="14"/>
            <p:cNvSpPr/>
            <p:nvPr/>
          </p:nvSpPr>
          <p:spPr>
            <a:xfrm flipH="false" flipV="false" rot="0">
              <a:off x="0" y="0"/>
              <a:ext cx="2011680" cy="585216"/>
            </a:xfrm>
            <a:custGeom>
              <a:avLst/>
              <a:gdLst/>
              <a:ahLst/>
              <a:cxnLst/>
              <a:rect r="r" b="b" t="t" l="l"/>
              <a:pathLst>
                <a:path h="585216" w="2011680">
                  <a:moveTo>
                    <a:pt x="0" y="292608"/>
                  </a:moveTo>
                  <a:cubicBezTo>
                    <a:pt x="0" y="131064"/>
                    <a:pt x="131064" y="0"/>
                    <a:pt x="292608" y="0"/>
                  </a:cubicBezTo>
                  <a:lnTo>
                    <a:pt x="1719072" y="0"/>
                  </a:lnTo>
                  <a:cubicBezTo>
                    <a:pt x="1880616" y="0"/>
                    <a:pt x="2011680" y="131064"/>
                    <a:pt x="2011680" y="292608"/>
                  </a:cubicBezTo>
                  <a:cubicBezTo>
                    <a:pt x="2011680" y="454152"/>
                    <a:pt x="1880616" y="585216"/>
                    <a:pt x="1719072" y="585216"/>
                  </a:cubicBezTo>
                  <a:lnTo>
                    <a:pt x="292608" y="585216"/>
                  </a:lnTo>
                  <a:cubicBezTo>
                    <a:pt x="131064" y="585216"/>
                    <a:pt x="0" y="454152"/>
                    <a:pt x="0" y="292608"/>
                  </a:cubicBezTo>
                  <a:close/>
                </a:path>
              </a:pathLst>
            </a:custGeom>
            <a:solidFill>
              <a:srgbClr val="387F7F"/>
            </a:solidFill>
          </p:spPr>
        </p:sp>
      </p:grpSp>
      <p:grpSp>
        <p:nvGrpSpPr>
          <p:cNvPr name="Group 15" id="15"/>
          <p:cNvGrpSpPr/>
          <p:nvPr/>
        </p:nvGrpSpPr>
        <p:grpSpPr>
          <a:xfrm rot="0">
            <a:off x="1330452" y="2536660"/>
            <a:ext cx="1508760" cy="438912"/>
            <a:chOff x="0" y="0"/>
            <a:chExt cx="2011680" cy="585216"/>
          </a:xfrm>
        </p:grpSpPr>
        <p:sp>
          <p:nvSpPr>
            <p:cNvPr name="Freeform 16" id="16"/>
            <p:cNvSpPr/>
            <p:nvPr/>
          </p:nvSpPr>
          <p:spPr>
            <a:xfrm flipH="false" flipV="false" rot="0">
              <a:off x="0" y="0"/>
              <a:ext cx="2011680" cy="585216"/>
            </a:xfrm>
            <a:custGeom>
              <a:avLst/>
              <a:gdLst/>
              <a:ahLst/>
              <a:cxnLst/>
              <a:rect r="r" b="b" t="t" l="l"/>
              <a:pathLst>
                <a:path h="585216" w="2011680">
                  <a:moveTo>
                    <a:pt x="0" y="0"/>
                  </a:moveTo>
                  <a:lnTo>
                    <a:pt x="2011680" y="0"/>
                  </a:lnTo>
                  <a:lnTo>
                    <a:pt x="2011680" y="585216"/>
                  </a:lnTo>
                  <a:lnTo>
                    <a:pt x="0" y="585216"/>
                  </a:lnTo>
                  <a:close/>
                </a:path>
              </a:pathLst>
            </a:custGeom>
            <a:blipFill>
              <a:blip r:embed="rId9">
                <a:alphaModFix amt="0"/>
              </a:blip>
              <a:stretch>
                <a:fillRect l="0" t="-16979" r="0" b="-16979"/>
              </a:stretch>
            </a:blipFill>
          </p:spPr>
        </p:sp>
        <p:sp>
          <p:nvSpPr>
            <p:cNvPr name="TextBox 17" id="17"/>
            <p:cNvSpPr txBox="true"/>
            <p:nvPr/>
          </p:nvSpPr>
          <p:spPr>
            <a:xfrm>
              <a:off x="0" y="-19050"/>
              <a:ext cx="201168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COUNT</a:t>
              </a:r>
            </a:p>
          </p:txBody>
        </p:sp>
      </p:grpSp>
      <p:grpSp>
        <p:nvGrpSpPr>
          <p:cNvPr name="Group 18" id="18"/>
          <p:cNvGrpSpPr/>
          <p:nvPr/>
        </p:nvGrpSpPr>
        <p:grpSpPr>
          <a:xfrm rot="0">
            <a:off x="1440180" y="3153880"/>
            <a:ext cx="6858000" cy="891540"/>
            <a:chOff x="0" y="0"/>
            <a:chExt cx="9144000" cy="1188720"/>
          </a:xfrm>
        </p:grpSpPr>
        <p:sp>
          <p:nvSpPr>
            <p:cNvPr name="Freeform 19" id="19"/>
            <p:cNvSpPr/>
            <p:nvPr/>
          </p:nvSpPr>
          <p:spPr>
            <a:xfrm flipH="false" flipV="false" rot="0">
              <a:off x="0" y="0"/>
              <a:ext cx="9144000" cy="1188720"/>
            </a:xfrm>
            <a:custGeom>
              <a:avLst/>
              <a:gdLst/>
              <a:ahLst/>
              <a:cxnLst/>
              <a:rect r="r" b="b" t="t" l="l"/>
              <a:pathLst>
                <a:path h="1188720" w="9144000">
                  <a:moveTo>
                    <a:pt x="0" y="0"/>
                  </a:moveTo>
                  <a:lnTo>
                    <a:pt x="9144000" y="0"/>
                  </a:lnTo>
                  <a:lnTo>
                    <a:pt x="9144000" y="1188720"/>
                  </a:lnTo>
                  <a:lnTo>
                    <a:pt x="0" y="1188720"/>
                  </a:lnTo>
                  <a:close/>
                </a:path>
              </a:pathLst>
            </a:custGeom>
            <a:blipFill>
              <a:blip r:embed="rId9">
                <a:alphaModFix amt="0"/>
              </a:blip>
              <a:stretch>
                <a:fillRect l="0" t="-99884" r="0" b="-99884"/>
              </a:stretch>
            </a:blipFill>
          </p:spPr>
        </p:sp>
        <p:sp>
          <p:nvSpPr>
            <p:cNvPr name="TextBox 20" id="20"/>
            <p:cNvSpPr txBox="true"/>
            <p:nvPr/>
          </p:nvSpPr>
          <p:spPr>
            <a:xfrm>
              <a:off x="0" y="-57150"/>
              <a:ext cx="9144000" cy="1245870"/>
            </a:xfrm>
            <a:prstGeom prst="rect">
              <a:avLst/>
            </a:prstGeom>
          </p:spPr>
          <p:txBody>
            <a:bodyPr anchor="ctr" rtlCol="false" tIns="0" lIns="0" bIns="0" rIns="0"/>
            <a:lstStyle/>
            <a:p>
              <a:pPr algn="l">
                <a:lnSpc>
                  <a:spcPts val="2812"/>
                </a:lnSpc>
              </a:pPr>
              <a:r>
                <a:rPr lang="en-US" sz="1875">
                  <a:solidFill>
                    <a:srgbClr val="CFE6E3"/>
                  </a:solidFill>
                  <a:latin typeface="Roboto Mono"/>
                  <a:ea typeface="Roboto Mono"/>
                  <a:cs typeface="Roboto Mono"/>
                  <a:sym typeface="Roboto Mono"/>
                </a:rPr>
                <a:t>Total Deliveries =</a:t>
              </a:r>
            </a:p>
            <a:p>
              <a:pPr algn="l">
                <a:lnSpc>
                  <a:spcPts val="2812"/>
                </a:lnSpc>
              </a:pPr>
              <a:r>
                <a:rPr lang="en-US" sz="1875">
                  <a:solidFill>
                    <a:srgbClr val="CFE6E3"/>
                  </a:solidFill>
                  <a:latin typeface="Roboto Mono"/>
                  <a:ea typeface="Roboto Mono"/>
                  <a:cs typeface="Roboto Mono"/>
                  <a:sym typeface="Roboto Mono"/>
                </a:rPr>
                <a:t>    COUNTROWS ( swiftroute_deliveries )</a:t>
              </a:r>
            </a:p>
          </p:txBody>
        </p:sp>
      </p:grpSp>
      <p:grpSp>
        <p:nvGrpSpPr>
          <p:cNvPr name="Group 21" id="21"/>
          <p:cNvGrpSpPr/>
          <p:nvPr/>
        </p:nvGrpSpPr>
        <p:grpSpPr>
          <a:xfrm rot="0">
            <a:off x="1028700" y="4799800"/>
            <a:ext cx="7680960" cy="1577340"/>
            <a:chOff x="0" y="0"/>
            <a:chExt cx="10241280" cy="2103120"/>
          </a:xfrm>
        </p:grpSpPr>
        <p:sp>
          <p:nvSpPr>
            <p:cNvPr name="Freeform 22" id="22"/>
            <p:cNvSpPr/>
            <p:nvPr/>
          </p:nvSpPr>
          <p:spPr>
            <a:xfrm flipH="false" flipV="false" rot="0">
              <a:off x="0" y="0"/>
              <a:ext cx="10241280" cy="2103120"/>
            </a:xfrm>
            <a:custGeom>
              <a:avLst/>
              <a:gdLst/>
              <a:ahLst/>
              <a:cxnLst/>
              <a:rect r="r" b="b" t="t" l="l"/>
              <a:pathLst>
                <a:path h="2103120" w="10241280">
                  <a:moveTo>
                    <a:pt x="0" y="164592"/>
                  </a:moveTo>
                  <a:cubicBezTo>
                    <a:pt x="0" y="73660"/>
                    <a:pt x="73660" y="0"/>
                    <a:pt x="164592" y="0"/>
                  </a:cubicBezTo>
                  <a:lnTo>
                    <a:pt x="10076688" y="0"/>
                  </a:lnTo>
                  <a:cubicBezTo>
                    <a:pt x="10167620" y="0"/>
                    <a:pt x="10241280" y="73660"/>
                    <a:pt x="10241280" y="164592"/>
                  </a:cubicBezTo>
                  <a:lnTo>
                    <a:pt x="10241280" y="1938528"/>
                  </a:lnTo>
                  <a:cubicBezTo>
                    <a:pt x="10241280" y="2029460"/>
                    <a:pt x="10167620" y="2103120"/>
                    <a:pt x="10076688" y="2103120"/>
                  </a:cubicBezTo>
                  <a:lnTo>
                    <a:pt x="164592" y="2103120"/>
                  </a:lnTo>
                  <a:cubicBezTo>
                    <a:pt x="73660" y="2103120"/>
                    <a:pt x="0" y="2029460"/>
                    <a:pt x="0" y="1938528"/>
                  </a:cubicBezTo>
                  <a:close/>
                </a:path>
              </a:pathLst>
            </a:custGeom>
            <a:solidFill>
              <a:srgbClr val="10312F"/>
            </a:solidFill>
          </p:spPr>
        </p:sp>
      </p:grpSp>
      <p:grpSp>
        <p:nvGrpSpPr>
          <p:cNvPr name="Group 23" id="23"/>
          <p:cNvGrpSpPr/>
          <p:nvPr/>
        </p:nvGrpSpPr>
        <p:grpSpPr>
          <a:xfrm rot="0">
            <a:off x="1330452" y="4594060"/>
            <a:ext cx="1508760" cy="438912"/>
            <a:chOff x="0" y="0"/>
            <a:chExt cx="2011680" cy="585216"/>
          </a:xfrm>
        </p:grpSpPr>
        <p:sp>
          <p:nvSpPr>
            <p:cNvPr name="Freeform 24" id="24"/>
            <p:cNvSpPr/>
            <p:nvPr/>
          </p:nvSpPr>
          <p:spPr>
            <a:xfrm flipH="false" flipV="false" rot="0">
              <a:off x="0" y="0"/>
              <a:ext cx="2011680" cy="585216"/>
            </a:xfrm>
            <a:custGeom>
              <a:avLst/>
              <a:gdLst/>
              <a:ahLst/>
              <a:cxnLst/>
              <a:rect r="r" b="b" t="t" l="l"/>
              <a:pathLst>
                <a:path h="585216" w="2011680">
                  <a:moveTo>
                    <a:pt x="0" y="292608"/>
                  </a:moveTo>
                  <a:cubicBezTo>
                    <a:pt x="0" y="131064"/>
                    <a:pt x="131064" y="0"/>
                    <a:pt x="292608" y="0"/>
                  </a:cubicBezTo>
                  <a:lnTo>
                    <a:pt x="1719072" y="0"/>
                  </a:lnTo>
                  <a:cubicBezTo>
                    <a:pt x="1880616" y="0"/>
                    <a:pt x="2011680" y="131064"/>
                    <a:pt x="2011680" y="292608"/>
                  </a:cubicBezTo>
                  <a:cubicBezTo>
                    <a:pt x="2011680" y="454152"/>
                    <a:pt x="1880616" y="585216"/>
                    <a:pt x="1719072" y="585216"/>
                  </a:cubicBezTo>
                  <a:lnTo>
                    <a:pt x="292608" y="585216"/>
                  </a:lnTo>
                  <a:cubicBezTo>
                    <a:pt x="131064" y="585216"/>
                    <a:pt x="0" y="454152"/>
                    <a:pt x="0" y="292608"/>
                  </a:cubicBezTo>
                  <a:close/>
                </a:path>
              </a:pathLst>
            </a:custGeom>
            <a:solidFill>
              <a:srgbClr val="387F7F"/>
            </a:solidFill>
          </p:spPr>
        </p:sp>
      </p:grpSp>
      <p:grpSp>
        <p:nvGrpSpPr>
          <p:cNvPr name="Group 25" id="25"/>
          <p:cNvGrpSpPr/>
          <p:nvPr/>
        </p:nvGrpSpPr>
        <p:grpSpPr>
          <a:xfrm rot="0">
            <a:off x="1330452" y="4594060"/>
            <a:ext cx="1508760" cy="438912"/>
            <a:chOff x="0" y="0"/>
            <a:chExt cx="2011680" cy="585216"/>
          </a:xfrm>
        </p:grpSpPr>
        <p:sp>
          <p:nvSpPr>
            <p:cNvPr name="Freeform 26" id="26"/>
            <p:cNvSpPr/>
            <p:nvPr/>
          </p:nvSpPr>
          <p:spPr>
            <a:xfrm flipH="false" flipV="false" rot="0">
              <a:off x="0" y="0"/>
              <a:ext cx="2011680" cy="585216"/>
            </a:xfrm>
            <a:custGeom>
              <a:avLst/>
              <a:gdLst/>
              <a:ahLst/>
              <a:cxnLst/>
              <a:rect r="r" b="b" t="t" l="l"/>
              <a:pathLst>
                <a:path h="585216" w="2011680">
                  <a:moveTo>
                    <a:pt x="0" y="0"/>
                  </a:moveTo>
                  <a:lnTo>
                    <a:pt x="2011680" y="0"/>
                  </a:lnTo>
                  <a:lnTo>
                    <a:pt x="2011680" y="585216"/>
                  </a:lnTo>
                  <a:lnTo>
                    <a:pt x="0" y="585216"/>
                  </a:lnTo>
                  <a:close/>
                </a:path>
              </a:pathLst>
            </a:custGeom>
            <a:blipFill>
              <a:blip r:embed="rId9">
                <a:alphaModFix amt="0"/>
              </a:blip>
              <a:stretch>
                <a:fillRect l="0" t="-16979" r="0" b="-16979"/>
              </a:stretch>
            </a:blipFill>
          </p:spPr>
        </p:sp>
        <p:sp>
          <p:nvSpPr>
            <p:cNvPr name="TextBox 27" id="27"/>
            <p:cNvSpPr txBox="true"/>
            <p:nvPr/>
          </p:nvSpPr>
          <p:spPr>
            <a:xfrm>
              <a:off x="0" y="-19050"/>
              <a:ext cx="201168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SUM</a:t>
              </a:r>
            </a:p>
          </p:txBody>
        </p:sp>
      </p:grpSp>
      <p:grpSp>
        <p:nvGrpSpPr>
          <p:cNvPr name="Group 28" id="28"/>
          <p:cNvGrpSpPr/>
          <p:nvPr/>
        </p:nvGrpSpPr>
        <p:grpSpPr>
          <a:xfrm rot="0">
            <a:off x="1440180" y="5211280"/>
            <a:ext cx="6858000" cy="891540"/>
            <a:chOff x="0" y="0"/>
            <a:chExt cx="9144000" cy="1188720"/>
          </a:xfrm>
        </p:grpSpPr>
        <p:sp>
          <p:nvSpPr>
            <p:cNvPr name="Freeform 29" id="29"/>
            <p:cNvSpPr/>
            <p:nvPr/>
          </p:nvSpPr>
          <p:spPr>
            <a:xfrm flipH="false" flipV="false" rot="0">
              <a:off x="0" y="0"/>
              <a:ext cx="9144000" cy="1188720"/>
            </a:xfrm>
            <a:custGeom>
              <a:avLst/>
              <a:gdLst/>
              <a:ahLst/>
              <a:cxnLst/>
              <a:rect r="r" b="b" t="t" l="l"/>
              <a:pathLst>
                <a:path h="1188720" w="9144000">
                  <a:moveTo>
                    <a:pt x="0" y="0"/>
                  </a:moveTo>
                  <a:lnTo>
                    <a:pt x="9144000" y="0"/>
                  </a:lnTo>
                  <a:lnTo>
                    <a:pt x="9144000" y="1188720"/>
                  </a:lnTo>
                  <a:lnTo>
                    <a:pt x="0" y="1188720"/>
                  </a:lnTo>
                  <a:close/>
                </a:path>
              </a:pathLst>
            </a:custGeom>
            <a:blipFill>
              <a:blip r:embed="rId9">
                <a:alphaModFix amt="0"/>
              </a:blip>
              <a:stretch>
                <a:fillRect l="0" t="-99884" r="0" b="-99884"/>
              </a:stretch>
            </a:blipFill>
          </p:spPr>
        </p:sp>
        <p:sp>
          <p:nvSpPr>
            <p:cNvPr name="TextBox 30" id="30"/>
            <p:cNvSpPr txBox="true"/>
            <p:nvPr/>
          </p:nvSpPr>
          <p:spPr>
            <a:xfrm>
              <a:off x="0" y="-57150"/>
              <a:ext cx="9144000" cy="1245870"/>
            </a:xfrm>
            <a:prstGeom prst="rect">
              <a:avLst/>
            </a:prstGeom>
          </p:spPr>
          <p:txBody>
            <a:bodyPr anchor="ctr" rtlCol="false" tIns="0" lIns="0" bIns="0" rIns="0"/>
            <a:lstStyle/>
            <a:p>
              <a:pPr algn="l">
                <a:lnSpc>
                  <a:spcPts val="2812"/>
                </a:lnSpc>
              </a:pPr>
              <a:r>
                <a:rPr lang="en-US" sz="1875">
                  <a:solidFill>
                    <a:srgbClr val="CFE6E3"/>
                  </a:solidFill>
                  <a:latin typeface="Roboto Mono"/>
                  <a:ea typeface="Roboto Mono"/>
                  <a:cs typeface="Roboto Mono"/>
                  <a:sym typeface="Roboto Mono"/>
                </a:rPr>
                <a:t>Total Revenue =</a:t>
              </a:r>
            </a:p>
            <a:p>
              <a:pPr algn="l">
                <a:lnSpc>
                  <a:spcPts val="2812"/>
                </a:lnSpc>
              </a:pPr>
              <a:r>
                <a:rPr lang="en-US" sz="1875">
                  <a:solidFill>
                    <a:srgbClr val="CFE6E3"/>
                  </a:solidFill>
                  <a:latin typeface="Roboto Mono"/>
                  <a:ea typeface="Roboto Mono"/>
                  <a:cs typeface="Roboto Mono"/>
                  <a:sym typeface="Roboto Mono"/>
                </a:rPr>
                <a:t>    SUM ( swiftroute_deliveries[DeliveryFee] )</a:t>
              </a:r>
            </a:p>
          </p:txBody>
        </p:sp>
      </p:grpSp>
      <p:grpSp>
        <p:nvGrpSpPr>
          <p:cNvPr name="Group 31" id="31"/>
          <p:cNvGrpSpPr/>
          <p:nvPr/>
        </p:nvGrpSpPr>
        <p:grpSpPr>
          <a:xfrm rot="0">
            <a:off x="1028700" y="6925780"/>
            <a:ext cx="7680960" cy="1371600"/>
            <a:chOff x="0" y="0"/>
            <a:chExt cx="10241280" cy="1828800"/>
          </a:xfrm>
        </p:grpSpPr>
        <p:sp>
          <p:nvSpPr>
            <p:cNvPr name="Freeform 32" id="32"/>
            <p:cNvSpPr/>
            <p:nvPr/>
          </p:nvSpPr>
          <p:spPr>
            <a:xfrm flipH="false" flipV="false" rot="0">
              <a:off x="0" y="0"/>
              <a:ext cx="10241280" cy="1828800"/>
            </a:xfrm>
            <a:custGeom>
              <a:avLst/>
              <a:gdLst/>
              <a:ahLst/>
              <a:cxnLst/>
              <a:rect r="r" b="b" t="t" l="l"/>
              <a:pathLst>
                <a:path h="1828800" w="10241280">
                  <a:moveTo>
                    <a:pt x="0" y="182880"/>
                  </a:moveTo>
                  <a:cubicBezTo>
                    <a:pt x="0" y="81915"/>
                    <a:pt x="81915" y="0"/>
                    <a:pt x="182880" y="0"/>
                  </a:cubicBezTo>
                  <a:lnTo>
                    <a:pt x="10058400" y="0"/>
                  </a:lnTo>
                  <a:cubicBezTo>
                    <a:pt x="10159365" y="0"/>
                    <a:pt x="10241280" y="81915"/>
                    <a:pt x="10241280" y="182880"/>
                  </a:cubicBezTo>
                  <a:lnTo>
                    <a:pt x="10241280" y="1645920"/>
                  </a:lnTo>
                  <a:cubicBezTo>
                    <a:pt x="10241280" y="1746885"/>
                    <a:pt x="10159365" y="1828800"/>
                    <a:pt x="10058400" y="1828800"/>
                  </a:cubicBezTo>
                  <a:lnTo>
                    <a:pt x="182880" y="1828800"/>
                  </a:lnTo>
                  <a:cubicBezTo>
                    <a:pt x="81915" y="1828800"/>
                    <a:pt x="0" y="1746885"/>
                    <a:pt x="0" y="1645920"/>
                  </a:cubicBezTo>
                  <a:close/>
                </a:path>
              </a:pathLst>
            </a:custGeom>
            <a:solidFill>
              <a:srgbClr val="EEF4F4"/>
            </a:solidFill>
          </p:spPr>
        </p:sp>
      </p:grpSp>
      <p:grpSp>
        <p:nvGrpSpPr>
          <p:cNvPr name="Group 33" id="33"/>
          <p:cNvGrpSpPr/>
          <p:nvPr/>
        </p:nvGrpSpPr>
        <p:grpSpPr>
          <a:xfrm rot="0">
            <a:off x="1303020" y="7131520"/>
            <a:ext cx="3429000" cy="960120"/>
            <a:chOff x="0" y="0"/>
            <a:chExt cx="4572000" cy="1280160"/>
          </a:xfrm>
        </p:grpSpPr>
        <p:sp>
          <p:nvSpPr>
            <p:cNvPr name="Freeform 34" id="34"/>
            <p:cNvSpPr/>
            <p:nvPr/>
          </p:nvSpPr>
          <p:spPr>
            <a:xfrm flipH="false" flipV="false" rot="0">
              <a:off x="0" y="0"/>
              <a:ext cx="4572000" cy="1280160"/>
            </a:xfrm>
            <a:custGeom>
              <a:avLst/>
              <a:gdLst/>
              <a:ahLst/>
              <a:cxnLst/>
              <a:rect r="r" b="b" t="t" l="l"/>
              <a:pathLst>
                <a:path h="1280160" w="4572000">
                  <a:moveTo>
                    <a:pt x="0" y="0"/>
                  </a:moveTo>
                  <a:lnTo>
                    <a:pt x="4572000" y="0"/>
                  </a:lnTo>
                  <a:lnTo>
                    <a:pt x="4572000" y="1280160"/>
                  </a:lnTo>
                  <a:lnTo>
                    <a:pt x="0" y="1280160"/>
                  </a:lnTo>
                  <a:close/>
                </a:path>
              </a:pathLst>
            </a:custGeom>
            <a:blipFill>
              <a:blip r:embed="rId9">
                <a:alphaModFix amt="0"/>
              </a:blip>
              <a:stretch>
                <a:fillRect l="0" t="-19589" r="0" b="-19589"/>
              </a:stretch>
            </a:blipFill>
          </p:spPr>
        </p:sp>
        <p:sp>
          <p:nvSpPr>
            <p:cNvPr name="TextBox 35" id="35"/>
            <p:cNvSpPr txBox="true"/>
            <p:nvPr/>
          </p:nvSpPr>
          <p:spPr>
            <a:xfrm>
              <a:off x="0" y="-38100"/>
              <a:ext cx="4572000" cy="1318260"/>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41,280</a:t>
              </a:r>
            </a:p>
          </p:txBody>
        </p:sp>
      </p:grpSp>
      <p:grpSp>
        <p:nvGrpSpPr>
          <p:cNvPr name="Group 36" id="36"/>
          <p:cNvGrpSpPr/>
          <p:nvPr/>
        </p:nvGrpSpPr>
        <p:grpSpPr>
          <a:xfrm rot="0">
            <a:off x="4732020" y="7131520"/>
            <a:ext cx="3703320" cy="960120"/>
            <a:chOff x="0" y="0"/>
            <a:chExt cx="4937760" cy="1280160"/>
          </a:xfrm>
        </p:grpSpPr>
        <p:sp>
          <p:nvSpPr>
            <p:cNvPr name="Freeform 37" id="37"/>
            <p:cNvSpPr/>
            <p:nvPr/>
          </p:nvSpPr>
          <p:spPr>
            <a:xfrm flipH="false" flipV="false" rot="0">
              <a:off x="0" y="0"/>
              <a:ext cx="4937760" cy="1280160"/>
            </a:xfrm>
            <a:custGeom>
              <a:avLst/>
              <a:gdLst/>
              <a:ahLst/>
              <a:cxnLst/>
              <a:rect r="r" b="b" t="t" l="l"/>
              <a:pathLst>
                <a:path h="1280160" w="4937760">
                  <a:moveTo>
                    <a:pt x="0" y="0"/>
                  </a:moveTo>
                  <a:lnTo>
                    <a:pt x="4937760" y="0"/>
                  </a:lnTo>
                  <a:lnTo>
                    <a:pt x="4937760" y="1280160"/>
                  </a:lnTo>
                  <a:lnTo>
                    <a:pt x="0" y="1280160"/>
                  </a:lnTo>
                  <a:close/>
                </a:path>
              </a:pathLst>
            </a:custGeom>
            <a:blipFill>
              <a:blip r:embed="rId9">
                <a:alphaModFix amt="0"/>
              </a:blip>
              <a:stretch>
                <a:fillRect l="0" t="-25156" r="0" b="-25156"/>
              </a:stretch>
            </a:blipFill>
          </p:spPr>
        </p:sp>
        <p:sp>
          <p:nvSpPr>
            <p:cNvPr name="TextBox 38" id="38"/>
            <p:cNvSpPr txBox="true"/>
            <p:nvPr/>
          </p:nvSpPr>
          <p:spPr>
            <a:xfrm>
              <a:off x="0" y="-38100"/>
              <a:ext cx="4937760" cy="1318260"/>
            </a:xfrm>
            <a:prstGeom prst="rect">
              <a:avLst/>
            </a:prstGeom>
          </p:spPr>
          <p:txBody>
            <a:bodyPr anchor="ctr" rtlCol="false" tIns="0" lIns="0" bIns="0" rIns="0"/>
            <a:lstStyle/>
            <a:p>
              <a:pPr algn="ctr">
                <a:lnSpc>
                  <a:spcPts val="3419"/>
                </a:lnSpc>
              </a:pPr>
              <a:r>
                <a:rPr lang="en-US" sz="2850" b="true">
                  <a:solidFill>
                    <a:srgbClr val="387F7F"/>
                  </a:solidFill>
                  <a:latin typeface="Poppins Bold"/>
                  <a:ea typeface="Poppins Bold"/>
                  <a:cs typeface="Poppins Bold"/>
                  <a:sym typeface="Poppins Bold"/>
                </a:rPr>
                <a:t>₦247,680,000</a:t>
              </a:r>
            </a:p>
          </p:txBody>
        </p:sp>
      </p:grpSp>
      <p:grpSp>
        <p:nvGrpSpPr>
          <p:cNvPr name="Group 39" id="39"/>
          <p:cNvGrpSpPr/>
          <p:nvPr/>
        </p:nvGrpSpPr>
        <p:grpSpPr>
          <a:xfrm rot="0">
            <a:off x="9258300" y="2742400"/>
            <a:ext cx="6515100" cy="1755648"/>
            <a:chOff x="0" y="0"/>
            <a:chExt cx="8686800" cy="2340864"/>
          </a:xfrm>
        </p:grpSpPr>
        <p:sp>
          <p:nvSpPr>
            <p:cNvPr name="Freeform 40" id="40"/>
            <p:cNvSpPr/>
            <p:nvPr/>
          </p:nvSpPr>
          <p:spPr>
            <a:xfrm flipH="false" flipV="false" rot="0">
              <a:off x="0" y="0"/>
              <a:ext cx="8686800" cy="2340864"/>
            </a:xfrm>
            <a:custGeom>
              <a:avLst/>
              <a:gdLst/>
              <a:ahLst/>
              <a:cxnLst/>
              <a:rect r="r" b="b" t="t" l="l"/>
              <a:pathLst>
                <a:path h="2340864" w="8686800">
                  <a:moveTo>
                    <a:pt x="0" y="182880"/>
                  </a:moveTo>
                  <a:cubicBezTo>
                    <a:pt x="0" y="81915"/>
                    <a:pt x="81915" y="0"/>
                    <a:pt x="182880" y="0"/>
                  </a:cubicBezTo>
                  <a:lnTo>
                    <a:pt x="8503920" y="0"/>
                  </a:lnTo>
                  <a:cubicBezTo>
                    <a:pt x="8604885" y="0"/>
                    <a:pt x="8686800" y="81915"/>
                    <a:pt x="8686800" y="182880"/>
                  </a:cubicBezTo>
                  <a:lnTo>
                    <a:pt x="8686800" y="2157984"/>
                  </a:lnTo>
                  <a:cubicBezTo>
                    <a:pt x="8686800" y="2258949"/>
                    <a:pt x="8604885" y="2340864"/>
                    <a:pt x="8503920" y="2340864"/>
                  </a:cubicBezTo>
                  <a:lnTo>
                    <a:pt x="182880" y="2340864"/>
                  </a:lnTo>
                  <a:cubicBezTo>
                    <a:pt x="81915" y="2340864"/>
                    <a:pt x="0" y="2258949"/>
                    <a:pt x="0" y="2157984"/>
                  </a:cubicBezTo>
                  <a:close/>
                </a:path>
              </a:pathLst>
            </a:custGeom>
            <a:solidFill>
              <a:srgbClr val="FFFFFF"/>
            </a:solidFill>
          </p:spPr>
        </p:sp>
      </p:grpSp>
      <p:grpSp>
        <p:nvGrpSpPr>
          <p:cNvPr name="Group 41" id="41"/>
          <p:cNvGrpSpPr/>
          <p:nvPr/>
        </p:nvGrpSpPr>
        <p:grpSpPr>
          <a:xfrm rot="0">
            <a:off x="9601200" y="3153880"/>
            <a:ext cx="685800" cy="685800"/>
            <a:chOff x="0" y="0"/>
            <a:chExt cx="914400" cy="914400"/>
          </a:xfrm>
        </p:grpSpPr>
        <p:sp>
          <p:nvSpPr>
            <p:cNvPr name="Freeform 42" id="4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43" id="43"/>
          <p:cNvGrpSpPr/>
          <p:nvPr/>
        </p:nvGrpSpPr>
        <p:grpSpPr>
          <a:xfrm rot="0">
            <a:off x="9601200" y="3153880"/>
            <a:ext cx="685800" cy="685800"/>
            <a:chOff x="0" y="0"/>
            <a:chExt cx="914400" cy="914400"/>
          </a:xfrm>
        </p:grpSpPr>
        <p:sp>
          <p:nvSpPr>
            <p:cNvPr name="Freeform 44" id="4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45" id="45"/>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1</a:t>
              </a:r>
            </a:p>
          </p:txBody>
        </p:sp>
      </p:grpSp>
      <p:grpSp>
        <p:nvGrpSpPr>
          <p:cNvPr name="Group 46" id="46"/>
          <p:cNvGrpSpPr/>
          <p:nvPr/>
        </p:nvGrpSpPr>
        <p:grpSpPr>
          <a:xfrm rot="0">
            <a:off x="10492740" y="2934424"/>
            <a:ext cx="4937760" cy="466344"/>
            <a:chOff x="0" y="0"/>
            <a:chExt cx="6583680" cy="621792"/>
          </a:xfrm>
        </p:grpSpPr>
        <p:sp>
          <p:nvSpPr>
            <p:cNvPr name="Freeform 47" id="47"/>
            <p:cNvSpPr/>
            <p:nvPr/>
          </p:nvSpPr>
          <p:spPr>
            <a:xfrm flipH="false" flipV="false" rot="0">
              <a:off x="0" y="0"/>
              <a:ext cx="6583680" cy="621792"/>
            </a:xfrm>
            <a:custGeom>
              <a:avLst/>
              <a:gdLst/>
              <a:ahLst/>
              <a:cxnLst/>
              <a:rect r="r" b="b" t="t" l="l"/>
              <a:pathLst>
                <a:path h="621792" w="6583680">
                  <a:moveTo>
                    <a:pt x="0" y="0"/>
                  </a:moveTo>
                  <a:lnTo>
                    <a:pt x="6583680" y="0"/>
                  </a:lnTo>
                  <a:lnTo>
                    <a:pt x="6583680" y="621792"/>
                  </a:lnTo>
                  <a:lnTo>
                    <a:pt x="0" y="621792"/>
                  </a:lnTo>
                  <a:close/>
                </a:path>
              </a:pathLst>
            </a:custGeom>
            <a:blipFill>
              <a:blip r:embed="rId9">
                <a:alphaModFix amt="0"/>
              </a:blip>
              <a:stretch>
                <a:fillRect l="0" t="-156312" r="0" b="-156312"/>
              </a:stretch>
            </a:blipFill>
          </p:spPr>
        </p:sp>
        <p:sp>
          <p:nvSpPr>
            <p:cNvPr name="TextBox 48" id="48"/>
            <p:cNvSpPr txBox="true"/>
            <p:nvPr/>
          </p:nvSpPr>
          <p:spPr>
            <a:xfrm>
              <a:off x="0" y="-19050"/>
              <a:ext cx="6583680" cy="640842"/>
            </a:xfrm>
            <a:prstGeom prst="rect">
              <a:avLst/>
            </a:prstGeom>
          </p:spPr>
          <p:txBody>
            <a:bodyPr anchor="ctr" rtlCol="false" tIns="0" lIns="0" bIns="0" rIns="0"/>
            <a:lstStyle/>
            <a:p>
              <a:pPr algn="l">
                <a:lnSpc>
                  <a:spcPts val="2250"/>
                </a:lnSpc>
              </a:pPr>
              <a:r>
                <a:rPr lang="en-US" sz="1875" b="true">
                  <a:solidFill>
                    <a:srgbClr val="0A1A23"/>
                  </a:solidFill>
                  <a:latin typeface="Poppins Bold"/>
                  <a:ea typeface="Poppins Bold"/>
                  <a:cs typeface="Poppins Bold"/>
                  <a:sym typeface="Poppins Bold"/>
                </a:rPr>
                <a:t>One definition, one place</a:t>
              </a:r>
            </a:p>
          </p:txBody>
        </p:sp>
      </p:grpSp>
      <p:sp>
        <p:nvSpPr>
          <p:cNvPr name="TextBox 49" id="49"/>
          <p:cNvSpPr txBox="true"/>
          <p:nvPr/>
        </p:nvSpPr>
        <p:spPr>
          <a:xfrm rot="0">
            <a:off x="10492740" y="3371050"/>
            <a:ext cx="4937760" cy="1017270"/>
          </a:xfrm>
          <a:prstGeom prst="rect">
            <a:avLst/>
          </a:prstGeom>
        </p:spPr>
        <p:txBody>
          <a:bodyPr anchor="t" rtlCol="false" tIns="0" lIns="0" bIns="0" rIns="0">
            <a:spAutoFit/>
          </a:bodyPr>
          <a:lstStyle/>
          <a:p>
            <a:pPr algn="l">
              <a:lnSpc>
                <a:spcPts val="2415"/>
              </a:lnSpc>
            </a:pPr>
            <a:r>
              <a:rPr lang="en-US" sz="1650">
                <a:solidFill>
                  <a:srgbClr val="475569"/>
                </a:solidFill>
                <a:latin typeface="Poppins"/>
                <a:ea typeface="Poppins"/>
                <a:cs typeface="Poppins"/>
                <a:sym typeface="Poppins"/>
              </a:rPr>
              <a:t>When the business changes what counts as a delivery, you edit one measure and eleven visuals update.</a:t>
            </a:r>
          </a:p>
        </p:txBody>
      </p:sp>
      <p:grpSp>
        <p:nvGrpSpPr>
          <p:cNvPr name="Group 50" id="50"/>
          <p:cNvGrpSpPr/>
          <p:nvPr/>
        </p:nvGrpSpPr>
        <p:grpSpPr>
          <a:xfrm rot="0">
            <a:off x="9258300" y="4635208"/>
            <a:ext cx="6515100" cy="1755648"/>
            <a:chOff x="0" y="0"/>
            <a:chExt cx="8686800" cy="2340864"/>
          </a:xfrm>
        </p:grpSpPr>
        <p:sp>
          <p:nvSpPr>
            <p:cNvPr name="Freeform 51" id="51"/>
            <p:cNvSpPr/>
            <p:nvPr/>
          </p:nvSpPr>
          <p:spPr>
            <a:xfrm flipH="false" flipV="false" rot="0">
              <a:off x="0" y="0"/>
              <a:ext cx="8686800" cy="2340864"/>
            </a:xfrm>
            <a:custGeom>
              <a:avLst/>
              <a:gdLst/>
              <a:ahLst/>
              <a:cxnLst/>
              <a:rect r="r" b="b" t="t" l="l"/>
              <a:pathLst>
                <a:path h="2340864" w="8686800">
                  <a:moveTo>
                    <a:pt x="0" y="182880"/>
                  </a:moveTo>
                  <a:cubicBezTo>
                    <a:pt x="0" y="81915"/>
                    <a:pt x="81915" y="0"/>
                    <a:pt x="182880" y="0"/>
                  </a:cubicBezTo>
                  <a:lnTo>
                    <a:pt x="8503920" y="0"/>
                  </a:lnTo>
                  <a:cubicBezTo>
                    <a:pt x="8604885" y="0"/>
                    <a:pt x="8686800" y="81915"/>
                    <a:pt x="8686800" y="182880"/>
                  </a:cubicBezTo>
                  <a:lnTo>
                    <a:pt x="8686800" y="2157984"/>
                  </a:lnTo>
                  <a:cubicBezTo>
                    <a:pt x="8686800" y="2258949"/>
                    <a:pt x="8604885" y="2340864"/>
                    <a:pt x="8503920" y="2340864"/>
                  </a:cubicBezTo>
                  <a:lnTo>
                    <a:pt x="182880" y="2340864"/>
                  </a:lnTo>
                  <a:cubicBezTo>
                    <a:pt x="81915" y="2340864"/>
                    <a:pt x="0" y="2258949"/>
                    <a:pt x="0" y="2157984"/>
                  </a:cubicBezTo>
                  <a:close/>
                </a:path>
              </a:pathLst>
            </a:custGeom>
            <a:solidFill>
              <a:srgbClr val="FFFFFF"/>
            </a:solidFill>
          </p:spPr>
        </p:sp>
      </p:grpSp>
      <p:grpSp>
        <p:nvGrpSpPr>
          <p:cNvPr name="Group 52" id="52"/>
          <p:cNvGrpSpPr/>
          <p:nvPr/>
        </p:nvGrpSpPr>
        <p:grpSpPr>
          <a:xfrm rot="0">
            <a:off x="9601200" y="5046688"/>
            <a:ext cx="685800" cy="685800"/>
            <a:chOff x="0" y="0"/>
            <a:chExt cx="914400" cy="914400"/>
          </a:xfrm>
        </p:grpSpPr>
        <p:sp>
          <p:nvSpPr>
            <p:cNvPr name="Freeform 53" id="5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54" id="54"/>
          <p:cNvGrpSpPr/>
          <p:nvPr/>
        </p:nvGrpSpPr>
        <p:grpSpPr>
          <a:xfrm rot="0">
            <a:off x="9601200" y="5046688"/>
            <a:ext cx="685800" cy="685800"/>
            <a:chOff x="0" y="0"/>
            <a:chExt cx="914400" cy="914400"/>
          </a:xfrm>
        </p:grpSpPr>
        <p:sp>
          <p:nvSpPr>
            <p:cNvPr name="Freeform 55" id="5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56" id="56"/>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2</a:t>
              </a:r>
            </a:p>
          </p:txBody>
        </p:sp>
      </p:grpSp>
      <p:grpSp>
        <p:nvGrpSpPr>
          <p:cNvPr name="Group 57" id="57"/>
          <p:cNvGrpSpPr/>
          <p:nvPr/>
        </p:nvGrpSpPr>
        <p:grpSpPr>
          <a:xfrm rot="0">
            <a:off x="10492740" y="4827232"/>
            <a:ext cx="4937760" cy="466344"/>
            <a:chOff x="0" y="0"/>
            <a:chExt cx="6583680" cy="621792"/>
          </a:xfrm>
        </p:grpSpPr>
        <p:sp>
          <p:nvSpPr>
            <p:cNvPr name="Freeform 58" id="58"/>
            <p:cNvSpPr/>
            <p:nvPr/>
          </p:nvSpPr>
          <p:spPr>
            <a:xfrm flipH="false" flipV="false" rot="0">
              <a:off x="0" y="0"/>
              <a:ext cx="6583680" cy="621792"/>
            </a:xfrm>
            <a:custGeom>
              <a:avLst/>
              <a:gdLst/>
              <a:ahLst/>
              <a:cxnLst/>
              <a:rect r="r" b="b" t="t" l="l"/>
              <a:pathLst>
                <a:path h="621792" w="6583680">
                  <a:moveTo>
                    <a:pt x="0" y="0"/>
                  </a:moveTo>
                  <a:lnTo>
                    <a:pt x="6583680" y="0"/>
                  </a:lnTo>
                  <a:lnTo>
                    <a:pt x="6583680" y="621792"/>
                  </a:lnTo>
                  <a:lnTo>
                    <a:pt x="0" y="621792"/>
                  </a:lnTo>
                  <a:close/>
                </a:path>
              </a:pathLst>
            </a:custGeom>
            <a:blipFill>
              <a:blip r:embed="rId9">
                <a:alphaModFix amt="0"/>
              </a:blip>
              <a:stretch>
                <a:fillRect l="0" t="-156312" r="0" b="-156312"/>
              </a:stretch>
            </a:blipFill>
          </p:spPr>
        </p:sp>
        <p:sp>
          <p:nvSpPr>
            <p:cNvPr name="TextBox 59" id="59"/>
            <p:cNvSpPr txBox="true"/>
            <p:nvPr/>
          </p:nvSpPr>
          <p:spPr>
            <a:xfrm>
              <a:off x="0" y="-19050"/>
              <a:ext cx="6583680" cy="640842"/>
            </a:xfrm>
            <a:prstGeom prst="rect">
              <a:avLst/>
            </a:prstGeom>
          </p:spPr>
          <p:txBody>
            <a:bodyPr anchor="ctr" rtlCol="false" tIns="0" lIns="0" bIns="0" rIns="0"/>
            <a:lstStyle/>
            <a:p>
              <a:pPr algn="l">
                <a:lnSpc>
                  <a:spcPts val="2250"/>
                </a:lnSpc>
              </a:pPr>
              <a:r>
                <a:rPr lang="en-US" sz="1875" b="true">
                  <a:solidFill>
                    <a:srgbClr val="0A1A23"/>
                  </a:solidFill>
                  <a:latin typeface="Poppins Bold"/>
                  <a:ea typeface="Poppins Bold"/>
                  <a:cs typeface="Poppins Bold"/>
                  <a:sym typeface="Poppins Bold"/>
                </a:rPr>
                <a:t>Measures build on measures</a:t>
              </a:r>
            </a:p>
          </p:txBody>
        </p:sp>
      </p:grpSp>
      <p:sp>
        <p:nvSpPr>
          <p:cNvPr name="TextBox 60" id="60"/>
          <p:cNvSpPr txBox="true"/>
          <p:nvPr/>
        </p:nvSpPr>
        <p:spPr>
          <a:xfrm rot="0">
            <a:off x="10492740" y="5263858"/>
            <a:ext cx="4937760" cy="1017270"/>
          </a:xfrm>
          <a:prstGeom prst="rect">
            <a:avLst/>
          </a:prstGeom>
        </p:spPr>
        <p:txBody>
          <a:bodyPr anchor="t" rtlCol="false" tIns="0" lIns="0" bIns="0" rIns="0">
            <a:spAutoFit/>
          </a:bodyPr>
          <a:lstStyle/>
          <a:p>
            <a:pPr algn="l">
              <a:lnSpc>
                <a:spcPts val="2415"/>
              </a:lnSpc>
            </a:pPr>
            <a:r>
              <a:rPr lang="en-US" sz="1650">
                <a:solidFill>
                  <a:srgbClr val="475569"/>
                </a:solidFill>
                <a:latin typeface="Poppins"/>
                <a:ea typeface="Poppins"/>
                <a:cs typeface="Poppins"/>
                <a:sym typeface="Poppins"/>
              </a:rPr>
              <a:t>Measures two and three both refer to Total Deliveries by name. You cannot reference a dragged field.</a:t>
            </a:r>
          </a:p>
        </p:txBody>
      </p:sp>
      <p:grpSp>
        <p:nvGrpSpPr>
          <p:cNvPr name="Group 61" id="61"/>
          <p:cNvGrpSpPr/>
          <p:nvPr/>
        </p:nvGrpSpPr>
        <p:grpSpPr>
          <a:xfrm rot="0">
            <a:off x="9258300" y="6528016"/>
            <a:ext cx="6515100" cy="1755648"/>
            <a:chOff x="0" y="0"/>
            <a:chExt cx="8686800" cy="2340864"/>
          </a:xfrm>
        </p:grpSpPr>
        <p:sp>
          <p:nvSpPr>
            <p:cNvPr name="Freeform 62" id="62"/>
            <p:cNvSpPr/>
            <p:nvPr/>
          </p:nvSpPr>
          <p:spPr>
            <a:xfrm flipH="false" flipV="false" rot="0">
              <a:off x="0" y="0"/>
              <a:ext cx="8686800" cy="2340864"/>
            </a:xfrm>
            <a:custGeom>
              <a:avLst/>
              <a:gdLst/>
              <a:ahLst/>
              <a:cxnLst/>
              <a:rect r="r" b="b" t="t" l="l"/>
              <a:pathLst>
                <a:path h="2340864" w="8686800">
                  <a:moveTo>
                    <a:pt x="0" y="182880"/>
                  </a:moveTo>
                  <a:cubicBezTo>
                    <a:pt x="0" y="81915"/>
                    <a:pt x="81915" y="0"/>
                    <a:pt x="182880" y="0"/>
                  </a:cubicBezTo>
                  <a:lnTo>
                    <a:pt x="8503920" y="0"/>
                  </a:lnTo>
                  <a:cubicBezTo>
                    <a:pt x="8604885" y="0"/>
                    <a:pt x="8686800" y="81915"/>
                    <a:pt x="8686800" y="182880"/>
                  </a:cubicBezTo>
                  <a:lnTo>
                    <a:pt x="8686800" y="2157984"/>
                  </a:lnTo>
                  <a:cubicBezTo>
                    <a:pt x="8686800" y="2258949"/>
                    <a:pt x="8604885" y="2340864"/>
                    <a:pt x="8503920" y="2340864"/>
                  </a:cubicBezTo>
                  <a:lnTo>
                    <a:pt x="182880" y="2340864"/>
                  </a:lnTo>
                  <a:cubicBezTo>
                    <a:pt x="81915" y="2340864"/>
                    <a:pt x="0" y="2258949"/>
                    <a:pt x="0" y="2157984"/>
                  </a:cubicBezTo>
                  <a:close/>
                </a:path>
              </a:pathLst>
            </a:custGeom>
            <a:solidFill>
              <a:srgbClr val="FFFFFF"/>
            </a:solidFill>
          </p:spPr>
        </p:sp>
      </p:grpSp>
      <p:grpSp>
        <p:nvGrpSpPr>
          <p:cNvPr name="Group 63" id="63"/>
          <p:cNvGrpSpPr/>
          <p:nvPr/>
        </p:nvGrpSpPr>
        <p:grpSpPr>
          <a:xfrm rot="0">
            <a:off x="9601200" y="6939496"/>
            <a:ext cx="685800" cy="685800"/>
            <a:chOff x="0" y="0"/>
            <a:chExt cx="914400" cy="914400"/>
          </a:xfrm>
        </p:grpSpPr>
        <p:sp>
          <p:nvSpPr>
            <p:cNvPr name="Freeform 64" id="6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65" id="65"/>
          <p:cNvGrpSpPr/>
          <p:nvPr/>
        </p:nvGrpSpPr>
        <p:grpSpPr>
          <a:xfrm rot="0">
            <a:off x="9601200" y="6939496"/>
            <a:ext cx="685800" cy="685800"/>
            <a:chOff x="0" y="0"/>
            <a:chExt cx="914400" cy="914400"/>
          </a:xfrm>
        </p:grpSpPr>
        <p:sp>
          <p:nvSpPr>
            <p:cNvPr name="Freeform 66" id="6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9">
                <a:alphaModFix amt="0"/>
              </a:blip>
              <a:stretch>
                <a:fillRect l="-78303" t="0" r="-78303" b="0"/>
              </a:stretch>
            </a:blipFill>
          </p:spPr>
        </p:sp>
        <p:sp>
          <p:nvSpPr>
            <p:cNvPr name="TextBox 67" id="67"/>
            <p:cNvSpPr txBox="true"/>
            <p:nvPr/>
          </p:nvSpPr>
          <p:spPr>
            <a:xfrm>
              <a:off x="0" y="-38100"/>
              <a:ext cx="914400" cy="952500"/>
            </a:xfrm>
            <a:prstGeom prst="rect">
              <a:avLst/>
            </a:prstGeom>
          </p:spPr>
          <p:txBody>
            <a:bodyPr anchor="ctr" rtlCol="false" tIns="0" lIns="0" bIns="0" rIns="0"/>
            <a:lstStyle/>
            <a:p>
              <a:pPr algn="ctr">
                <a:lnSpc>
                  <a:spcPts val="3419"/>
                </a:lnSpc>
              </a:pPr>
              <a:r>
                <a:rPr lang="en-US" sz="2850" b="true">
                  <a:solidFill>
                    <a:srgbClr val="FFFFFF"/>
                  </a:solidFill>
                  <a:latin typeface="Poppins Bold"/>
                  <a:ea typeface="Poppins Bold"/>
                  <a:cs typeface="Poppins Bold"/>
                  <a:sym typeface="Poppins Bold"/>
                </a:rPr>
                <a:t>3</a:t>
              </a:r>
            </a:p>
          </p:txBody>
        </p:sp>
      </p:grpSp>
      <p:grpSp>
        <p:nvGrpSpPr>
          <p:cNvPr name="Group 68" id="68"/>
          <p:cNvGrpSpPr/>
          <p:nvPr/>
        </p:nvGrpSpPr>
        <p:grpSpPr>
          <a:xfrm rot="0">
            <a:off x="10492740" y="6720040"/>
            <a:ext cx="4937760" cy="466344"/>
            <a:chOff x="0" y="0"/>
            <a:chExt cx="6583680" cy="621792"/>
          </a:xfrm>
        </p:grpSpPr>
        <p:sp>
          <p:nvSpPr>
            <p:cNvPr name="Freeform 69" id="69"/>
            <p:cNvSpPr/>
            <p:nvPr/>
          </p:nvSpPr>
          <p:spPr>
            <a:xfrm flipH="false" flipV="false" rot="0">
              <a:off x="0" y="0"/>
              <a:ext cx="6583680" cy="621792"/>
            </a:xfrm>
            <a:custGeom>
              <a:avLst/>
              <a:gdLst/>
              <a:ahLst/>
              <a:cxnLst/>
              <a:rect r="r" b="b" t="t" l="l"/>
              <a:pathLst>
                <a:path h="621792" w="6583680">
                  <a:moveTo>
                    <a:pt x="0" y="0"/>
                  </a:moveTo>
                  <a:lnTo>
                    <a:pt x="6583680" y="0"/>
                  </a:lnTo>
                  <a:lnTo>
                    <a:pt x="6583680" y="621792"/>
                  </a:lnTo>
                  <a:lnTo>
                    <a:pt x="0" y="621792"/>
                  </a:lnTo>
                  <a:close/>
                </a:path>
              </a:pathLst>
            </a:custGeom>
            <a:blipFill>
              <a:blip r:embed="rId9">
                <a:alphaModFix amt="0"/>
              </a:blip>
              <a:stretch>
                <a:fillRect l="0" t="-156312" r="0" b="-156312"/>
              </a:stretch>
            </a:blipFill>
          </p:spPr>
        </p:sp>
        <p:sp>
          <p:nvSpPr>
            <p:cNvPr name="TextBox 70" id="70"/>
            <p:cNvSpPr txBox="true"/>
            <p:nvPr/>
          </p:nvSpPr>
          <p:spPr>
            <a:xfrm>
              <a:off x="0" y="-19050"/>
              <a:ext cx="6583680" cy="640842"/>
            </a:xfrm>
            <a:prstGeom prst="rect">
              <a:avLst/>
            </a:prstGeom>
          </p:spPr>
          <p:txBody>
            <a:bodyPr anchor="ctr" rtlCol="false" tIns="0" lIns="0" bIns="0" rIns="0"/>
            <a:lstStyle/>
            <a:p>
              <a:pPr algn="l">
                <a:lnSpc>
                  <a:spcPts val="2250"/>
                </a:lnSpc>
              </a:pPr>
              <a:r>
                <a:rPr lang="en-US" sz="1875" b="true">
                  <a:solidFill>
                    <a:srgbClr val="0A1A23"/>
                  </a:solidFill>
                  <a:latin typeface="Poppins Bold"/>
                  <a:ea typeface="Poppins Bold"/>
                  <a:cs typeface="Poppins Bold"/>
                  <a:sym typeface="Poppins Bold"/>
                </a:rPr>
                <a:t>Formatting travels with it</a:t>
              </a:r>
            </a:p>
          </p:txBody>
        </p:sp>
      </p:grpSp>
      <p:sp>
        <p:nvSpPr>
          <p:cNvPr name="TextBox 71" id="71"/>
          <p:cNvSpPr txBox="true"/>
          <p:nvPr/>
        </p:nvSpPr>
        <p:spPr>
          <a:xfrm rot="0">
            <a:off x="10492740" y="7156666"/>
            <a:ext cx="4937760" cy="1017270"/>
          </a:xfrm>
          <a:prstGeom prst="rect">
            <a:avLst/>
          </a:prstGeom>
        </p:spPr>
        <p:txBody>
          <a:bodyPr anchor="t" rtlCol="false" tIns="0" lIns="0" bIns="0" rIns="0">
            <a:spAutoFit/>
          </a:bodyPr>
          <a:lstStyle/>
          <a:p>
            <a:pPr algn="l">
              <a:lnSpc>
                <a:spcPts val="2415"/>
              </a:lnSpc>
            </a:pPr>
            <a:r>
              <a:rPr lang="en-US" sz="1650">
                <a:solidFill>
                  <a:srgbClr val="475569"/>
                </a:solidFill>
                <a:latin typeface="Poppins"/>
                <a:ea typeface="Poppins"/>
                <a:cs typeface="Poppins"/>
                <a:sym typeface="Poppins"/>
              </a:rPr>
              <a:t>Set the naira symbol once on the measure and every visual inherits it.</a:t>
            </a:r>
          </a:p>
        </p:txBody>
      </p:sp>
      <p:grpSp>
        <p:nvGrpSpPr>
          <p:cNvPr name="Group 72" id="72"/>
          <p:cNvGrpSpPr/>
          <p:nvPr/>
        </p:nvGrpSpPr>
        <p:grpSpPr>
          <a:xfrm rot="0">
            <a:off x="1028700" y="8571700"/>
            <a:ext cx="14744700" cy="1028700"/>
            <a:chOff x="0" y="0"/>
            <a:chExt cx="19659600" cy="1371600"/>
          </a:xfrm>
        </p:grpSpPr>
        <p:sp>
          <p:nvSpPr>
            <p:cNvPr name="Freeform 73" id="73"/>
            <p:cNvSpPr/>
            <p:nvPr/>
          </p:nvSpPr>
          <p:spPr>
            <a:xfrm flipH="false" flipV="false" rot="0">
              <a:off x="0" y="0"/>
              <a:ext cx="19659600" cy="1371600"/>
            </a:xfrm>
            <a:custGeom>
              <a:avLst/>
              <a:gdLst/>
              <a:ahLst/>
              <a:cxnLst/>
              <a:rect r="r" b="b" t="t" l="l"/>
              <a:pathLst>
                <a:path h="1371600" w="19659600">
                  <a:moveTo>
                    <a:pt x="0" y="164592"/>
                  </a:moveTo>
                  <a:cubicBezTo>
                    <a:pt x="0" y="73660"/>
                    <a:pt x="73660" y="0"/>
                    <a:pt x="164592" y="0"/>
                  </a:cubicBezTo>
                  <a:lnTo>
                    <a:pt x="19495008" y="0"/>
                  </a:lnTo>
                  <a:cubicBezTo>
                    <a:pt x="19585939" y="0"/>
                    <a:pt x="19659600" y="73660"/>
                    <a:pt x="19659600" y="164592"/>
                  </a:cubicBezTo>
                  <a:lnTo>
                    <a:pt x="19659600" y="1207008"/>
                  </a:lnTo>
                  <a:cubicBezTo>
                    <a:pt x="19659600" y="1297940"/>
                    <a:pt x="19585939" y="1371600"/>
                    <a:pt x="19495008" y="1371600"/>
                  </a:cubicBezTo>
                  <a:lnTo>
                    <a:pt x="164592" y="1371600"/>
                  </a:lnTo>
                  <a:cubicBezTo>
                    <a:pt x="73660" y="1371600"/>
                    <a:pt x="0" y="1297940"/>
                    <a:pt x="0" y="1207008"/>
                  </a:cubicBezTo>
                  <a:close/>
                </a:path>
              </a:pathLst>
            </a:custGeom>
            <a:solidFill>
              <a:srgbClr val="EEF4F4"/>
            </a:solidFill>
          </p:spPr>
        </p:sp>
      </p:grpSp>
      <p:grpSp>
        <p:nvGrpSpPr>
          <p:cNvPr name="Group 74" id="74"/>
          <p:cNvGrpSpPr/>
          <p:nvPr/>
        </p:nvGrpSpPr>
        <p:grpSpPr>
          <a:xfrm rot="0">
            <a:off x="1028700" y="8571700"/>
            <a:ext cx="102870" cy="1028700"/>
            <a:chOff x="0" y="0"/>
            <a:chExt cx="137160" cy="1371600"/>
          </a:xfrm>
        </p:grpSpPr>
        <p:sp>
          <p:nvSpPr>
            <p:cNvPr name="Freeform 75" id="75"/>
            <p:cNvSpPr/>
            <p:nvPr/>
          </p:nvSpPr>
          <p:spPr>
            <a:xfrm flipH="false" flipV="false" rot="0">
              <a:off x="0" y="0"/>
              <a:ext cx="137160" cy="1371600"/>
            </a:xfrm>
            <a:custGeom>
              <a:avLst/>
              <a:gdLst/>
              <a:ahLst/>
              <a:cxnLst/>
              <a:rect r="r" b="b" t="t" l="l"/>
              <a:pathLst>
                <a:path h="1371600" w="137160">
                  <a:moveTo>
                    <a:pt x="0" y="0"/>
                  </a:moveTo>
                  <a:lnTo>
                    <a:pt x="137160" y="0"/>
                  </a:lnTo>
                  <a:lnTo>
                    <a:pt x="137160" y="1371600"/>
                  </a:lnTo>
                  <a:lnTo>
                    <a:pt x="0" y="1371600"/>
                  </a:lnTo>
                  <a:close/>
                </a:path>
              </a:pathLst>
            </a:custGeom>
            <a:solidFill>
              <a:srgbClr val="387F7F"/>
            </a:solidFill>
          </p:spPr>
        </p:sp>
      </p:grpSp>
      <p:grpSp>
        <p:nvGrpSpPr>
          <p:cNvPr name="Group 76" id="76"/>
          <p:cNvGrpSpPr/>
          <p:nvPr/>
        </p:nvGrpSpPr>
        <p:grpSpPr>
          <a:xfrm rot="0">
            <a:off x="1577340" y="8571700"/>
            <a:ext cx="13853160" cy="1028700"/>
            <a:chOff x="0" y="0"/>
            <a:chExt cx="18470880" cy="1371600"/>
          </a:xfrm>
        </p:grpSpPr>
        <p:sp>
          <p:nvSpPr>
            <p:cNvPr name="Freeform 77" id="77"/>
            <p:cNvSpPr/>
            <p:nvPr/>
          </p:nvSpPr>
          <p:spPr>
            <a:xfrm flipH="false" flipV="false" rot="0">
              <a:off x="0" y="0"/>
              <a:ext cx="18470880" cy="1371600"/>
            </a:xfrm>
            <a:custGeom>
              <a:avLst/>
              <a:gdLst/>
              <a:ahLst/>
              <a:cxnLst/>
              <a:rect r="r" b="b" t="t" l="l"/>
              <a:pathLst>
                <a:path h="1371600" w="18470880">
                  <a:moveTo>
                    <a:pt x="0" y="0"/>
                  </a:moveTo>
                  <a:lnTo>
                    <a:pt x="18470880" y="0"/>
                  </a:lnTo>
                  <a:lnTo>
                    <a:pt x="18470880" y="1371600"/>
                  </a:lnTo>
                  <a:lnTo>
                    <a:pt x="0" y="1371600"/>
                  </a:lnTo>
                  <a:close/>
                </a:path>
              </a:pathLst>
            </a:custGeom>
            <a:blipFill>
              <a:blip r:embed="rId9">
                <a:alphaModFix amt="0"/>
              </a:blip>
              <a:stretch>
                <a:fillRect l="0" t="-212398" r="0" b="-212398"/>
              </a:stretch>
            </a:blipFill>
          </p:spPr>
        </p:sp>
        <p:sp>
          <p:nvSpPr>
            <p:cNvPr name="TextBox 78" id="78"/>
            <p:cNvSpPr txBox="true"/>
            <p:nvPr/>
          </p:nvSpPr>
          <p:spPr>
            <a:xfrm>
              <a:off x="0" y="-95250"/>
              <a:ext cx="18470880" cy="1466850"/>
            </a:xfrm>
            <a:prstGeom prst="rect">
              <a:avLst/>
            </a:prstGeom>
          </p:spPr>
          <p:txBody>
            <a:bodyPr anchor="ctr" rtlCol="false" tIns="0" lIns="0" bIns="0" rIns="0"/>
            <a:lstStyle/>
            <a:p>
              <a:pPr algn="l">
                <a:lnSpc>
                  <a:spcPts val="3280"/>
                </a:lnSpc>
              </a:pPr>
              <a:r>
                <a:rPr lang="en-US" sz="2025" b="true">
                  <a:solidFill>
                    <a:srgbClr val="387F7F"/>
                  </a:solidFill>
                  <a:latin typeface="Poppins Bold"/>
                  <a:ea typeface="Poppins Bold"/>
                  <a:cs typeface="Poppins Bold"/>
                  <a:sym typeface="Poppins Bold"/>
                </a:rPr>
                <a:t>Housekeeping: create a table called _Measures to hold them all, and hide its one column.</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215528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Measure two: n</a:t>
            </a:r>
            <a:r>
              <a:rPr lang="en-US" sz="5000">
                <a:solidFill>
                  <a:srgbClr val="388080"/>
                </a:solidFill>
                <a:latin typeface="Poppins"/>
                <a:ea typeface="Poppins"/>
                <a:cs typeface="Poppins"/>
                <a:sym typeface="Poppins"/>
              </a:rPr>
              <a:t>ever divide with a slash</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1028700" y="2606040"/>
            <a:ext cx="7063740" cy="3360420"/>
            <a:chOff x="0" y="0"/>
            <a:chExt cx="9418320" cy="4480560"/>
          </a:xfrm>
        </p:grpSpPr>
        <p:sp>
          <p:nvSpPr>
            <p:cNvPr name="Freeform 12" id="12"/>
            <p:cNvSpPr/>
            <p:nvPr/>
          </p:nvSpPr>
          <p:spPr>
            <a:xfrm flipH="false" flipV="false" rot="0">
              <a:off x="0" y="0"/>
              <a:ext cx="9418320" cy="4480560"/>
            </a:xfrm>
            <a:custGeom>
              <a:avLst/>
              <a:gdLst/>
              <a:ahLst/>
              <a:cxnLst/>
              <a:rect r="r" b="b" t="t" l="l"/>
              <a:pathLst>
                <a:path h="4480560" w="9418320">
                  <a:moveTo>
                    <a:pt x="0" y="164592"/>
                  </a:moveTo>
                  <a:cubicBezTo>
                    <a:pt x="0" y="73660"/>
                    <a:pt x="73660" y="0"/>
                    <a:pt x="164592" y="0"/>
                  </a:cubicBezTo>
                  <a:lnTo>
                    <a:pt x="9253728" y="0"/>
                  </a:lnTo>
                  <a:cubicBezTo>
                    <a:pt x="9344660" y="0"/>
                    <a:pt x="9418320" y="73660"/>
                    <a:pt x="9418320" y="164592"/>
                  </a:cubicBezTo>
                  <a:lnTo>
                    <a:pt x="9418320" y="4315968"/>
                  </a:lnTo>
                  <a:cubicBezTo>
                    <a:pt x="9418320" y="4406900"/>
                    <a:pt x="9344660" y="4480560"/>
                    <a:pt x="9253728" y="4480560"/>
                  </a:cubicBezTo>
                  <a:lnTo>
                    <a:pt x="164592" y="4480560"/>
                  </a:lnTo>
                  <a:cubicBezTo>
                    <a:pt x="73660" y="4480560"/>
                    <a:pt x="0" y="4406900"/>
                    <a:pt x="0" y="4315968"/>
                  </a:cubicBezTo>
                  <a:close/>
                </a:path>
              </a:pathLst>
            </a:custGeom>
            <a:solidFill>
              <a:srgbClr val="10312F"/>
            </a:solidFill>
          </p:spPr>
        </p:sp>
      </p:grpSp>
      <p:grpSp>
        <p:nvGrpSpPr>
          <p:cNvPr name="Group 13" id="13"/>
          <p:cNvGrpSpPr/>
          <p:nvPr/>
        </p:nvGrpSpPr>
        <p:grpSpPr>
          <a:xfrm rot="0">
            <a:off x="1330452" y="2400300"/>
            <a:ext cx="1714500" cy="438912"/>
            <a:chOff x="0" y="0"/>
            <a:chExt cx="2286000" cy="585216"/>
          </a:xfrm>
        </p:grpSpPr>
        <p:sp>
          <p:nvSpPr>
            <p:cNvPr name="Freeform 14" id="14"/>
            <p:cNvSpPr/>
            <p:nvPr/>
          </p:nvSpPr>
          <p:spPr>
            <a:xfrm flipH="false" flipV="false" rot="0">
              <a:off x="0" y="0"/>
              <a:ext cx="2286000" cy="585216"/>
            </a:xfrm>
            <a:custGeom>
              <a:avLst/>
              <a:gdLst/>
              <a:ahLst/>
              <a:cxnLst/>
              <a:rect r="r" b="b" t="t" l="l"/>
              <a:pathLst>
                <a:path h="585216" w="2286000">
                  <a:moveTo>
                    <a:pt x="0" y="292608"/>
                  </a:moveTo>
                  <a:cubicBezTo>
                    <a:pt x="0" y="131064"/>
                    <a:pt x="131064" y="0"/>
                    <a:pt x="292608" y="0"/>
                  </a:cubicBezTo>
                  <a:lnTo>
                    <a:pt x="1993392" y="0"/>
                  </a:lnTo>
                  <a:cubicBezTo>
                    <a:pt x="2154936" y="0"/>
                    <a:pt x="2286000" y="131064"/>
                    <a:pt x="2286000" y="292608"/>
                  </a:cubicBezTo>
                  <a:cubicBezTo>
                    <a:pt x="2286000" y="454152"/>
                    <a:pt x="2154936" y="585216"/>
                    <a:pt x="1993392" y="585216"/>
                  </a:cubicBezTo>
                  <a:lnTo>
                    <a:pt x="292608" y="585216"/>
                  </a:lnTo>
                  <a:cubicBezTo>
                    <a:pt x="131064" y="585216"/>
                    <a:pt x="0" y="454152"/>
                    <a:pt x="0" y="292608"/>
                  </a:cubicBezTo>
                  <a:close/>
                </a:path>
              </a:pathLst>
            </a:custGeom>
            <a:solidFill>
              <a:srgbClr val="387F7F"/>
            </a:solidFill>
          </p:spPr>
        </p:sp>
      </p:grpSp>
      <p:grpSp>
        <p:nvGrpSpPr>
          <p:cNvPr name="Group 15" id="15"/>
          <p:cNvGrpSpPr/>
          <p:nvPr/>
        </p:nvGrpSpPr>
        <p:grpSpPr>
          <a:xfrm rot="0">
            <a:off x="1330452" y="2400300"/>
            <a:ext cx="1714500" cy="438912"/>
            <a:chOff x="0" y="0"/>
            <a:chExt cx="2286000" cy="585216"/>
          </a:xfrm>
        </p:grpSpPr>
        <p:sp>
          <p:nvSpPr>
            <p:cNvPr name="Freeform 16" id="16"/>
            <p:cNvSpPr/>
            <p:nvPr/>
          </p:nvSpPr>
          <p:spPr>
            <a:xfrm flipH="false" flipV="false" rot="0">
              <a:off x="0" y="0"/>
              <a:ext cx="2286000" cy="585216"/>
            </a:xfrm>
            <a:custGeom>
              <a:avLst/>
              <a:gdLst/>
              <a:ahLst/>
              <a:cxnLst/>
              <a:rect r="r" b="b" t="t" l="l"/>
              <a:pathLst>
                <a:path h="585216" w="2286000">
                  <a:moveTo>
                    <a:pt x="0" y="0"/>
                  </a:moveTo>
                  <a:lnTo>
                    <a:pt x="2286000" y="0"/>
                  </a:lnTo>
                  <a:lnTo>
                    <a:pt x="2286000" y="585216"/>
                  </a:lnTo>
                  <a:lnTo>
                    <a:pt x="0" y="585216"/>
                  </a:lnTo>
                  <a:close/>
                </a:path>
              </a:pathLst>
            </a:custGeom>
            <a:blipFill>
              <a:blip r:embed="rId9">
                <a:alphaModFix amt="0"/>
              </a:blip>
              <a:stretch>
                <a:fillRect l="0" t="-26113" r="0" b="-26113"/>
              </a:stretch>
            </a:blipFill>
          </p:spPr>
        </p:sp>
        <p:sp>
          <p:nvSpPr>
            <p:cNvPr name="TextBox 17" id="17"/>
            <p:cNvSpPr txBox="true"/>
            <p:nvPr/>
          </p:nvSpPr>
          <p:spPr>
            <a:xfrm>
              <a:off x="0" y="-19050"/>
              <a:ext cx="228600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DO THIS</a:t>
              </a:r>
            </a:p>
          </p:txBody>
        </p:sp>
      </p:grpSp>
      <p:grpSp>
        <p:nvGrpSpPr>
          <p:cNvPr name="Group 18" id="18"/>
          <p:cNvGrpSpPr/>
          <p:nvPr/>
        </p:nvGrpSpPr>
        <p:grpSpPr>
          <a:xfrm rot="0">
            <a:off x="1440180" y="3017520"/>
            <a:ext cx="6240780" cy="2674620"/>
            <a:chOff x="0" y="0"/>
            <a:chExt cx="8321040" cy="3566160"/>
          </a:xfrm>
        </p:grpSpPr>
        <p:sp>
          <p:nvSpPr>
            <p:cNvPr name="Freeform 19" id="19"/>
            <p:cNvSpPr/>
            <p:nvPr/>
          </p:nvSpPr>
          <p:spPr>
            <a:xfrm flipH="false" flipV="false" rot="0">
              <a:off x="0" y="0"/>
              <a:ext cx="8321040" cy="3566160"/>
            </a:xfrm>
            <a:custGeom>
              <a:avLst/>
              <a:gdLst/>
              <a:ahLst/>
              <a:cxnLst/>
              <a:rect r="r" b="b" t="t" l="l"/>
              <a:pathLst>
                <a:path h="3566160" w="8321040">
                  <a:moveTo>
                    <a:pt x="0" y="0"/>
                  </a:moveTo>
                  <a:lnTo>
                    <a:pt x="8321040" y="0"/>
                  </a:lnTo>
                  <a:lnTo>
                    <a:pt x="8321040" y="3566160"/>
                  </a:lnTo>
                  <a:lnTo>
                    <a:pt x="0" y="3566160"/>
                  </a:lnTo>
                  <a:close/>
                </a:path>
              </a:pathLst>
            </a:custGeom>
            <a:blipFill>
              <a:blip r:embed="rId9">
                <a:alphaModFix amt="0"/>
              </a:blip>
              <a:stretch>
                <a:fillRect l="-4987" t="0" r="-4987" b="0"/>
              </a:stretch>
            </a:blipFill>
          </p:spPr>
        </p:sp>
        <p:sp>
          <p:nvSpPr>
            <p:cNvPr name="TextBox 20" id="20"/>
            <p:cNvSpPr txBox="true"/>
            <p:nvPr/>
          </p:nvSpPr>
          <p:spPr>
            <a:xfrm>
              <a:off x="0" y="-47625"/>
              <a:ext cx="8321040" cy="3613785"/>
            </a:xfrm>
            <a:prstGeom prst="rect">
              <a:avLst/>
            </a:prstGeom>
          </p:spPr>
          <p:txBody>
            <a:bodyPr anchor="ctr" rtlCol="false" tIns="0" lIns="0" bIns="0" rIns="0"/>
            <a:lstStyle/>
            <a:p>
              <a:pPr algn="l">
                <a:lnSpc>
                  <a:spcPts val="2587"/>
                </a:lnSpc>
              </a:pPr>
              <a:r>
                <a:rPr lang="en-US" sz="1725">
                  <a:solidFill>
                    <a:srgbClr val="CFE6E3"/>
                  </a:solidFill>
                  <a:latin typeface="Roboto Mono"/>
                  <a:ea typeface="Roboto Mono"/>
                  <a:cs typeface="Roboto Mono"/>
                  <a:sym typeface="Roboto Mono"/>
                </a:rPr>
                <a:t>On-Time Deliveries =</a:t>
              </a:r>
            </a:p>
            <a:p>
              <a:pPr algn="l">
                <a:lnSpc>
                  <a:spcPts val="2587"/>
                </a:lnSpc>
              </a:pPr>
              <a:r>
                <a:rPr lang="en-US" sz="1725">
                  <a:solidFill>
                    <a:srgbClr val="CFE6E3"/>
                  </a:solidFill>
                  <a:latin typeface="Roboto Mono"/>
                  <a:ea typeface="Roboto Mono"/>
                  <a:cs typeface="Roboto Mono"/>
                  <a:sym typeface="Roboto Mono"/>
                </a:rPr>
                <a:t>  CALCULATE (</a:t>
              </a:r>
            </a:p>
            <a:p>
              <a:pPr algn="l">
                <a:lnSpc>
                  <a:spcPts val="2587"/>
                </a:lnSpc>
              </a:pPr>
              <a:r>
                <a:rPr lang="en-US" sz="1725">
                  <a:solidFill>
                    <a:srgbClr val="CFE6E3"/>
                  </a:solidFill>
                  <a:latin typeface="Roboto Mono"/>
                  <a:ea typeface="Roboto Mono"/>
                  <a:cs typeface="Roboto Mono"/>
                  <a:sym typeface="Roboto Mono"/>
                </a:rPr>
                <a:t>    [Total Deliveries],</a:t>
              </a:r>
            </a:p>
            <a:p>
              <a:pPr algn="l">
                <a:lnSpc>
                  <a:spcPts val="2587"/>
                </a:lnSpc>
              </a:pPr>
              <a:r>
                <a:rPr lang="en-US" sz="1725">
                  <a:solidFill>
                    <a:srgbClr val="CFE6E3"/>
                  </a:solidFill>
                  <a:latin typeface="Roboto Mono"/>
                  <a:ea typeface="Roboto Mono"/>
                  <a:cs typeface="Roboto Mono"/>
                  <a:sym typeface="Roboto Mono"/>
                </a:rPr>
                <a:t>    swiftroute_deliveries[Status] = "On time"</a:t>
              </a:r>
            </a:p>
            <a:p>
              <a:pPr algn="l">
                <a:lnSpc>
                  <a:spcPts val="2587"/>
                </a:lnSpc>
              </a:pPr>
              <a:r>
                <a:rPr lang="en-US" sz="1725">
                  <a:solidFill>
                    <a:srgbClr val="CFE6E3"/>
                  </a:solidFill>
                  <a:latin typeface="Roboto Mono"/>
                  <a:ea typeface="Roboto Mono"/>
                  <a:cs typeface="Roboto Mono"/>
                  <a:sym typeface="Roboto Mono"/>
                </a:rPr>
                <a:t>  )</a:t>
              </a:r>
            </a:p>
            <a:p>
              <a:pPr algn="l">
                <a:lnSpc>
                  <a:spcPts val="2587"/>
                </a:lnSpc>
              </a:pPr>
            </a:p>
            <a:p>
              <a:pPr algn="l">
                <a:lnSpc>
                  <a:spcPts val="2587"/>
                </a:lnSpc>
              </a:pPr>
              <a:r>
                <a:rPr lang="en-US" sz="1725">
                  <a:solidFill>
                    <a:srgbClr val="CFE6E3"/>
                  </a:solidFill>
                  <a:latin typeface="Roboto Mono"/>
                  <a:ea typeface="Roboto Mono"/>
                  <a:cs typeface="Roboto Mono"/>
                  <a:sym typeface="Roboto Mono"/>
                </a:rPr>
                <a:t>On-Time Rate =</a:t>
              </a:r>
            </a:p>
            <a:p>
              <a:pPr algn="l">
                <a:lnSpc>
                  <a:spcPts val="2587"/>
                </a:lnSpc>
              </a:pPr>
              <a:r>
                <a:rPr lang="en-US" sz="1725">
                  <a:solidFill>
                    <a:srgbClr val="CFE6E3"/>
                  </a:solidFill>
                  <a:latin typeface="Roboto Mono"/>
                  <a:ea typeface="Roboto Mono"/>
                  <a:cs typeface="Roboto Mono"/>
                  <a:sym typeface="Roboto Mono"/>
                </a:rPr>
                <a:t>  DIVIDE ( [On-Time Deliveries], [Total Deliveries] )</a:t>
              </a:r>
            </a:p>
          </p:txBody>
        </p:sp>
      </p:grpSp>
      <p:grpSp>
        <p:nvGrpSpPr>
          <p:cNvPr name="Group 21" id="21"/>
          <p:cNvGrpSpPr/>
          <p:nvPr/>
        </p:nvGrpSpPr>
        <p:grpSpPr>
          <a:xfrm rot="0">
            <a:off x="8709660" y="2606040"/>
            <a:ext cx="7063740" cy="3360420"/>
            <a:chOff x="0" y="0"/>
            <a:chExt cx="9418320" cy="4480560"/>
          </a:xfrm>
        </p:grpSpPr>
        <p:sp>
          <p:nvSpPr>
            <p:cNvPr name="Freeform 22" id="22"/>
            <p:cNvSpPr/>
            <p:nvPr/>
          </p:nvSpPr>
          <p:spPr>
            <a:xfrm flipH="false" flipV="false" rot="0">
              <a:off x="0" y="0"/>
              <a:ext cx="9418320" cy="4480560"/>
            </a:xfrm>
            <a:custGeom>
              <a:avLst/>
              <a:gdLst/>
              <a:ahLst/>
              <a:cxnLst/>
              <a:rect r="r" b="b" t="t" l="l"/>
              <a:pathLst>
                <a:path h="4480560" w="9418320">
                  <a:moveTo>
                    <a:pt x="0" y="164592"/>
                  </a:moveTo>
                  <a:cubicBezTo>
                    <a:pt x="0" y="73660"/>
                    <a:pt x="73660" y="0"/>
                    <a:pt x="164592" y="0"/>
                  </a:cubicBezTo>
                  <a:lnTo>
                    <a:pt x="9253728" y="0"/>
                  </a:lnTo>
                  <a:cubicBezTo>
                    <a:pt x="9344660" y="0"/>
                    <a:pt x="9418320" y="73660"/>
                    <a:pt x="9418320" y="164592"/>
                  </a:cubicBezTo>
                  <a:lnTo>
                    <a:pt x="9418320" y="4315968"/>
                  </a:lnTo>
                  <a:cubicBezTo>
                    <a:pt x="9418320" y="4406900"/>
                    <a:pt x="9344660" y="4480560"/>
                    <a:pt x="9253728" y="4480560"/>
                  </a:cubicBezTo>
                  <a:lnTo>
                    <a:pt x="164592" y="4480560"/>
                  </a:lnTo>
                  <a:cubicBezTo>
                    <a:pt x="73660" y="4480560"/>
                    <a:pt x="0" y="4406900"/>
                    <a:pt x="0" y="4315968"/>
                  </a:cubicBezTo>
                  <a:close/>
                </a:path>
              </a:pathLst>
            </a:custGeom>
            <a:solidFill>
              <a:srgbClr val="3A1C1A"/>
            </a:solidFill>
          </p:spPr>
        </p:sp>
      </p:grpSp>
      <p:grpSp>
        <p:nvGrpSpPr>
          <p:cNvPr name="Group 23" id="23"/>
          <p:cNvGrpSpPr/>
          <p:nvPr/>
        </p:nvGrpSpPr>
        <p:grpSpPr>
          <a:xfrm rot="0">
            <a:off x="9011412" y="2400300"/>
            <a:ext cx="1851660" cy="438912"/>
            <a:chOff x="0" y="0"/>
            <a:chExt cx="2468880" cy="585216"/>
          </a:xfrm>
        </p:grpSpPr>
        <p:sp>
          <p:nvSpPr>
            <p:cNvPr name="Freeform 24" id="24"/>
            <p:cNvSpPr/>
            <p:nvPr/>
          </p:nvSpPr>
          <p:spPr>
            <a:xfrm flipH="false" flipV="false" rot="0">
              <a:off x="0" y="0"/>
              <a:ext cx="2468880" cy="585216"/>
            </a:xfrm>
            <a:custGeom>
              <a:avLst/>
              <a:gdLst/>
              <a:ahLst/>
              <a:cxnLst/>
              <a:rect r="r" b="b" t="t" l="l"/>
              <a:pathLst>
                <a:path h="585216" w="2468880">
                  <a:moveTo>
                    <a:pt x="0" y="292608"/>
                  </a:moveTo>
                  <a:cubicBezTo>
                    <a:pt x="0" y="131064"/>
                    <a:pt x="131064" y="0"/>
                    <a:pt x="292608" y="0"/>
                  </a:cubicBezTo>
                  <a:lnTo>
                    <a:pt x="2176272" y="0"/>
                  </a:lnTo>
                  <a:cubicBezTo>
                    <a:pt x="2337816" y="0"/>
                    <a:pt x="2468880" y="131064"/>
                    <a:pt x="2468880" y="292608"/>
                  </a:cubicBezTo>
                  <a:cubicBezTo>
                    <a:pt x="2468880" y="454152"/>
                    <a:pt x="2337816" y="585216"/>
                    <a:pt x="2176272" y="585216"/>
                  </a:cubicBezTo>
                  <a:lnTo>
                    <a:pt x="292608" y="585216"/>
                  </a:lnTo>
                  <a:cubicBezTo>
                    <a:pt x="131064" y="585216"/>
                    <a:pt x="0" y="454152"/>
                    <a:pt x="0" y="292608"/>
                  </a:cubicBezTo>
                  <a:close/>
                </a:path>
              </a:pathLst>
            </a:custGeom>
            <a:solidFill>
              <a:srgbClr val="A8322D"/>
            </a:solidFill>
          </p:spPr>
        </p:sp>
      </p:grpSp>
      <p:grpSp>
        <p:nvGrpSpPr>
          <p:cNvPr name="Group 25" id="25"/>
          <p:cNvGrpSpPr/>
          <p:nvPr/>
        </p:nvGrpSpPr>
        <p:grpSpPr>
          <a:xfrm rot="0">
            <a:off x="9011412" y="2400300"/>
            <a:ext cx="1851660" cy="438912"/>
            <a:chOff x="0" y="0"/>
            <a:chExt cx="2468880" cy="585216"/>
          </a:xfrm>
        </p:grpSpPr>
        <p:sp>
          <p:nvSpPr>
            <p:cNvPr name="Freeform 26" id="26"/>
            <p:cNvSpPr/>
            <p:nvPr/>
          </p:nvSpPr>
          <p:spPr>
            <a:xfrm flipH="false" flipV="false" rot="0">
              <a:off x="0" y="0"/>
              <a:ext cx="2468880" cy="585216"/>
            </a:xfrm>
            <a:custGeom>
              <a:avLst/>
              <a:gdLst/>
              <a:ahLst/>
              <a:cxnLst/>
              <a:rect r="r" b="b" t="t" l="l"/>
              <a:pathLst>
                <a:path h="585216" w="2468880">
                  <a:moveTo>
                    <a:pt x="0" y="0"/>
                  </a:moveTo>
                  <a:lnTo>
                    <a:pt x="2468880" y="0"/>
                  </a:lnTo>
                  <a:lnTo>
                    <a:pt x="2468880" y="585216"/>
                  </a:lnTo>
                  <a:lnTo>
                    <a:pt x="0" y="585216"/>
                  </a:lnTo>
                  <a:close/>
                </a:path>
              </a:pathLst>
            </a:custGeom>
            <a:blipFill>
              <a:blip r:embed="rId9">
                <a:alphaModFix amt="0"/>
              </a:blip>
              <a:stretch>
                <a:fillRect l="0" t="-32202" r="0" b="-32202"/>
              </a:stretch>
            </a:blipFill>
          </p:spPr>
        </p:sp>
        <p:sp>
          <p:nvSpPr>
            <p:cNvPr name="TextBox 27" id="27"/>
            <p:cNvSpPr txBox="true"/>
            <p:nvPr/>
          </p:nvSpPr>
          <p:spPr>
            <a:xfrm>
              <a:off x="0" y="-19050"/>
              <a:ext cx="246888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NOT THIS</a:t>
              </a:r>
            </a:p>
          </p:txBody>
        </p:sp>
      </p:grpSp>
      <p:grpSp>
        <p:nvGrpSpPr>
          <p:cNvPr name="Group 28" id="28"/>
          <p:cNvGrpSpPr/>
          <p:nvPr/>
        </p:nvGrpSpPr>
        <p:grpSpPr>
          <a:xfrm rot="0">
            <a:off x="9121140" y="3017520"/>
            <a:ext cx="6240780" cy="2674620"/>
            <a:chOff x="0" y="0"/>
            <a:chExt cx="8321040" cy="3566160"/>
          </a:xfrm>
        </p:grpSpPr>
        <p:sp>
          <p:nvSpPr>
            <p:cNvPr name="Freeform 29" id="29"/>
            <p:cNvSpPr/>
            <p:nvPr/>
          </p:nvSpPr>
          <p:spPr>
            <a:xfrm flipH="false" flipV="false" rot="0">
              <a:off x="0" y="0"/>
              <a:ext cx="8321040" cy="3566160"/>
            </a:xfrm>
            <a:custGeom>
              <a:avLst/>
              <a:gdLst/>
              <a:ahLst/>
              <a:cxnLst/>
              <a:rect r="r" b="b" t="t" l="l"/>
              <a:pathLst>
                <a:path h="3566160" w="8321040">
                  <a:moveTo>
                    <a:pt x="0" y="0"/>
                  </a:moveTo>
                  <a:lnTo>
                    <a:pt x="8321040" y="0"/>
                  </a:lnTo>
                  <a:lnTo>
                    <a:pt x="8321040" y="3566160"/>
                  </a:lnTo>
                  <a:lnTo>
                    <a:pt x="0" y="3566160"/>
                  </a:lnTo>
                  <a:close/>
                </a:path>
              </a:pathLst>
            </a:custGeom>
            <a:blipFill>
              <a:blip r:embed="rId9">
                <a:alphaModFix amt="0"/>
              </a:blip>
              <a:stretch>
                <a:fillRect l="-4987" t="0" r="-4987" b="0"/>
              </a:stretch>
            </a:blipFill>
          </p:spPr>
        </p:sp>
        <p:sp>
          <p:nvSpPr>
            <p:cNvPr name="TextBox 30" id="30"/>
            <p:cNvSpPr txBox="true"/>
            <p:nvPr/>
          </p:nvSpPr>
          <p:spPr>
            <a:xfrm>
              <a:off x="0" y="-47625"/>
              <a:ext cx="8321040" cy="3613785"/>
            </a:xfrm>
            <a:prstGeom prst="rect">
              <a:avLst/>
            </a:prstGeom>
          </p:spPr>
          <p:txBody>
            <a:bodyPr anchor="ctr" rtlCol="false" tIns="0" lIns="0" bIns="0" rIns="0"/>
            <a:lstStyle/>
            <a:p>
              <a:pPr algn="l">
                <a:lnSpc>
                  <a:spcPts val="2587"/>
                </a:lnSpc>
              </a:pPr>
              <a:r>
                <a:rPr lang="en-US" sz="1725">
                  <a:solidFill>
                    <a:srgbClr val="E8C4C0"/>
                  </a:solidFill>
                  <a:latin typeface="Roboto Mono"/>
                  <a:ea typeface="Roboto Mono"/>
                  <a:cs typeface="Roboto Mono"/>
                  <a:sym typeface="Roboto Mono"/>
                </a:rPr>
                <a:t>On-Time Rate =</a:t>
              </a:r>
            </a:p>
            <a:p>
              <a:pPr algn="l">
                <a:lnSpc>
                  <a:spcPts val="2587"/>
                </a:lnSpc>
              </a:pPr>
              <a:r>
                <a:rPr lang="en-US" sz="1725">
                  <a:solidFill>
                    <a:srgbClr val="E8C4C0"/>
                  </a:solidFill>
                  <a:latin typeface="Roboto Mono"/>
                  <a:ea typeface="Roboto Mono"/>
                  <a:cs typeface="Roboto Mono"/>
                  <a:sym typeface="Roboto Mono"/>
                </a:rPr>
                <a:t>  [On-Time Deliveries] / [Total Deliveries]</a:t>
              </a:r>
            </a:p>
          </p:txBody>
        </p:sp>
      </p:grpSp>
      <p:grpSp>
        <p:nvGrpSpPr>
          <p:cNvPr name="Group 31" id="31"/>
          <p:cNvGrpSpPr/>
          <p:nvPr/>
        </p:nvGrpSpPr>
        <p:grpSpPr>
          <a:xfrm rot="0">
            <a:off x="1028700" y="6309360"/>
            <a:ext cx="7063740" cy="2057400"/>
            <a:chOff x="0" y="0"/>
            <a:chExt cx="9418320" cy="2743200"/>
          </a:xfrm>
        </p:grpSpPr>
        <p:sp>
          <p:nvSpPr>
            <p:cNvPr name="Freeform 32" id="32"/>
            <p:cNvSpPr/>
            <p:nvPr/>
          </p:nvSpPr>
          <p:spPr>
            <a:xfrm flipH="false" flipV="false" rot="0">
              <a:off x="0" y="0"/>
              <a:ext cx="9418320" cy="2743200"/>
            </a:xfrm>
            <a:custGeom>
              <a:avLst/>
              <a:gdLst/>
              <a:ahLst/>
              <a:cxnLst/>
              <a:rect r="r" b="b" t="t" l="l"/>
              <a:pathLst>
                <a:path h="2743200" w="9418320">
                  <a:moveTo>
                    <a:pt x="0" y="182880"/>
                  </a:moveTo>
                  <a:cubicBezTo>
                    <a:pt x="0" y="81915"/>
                    <a:pt x="81915" y="0"/>
                    <a:pt x="182880" y="0"/>
                  </a:cubicBezTo>
                  <a:lnTo>
                    <a:pt x="9235440" y="0"/>
                  </a:lnTo>
                  <a:cubicBezTo>
                    <a:pt x="9336405" y="0"/>
                    <a:pt x="9418320" y="81915"/>
                    <a:pt x="9418320" y="182880"/>
                  </a:cubicBezTo>
                  <a:lnTo>
                    <a:pt x="9418320" y="2560320"/>
                  </a:lnTo>
                  <a:cubicBezTo>
                    <a:pt x="9418320" y="2661285"/>
                    <a:pt x="9336405" y="2743200"/>
                    <a:pt x="9235440" y="2743200"/>
                  </a:cubicBezTo>
                  <a:lnTo>
                    <a:pt x="182880" y="2743200"/>
                  </a:lnTo>
                  <a:cubicBezTo>
                    <a:pt x="81915" y="2743200"/>
                    <a:pt x="0" y="2661285"/>
                    <a:pt x="0" y="2560320"/>
                  </a:cubicBezTo>
                  <a:close/>
                </a:path>
              </a:pathLst>
            </a:custGeom>
            <a:solidFill>
              <a:srgbClr val="FFFFFF"/>
            </a:solidFill>
          </p:spPr>
        </p:sp>
      </p:grpSp>
      <p:grpSp>
        <p:nvGrpSpPr>
          <p:cNvPr name="Group 33" id="33"/>
          <p:cNvGrpSpPr/>
          <p:nvPr/>
        </p:nvGrpSpPr>
        <p:grpSpPr>
          <a:xfrm rot="0">
            <a:off x="1028700" y="6309360"/>
            <a:ext cx="7063740" cy="123444"/>
            <a:chOff x="0" y="0"/>
            <a:chExt cx="9418320" cy="164592"/>
          </a:xfrm>
        </p:grpSpPr>
        <p:sp>
          <p:nvSpPr>
            <p:cNvPr name="Freeform 34" id="34"/>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387F7F"/>
            </a:solidFill>
          </p:spPr>
        </p:sp>
      </p:grpSp>
      <p:grpSp>
        <p:nvGrpSpPr>
          <p:cNvPr name="Group 35" id="35"/>
          <p:cNvGrpSpPr/>
          <p:nvPr/>
        </p:nvGrpSpPr>
        <p:grpSpPr>
          <a:xfrm rot="0">
            <a:off x="1440180" y="6556248"/>
            <a:ext cx="6240780" cy="438912"/>
            <a:chOff x="0" y="0"/>
            <a:chExt cx="8321040" cy="585216"/>
          </a:xfrm>
        </p:grpSpPr>
        <p:sp>
          <p:nvSpPr>
            <p:cNvPr name="Freeform 36" id="36"/>
            <p:cNvSpPr/>
            <p:nvPr/>
          </p:nvSpPr>
          <p:spPr>
            <a:xfrm flipH="false" flipV="false" rot="0">
              <a:off x="0" y="0"/>
              <a:ext cx="8321040" cy="585216"/>
            </a:xfrm>
            <a:custGeom>
              <a:avLst/>
              <a:gdLst/>
              <a:ahLst/>
              <a:cxnLst/>
              <a:rect r="r" b="b" t="t" l="l"/>
              <a:pathLst>
                <a:path h="585216" w="8321040">
                  <a:moveTo>
                    <a:pt x="0" y="0"/>
                  </a:moveTo>
                  <a:lnTo>
                    <a:pt x="8321040" y="0"/>
                  </a:lnTo>
                  <a:lnTo>
                    <a:pt x="8321040" y="585216"/>
                  </a:lnTo>
                  <a:lnTo>
                    <a:pt x="0" y="585216"/>
                  </a:lnTo>
                  <a:close/>
                </a:path>
              </a:pathLst>
            </a:custGeom>
            <a:blipFill>
              <a:blip r:embed="rId9">
                <a:alphaModFix amt="0"/>
              </a:blip>
              <a:stretch>
                <a:fillRect l="0" t="-227052" r="0" b="-227052"/>
              </a:stretch>
            </a:blipFill>
          </p:spPr>
        </p:sp>
        <p:sp>
          <p:nvSpPr>
            <p:cNvPr name="TextBox 37" id="37"/>
            <p:cNvSpPr txBox="true"/>
            <p:nvPr/>
          </p:nvSpPr>
          <p:spPr>
            <a:xfrm>
              <a:off x="0" y="-19050"/>
              <a:ext cx="8321040" cy="604266"/>
            </a:xfrm>
            <a:prstGeom prst="rect">
              <a:avLst/>
            </a:prstGeom>
          </p:spPr>
          <p:txBody>
            <a:bodyPr anchor="ctr" rtlCol="false" tIns="0" lIns="0" bIns="0" rIns="0"/>
            <a:lstStyle/>
            <a:p>
              <a:pPr algn="l">
                <a:lnSpc>
                  <a:spcPts val="2160"/>
                </a:lnSpc>
              </a:pPr>
              <a:r>
                <a:rPr lang="en-US" sz="1800" b="true">
                  <a:solidFill>
                    <a:srgbClr val="387F7F"/>
                  </a:solidFill>
                  <a:latin typeface="Poppins Bold"/>
                  <a:ea typeface="Poppins Bold"/>
                  <a:cs typeface="Poppins Bold"/>
                  <a:sym typeface="Poppins Bold"/>
                </a:rPr>
                <a:t>Using DIVIDE</a:t>
              </a:r>
            </a:p>
          </p:txBody>
        </p:sp>
      </p:grpSp>
      <p:sp>
        <p:nvSpPr>
          <p:cNvPr name="TextBox 38" id="38"/>
          <p:cNvSpPr txBox="true"/>
          <p:nvPr/>
        </p:nvSpPr>
        <p:spPr>
          <a:xfrm rot="0">
            <a:off x="1440180" y="7006590"/>
            <a:ext cx="6240780" cy="1223010"/>
          </a:xfrm>
          <a:prstGeom prst="rect">
            <a:avLst/>
          </a:prstGeom>
        </p:spPr>
        <p:txBody>
          <a:bodyPr anchor="t" rtlCol="false" tIns="0" lIns="0" bIns="0" rIns="0">
            <a:spAutoFit/>
          </a:bodyPr>
          <a:lstStyle/>
          <a:p>
            <a:pPr algn="l">
              <a:lnSpc>
                <a:spcPts val="2587"/>
              </a:lnSpc>
            </a:pPr>
            <a:r>
              <a:rPr lang="en-US" sz="1725">
                <a:solidFill>
                  <a:srgbClr val="475569"/>
                </a:solidFill>
                <a:latin typeface="Poppins"/>
                <a:ea typeface="Poppins"/>
                <a:cs typeface="Poppins"/>
                <a:sym typeface="Poppins"/>
              </a:rPr>
              <a:t>Checks the denominator first. Returns blank when it is zero, or whatever you set as a third argument. The visual simply omits the rider, which is the honest outcome.</a:t>
            </a:r>
          </a:p>
        </p:txBody>
      </p:sp>
      <p:grpSp>
        <p:nvGrpSpPr>
          <p:cNvPr name="Group 39" id="39"/>
          <p:cNvGrpSpPr/>
          <p:nvPr/>
        </p:nvGrpSpPr>
        <p:grpSpPr>
          <a:xfrm rot="0">
            <a:off x="8709660" y="6309360"/>
            <a:ext cx="7063740" cy="2057400"/>
            <a:chOff x="0" y="0"/>
            <a:chExt cx="9418320" cy="2743200"/>
          </a:xfrm>
        </p:grpSpPr>
        <p:sp>
          <p:nvSpPr>
            <p:cNvPr name="Freeform 40" id="40"/>
            <p:cNvSpPr/>
            <p:nvPr/>
          </p:nvSpPr>
          <p:spPr>
            <a:xfrm flipH="false" flipV="false" rot="0">
              <a:off x="0" y="0"/>
              <a:ext cx="9418320" cy="2743200"/>
            </a:xfrm>
            <a:custGeom>
              <a:avLst/>
              <a:gdLst/>
              <a:ahLst/>
              <a:cxnLst/>
              <a:rect r="r" b="b" t="t" l="l"/>
              <a:pathLst>
                <a:path h="2743200" w="9418320">
                  <a:moveTo>
                    <a:pt x="0" y="182880"/>
                  </a:moveTo>
                  <a:cubicBezTo>
                    <a:pt x="0" y="81915"/>
                    <a:pt x="81915" y="0"/>
                    <a:pt x="182880" y="0"/>
                  </a:cubicBezTo>
                  <a:lnTo>
                    <a:pt x="9235440" y="0"/>
                  </a:lnTo>
                  <a:cubicBezTo>
                    <a:pt x="9336405" y="0"/>
                    <a:pt x="9418320" y="81915"/>
                    <a:pt x="9418320" y="182880"/>
                  </a:cubicBezTo>
                  <a:lnTo>
                    <a:pt x="9418320" y="2560320"/>
                  </a:lnTo>
                  <a:cubicBezTo>
                    <a:pt x="9418320" y="2661285"/>
                    <a:pt x="9336405" y="2743200"/>
                    <a:pt x="9235440" y="2743200"/>
                  </a:cubicBezTo>
                  <a:lnTo>
                    <a:pt x="182880" y="2743200"/>
                  </a:lnTo>
                  <a:cubicBezTo>
                    <a:pt x="81915" y="2743200"/>
                    <a:pt x="0" y="2661285"/>
                    <a:pt x="0" y="2560320"/>
                  </a:cubicBezTo>
                  <a:close/>
                </a:path>
              </a:pathLst>
            </a:custGeom>
            <a:solidFill>
              <a:srgbClr val="FFFFFF"/>
            </a:solidFill>
          </p:spPr>
        </p:sp>
      </p:grpSp>
      <p:grpSp>
        <p:nvGrpSpPr>
          <p:cNvPr name="Group 41" id="41"/>
          <p:cNvGrpSpPr/>
          <p:nvPr/>
        </p:nvGrpSpPr>
        <p:grpSpPr>
          <a:xfrm rot="0">
            <a:off x="8709660" y="6309360"/>
            <a:ext cx="7063740" cy="123444"/>
            <a:chOff x="0" y="0"/>
            <a:chExt cx="9418320" cy="164592"/>
          </a:xfrm>
        </p:grpSpPr>
        <p:sp>
          <p:nvSpPr>
            <p:cNvPr name="Freeform 42" id="42"/>
            <p:cNvSpPr/>
            <p:nvPr/>
          </p:nvSpPr>
          <p:spPr>
            <a:xfrm flipH="false" flipV="false" rot="0">
              <a:off x="0" y="0"/>
              <a:ext cx="9418320" cy="164592"/>
            </a:xfrm>
            <a:custGeom>
              <a:avLst/>
              <a:gdLst/>
              <a:ahLst/>
              <a:cxnLst/>
              <a:rect r="r" b="b" t="t" l="l"/>
              <a:pathLst>
                <a:path h="164592" w="9418320">
                  <a:moveTo>
                    <a:pt x="0" y="0"/>
                  </a:moveTo>
                  <a:lnTo>
                    <a:pt x="9418320" y="0"/>
                  </a:lnTo>
                  <a:lnTo>
                    <a:pt x="9418320" y="164592"/>
                  </a:lnTo>
                  <a:lnTo>
                    <a:pt x="0" y="164592"/>
                  </a:lnTo>
                  <a:close/>
                </a:path>
              </a:pathLst>
            </a:custGeom>
            <a:solidFill>
              <a:srgbClr val="A8322D"/>
            </a:solidFill>
          </p:spPr>
        </p:sp>
      </p:grpSp>
      <p:grpSp>
        <p:nvGrpSpPr>
          <p:cNvPr name="Group 43" id="43"/>
          <p:cNvGrpSpPr/>
          <p:nvPr/>
        </p:nvGrpSpPr>
        <p:grpSpPr>
          <a:xfrm rot="0">
            <a:off x="9121140" y="6556248"/>
            <a:ext cx="6240780" cy="438912"/>
            <a:chOff x="0" y="0"/>
            <a:chExt cx="8321040" cy="585216"/>
          </a:xfrm>
        </p:grpSpPr>
        <p:sp>
          <p:nvSpPr>
            <p:cNvPr name="Freeform 44" id="44"/>
            <p:cNvSpPr/>
            <p:nvPr/>
          </p:nvSpPr>
          <p:spPr>
            <a:xfrm flipH="false" flipV="false" rot="0">
              <a:off x="0" y="0"/>
              <a:ext cx="8321040" cy="585216"/>
            </a:xfrm>
            <a:custGeom>
              <a:avLst/>
              <a:gdLst/>
              <a:ahLst/>
              <a:cxnLst/>
              <a:rect r="r" b="b" t="t" l="l"/>
              <a:pathLst>
                <a:path h="585216" w="8321040">
                  <a:moveTo>
                    <a:pt x="0" y="0"/>
                  </a:moveTo>
                  <a:lnTo>
                    <a:pt x="8321040" y="0"/>
                  </a:lnTo>
                  <a:lnTo>
                    <a:pt x="8321040" y="585216"/>
                  </a:lnTo>
                  <a:lnTo>
                    <a:pt x="0" y="585216"/>
                  </a:lnTo>
                  <a:close/>
                </a:path>
              </a:pathLst>
            </a:custGeom>
            <a:blipFill>
              <a:blip r:embed="rId9">
                <a:alphaModFix amt="0"/>
              </a:blip>
              <a:stretch>
                <a:fillRect l="0" t="-227052" r="0" b="-227052"/>
              </a:stretch>
            </a:blipFill>
          </p:spPr>
        </p:sp>
        <p:sp>
          <p:nvSpPr>
            <p:cNvPr name="TextBox 45" id="45"/>
            <p:cNvSpPr txBox="true"/>
            <p:nvPr/>
          </p:nvSpPr>
          <p:spPr>
            <a:xfrm>
              <a:off x="0" y="-19050"/>
              <a:ext cx="8321040" cy="604266"/>
            </a:xfrm>
            <a:prstGeom prst="rect">
              <a:avLst/>
            </a:prstGeom>
          </p:spPr>
          <p:txBody>
            <a:bodyPr anchor="ctr" rtlCol="false" tIns="0" lIns="0" bIns="0" rIns="0"/>
            <a:lstStyle/>
            <a:p>
              <a:pPr algn="l">
                <a:lnSpc>
                  <a:spcPts val="2160"/>
                </a:lnSpc>
              </a:pPr>
              <a:r>
                <a:rPr lang="en-US" sz="1800" b="true">
                  <a:solidFill>
                    <a:srgbClr val="A8322D"/>
                  </a:solidFill>
                  <a:latin typeface="Poppins Bold"/>
                  <a:ea typeface="Poppins Bold"/>
                  <a:cs typeface="Poppins Bold"/>
                  <a:sym typeface="Poppins Bold"/>
                </a:rPr>
                <a:t>Using /</a:t>
              </a:r>
            </a:p>
          </p:txBody>
        </p:sp>
      </p:grpSp>
      <p:sp>
        <p:nvSpPr>
          <p:cNvPr name="TextBox 46" id="46"/>
          <p:cNvSpPr txBox="true"/>
          <p:nvPr/>
        </p:nvSpPr>
        <p:spPr>
          <a:xfrm rot="0">
            <a:off x="9121140" y="7006590"/>
            <a:ext cx="6240780" cy="1223010"/>
          </a:xfrm>
          <a:prstGeom prst="rect">
            <a:avLst/>
          </a:prstGeom>
        </p:spPr>
        <p:txBody>
          <a:bodyPr anchor="t" rtlCol="false" tIns="0" lIns="0" bIns="0" rIns="0">
            <a:spAutoFit/>
          </a:bodyPr>
          <a:lstStyle/>
          <a:p>
            <a:pPr algn="l">
              <a:lnSpc>
                <a:spcPts val="2587"/>
              </a:lnSpc>
            </a:pPr>
            <a:r>
              <a:rPr lang="en-US" sz="1725">
                <a:solidFill>
                  <a:srgbClr val="475569"/>
                </a:solidFill>
                <a:latin typeface="Poppins"/>
                <a:ea typeface="Poppins"/>
                <a:cs typeface="Poppins"/>
                <a:sym typeface="Poppins"/>
              </a:rPr>
              <a:t>A rider who joined last week has no deliveries. The denominator is zero. The visual shows Infinity, an error, or a blank that looks like missing data, on Adaeze's dashboard, in front of her.</a:t>
            </a:r>
          </a:p>
        </p:txBody>
      </p:sp>
      <p:grpSp>
        <p:nvGrpSpPr>
          <p:cNvPr name="Group 47" id="47"/>
          <p:cNvGrpSpPr/>
          <p:nvPr/>
        </p:nvGrpSpPr>
        <p:grpSpPr>
          <a:xfrm rot="0">
            <a:off x="1028700" y="8641080"/>
            <a:ext cx="14744700" cy="850392"/>
            <a:chOff x="0" y="0"/>
            <a:chExt cx="19659600" cy="1133856"/>
          </a:xfrm>
        </p:grpSpPr>
        <p:sp>
          <p:nvSpPr>
            <p:cNvPr name="Freeform 48" id="48"/>
            <p:cNvSpPr/>
            <p:nvPr/>
          </p:nvSpPr>
          <p:spPr>
            <a:xfrm flipH="false" flipV="false" rot="0">
              <a:off x="0" y="0"/>
              <a:ext cx="19659600" cy="1133856"/>
            </a:xfrm>
            <a:custGeom>
              <a:avLst/>
              <a:gdLst/>
              <a:ahLst/>
              <a:cxnLst/>
              <a:rect r="r" b="b" t="t" l="l"/>
              <a:pathLst>
                <a:path h="1133856" w="19659600">
                  <a:moveTo>
                    <a:pt x="0" y="164592"/>
                  </a:moveTo>
                  <a:cubicBezTo>
                    <a:pt x="0" y="73660"/>
                    <a:pt x="73660" y="0"/>
                    <a:pt x="164592" y="0"/>
                  </a:cubicBezTo>
                  <a:lnTo>
                    <a:pt x="19495008" y="0"/>
                  </a:lnTo>
                  <a:cubicBezTo>
                    <a:pt x="19585939" y="0"/>
                    <a:pt x="19659600" y="73660"/>
                    <a:pt x="19659600" y="164592"/>
                  </a:cubicBezTo>
                  <a:lnTo>
                    <a:pt x="19659600" y="969264"/>
                  </a:lnTo>
                  <a:cubicBezTo>
                    <a:pt x="19659600" y="1060196"/>
                    <a:pt x="19585939" y="1133856"/>
                    <a:pt x="19495008" y="1133856"/>
                  </a:cubicBezTo>
                  <a:lnTo>
                    <a:pt x="164592" y="1133856"/>
                  </a:lnTo>
                  <a:cubicBezTo>
                    <a:pt x="73660" y="1133856"/>
                    <a:pt x="0" y="1060196"/>
                    <a:pt x="0" y="969264"/>
                  </a:cubicBezTo>
                  <a:close/>
                </a:path>
              </a:pathLst>
            </a:custGeom>
            <a:solidFill>
              <a:srgbClr val="10312F"/>
            </a:solidFill>
          </p:spPr>
        </p:sp>
      </p:grpSp>
      <p:grpSp>
        <p:nvGrpSpPr>
          <p:cNvPr name="Group 49" id="49"/>
          <p:cNvGrpSpPr/>
          <p:nvPr/>
        </p:nvGrpSpPr>
        <p:grpSpPr>
          <a:xfrm rot="0">
            <a:off x="1440180" y="8915400"/>
            <a:ext cx="13921740" cy="301752"/>
            <a:chOff x="0" y="0"/>
            <a:chExt cx="18562320" cy="402336"/>
          </a:xfrm>
        </p:grpSpPr>
        <p:sp>
          <p:nvSpPr>
            <p:cNvPr name="Freeform 50" id="50"/>
            <p:cNvSpPr/>
            <p:nvPr/>
          </p:nvSpPr>
          <p:spPr>
            <a:xfrm flipH="false" flipV="false" rot="0">
              <a:off x="0" y="0"/>
              <a:ext cx="18562320" cy="402336"/>
            </a:xfrm>
            <a:custGeom>
              <a:avLst/>
              <a:gdLst/>
              <a:ahLst/>
              <a:cxnLst/>
              <a:rect r="r" b="b" t="t" l="l"/>
              <a:pathLst>
                <a:path h="402336" w="18562320">
                  <a:moveTo>
                    <a:pt x="0" y="0"/>
                  </a:moveTo>
                  <a:lnTo>
                    <a:pt x="18562320" y="0"/>
                  </a:lnTo>
                  <a:lnTo>
                    <a:pt x="18562320" y="402336"/>
                  </a:lnTo>
                  <a:lnTo>
                    <a:pt x="0" y="402336"/>
                  </a:lnTo>
                  <a:close/>
                </a:path>
              </a:pathLst>
            </a:custGeom>
            <a:blipFill>
              <a:blip r:embed="rId9">
                <a:alphaModFix amt="0"/>
              </a:blip>
              <a:stretch>
                <a:fillRect l="0" t="-848968" r="0" b="-848968"/>
              </a:stretch>
            </a:blipFill>
          </p:spPr>
        </p:sp>
        <p:sp>
          <p:nvSpPr>
            <p:cNvPr name="TextBox 51" id="51"/>
            <p:cNvSpPr txBox="true"/>
            <p:nvPr/>
          </p:nvSpPr>
          <p:spPr>
            <a:xfrm>
              <a:off x="0" y="-38100"/>
              <a:ext cx="18562320" cy="440436"/>
            </a:xfrm>
            <a:prstGeom prst="rect">
              <a:avLst/>
            </a:prstGeom>
          </p:spPr>
          <p:txBody>
            <a:bodyPr anchor="ctr" rtlCol="false" tIns="0" lIns="0" bIns="0" rIns="0"/>
            <a:lstStyle/>
            <a:p>
              <a:pPr algn="l">
                <a:lnSpc>
                  <a:spcPts val="2475"/>
                </a:lnSpc>
              </a:pPr>
              <a:r>
                <a:rPr lang="en-US" sz="1650">
                  <a:solidFill>
                    <a:srgbClr val="CFE6E3"/>
                  </a:solidFill>
                  <a:latin typeface="Roboto Mono"/>
                  <a:ea typeface="Roboto Mono"/>
                  <a:cs typeface="Roboto Mono"/>
                  <a:sym typeface="Roboto Mono"/>
                </a:rPr>
                <a:t>DIVIDE ( [On-Time Deliveries], [Total Deliveries], 0 )     ←  the optional third argument sets what to return instead of blank</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5830451" cy="762000"/>
          </a:xfrm>
          <a:prstGeom prst="rect">
            <a:avLst/>
          </a:prstGeom>
        </p:spPr>
        <p:txBody>
          <a:bodyPr anchor="t" rtlCol="false" tIns="0" lIns="0" bIns="0" rIns="0">
            <a:spAutoFit/>
          </a:bodyPr>
          <a:lstStyle/>
          <a:p>
            <a:pPr algn="l">
              <a:lnSpc>
                <a:spcPts val="5640"/>
              </a:lnSpc>
            </a:pPr>
            <a:r>
              <a:rPr lang="en-US" sz="4700">
                <a:solidFill>
                  <a:srgbClr val="388080"/>
                </a:solidFill>
                <a:latin typeface="Poppins"/>
                <a:ea typeface="Poppins"/>
                <a:cs typeface="Poppins"/>
                <a:sym typeface="Poppins"/>
              </a:rPr>
              <a:t>CALCULATE cha</a:t>
            </a:r>
            <a:r>
              <a:rPr lang="en-US" sz="4700">
                <a:solidFill>
                  <a:srgbClr val="388080"/>
                </a:solidFill>
                <a:latin typeface="Poppins"/>
                <a:ea typeface="Poppins"/>
                <a:cs typeface="Poppins"/>
                <a:sym typeface="Poppins"/>
              </a:rPr>
              <a:t>nges the question before answering it</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885825" y="2537460"/>
            <a:ext cx="7338060" cy="4800600"/>
            <a:chOff x="0" y="0"/>
            <a:chExt cx="9784080" cy="6400800"/>
          </a:xfrm>
        </p:grpSpPr>
        <p:sp>
          <p:nvSpPr>
            <p:cNvPr name="Freeform 12" id="12"/>
            <p:cNvSpPr/>
            <p:nvPr/>
          </p:nvSpPr>
          <p:spPr>
            <a:xfrm flipH="false" flipV="false" rot="0">
              <a:off x="0" y="0"/>
              <a:ext cx="9784080" cy="6400800"/>
            </a:xfrm>
            <a:custGeom>
              <a:avLst/>
              <a:gdLst/>
              <a:ahLst/>
              <a:cxnLst/>
              <a:rect r="r" b="b" t="t" l="l"/>
              <a:pathLst>
                <a:path h="6400800" w="9784080">
                  <a:moveTo>
                    <a:pt x="0" y="182880"/>
                  </a:moveTo>
                  <a:cubicBezTo>
                    <a:pt x="0" y="81915"/>
                    <a:pt x="81915" y="0"/>
                    <a:pt x="182880" y="0"/>
                  </a:cubicBezTo>
                  <a:lnTo>
                    <a:pt x="9601200" y="0"/>
                  </a:lnTo>
                  <a:cubicBezTo>
                    <a:pt x="9702165" y="0"/>
                    <a:pt x="9784080" y="81915"/>
                    <a:pt x="9784080" y="182880"/>
                  </a:cubicBezTo>
                  <a:lnTo>
                    <a:pt x="9784080" y="6217920"/>
                  </a:lnTo>
                  <a:cubicBezTo>
                    <a:pt x="9784080" y="6318885"/>
                    <a:pt x="9702165" y="6400800"/>
                    <a:pt x="9601200" y="6400800"/>
                  </a:cubicBezTo>
                  <a:lnTo>
                    <a:pt x="182880" y="6400800"/>
                  </a:lnTo>
                  <a:cubicBezTo>
                    <a:pt x="81915" y="6400800"/>
                    <a:pt x="0" y="6318885"/>
                    <a:pt x="0" y="6217920"/>
                  </a:cubicBezTo>
                  <a:close/>
                </a:path>
              </a:pathLst>
            </a:custGeom>
            <a:solidFill>
              <a:srgbClr val="FFFFFF"/>
            </a:solidFill>
          </p:spPr>
        </p:sp>
      </p:grpSp>
      <p:sp>
        <p:nvSpPr>
          <p:cNvPr name="TextBox 13" id="13"/>
          <p:cNvSpPr txBox="true"/>
          <p:nvPr/>
        </p:nvSpPr>
        <p:spPr>
          <a:xfrm rot="0">
            <a:off x="1365885" y="2853690"/>
            <a:ext cx="6377940" cy="1055370"/>
          </a:xfrm>
          <a:prstGeom prst="rect">
            <a:avLst/>
          </a:prstGeom>
        </p:spPr>
        <p:txBody>
          <a:bodyPr anchor="t" rtlCol="false" tIns="0" lIns="0" bIns="0" rIns="0">
            <a:spAutoFit/>
          </a:bodyPr>
          <a:lstStyle/>
          <a:p>
            <a:pPr algn="l">
              <a:lnSpc>
                <a:spcPts val="3393"/>
              </a:lnSpc>
            </a:pPr>
            <a:r>
              <a:rPr lang="en-US" sz="2175">
                <a:solidFill>
                  <a:srgbClr val="475569"/>
                </a:solidFill>
                <a:latin typeface="Poppins"/>
                <a:ea typeface="Poppins"/>
                <a:cs typeface="Poppins"/>
                <a:sym typeface="Poppins"/>
              </a:rPr>
              <a:t>Every measure so far accepted whatever filter context the visual handed it.</a:t>
            </a:r>
          </a:p>
        </p:txBody>
      </p:sp>
      <p:sp>
        <p:nvSpPr>
          <p:cNvPr name="TextBox 14" id="14"/>
          <p:cNvSpPr txBox="true"/>
          <p:nvPr/>
        </p:nvSpPr>
        <p:spPr>
          <a:xfrm rot="0">
            <a:off x="1365885" y="3882390"/>
            <a:ext cx="6377940" cy="1329690"/>
          </a:xfrm>
          <a:prstGeom prst="rect">
            <a:avLst/>
          </a:prstGeom>
        </p:spPr>
        <p:txBody>
          <a:bodyPr anchor="t" rtlCol="false" tIns="0" lIns="0" bIns="0" rIns="0">
            <a:spAutoFit/>
          </a:bodyPr>
          <a:lstStyle/>
          <a:p>
            <a:pPr algn="l">
              <a:lnSpc>
                <a:spcPts val="3393"/>
              </a:lnSpc>
            </a:pPr>
            <a:r>
              <a:rPr lang="en-US" sz="2175" b="true">
                <a:solidFill>
                  <a:srgbClr val="0A1A23"/>
                </a:solidFill>
                <a:latin typeface="Poppins Bold"/>
                <a:ea typeface="Poppins Bold"/>
                <a:cs typeface="Poppins Bold"/>
                <a:sym typeface="Poppins Bold"/>
              </a:rPr>
              <a:t>CALCULATE is the one function that reaches in and modifies that context before the calculation runs.</a:t>
            </a:r>
          </a:p>
        </p:txBody>
      </p:sp>
      <p:sp>
        <p:nvSpPr>
          <p:cNvPr name="TextBox 15" id="15"/>
          <p:cNvSpPr txBox="true"/>
          <p:nvPr/>
        </p:nvSpPr>
        <p:spPr>
          <a:xfrm rot="0">
            <a:off x="1365885" y="5253990"/>
            <a:ext cx="6377940" cy="1604010"/>
          </a:xfrm>
          <a:prstGeom prst="rect">
            <a:avLst/>
          </a:prstGeom>
        </p:spPr>
        <p:txBody>
          <a:bodyPr anchor="t" rtlCol="false" tIns="0" lIns="0" bIns="0" rIns="0">
            <a:spAutoFit/>
          </a:bodyPr>
          <a:lstStyle/>
          <a:p>
            <a:pPr algn="l">
              <a:lnSpc>
                <a:spcPts val="3393"/>
              </a:lnSpc>
            </a:pPr>
            <a:r>
              <a:rPr lang="en-US" sz="2175">
                <a:solidFill>
                  <a:srgbClr val="475569"/>
                </a:solidFill>
                <a:latin typeface="Poppins"/>
                <a:ea typeface="Poppins"/>
                <a:cs typeface="Poppins"/>
                <a:sym typeface="Poppins"/>
              </a:rPr>
              <a:t>Read it as two parts. The first argument is the thing to calculate. Everything after it is an instruction that alters the filters.</a:t>
            </a:r>
          </a:p>
        </p:txBody>
      </p:sp>
      <p:grpSp>
        <p:nvGrpSpPr>
          <p:cNvPr name="Group 16" id="16"/>
          <p:cNvGrpSpPr/>
          <p:nvPr/>
        </p:nvGrpSpPr>
        <p:grpSpPr>
          <a:xfrm rot="0">
            <a:off x="8772525" y="2537460"/>
            <a:ext cx="6858000" cy="2400300"/>
            <a:chOff x="0" y="0"/>
            <a:chExt cx="9144000" cy="3200400"/>
          </a:xfrm>
        </p:grpSpPr>
        <p:sp>
          <p:nvSpPr>
            <p:cNvPr name="Freeform 17" id="17"/>
            <p:cNvSpPr/>
            <p:nvPr/>
          </p:nvSpPr>
          <p:spPr>
            <a:xfrm flipH="false" flipV="false" rot="0">
              <a:off x="0" y="0"/>
              <a:ext cx="9144000" cy="3200400"/>
            </a:xfrm>
            <a:custGeom>
              <a:avLst/>
              <a:gdLst/>
              <a:ahLst/>
              <a:cxnLst/>
              <a:rect r="r" b="b" t="t" l="l"/>
              <a:pathLst>
                <a:path h="3200400" w="9144000">
                  <a:moveTo>
                    <a:pt x="0" y="164592"/>
                  </a:moveTo>
                  <a:cubicBezTo>
                    <a:pt x="0" y="73660"/>
                    <a:pt x="73660" y="0"/>
                    <a:pt x="164592" y="0"/>
                  </a:cubicBezTo>
                  <a:lnTo>
                    <a:pt x="8979408" y="0"/>
                  </a:lnTo>
                  <a:cubicBezTo>
                    <a:pt x="9070340" y="0"/>
                    <a:pt x="9144000" y="73660"/>
                    <a:pt x="9144000" y="164592"/>
                  </a:cubicBezTo>
                  <a:lnTo>
                    <a:pt x="9144000" y="3035808"/>
                  </a:lnTo>
                  <a:cubicBezTo>
                    <a:pt x="9144000" y="3126740"/>
                    <a:pt x="9070340" y="3200400"/>
                    <a:pt x="8979408" y="3200400"/>
                  </a:cubicBezTo>
                  <a:lnTo>
                    <a:pt x="164592" y="3200400"/>
                  </a:lnTo>
                  <a:cubicBezTo>
                    <a:pt x="73660" y="3200400"/>
                    <a:pt x="0" y="3126740"/>
                    <a:pt x="0" y="3035808"/>
                  </a:cubicBezTo>
                  <a:close/>
                </a:path>
              </a:pathLst>
            </a:custGeom>
            <a:solidFill>
              <a:srgbClr val="10312F"/>
            </a:solidFill>
          </p:spPr>
        </p:sp>
      </p:grpSp>
      <p:grpSp>
        <p:nvGrpSpPr>
          <p:cNvPr name="Group 18" id="18"/>
          <p:cNvGrpSpPr/>
          <p:nvPr/>
        </p:nvGrpSpPr>
        <p:grpSpPr>
          <a:xfrm rot="0">
            <a:off x="9184005" y="2811780"/>
            <a:ext cx="6035040" cy="1851660"/>
            <a:chOff x="0" y="0"/>
            <a:chExt cx="8046720" cy="2468880"/>
          </a:xfrm>
        </p:grpSpPr>
        <p:sp>
          <p:nvSpPr>
            <p:cNvPr name="Freeform 19" id="19"/>
            <p:cNvSpPr/>
            <p:nvPr/>
          </p:nvSpPr>
          <p:spPr>
            <a:xfrm flipH="false" flipV="false" rot="0">
              <a:off x="0" y="0"/>
              <a:ext cx="8046720" cy="2468880"/>
            </a:xfrm>
            <a:custGeom>
              <a:avLst/>
              <a:gdLst/>
              <a:ahLst/>
              <a:cxnLst/>
              <a:rect r="r" b="b" t="t" l="l"/>
              <a:pathLst>
                <a:path h="2468880" w="8046720">
                  <a:moveTo>
                    <a:pt x="0" y="0"/>
                  </a:moveTo>
                  <a:lnTo>
                    <a:pt x="8046720" y="0"/>
                  </a:lnTo>
                  <a:lnTo>
                    <a:pt x="8046720" y="2468880"/>
                  </a:lnTo>
                  <a:lnTo>
                    <a:pt x="0" y="2468880"/>
                  </a:lnTo>
                  <a:close/>
                </a:path>
              </a:pathLst>
            </a:custGeom>
            <a:blipFill>
              <a:blip r:embed="rId9">
                <a:alphaModFix amt="0"/>
              </a:blip>
              <a:stretch>
                <a:fillRect l="0" t="-13506" r="0" b="-13506"/>
              </a:stretch>
            </a:blipFill>
          </p:spPr>
        </p:sp>
        <p:sp>
          <p:nvSpPr>
            <p:cNvPr name="TextBox 20" id="20"/>
            <p:cNvSpPr txBox="true"/>
            <p:nvPr/>
          </p:nvSpPr>
          <p:spPr>
            <a:xfrm>
              <a:off x="0" y="-66675"/>
              <a:ext cx="8046720" cy="2535555"/>
            </a:xfrm>
            <a:prstGeom prst="rect">
              <a:avLst/>
            </a:prstGeom>
          </p:spPr>
          <p:txBody>
            <a:bodyPr anchor="ctr" rtlCol="false" tIns="0" lIns="0" bIns="0" rIns="0"/>
            <a:lstStyle/>
            <a:p>
              <a:pPr algn="l">
                <a:lnSpc>
                  <a:spcPts val="2700"/>
                </a:lnSpc>
              </a:pPr>
              <a:r>
                <a:rPr lang="en-US" sz="1800">
                  <a:solidFill>
                    <a:srgbClr val="CFE6E3"/>
                  </a:solidFill>
                  <a:latin typeface="Roboto Mono"/>
                  <a:ea typeface="Roboto Mono"/>
                  <a:cs typeface="Roboto Mono"/>
                  <a:sym typeface="Roboto Mono"/>
                </a:rPr>
                <a:t>CALCULATE (</a:t>
              </a:r>
            </a:p>
            <a:p>
              <a:pPr algn="l">
                <a:lnSpc>
                  <a:spcPts val="2700"/>
                </a:lnSpc>
              </a:pPr>
              <a:r>
                <a:rPr lang="en-US" sz="1800">
                  <a:solidFill>
                    <a:srgbClr val="CFE6E3"/>
                  </a:solidFill>
                  <a:latin typeface="Roboto Mono"/>
                  <a:ea typeface="Roboto Mono"/>
                  <a:cs typeface="Roboto Mono"/>
                  <a:sym typeface="Roboto Mono"/>
                </a:rPr>
                <a:t>    [Total Deliveries],</a:t>
              </a:r>
            </a:p>
            <a:p>
              <a:pPr algn="l">
                <a:lnSpc>
                  <a:spcPts val="2700"/>
                </a:lnSpc>
              </a:pPr>
              <a:r>
                <a:rPr lang="en-US" sz="1800">
                  <a:solidFill>
                    <a:srgbClr val="CFE6E3"/>
                  </a:solidFill>
                  <a:latin typeface="Roboto Mono"/>
                  <a:ea typeface="Roboto Mono"/>
                  <a:cs typeface="Roboto Mono"/>
                  <a:sym typeface="Roboto Mono"/>
                </a:rPr>
                <a:t>    swiftroute_deliveries[Status] = "On time"</a:t>
              </a:r>
            </a:p>
            <a:p>
              <a:pPr algn="l">
                <a:lnSpc>
                  <a:spcPts val="2700"/>
                </a:lnSpc>
              </a:pPr>
              <a:r>
                <a:rPr lang="en-US" sz="1800">
                  <a:solidFill>
                    <a:srgbClr val="CFE6E3"/>
                  </a:solidFill>
                  <a:latin typeface="Roboto Mono"/>
                  <a:ea typeface="Roboto Mono"/>
                  <a:cs typeface="Roboto Mono"/>
                  <a:sym typeface="Roboto Mono"/>
                </a:rPr>
                <a:t>)</a:t>
              </a:r>
            </a:p>
          </p:txBody>
        </p:sp>
      </p:grpSp>
      <p:grpSp>
        <p:nvGrpSpPr>
          <p:cNvPr name="Group 21" id="21"/>
          <p:cNvGrpSpPr/>
          <p:nvPr/>
        </p:nvGrpSpPr>
        <p:grpSpPr>
          <a:xfrm rot="0">
            <a:off x="8772525" y="5212080"/>
            <a:ext cx="6858000" cy="1124712"/>
            <a:chOff x="0" y="0"/>
            <a:chExt cx="9144000" cy="1499616"/>
          </a:xfrm>
        </p:grpSpPr>
        <p:sp>
          <p:nvSpPr>
            <p:cNvPr name="Freeform 22" id="22"/>
            <p:cNvSpPr/>
            <p:nvPr/>
          </p:nvSpPr>
          <p:spPr>
            <a:xfrm flipH="false" flipV="false" rot="0">
              <a:off x="0" y="0"/>
              <a:ext cx="9144000" cy="1499616"/>
            </a:xfrm>
            <a:custGeom>
              <a:avLst/>
              <a:gdLst/>
              <a:ahLst/>
              <a:cxnLst/>
              <a:rect r="r" b="b" t="t" l="l"/>
              <a:pathLst>
                <a:path h="1499616" w="9144000">
                  <a:moveTo>
                    <a:pt x="0" y="182880"/>
                  </a:moveTo>
                  <a:cubicBezTo>
                    <a:pt x="0" y="81915"/>
                    <a:pt x="81915" y="0"/>
                    <a:pt x="182880" y="0"/>
                  </a:cubicBezTo>
                  <a:lnTo>
                    <a:pt x="8961120" y="0"/>
                  </a:lnTo>
                  <a:cubicBezTo>
                    <a:pt x="9062085" y="0"/>
                    <a:pt x="9144000" y="81915"/>
                    <a:pt x="9144000" y="182880"/>
                  </a:cubicBezTo>
                  <a:lnTo>
                    <a:pt x="9144000" y="1316736"/>
                  </a:lnTo>
                  <a:cubicBezTo>
                    <a:pt x="9144000" y="1417701"/>
                    <a:pt x="9062085" y="1499616"/>
                    <a:pt x="8961120" y="1499616"/>
                  </a:cubicBezTo>
                  <a:lnTo>
                    <a:pt x="182880" y="1499616"/>
                  </a:lnTo>
                  <a:cubicBezTo>
                    <a:pt x="81915" y="1499616"/>
                    <a:pt x="0" y="1417701"/>
                    <a:pt x="0" y="1316736"/>
                  </a:cubicBezTo>
                  <a:close/>
                </a:path>
              </a:pathLst>
            </a:custGeom>
            <a:solidFill>
              <a:srgbClr val="FFFFFF"/>
            </a:solidFill>
          </p:spPr>
        </p:sp>
      </p:grpSp>
      <p:grpSp>
        <p:nvGrpSpPr>
          <p:cNvPr name="Group 23" id="23"/>
          <p:cNvGrpSpPr/>
          <p:nvPr/>
        </p:nvGrpSpPr>
        <p:grpSpPr>
          <a:xfrm rot="0">
            <a:off x="8772525" y="5212080"/>
            <a:ext cx="102870" cy="1124712"/>
            <a:chOff x="0" y="0"/>
            <a:chExt cx="137160" cy="1499616"/>
          </a:xfrm>
        </p:grpSpPr>
        <p:sp>
          <p:nvSpPr>
            <p:cNvPr name="Freeform 24" id="24"/>
            <p:cNvSpPr/>
            <p:nvPr/>
          </p:nvSpPr>
          <p:spPr>
            <a:xfrm flipH="false" flipV="false" rot="0">
              <a:off x="0" y="0"/>
              <a:ext cx="137160" cy="1499616"/>
            </a:xfrm>
            <a:custGeom>
              <a:avLst/>
              <a:gdLst/>
              <a:ahLst/>
              <a:cxnLst/>
              <a:rect r="r" b="b" t="t" l="l"/>
              <a:pathLst>
                <a:path h="1499616" w="137160">
                  <a:moveTo>
                    <a:pt x="0" y="0"/>
                  </a:moveTo>
                  <a:lnTo>
                    <a:pt x="137160" y="0"/>
                  </a:lnTo>
                  <a:lnTo>
                    <a:pt x="137160" y="1499616"/>
                  </a:lnTo>
                  <a:lnTo>
                    <a:pt x="0" y="1499616"/>
                  </a:lnTo>
                  <a:close/>
                </a:path>
              </a:pathLst>
            </a:custGeom>
            <a:solidFill>
              <a:srgbClr val="387F7F"/>
            </a:solidFill>
          </p:spPr>
        </p:sp>
      </p:grpSp>
      <p:grpSp>
        <p:nvGrpSpPr>
          <p:cNvPr name="Group 25" id="25"/>
          <p:cNvGrpSpPr/>
          <p:nvPr/>
        </p:nvGrpSpPr>
        <p:grpSpPr>
          <a:xfrm rot="0">
            <a:off x="9115425" y="5294376"/>
            <a:ext cx="6172200" cy="411480"/>
            <a:chOff x="0" y="0"/>
            <a:chExt cx="8229600" cy="548640"/>
          </a:xfrm>
        </p:grpSpPr>
        <p:sp>
          <p:nvSpPr>
            <p:cNvPr name="Freeform 26" id="26"/>
            <p:cNvSpPr/>
            <p:nvPr/>
          </p:nvSpPr>
          <p:spPr>
            <a:xfrm flipH="false" flipV="false" rot="0">
              <a:off x="0" y="0"/>
              <a:ext cx="8229600" cy="548640"/>
            </a:xfrm>
            <a:custGeom>
              <a:avLst/>
              <a:gdLst/>
              <a:ahLst/>
              <a:cxnLst/>
              <a:rect r="r" b="b" t="t" l="l"/>
              <a:pathLst>
                <a:path h="548640" w="8229600">
                  <a:moveTo>
                    <a:pt x="0" y="0"/>
                  </a:moveTo>
                  <a:lnTo>
                    <a:pt x="8229600" y="0"/>
                  </a:lnTo>
                  <a:lnTo>
                    <a:pt x="8229600" y="548640"/>
                  </a:lnTo>
                  <a:lnTo>
                    <a:pt x="0" y="548640"/>
                  </a:lnTo>
                  <a:close/>
                </a:path>
              </a:pathLst>
            </a:custGeom>
            <a:blipFill>
              <a:blip r:embed="rId9">
                <a:alphaModFix amt="0"/>
              </a:blip>
              <a:stretch>
                <a:fillRect l="0" t="-242275" r="0" b="-242275"/>
              </a:stretch>
            </a:blipFill>
          </p:spPr>
        </p:sp>
        <p:sp>
          <p:nvSpPr>
            <p:cNvPr name="TextBox 27" id="27"/>
            <p:cNvSpPr txBox="true"/>
            <p:nvPr/>
          </p:nvSpPr>
          <p:spPr>
            <a:xfrm>
              <a:off x="0" y="0"/>
              <a:ext cx="8229600" cy="548640"/>
            </a:xfrm>
            <a:prstGeom prst="rect">
              <a:avLst/>
            </a:prstGeom>
          </p:spPr>
          <p:txBody>
            <a:bodyPr anchor="ctr" rtlCol="false" tIns="0" lIns="0" bIns="0" rIns="0"/>
            <a:lstStyle/>
            <a:p>
              <a:pPr algn="l">
                <a:lnSpc>
                  <a:spcPts val="1800"/>
                </a:lnSpc>
              </a:pPr>
              <a:r>
                <a:rPr lang="en-US" sz="1500" b="true">
                  <a:solidFill>
                    <a:srgbClr val="387F7F"/>
                  </a:solidFill>
                  <a:latin typeface="Roboto Mono Bold"/>
                  <a:ea typeface="Roboto Mono Bold"/>
                  <a:cs typeface="Roboto Mono Bold"/>
                  <a:sym typeface="Roboto Mono Bold"/>
                </a:rPr>
                <a:t>CALCULATE</a:t>
              </a:r>
            </a:p>
          </p:txBody>
        </p:sp>
      </p:grpSp>
      <p:sp>
        <p:nvSpPr>
          <p:cNvPr name="TextBox 28" id="28"/>
          <p:cNvSpPr txBox="true"/>
          <p:nvPr/>
        </p:nvSpPr>
        <p:spPr>
          <a:xfrm rot="0">
            <a:off x="9115425" y="5667756"/>
            <a:ext cx="6240780" cy="614172"/>
          </a:xfrm>
          <a:prstGeom prst="rect">
            <a:avLst/>
          </a:prstGeom>
        </p:spPr>
        <p:txBody>
          <a:bodyPr anchor="t" rtlCol="false" tIns="0" lIns="0" bIns="0" rIns="0">
            <a:spAutoFit/>
          </a:bodyPr>
          <a:lstStyle/>
          <a:p>
            <a:pPr algn="l">
              <a:lnSpc>
                <a:spcPts val="2173"/>
              </a:lnSpc>
            </a:pPr>
            <a:r>
              <a:rPr lang="en-US" sz="1575">
                <a:solidFill>
                  <a:srgbClr val="475569"/>
                </a:solidFill>
                <a:latin typeface="Poppins"/>
                <a:ea typeface="Poppins"/>
                <a:cs typeface="Poppins"/>
                <a:sym typeface="Poppins"/>
              </a:rPr>
              <a:t>“Work out this number, but first change the filters.”</a:t>
            </a:r>
          </a:p>
        </p:txBody>
      </p:sp>
      <p:grpSp>
        <p:nvGrpSpPr>
          <p:cNvPr name="Group 29" id="29"/>
          <p:cNvGrpSpPr/>
          <p:nvPr/>
        </p:nvGrpSpPr>
        <p:grpSpPr>
          <a:xfrm rot="0">
            <a:off x="8772525" y="6446520"/>
            <a:ext cx="6858000" cy="1124712"/>
            <a:chOff x="0" y="0"/>
            <a:chExt cx="9144000" cy="1499616"/>
          </a:xfrm>
        </p:grpSpPr>
        <p:sp>
          <p:nvSpPr>
            <p:cNvPr name="Freeform 30" id="30"/>
            <p:cNvSpPr/>
            <p:nvPr/>
          </p:nvSpPr>
          <p:spPr>
            <a:xfrm flipH="false" flipV="false" rot="0">
              <a:off x="0" y="0"/>
              <a:ext cx="9144000" cy="1499616"/>
            </a:xfrm>
            <a:custGeom>
              <a:avLst/>
              <a:gdLst/>
              <a:ahLst/>
              <a:cxnLst/>
              <a:rect r="r" b="b" t="t" l="l"/>
              <a:pathLst>
                <a:path h="1499616" w="9144000">
                  <a:moveTo>
                    <a:pt x="0" y="182880"/>
                  </a:moveTo>
                  <a:cubicBezTo>
                    <a:pt x="0" y="81915"/>
                    <a:pt x="81915" y="0"/>
                    <a:pt x="182880" y="0"/>
                  </a:cubicBezTo>
                  <a:lnTo>
                    <a:pt x="8961120" y="0"/>
                  </a:lnTo>
                  <a:cubicBezTo>
                    <a:pt x="9062085" y="0"/>
                    <a:pt x="9144000" y="81915"/>
                    <a:pt x="9144000" y="182880"/>
                  </a:cubicBezTo>
                  <a:lnTo>
                    <a:pt x="9144000" y="1316736"/>
                  </a:lnTo>
                  <a:cubicBezTo>
                    <a:pt x="9144000" y="1417701"/>
                    <a:pt x="9062085" y="1499616"/>
                    <a:pt x="8961120" y="1499616"/>
                  </a:cubicBezTo>
                  <a:lnTo>
                    <a:pt x="182880" y="1499616"/>
                  </a:lnTo>
                  <a:cubicBezTo>
                    <a:pt x="81915" y="1499616"/>
                    <a:pt x="0" y="1417701"/>
                    <a:pt x="0" y="1316736"/>
                  </a:cubicBezTo>
                  <a:close/>
                </a:path>
              </a:pathLst>
            </a:custGeom>
            <a:solidFill>
              <a:srgbClr val="FFFFFF"/>
            </a:solidFill>
          </p:spPr>
        </p:sp>
      </p:grpSp>
      <p:grpSp>
        <p:nvGrpSpPr>
          <p:cNvPr name="Group 31" id="31"/>
          <p:cNvGrpSpPr/>
          <p:nvPr/>
        </p:nvGrpSpPr>
        <p:grpSpPr>
          <a:xfrm rot="0">
            <a:off x="8772525" y="6446520"/>
            <a:ext cx="102870" cy="1124712"/>
            <a:chOff x="0" y="0"/>
            <a:chExt cx="137160" cy="1499616"/>
          </a:xfrm>
        </p:grpSpPr>
        <p:sp>
          <p:nvSpPr>
            <p:cNvPr name="Freeform 32" id="32"/>
            <p:cNvSpPr/>
            <p:nvPr/>
          </p:nvSpPr>
          <p:spPr>
            <a:xfrm flipH="false" flipV="false" rot="0">
              <a:off x="0" y="0"/>
              <a:ext cx="137160" cy="1499616"/>
            </a:xfrm>
            <a:custGeom>
              <a:avLst/>
              <a:gdLst/>
              <a:ahLst/>
              <a:cxnLst/>
              <a:rect r="r" b="b" t="t" l="l"/>
              <a:pathLst>
                <a:path h="1499616" w="137160">
                  <a:moveTo>
                    <a:pt x="0" y="0"/>
                  </a:moveTo>
                  <a:lnTo>
                    <a:pt x="137160" y="0"/>
                  </a:lnTo>
                  <a:lnTo>
                    <a:pt x="137160" y="1499616"/>
                  </a:lnTo>
                  <a:lnTo>
                    <a:pt x="0" y="1499616"/>
                  </a:lnTo>
                  <a:close/>
                </a:path>
              </a:pathLst>
            </a:custGeom>
            <a:solidFill>
              <a:srgbClr val="387F7F"/>
            </a:solidFill>
          </p:spPr>
        </p:sp>
      </p:grpSp>
      <p:grpSp>
        <p:nvGrpSpPr>
          <p:cNvPr name="Group 33" id="33"/>
          <p:cNvGrpSpPr/>
          <p:nvPr/>
        </p:nvGrpSpPr>
        <p:grpSpPr>
          <a:xfrm rot="0">
            <a:off x="9115425" y="6528816"/>
            <a:ext cx="6172200" cy="411480"/>
            <a:chOff x="0" y="0"/>
            <a:chExt cx="8229600" cy="548640"/>
          </a:xfrm>
        </p:grpSpPr>
        <p:sp>
          <p:nvSpPr>
            <p:cNvPr name="Freeform 34" id="34"/>
            <p:cNvSpPr/>
            <p:nvPr/>
          </p:nvSpPr>
          <p:spPr>
            <a:xfrm flipH="false" flipV="false" rot="0">
              <a:off x="0" y="0"/>
              <a:ext cx="8229600" cy="548640"/>
            </a:xfrm>
            <a:custGeom>
              <a:avLst/>
              <a:gdLst/>
              <a:ahLst/>
              <a:cxnLst/>
              <a:rect r="r" b="b" t="t" l="l"/>
              <a:pathLst>
                <a:path h="548640" w="8229600">
                  <a:moveTo>
                    <a:pt x="0" y="0"/>
                  </a:moveTo>
                  <a:lnTo>
                    <a:pt x="8229600" y="0"/>
                  </a:lnTo>
                  <a:lnTo>
                    <a:pt x="8229600" y="548640"/>
                  </a:lnTo>
                  <a:lnTo>
                    <a:pt x="0" y="548640"/>
                  </a:lnTo>
                  <a:close/>
                </a:path>
              </a:pathLst>
            </a:custGeom>
            <a:blipFill>
              <a:blip r:embed="rId9">
                <a:alphaModFix amt="0"/>
              </a:blip>
              <a:stretch>
                <a:fillRect l="0" t="-242275" r="0" b="-242275"/>
              </a:stretch>
            </a:blipFill>
          </p:spPr>
        </p:sp>
        <p:sp>
          <p:nvSpPr>
            <p:cNvPr name="TextBox 35" id="35"/>
            <p:cNvSpPr txBox="true"/>
            <p:nvPr/>
          </p:nvSpPr>
          <p:spPr>
            <a:xfrm>
              <a:off x="0" y="0"/>
              <a:ext cx="8229600" cy="548640"/>
            </a:xfrm>
            <a:prstGeom prst="rect">
              <a:avLst/>
            </a:prstGeom>
          </p:spPr>
          <p:txBody>
            <a:bodyPr anchor="ctr" rtlCol="false" tIns="0" lIns="0" bIns="0" rIns="0"/>
            <a:lstStyle/>
            <a:p>
              <a:pPr algn="l">
                <a:lnSpc>
                  <a:spcPts val="1800"/>
                </a:lnSpc>
              </a:pPr>
              <a:r>
                <a:rPr lang="en-US" sz="1500" b="true">
                  <a:solidFill>
                    <a:srgbClr val="387F7F"/>
                  </a:solidFill>
                  <a:latin typeface="Roboto Mono Bold"/>
                  <a:ea typeface="Roboto Mono Bold"/>
                  <a:cs typeface="Roboto Mono Bold"/>
                  <a:sym typeface="Roboto Mono Bold"/>
                </a:rPr>
                <a:t>[Total Deliveries]</a:t>
              </a:r>
            </a:p>
          </p:txBody>
        </p:sp>
      </p:grpSp>
      <p:sp>
        <p:nvSpPr>
          <p:cNvPr name="TextBox 36" id="36"/>
          <p:cNvSpPr txBox="true"/>
          <p:nvPr/>
        </p:nvSpPr>
        <p:spPr>
          <a:xfrm rot="0">
            <a:off x="9115425" y="6902196"/>
            <a:ext cx="6240780" cy="614172"/>
          </a:xfrm>
          <a:prstGeom prst="rect">
            <a:avLst/>
          </a:prstGeom>
        </p:spPr>
        <p:txBody>
          <a:bodyPr anchor="t" rtlCol="false" tIns="0" lIns="0" bIns="0" rIns="0">
            <a:spAutoFit/>
          </a:bodyPr>
          <a:lstStyle/>
          <a:p>
            <a:pPr algn="l">
              <a:lnSpc>
                <a:spcPts val="2173"/>
              </a:lnSpc>
            </a:pPr>
            <a:r>
              <a:rPr lang="en-US" sz="1575">
                <a:solidFill>
                  <a:srgbClr val="475569"/>
                </a:solidFill>
                <a:latin typeface="Poppins"/>
                <a:ea typeface="Poppins"/>
                <a:cs typeface="Poppins"/>
                <a:sym typeface="Poppins"/>
              </a:rPr>
              <a:t>“The number is our delivery count.”</a:t>
            </a:r>
          </a:p>
        </p:txBody>
      </p:sp>
      <p:grpSp>
        <p:nvGrpSpPr>
          <p:cNvPr name="Group 37" id="37"/>
          <p:cNvGrpSpPr/>
          <p:nvPr/>
        </p:nvGrpSpPr>
        <p:grpSpPr>
          <a:xfrm rot="0">
            <a:off x="8772525" y="7680960"/>
            <a:ext cx="6858000" cy="1124712"/>
            <a:chOff x="0" y="0"/>
            <a:chExt cx="9144000" cy="1499616"/>
          </a:xfrm>
        </p:grpSpPr>
        <p:sp>
          <p:nvSpPr>
            <p:cNvPr name="Freeform 38" id="38"/>
            <p:cNvSpPr/>
            <p:nvPr/>
          </p:nvSpPr>
          <p:spPr>
            <a:xfrm flipH="false" flipV="false" rot="0">
              <a:off x="0" y="0"/>
              <a:ext cx="9144000" cy="1499616"/>
            </a:xfrm>
            <a:custGeom>
              <a:avLst/>
              <a:gdLst/>
              <a:ahLst/>
              <a:cxnLst/>
              <a:rect r="r" b="b" t="t" l="l"/>
              <a:pathLst>
                <a:path h="1499616" w="9144000">
                  <a:moveTo>
                    <a:pt x="0" y="182880"/>
                  </a:moveTo>
                  <a:cubicBezTo>
                    <a:pt x="0" y="81915"/>
                    <a:pt x="81915" y="0"/>
                    <a:pt x="182880" y="0"/>
                  </a:cubicBezTo>
                  <a:lnTo>
                    <a:pt x="8961120" y="0"/>
                  </a:lnTo>
                  <a:cubicBezTo>
                    <a:pt x="9062085" y="0"/>
                    <a:pt x="9144000" y="81915"/>
                    <a:pt x="9144000" y="182880"/>
                  </a:cubicBezTo>
                  <a:lnTo>
                    <a:pt x="9144000" y="1316736"/>
                  </a:lnTo>
                  <a:cubicBezTo>
                    <a:pt x="9144000" y="1417701"/>
                    <a:pt x="9062085" y="1499616"/>
                    <a:pt x="8961120" y="1499616"/>
                  </a:cubicBezTo>
                  <a:lnTo>
                    <a:pt x="182880" y="1499616"/>
                  </a:lnTo>
                  <a:cubicBezTo>
                    <a:pt x="81915" y="1499616"/>
                    <a:pt x="0" y="1417701"/>
                    <a:pt x="0" y="1316736"/>
                  </a:cubicBezTo>
                  <a:close/>
                </a:path>
              </a:pathLst>
            </a:custGeom>
            <a:solidFill>
              <a:srgbClr val="FFFFFF"/>
            </a:solidFill>
          </p:spPr>
        </p:sp>
      </p:grpSp>
      <p:grpSp>
        <p:nvGrpSpPr>
          <p:cNvPr name="Group 39" id="39"/>
          <p:cNvGrpSpPr/>
          <p:nvPr/>
        </p:nvGrpSpPr>
        <p:grpSpPr>
          <a:xfrm rot="0">
            <a:off x="8772525" y="7680960"/>
            <a:ext cx="102870" cy="1124712"/>
            <a:chOff x="0" y="0"/>
            <a:chExt cx="137160" cy="1499616"/>
          </a:xfrm>
        </p:grpSpPr>
        <p:sp>
          <p:nvSpPr>
            <p:cNvPr name="Freeform 40" id="40"/>
            <p:cNvSpPr/>
            <p:nvPr/>
          </p:nvSpPr>
          <p:spPr>
            <a:xfrm flipH="false" flipV="false" rot="0">
              <a:off x="0" y="0"/>
              <a:ext cx="137160" cy="1499616"/>
            </a:xfrm>
            <a:custGeom>
              <a:avLst/>
              <a:gdLst/>
              <a:ahLst/>
              <a:cxnLst/>
              <a:rect r="r" b="b" t="t" l="l"/>
              <a:pathLst>
                <a:path h="1499616" w="137160">
                  <a:moveTo>
                    <a:pt x="0" y="0"/>
                  </a:moveTo>
                  <a:lnTo>
                    <a:pt x="137160" y="0"/>
                  </a:lnTo>
                  <a:lnTo>
                    <a:pt x="137160" y="1499616"/>
                  </a:lnTo>
                  <a:lnTo>
                    <a:pt x="0" y="1499616"/>
                  </a:lnTo>
                  <a:close/>
                </a:path>
              </a:pathLst>
            </a:custGeom>
            <a:solidFill>
              <a:srgbClr val="387F7F"/>
            </a:solidFill>
          </p:spPr>
        </p:sp>
      </p:grpSp>
      <p:grpSp>
        <p:nvGrpSpPr>
          <p:cNvPr name="Group 41" id="41"/>
          <p:cNvGrpSpPr/>
          <p:nvPr/>
        </p:nvGrpSpPr>
        <p:grpSpPr>
          <a:xfrm rot="0">
            <a:off x="9115425" y="7763256"/>
            <a:ext cx="6172200" cy="411480"/>
            <a:chOff x="0" y="0"/>
            <a:chExt cx="8229600" cy="548640"/>
          </a:xfrm>
        </p:grpSpPr>
        <p:sp>
          <p:nvSpPr>
            <p:cNvPr name="Freeform 42" id="42"/>
            <p:cNvSpPr/>
            <p:nvPr/>
          </p:nvSpPr>
          <p:spPr>
            <a:xfrm flipH="false" flipV="false" rot="0">
              <a:off x="0" y="0"/>
              <a:ext cx="8229600" cy="548640"/>
            </a:xfrm>
            <a:custGeom>
              <a:avLst/>
              <a:gdLst/>
              <a:ahLst/>
              <a:cxnLst/>
              <a:rect r="r" b="b" t="t" l="l"/>
              <a:pathLst>
                <a:path h="548640" w="8229600">
                  <a:moveTo>
                    <a:pt x="0" y="0"/>
                  </a:moveTo>
                  <a:lnTo>
                    <a:pt x="8229600" y="0"/>
                  </a:lnTo>
                  <a:lnTo>
                    <a:pt x="8229600" y="548640"/>
                  </a:lnTo>
                  <a:lnTo>
                    <a:pt x="0" y="548640"/>
                  </a:lnTo>
                  <a:close/>
                </a:path>
              </a:pathLst>
            </a:custGeom>
            <a:blipFill>
              <a:blip r:embed="rId9">
                <a:alphaModFix amt="0"/>
              </a:blip>
              <a:stretch>
                <a:fillRect l="0" t="-242275" r="0" b="-242275"/>
              </a:stretch>
            </a:blipFill>
          </p:spPr>
        </p:sp>
        <p:sp>
          <p:nvSpPr>
            <p:cNvPr name="TextBox 43" id="43"/>
            <p:cNvSpPr txBox="true"/>
            <p:nvPr/>
          </p:nvSpPr>
          <p:spPr>
            <a:xfrm>
              <a:off x="0" y="0"/>
              <a:ext cx="8229600" cy="548640"/>
            </a:xfrm>
            <a:prstGeom prst="rect">
              <a:avLst/>
            </a:prstGeom>
          </p:spPr>
          <p:txBody>
            <a:bodyPr anchor="ctr" rtlCol="false" tIns="0" lIns="0" bIns="0" rIns="0"/>
            <a:lstStyle/>
            <a:p>
              <a:pPr algn="l">
                <a:lnSpc>
                  <a:spcPts val="1800"/>
                </a:lnSpc>
              </a:pPr>
              <a:r>
                <a:rPr lang="en-US" sz="1500" b="true">
                  <a:solidFill>
                    <a:srgbClr val="387F7F"/>
                  </a:solidFill>
                  <a:latin typeface="Roboto Mono Bold"/>
                  <a:ea typeface="Roboto Mono Bold"/>
                  <a:cs typeface="Roboto Mono Bold"/>
                  <a:sym typeface="Roboto Mono Bold"/>
                </a:rPr>
                <a:t>Status = “On time”</a:t>
              </a:r>
            </a:p>
          </p:txBody>
        </p:sp>
      </p:grpSp>
      <p:grpSp>
        <p:nvGrpSpPr>
          <p:cNvPr name="Group 44" id="44"/>
          <p:cNvGrpSpPr/>
          <p:nvPr/>
        </p:nvGrpSpPr>
        <p:grpSpPr>
          <a:xfrm rot="0">
            <a:off x="885825" y="7749540"/>
            <a:ext cx="14744700" cy="1371600"/>
            <a:chOff x="0" y="0"/>
            <a:chExt cx="19659600" cy="1828800"/>
          </a:xfrm>
        </p:grpSpPr>
        <p:sp>
          <p:nvSpPr>
            <p:cNvPr name="Freeform 45" id="45"/>
            <p:cNvSpPr/>
            <p:nvPr/>
          </p:nvSpPr>
          <p:spPr>
            <a:xfrm flipH="false" flipV="false" rot="0">
              <a:off x="0" y="0"/>
              <a:ext cx="19659600" cy="1828800"/>
            </a:xfrm>
            <a:custGeom>
              <a:avLst/>
              <a:gdLst/>
              <a:ahLst/>
              <a:cxnLst/>
              <a:rect r="r" b="b" t="t" l="l"/>
              <a:pathLst>
                <a:path h="1828800" w="19659600">
                  <a:moveTo>
                    <a:pt x="0" y="164592"/>
                  </a:moveTo>
                  <a:cubicBezTo>
                    <a:pt x="0" y="73660"/>
                    <a:pt x="73660" y="0"/>
                    <a:pt x="164592" y="0"/>
                  </a:cubicBezTo>
                  <a:lnTo>
                    <a:pt x="19495008" y="0"/>
                  </a:lnTo>
                  <a:cubicBezTo>
                    <a:pt x="19585939" y="0"/>
                    <a:pt x="19659600" y="73660"/>
                    <a:pt x="19659600" y="164592"/>
                  </a:cubicBezTo>
                  <a:lnTo>
                    <a:pt x="19659600" y="1664208"/>
                  </a:lnTo>
                  <a:cubicBezTo>
                    <a:pt x="19659600" y="1755140"/>
                    <a:pt x="19585939" y="1828800"/>
                    <a:pt x="19495008" y="1828800"/>
                  </a:cubicBezTo>
                  <a:lnTo>
                    <a:pt x="164592" y="1828800"/>
                  </a:lnTo>
                  <a:cubicBezTo>
                    <a:pt x="73660" y="1828800"/>
                    <a:pt x="0" y="1755140"/>
                    <a:pt x="0" y="1664208"/>
                  </a:cubicBezTo>
                  <a:close/>
                </a:path>
              </a:pathLst>
            </a:custGeom>
            <a:solidFill>
              <a:srgbClr val="EEF4F4"/>
            </a:solidFill>
          </p:spPr>
        </p:sp>
      </p:grpSp>
      <p:grpSp>
        <p:nvGrpSpPr>
          <p:cNvPr name="Group 46" id="46"/>
          <p:cNvGrpSpPr/>
          <p:nvPr/>
        </p:nvGrpSpPr>
        <p:grpSpPr>
          <a:xfrm rot="0">
            <a:off x="885825" y="7749540"/>
            <a:ext cx="102870" cy="1371600"/>
            <a:chOff x="0" y="0"/>
            <a:chExt cx="137160" cy="1828800"/>
          </a:xfrm>
        </p:grpSpPr>
        <p:sp>
          <p:nvSpPr>
            <p:cNvPr name="Freeform 47" id="47"/>
            <p:cNvSpPr/>
            <p:nvPr/>
          </p:nvSpPr>
          <p:spPr>
            <a:xfrm flipH="false" flipV="false" rot="0">
              <a:off x="0" y="0"/>
              <a:ext cx="137160" cy="1828800"/>
            </a:xfrm>
            <a:custGeom>
              <a:avLst/>
              <a:gdLst/>
              <a:ahLst/>
              <a:cxnLst/>
              <a:rect r="r" b="b" t="t" l="l"/>
              <a:pathLst>
                <a:path h="1828800" w="137160">
                  <a:moveTo>
                    <a:pt x="0" y="0"/>
                  </a:moveTo>
                  <a:lnTo>
                    <a:pt x="137160" y="0"/>
                  </a:lnTo>
                  <a:lnTo>
                    <a:pt x="137160" y="1828800"/>
                  </a:lnTo>
                  <a:lnTo>
                    <a:pt x="0" y="1828800"/>
                  </a:lnTo>
                  <a:close/>
                </a:path>
              </a:pathLst>
            </a:custGeom>
            <a:solidFill>
              <a:srgbClr val="387F7F"/>
            </a:solidFill>
          </p:spPr>
        </p:sp>
      </p:grpSp>
      <p:grpSp>
        <p:nvGrpSpPr>
          <p:cNvPr name="Group 48" id="48"/>
          <p:cNvGrpSpPr/>
          <p:nvPr/>
        </p:nvGrpSpPr>
        <p:grpSpPr>
          <a:xfrm rot="0">
            <a:off x="1434465" y="7749540"/>
            <a:ext cx="13853160" cy="1371600"/>
            <a:chOff x="0" y="0"/>
            <a:chExt cx="18470880" cy="1828800"/>
          </a:xfrm>
        </p:grpSpPr>
        <p:sp>
          <p:nvSpPr>
            <p:cNvPr name="Freeform 49" id="49"/>
            <p:cNvSpPr/>
            <p:nvPr/>
          </p:nvSpPr>
          <p:spPr>
            <a:xfrm flipH="false" flipV="false" rot="0">
              <a:off x="0" y="0"/>
              <a:ext cx="18470880" cy="1828800"/>
            </a:xfrm>
            <a:custGeom>
              <a:avLst/>
              <a:gdLst/>
              <a:ahLst/>
              <a:cxnLst/>
              <a:rect r="r" b="b" t="t" l="l"/>
              <a:pathLst>
                <a:path h="1828800" w="18470880">
                  <a:moveTo>
                    <a:pt x="0" y="0"/>
                  </a:moveTo>
                  <a:lnTo>
                    <a:pt x="18470880" y="0"/>
                  </a:lnTo>
                  <a:lnTo>
                    <a:pt x="18470880" y="1828800"/>
                  </a:lnTo>
                  <a:lnTo>
                    <a:pt x="0" y="1828800"/>
                  </a:lnTo>
                  <a:close/>
                </a:path>
              </a:pathLst>
            </a:custGeom>
            <a:blipFill>
              <a:blip r:embed="rId9">
                <a:alphaModFix amt="0"/>
              </a:blip>
              <a:stretch>
                <a:fillRect l="0" t="-146798" r="0" b="-146798"/>
              </a:stretch>
            </a:blipFill>
          </p:spPr>
        </p:sp>
        <p:sp>
          <p:nvSpPr>
            <p:cNvPr name="TextBox 50" id="50"/>
            <p:cNvSpPr txBox="true"/>
            <p:nvPr/>
          </p:nvSpPr>
          <p:spPr>
            <a:xfrm>
              <a:off x="0" y="-104775"/>
              <a:ext cx="18470880" cy="1933575"/>
            </a:xfrm>
            <a:prstGeom prst="rect">
              <a:avLst/>
            </a:prstGeom>
          </p:spPr>
          <p:txBody>
            <a:bodyPr anchor="ctr" rtlCol="false" tIns="0" lIns="0" bIns="0" rIns="0"/>
            <a:lstStyle/>
            <a:p>
              <a:pPr algn="l">
                <a:lnSpc>
                  <a:spcPts val="3766"/>
                </a:lnSpc>
              </a:pPr>
              <a:r>
                <a:rPr lang="en-US" sz="2325" b="true">
                  <a:solidFill>
                    <a:srgbClr val="387F7F"/>
                  </a:solidFill>
                  <a:latin typeface="Poppins Bold"/>
                  <a:ea typeface="Poppins Bold"/>
                  <a:cs typeface="Poppins Bold"/>
                  <a:sym typeface="Poppins Bold"/>
                </a:rPr>
                <a:t>If you cannot read a measure aloud in plain English, you cannot verify it, and you should not ship it.</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4179650"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Measure thr</a:t>
            </a:r>
            <a:r>
              <a:rPr lang="en-US" sz="5000">
                <a:solidFill>
                  <a:srgbClr val="388080"/>
                </a:solidFill>
                <a:latin typeface="Poppins"/>
                <a:ea typeface="Poppins"/>
                <a:cs typeface="Poppins"/>
                <a:sym typeface="Poppins"/>
              </a:rPr>
              <a:t>ee: compare this month with last</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1028700" y="2674620"/>
            <a:ext cx="9052560" cy="2057400"/>
            <a:chOff x="0" y="0"/>
            <a:chExt cx="12070080" cy="2743200"/>
          </a:xfrm>
        </p:grpSpPr>
        <p:sp>
          <p:nvSpPr>
            <p:cNvPr name="Freeform 12" id="12"/>
            <p:cNvSpPr/>
            <p:nvPr/>
          </p:nvSpPr>
          <p:spPr>
            <a:xfrm flipH="false" flipV="false" rot="0">
              <a:off x="0" y="0"/>
              <a:ext cx="12070080" cy="2743200"/>
            </a:xfrm>
            <a:custGeom>
              <a:avLst/>
              <a:gdLst/>
              <a:ahLst/>
              <a:cxnLst/>
              <a:rect r="r" b="b" t="t" l="l"/>
              <a:pathLst>
                <a:path h="2743200" w="12070080">
                  <a:moveTo>
                    <a:pt x="0" y="164592"/>
                  </a:moveTo>
                  <a:cubicBezTo>
                    <a:pt x="0" y="73660"/>
                    <a:pt x="73660" y="0"/>
                    <a:pt x="164592" y="0"/>
                  </a:cubicBezTo>
                  <a:lnTo>
                    <a:pt x="11905488" y="0"/>
                  </a:lnTo>
                  <a:cubicBezTo>
                    <a:pt x="11996420" y="0"/>
                    <a:pt x="12070080" y="73660"/>
                    <a:pt x="12070080" y="164592"/>
                  </a:cubicBezTo>
                  <a:lnTo>
                    <a:pt x="12070080" y="2578608"/>
                  </a:lnTo>
                  <a:cubicBezTo>
                    <a:pt x="12070080" y="2669540"/>
                    <a:pt x="11996420" y="2743200"/>
                    <a:pt x="11905488" y="2743200"/>
                  </a:cubicBezTo>
                  <a:lnTo>
                    <a:pt x="164592" y="2743200"/>
                  </a:lnTo>
                  <a:cubicBezTo>
                    <a:pt x="73660" y="2743200"/>
                    <a:pt x="0" y="2669540"/>
                    <a:pt x="0" y="2578608"/>
                  </a:cubicBezTo>
                  <a:close/>
                </a:path>
              </a:pathLst>
            </a:custGeom>
            <a:solidFill>
              <a:srgbClr val="10312F"/>
            </a:solidFill>
          </p:spPr>
        </p:sp>
      </p:grpSp>
      <p:grpSp>
        <p:nvGrpSpPr>
          <p:cNvPr name="Group 13" id="13"/>
          <p:cNvGrpSpPr/>
          <p:nvPr/>
        </p:nvGrpSpPr>
        <p:grpSpPr>
          <a:xfrm rot="0">
            <a:off x="1330452" y="2468880"/>
            <a:ext cx="2537460" cy="438912"/>
            <a:chOff x="0" y="0"/>
            <a:chExt cx="3383280" cy="585216"/>
          </a:xfrm>
        </p:grpSpPr>
        <p:sp>
          <p:nvSpPr>
            <p:cNvPr name="Freeform 14" id="14"/>
            <p:cNvSpPr/>
            <p:nvPr/>
          </p:nvSpPr>
          <p:spPr>
            <a:xfrm flipH="false" flipV="false" rot="0">
              <a:off x="0" y="0"/>
              <a:ext cx="3383280" cy="585216"/>
            </a:xfrm>
            <a:custGeom>
              <a:avLst/>
              <a:gdLst/>
              <a:ahLst/>
              <a:cxnLst/>
              <a:rect r="r" b="b" t="t" l="l"/>
              <a:pathLst>
                <a:path h="585216" w="3383280">
                  <a:moveTo>
                    <a:pt x="0" y="292608"/>
                  </a:moveTo>
                  <a:cubicBezTo>
                    <a:pt x="0" y="131064"/>
                    <a:pt x="131064" y="0"/>
                    <a:pt x="292608" y="0"/>
                  </a:cubicBezTo>
                  <a:lnTo>
                    <a:pt x="3090672" y="0"/>
                  </a:lnTo>
                  <a:cubicBezTo>
                    <a:pt x="3252216" y="0"/>
                    <a:pt x="3383280" y="131064"/>
                    <a:pt x="3383280" y="292608"/>
                  </a:cubicBezTo>
                  <a:cubicBezTo>
                    <a:pt x="3383280" y="454152"/>
                    <a:pt x="3252216" y="585216"/>
                    <a:pt x="3090672" y="585216"/>
                  </a:cubicBezTo>
                  <a:lnTo>
                    <a:pt x="292608" y="585216"/>
                  </a:lnTo>
                  <a:cubicBezTo>
                    <a:pt x="131064" y="585216"/>
                    <a:pt x="0" y="454152"/>
                    <a:pt x="0" y="292608"/>
                  </a:cubicBezTo>
                  <a:close/>
                </a:path>
              </a:pathLst>
            </a:custGeom>
            <a:solidFill>
              <a:srgbClr val="387F7F"/>
            </a:solidFill>
          </p:spPr>
        </p:sp>
      </p:grpSp>
      <p:grpSp>
        <p:nvGrpSpPr>
          <p:cNvPr name="Group 15" id="15"/>
          <p:cNvGrpSpPr/>
          <p:nvPr/>
        </p:nvGrpSpPr>
        <p:grpSpPr>
          <a:xfrm rot="0">
            <a:off x="1330452" y="2468880"/>
            <a:ext cx="2537460" cy="438912"/>
            <a:chOff x="0" y="0"/>
            <a:chExt cx="3383280" cy="585216"/>
          </a:xfrm>
        </p:grpSpPr>
        <p:sp>
          <p:nvSpPr>
            <p:cNvPr name="Freeform 16" id="16"/>
            <p:cNvSpPr/>
            <p:nvPr/>
          </p:nvSpPr>
          <p:spPr>
            <a:xfrm flipH="false" flipV="false" rot="0">
              <a:off x="0" y="0"/>
              <a:ext cx="3383280" cy="585216"/>
            </a:xfrm>
            <a:custGeom>
              <a:avLst/>
              <a:gdLst/>
              <a:ahLst/>
              <a:cxnLst/>
              <a:rect r="r" b="b" t="t" l="l"/>
              <a:pathLst>
                <a:path h="585216" w="3383280">
                  <a:moveTo>
                    <a:pt x="0" y="0"/>
                  </a:moveTo>
                  <a:lnTo>
                    <a:pt x="3383280" y="0"/>
                  </a:lnTo>
                  <a:lnTo>
                    <a:pt x="3383280" y="585216"/>
                  </a:lnTo>
                  <a:lnTo>
                    <a:pt x="0" y="585216"/>
                  </a:lnTo>
                  <a:close/>
                </a:path>
              </a:pathLst>
            </a:custGeom>
            <a:blipFill>
              <a:blip r:embed="rId9">
                <a:alphaModFix amt="0"/>
              </a:blip>
              <a:stretch>
                <a:fillRect l="0" t="-62647" r="0" b="-62647"/>
              </a:stretch>
            </a:blipFill>
          </p:spPr>
        </p:sp>
        <p:sp>
          <p:nvSpPr>
            <p:cNvPr name="TextBox 17" id="17"/>
            <p:cNvSpPr txBox="true"/>
            <p:nvPr/>
          </p:nvSpPr>
          <p:spPr>
            <a:xfrm>
              <a:off x="0" y="-19050"/>
              <a:ext cx="338328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SHIFT THE DATES</a:t>
              </a:r>
            </a:p>
          </p:txBody>
        </p:sp>
      </p:grpSp>
      <p:grpSp>
        <p:nvGrpSpPr>
          <p:cNvPr name="Group 18" id="18"/>
          <p:cNvGrpSpPr/>
          <p:nvPr/>
        </p:nvGrpSpPr>
        <p:grpSpPr>
          <a:xfrm rot="0">
            <a:off x="1440180" y="3086100"/>
            <a:ext cx="8229600" cy="1371600"/>
            <a:chOff x="0" y="0"/>
            <a:chExt cx="10972800" cy="1828800"/>
          </a:xfrm>
        </p:grpSpPr>
        <p:sp>
          <p:nvSpPr>
            <p:cNvPr name="Freeform 19" id="19"/>
            <p:cNvSpPr/>
            <p:nvPr/>
          </p:nvSpPr>
          <p:spPr>
            <a:xfrm flipH="false" flipV="false" rot="0">
              <a:off x="0" y="0"/>
              <a:ext cx="10972800" cy="1828800"/>
            </a:xfrm>
            <a:custGeom>
              <a:avLst/>
              <a:gdLst/>
              <a:ahLst/>
              <a:cxnLst/>
              <a:rect r="r" b="b" t="t" l="l"/>
              <a:pathLst>
                <a:path h="1828800" w="10972800">
                  <a:moveTo>
                    <a:pt x="0" y="0"/>
                  </a:moveTo>
                  <a:lnTo>
                    <a:pt x="10972800" y="0"/>
                  </a:lnTo>
                  <a:lnTo>
                    <a:pt x="10972800" y="1828800"/>
                  </a:lnTo>
                  <a:lnTo>
                    <a:pt x="0" y="1828800"/>
                  </a:lnTo>
                  <a:close/>
                </a:path>
              </a:pathLst>
            </a:custGeom>
            <a:blipFill>
              <a:blip r:embed="rId9">
                <a:alphaModFix amt="0"/>
              </a:blip>
              <a:stretch>
                <a:fillRect l="0" t="-66910" r="0" b="-66910"/>
              </a:stretch>
            </a:blipFill>
          </p:spPr>
        </p:sp>
        <p:sp>
          <p:nvSpPr>
            <p:cNvPr name="TextBox 20" id="20"/>
            <p:cNvSpPr txBox="true"/>
            <p:nvPr/>
          </p:nvSpPr>
          <p:spPr>
            <a:xfrm>
              <a:off x="0" y="-47625"/>
              <a:ext cx="10972800" cy="1876425"/>
            </a:xfrm>
            <a:prstGeom prst="rect">
              <a:avLst/>
            </a:prstGeom>
          </p:spPr>
          <p:txBody>
            <a:bodyPr anchor="ctr" rtlCol="false" tIns="0" lIns="0" bIns="0" rIns="0"/>
            <a:lstStyle/>
            <a:p>
              <a:pPr algn="l">
                <a:lnSpc>
                  <a:spcPts val="2587"/>
                </a:lnSpc>
              </a:pPr>
              <a:r>
                <a:rPr lang="en-US" sz="1725">
                  <a:solidFill>
                    <a:srgbClr val="CFE6E3"/>
                  </a:solidFill>
                  <a:latin typeface="Roboto Mono"/>
                  <a:ea typeface="Roboto Mono"/>
                  <a:cs typeface="Roboto Mono"/>
                  <a:sym typeface="Roboto Mono"/>
                </a:rPr>
                <a:t>Deliveries Previous Month =</a:t>
              </a:r>
            </a:p>
            <a:p>
              <a:pPr algn="l">
                <a:lnSpc>
                  <a:spcPts val="2587"/>
                </a:lnSpc>
              </a:pPr>
              <a:r>
                <a:rPr lang="en-US" sz="1725">
                  <a:solidFill>
                    <a:srgbClr val="CFE6E3"/>
                  </a:solidFill>
                  <a:latin typeface="Roboto Mono"/>
                  <a:ea typeface="Roboto Mono"/>
                  <a:cs typeface="Roboto Mono"/>
                  <a:sym typeface="Roboto Mono"/>
                </a:rPr>
                <a:t>  CALCULATE (</a:t>
              </a:r>
            </a:p>
            <a:p>
              <a:pPr algn="l">
                <a:lnSpc>
                  <a:spcPts val="2587"/>
                </a:lnSpc>
              </a:pPr>
              <a:r>
                <a:rPr lang="en-US" sz="1725">
                  <a:solidFill>
                    <a:srgbClr val="CFE6E3"/>
                  </a:solidFill>
                  <a:latin typeface="Roboto Mono"/>
                  <a:ea typeface="Roboto Mono"/>
                  <a:cs typeface="Roboto Mono"/>
                  <a:sym typeface="Roboto Mono"/>
                </a:rPr>
                <a:t>    [Total Deliveries],</a:t>
              </a:r>
            </a:p>
            <a:p>
              <a:pPr algn="l">
                <a:lnSpc>
                  <a:spcPts val="2587"/>
                </a:lnSpc>
              </a:pPr>
              <a:r>
                <a:rPr lang="en-US" sz="1725">
                  <a:solidFill>
                    <a:srgbClr val="CFE6E3"/>
                  </a:solidFill>
                  <a:latin typeface="Roboto Mono"/>
                  <a:ea typeface="Roboto Mono"/>
                  <a:cs typeface="Roboto Mono"/>
                  <a:sym typeface="Roboto Mono"/>
                </a:rPr>
                <a:t>    DATEADD ( dates[DateKey], -1, MONTH )</a:t>
              </a:r>
            </a:p>
            <a:p>
              <a:pPr algn="l">
                <a:lnSpc>
                  <a:spcPts val="2587"/>
                </a:lnSpc>
              </a:pPr>
              <a:r>
                <a:rPr lang="en-US" sz="1725">
                  <a:solidFill>
                    <a:srgbClr val="CFE6E3"/>
                  </a:solidFill>
                  <a:latin typeface="Roboto Mono"/>
                  <a:ea typeface="Roboto Mono"/>
                  <a:cs typeface="Roboto Mono"/>
                  <a:sym typeface="Roboto Mono"/>
                </a:rPr>
                <a:t>  )</a:t>
              </a:r>
            </a:p>
          </p:txBody>
        </p:sp>
      </p:grpSp>
      <p:grpSp>
        <p:nvGrpSpPr>
          <p:cNvPr name="Group 21" id="21"/>
          <p:cNvGrpSpPr/>
          <p:nvPr/>
        </p:nvGrpSpPr>
        <p:grpSpPr>
          <a:xfrm rot="0">
            <a:off x="1028700" y="5143500"/>
            <a:ext cx="9052560" cy="1851660"/>
            <a:chOff x="0" y="0"/>
            <a:chExt cx="12070080" cy="2468880"/>
          </a:xfrm>
        </p:grpSpPr>
        <p:sp>
          <p:nvSpPr>
            <p:cNvPr name="Freeform 22" id="22"/>
            <p:cNvSpPr/>
            <p:nvPr/>
          </p:nvSpPr>
          <p:spPr>
            <a:xfrm flipH="false" flipV="false" rot="0">
              <a:off x="0" y="0"/>
              <a:ext cx="12070080" cy="2468880"/>
            </a:xfrm>
            <a:custGeom>
              <a:avLst/>
              <a:gdLst/>
              <a:ahLst/>
              <a:cxnLst/>
              <a:rect r="r" b="b" t="t" l="l"/>
              <a:pathLst>
                <a:path h="2468880" w="12070080">
                  <a:moveTo>
                    <a:pt x="0" y="164592"/>
                  </a:moveTo>
                  <a:cubicBezTo>
                    <a:pt x="0" y="73660"/>
                    <a:pt x="73660" y="0"/>
                    <a:pt x="164592" y="0"/>
                  </a:cubicBezTo>
                  <a:lnTo>
                    <a:pt x="11905488" y="0"/>
                  </a:lnTo>
                  <a:cubicBezTo>
                    <a:pt x="11996420" y="0"/>
                    <a:pt x="12070080" y="73660"/>
                    <a:pt x="12070080" y="164592"/>
                  </a:cubicBezTo>
                  <a:lnTo>
                    <a:pt x="12070080" y="2304288"/>
                  </a:lnTo>
                  <a:cubicBezTo>
                    <a:pt x="12070080" y="2395220"/>
                    <a:pt x="11996420" y="2468880"/>
                    <a:pt x="11905488" y="2468880"/>
                  </a:cubicBezTo>
                  <a:lnTo>
                    <a:pt x="164592" y="2468880"/>
                  </a:lnTo>
                  <a:cubicBezTo>
                    <a:pt x="73660" y="2468880"/>
                    <a:pt x="0" y="2395220"/>
                    <a:pt x="0" y="2304288"/>
                  </a:cubicBezTo>
                  <a:close/>
                </a:path>
              </a:pathLst>
            </a:custGeom>
            <a:solidFill>
              <a:srgbClr val="10312F"/>
            </a:solidFill>
          </p:spPr>
        </p:sp>
      </p:grpSp>
      <p:grpSp>
        <p:nvGrpSpPr>
          <p:cNvPr name="Group 23" id="23"/>
          <p:cNvGrpSpPr/>
          <p:nvPr/>
        </p:nvGrpSpPr>
        <p:grpSpPr>
          <a:xfrm rot="0">
            <a:off x="1330452" y="4937760"/>
            <a:ext cx="1783080" cy="438912"/>
            <a:chOff x="0" y="0"/>
            <a:chExt cx="2377440" cy="585216"/>
          </a:xfrm>
        </p:grpSpPr>
        <p:sp>
          <p:nvSpPr>
            <p:cNvPr name="Freeform 24" id="24"/>
            <p:cNvSpPr/>
            <p:nvPr/>
          </p:nvSpPr>
          <p:spPr>
            <a:xfrm flipH="false" flipV="false" rot="0">
              <a:off x="0" y="0"/>
              <a:ext cx="2377440" cy="585216"/>
            </a:xfrm>
            <a:custGeom>
              <a:avLst/>
              <a:gdLst/>
              <a:ahLst/>
              <a:cxnLst/>
              <a:rect r="r" b="b" t="t" l="l"/>
              <a:pathLst>
                <a:path h="585216" w="2377440">
                  <a:moveTo>
                    <a:pt x="0" y="292608"/>
                  </a:moveTo>
                  <a:cubicBezTo>
                    <a:pt x="0" y="131064"/>
                    <a:pt x="131064" y="0"/>
                    <a:pt x="292608" y="0"/>
                  </a:cubicBezTo>
                  <a:lnTo>
                    <a:pt x="2084832" y="0"/>
                  </a:lnTo>
                  <a:cubicBezTo>
                    <a:pt x="2246376" y="0"/>
                    <a:pt x="2377440" y="131064"/>
                    <a:pt x="2377440" y="292608"/>
                  </a:cubicBezTo>
                  <a:cubicBezTo>
                    <a:pt x="2377440" y="454152"/>
                    <a:pt x="2246376" y="585216"/>
                    <a:pt x="2084832" y="585216"/>
                  </a:cubicBezTo>
                  <a:lnTo>
                    <a:pt x="292608" y="585216"/>
                  </a:lnTo>
                  <a:cubicBezTo>
                    <a:pt x="131064" y="585216"/>
                    <a:pt x="0" y="454152"/>
                    <a:pt x="0" y="292608"/>
                  </a:cubicBezTo>
                  <a:close/>
                </a:path>
              </a:pathLst>
            </a:custGeom>
            <a:solidFill>
              <a:srgbClr val="387F7F"/>
            </a:solidFill>
          </p:spPr>
        </p:sp>
      </p:grpSp>
      <p:grpSp>
        <p:nvGrpSpPr>
          <p:cNvPr name="Group 25" id="25"/>
          <p:cNvGrpSpPr/>
          <p:nvPr/>
        </p:nvGrpSpPr>
        <p:grpSpPr>
          <a:xfrm rot="0">
            <a:off x="1330452" y="4937760"/>
            <a:ext cx="1783080" cy="438912"/>
            <a:chOff x="0" y="0"/>
            <a:chExt cx="2377440" cy="585216"/>
          </a:xfrm>
        </p:grpSpPr>
        <p:sp>
          <p:nvSpPr>
            <p:cNvPr name="Freeform 26" id="26"/>
            <p:cNvSpPr/>
            <p:nvPr/>
          </p:nvSpPr>
          <p:spPr>
            <a:xfrm flipH="false" flipV="false" rot="0">
              <a:off x="0" y="0"/>
              <a:ext cx="2377440" cy="585216"/>
            </a:xfrm>
            <a:custGeom>
              <a:avLst/>
              <a:gdLst/>
              <a:ahLst/>
              <a:cxnLst/>
              <a:rect r="r" b="b" t="t" l="l"/>
              <a:pathLst>
                <a:path h="585216" w="2377440">
                  <a:moveTo>
                    <a:pt x="0" y="0"/>
                  </a:moveTo>
                  <a:lnTo>
                    <a:pt x="2377440" y="0"/>
                  </a:lnTo>
                  <a:lnTo>
                    <a:pt x="2377440" y="585216"/>
                  </a:lnTo>
                  <a:lnTo>
                    <a:pt x="0" y="585216"/>
                  </a:lnTo>
                  <a:close/>
                </a:path>
              </a:pathLst>
            </a:custGeom>
            <a:blipFill>
              <a:blip r:embed="rId9">
                <a:alphaModFix amt="0"/>
              </a:blip>
              <a:stretch>
                <a:fillRect l="0" t="-29157" r="0" b="-29157"/>
              </a:stretch>
            </a:blipFill>
          </p:spPr>
        </p:sp>
        <p:sp>
          <p:nvSpPr>
            <p:cNvPr name="TextBox 27" id="27"/>
            <p:cNvSpPr txBox="true"/>
            <p:nvPr/>
          </p:nvSpPr>
          <p:spPr>
            <a:xfrm>
              <a:off x="0" y="-19050"/>
              <a:ext cx="2377440" cy="604266"/>
            </a:xfrm>
            <a:prstGeom prst="rect">
              <a:avLst/>
            </a:prstGeom>
          </p:spPr>
          <p:txBody>
            <a:bodyPr anchor="ctr" rtlCol="false" tIns="0" lIns="0" bIns="0" rIns="0"/>
            <a:lstStyle/>
            <a:p>
              <a:pPr algn="ctr">
                <a:lnSpc>
                  <a:spcPts val="1620"/>
                </a:lnSpc>
              </a:pPr>
              <a:r>
                <a:rPr lang="en-US" sz="1350" b="true">
                  <a:solidFill>
                    <a:srgbClr val="FFFFFF"/>
                  </a:solidFill>
                  <a:latin typeface="Poppins Bold"/>
                  <a:ea typeface="Poppins Bold"/>
                  <a:cs typeface="Poppins Bold"/>
                  <a:sym typeface="Poppins Bold"/>
                </a:rPr>
                <a:t>COMPARE</a:t>
              </a:r>
            </a:p>
          </p:txBody>
        </p:sp>
      </p:grpSp>
      <p:grpSp>
        <p:nvGrpSpPr>
          <p:cNvPr name="Group 28" id="28"/>
          <p:cNvGrpSpPr/>
          <p:nvPr/>
        </p:nvGrpSpPr>
        <p:grpSpPr>
          <a:xfrm rot="0">
            <a:off x="1440180" y="5554980"/>
            <a:ext cx="8229600" cy="1165860"/>
            <a:chOff x="0" y="0"/>
            <a:chExt cx="10972800" cy="1554480"/>
          </a:xfrm>
        </p:grpSpPr>
        <p:sp>
          <p:nvSpPr>
            <p:cNvPr name="Freeform 29" id="29"/>
            <p:cNvSpPr/>
            <p:nvPr/>
          </p:nvSpPr>
          <p:spPr>
            <a:xfrm flipH="false" flipV="false" rot="0">
              <a:off x="0" y="0"/>
              <a:ext cx="10972800" cy="1554480"/>
            </a:xfrm>
            <a:custGeom>
              <a:avLst/>
              <a:gdLst/>
              <a:ahLst/>
              <a:cxnLst/>
              <a:rect r="r" b="b" t="t" l="l"/>
              <a:pathLst>
                <a:path h="1554480" w="10972800">
                  <a:moveTo>
                    <a:pt x="0" y="0"/>
                  </a:moveTo>
                  <a:lnTo>
                    <a:pt x="10972800" y="0"/>
                  </a:lnTo>
                  <a:lnTo>
                    <a:pt x="10972800" y="1554480"/>
                  </a:lnTo>
                  <a:lnTo>
                    <a:pt x="0" y="1554480"/>
                  </a:lnTo>
                  <a:close/>
                </a:path>
              </a:pathLst>
            </a:custGeom>
            <a:blipFill>
              <a:blip r:embed="rId9">
                <a:alphaModFix amt="0"/>
              </a:blip>
              <a:stretch>
                <a:fillRect l="0" t="-87541" r="0" b="-87541"/>
              </a:stretch>
            </a:blipFill>
          </p:spPr>
        </p:sp>
        <p:sp>
          <p:nvSpPr>
            <p:cNvPr name="TextBox 30" id="30"/>
            <p:cNvSpPr txBox="true"/>
            <p:nvPr/>
          </p:nvSpPr>
          <p:spPr>
            <a:xfrm>
              <a:off x="0" y="-47625"/>
              <a:ext cx="10972800" cy="1602105"/>
            </a:xfrm>
            <a:prstGeom prst="rect">
              <a:avLst/>
            </a:prstGeom>
          </p:spPr>
          <p:txBody>
            <a:bodyPr anchor="ctr" rtlCol="false" tIns="0" lIns="0" bIns="0" rIns="0"/>
            <a:lstStyle/>
            <a:p>
              <a:pPr algn="l">
                <a:lnSpc>
                  <a:spcPts val="2587"/>
                </a:lnSpc>
              </a:pPr>
              <a:r>
                <a:rPr lang="en-US" sz="1725">
                  <a:solidFill>
                    <a:srgbClr val="CFE6E3"/>
                  </a:solidFill>
                  <a:latin typeface="Roboto Mono"/>
                  <a:ea typeface="Roboto Mono"/>
                  <a:cs typeface="Roboto Mono"/>
                  <a:sym typeface="Roboto Mono"/>
                </a:rPr>
                <a:t>Month on Month Change =</a:t>
              </a:r>
            </a:p>
            <a:p>
              <a:pPr algn="l">
                <a:lnSpc>
                  <a:spcPts val="2587"/>
                </a:lnSpc>
              </a:pPr>
              <a:r>
                <a:rPr lang="en-US" sz="1725">
                  <a:solidFill>
                    <a:srgbClr val="CFE6E3"/>
                  </a:solidFill>
                  <a:latin typeface="Roboto Mono"/>
                  <a:ea typeface="Roboto Mono"/>
                  <a:cs typeface="Roboto Mono"/>
                  <a:sym typeface="Roboto Mono"/>
                </a:rPr>
                <a:t>  DIVIDE (</a:t>
              </a:r>
            </a:p>
            <a:p>
              <a:pPr algn="l">
                <a:lnSpc>
                  <a:spcPts val="2587"/>
                </a:lnSpc>
              </a:pPr>
              <a:r>
                <a:rPr lang="en-US" sz="1725">
                  <a:solidFill>
                    <a:srgbClr val="CFE6E3"/>
                  </a:solidFill>
                  <a:latin typeface="Roboto Mono"/>
                  <a:ea typeface="Roboto Mono"/>
                  <a:cs typeface="Roboto Mono"/>
                  <a:sym typeface="Roboto Mono"/>
                </a:rPr>
                <a:t>    [Total Deliveries] - [Deliveries Previous Month],</a:t>
              </a:r>
            </a:p>
            <a:p>
              <a:pPr algn="l">
                <a:lnSpc>
                  <a:spcPts val="2587"/>
                </a:lnSpc>
              </a:pPr>
              <a:r>
                <a:rPr lang="en-US" sz="1725">
                  <a:solidFill>
                    <a:srgbClr val="CFE6E3"/>
                  </a:solidFill>
                  <a:latin typeface="Roboto Mono"/>
                  <a:ea typeface="Roboto Mono"/>
                  <a:cs typeface="Roboto Mono"/>
                  <a:sym typeface="Roboto Mono"/>
                </a:rPr>
                <a:t>    [Deliveries Previous Month]</a:t>
              </a:r>
            </a:p>
            <a:p>
              <a:pPr algn="l">
                <a:lnSpc>
                  <a:spcPts val="2587"/>
                </a:lnSpc>
              </a:pPr>
              <a:r>
                <a:rPr lang="en-US" sz="1725">
                  <a:solidFill>
                    <a:srgbClr val="CFE6E3"/>
                  </a:solidFill>
                  <a:latin typeface="Roboto Mono"/>
                  <a:ea typeface="Roboto Mono"/>
                  <a:cs typeface="Roboto Mono"/>
                  <a:sym typeface="Roboto Mono"/>
                </a:rPr>
                <a:t>  )</a:t>
              </a:r>
            </a:p>
          </p:txBody>
        </p:sp>
      </p:grpSp>
      <p:grpSp>
        <p:nvGrpSpPr>
          <p:cNvPr name="Group 31" id="31"/>
          <p:cNvGrpSpPr/>
          <p:nvPr/>
        </p:nvGrpSpPr>
        <p:grpSpPr>
          <a:xfrm rot="0">
            <a:off x="10629900" y="2674620"/>
            <a:ext cx="5143500" cy="4320540"/>
            <a:chOff x="0" y="0"/>
            <a:chExt cx="6858000" cy="5760720"/>
          </a:xfrm>
        </p:grpSpPr>
        <p:sp>
          <p:nvSpPr>
            <p:cNvPr name="Freeform 32" id="32"/>
            <p:cNvSpPr/>
            <p:nvPr/>
          </p:nvSpPr>
          <p:spPr>
            <a:xfrm flipH="false" flipV="false" rot="0">
              <a:off x="0" y="0"/>
              <a:ext cx="6858000" cy="5760720"/>
            </a:xfrm>
            <a:custGeom>
              <a:avLst/>
              <a:gdLst/>
              <a:ahLst/>
              <a:cxnLst/>
              <a:rect r="r" b="b" t="t" l="l"/>
              <a:pathLst>
                <a:path h="5760720" w="6858000">
                  <a:moveTo>
                    <a:pt x="0" y="182880"/>
                  </a:moveTo>
                  <a:cubicBezTo>
                    <a:pt x="0" y="81915"/>
                    <a:pt x="81915" y="0"/>
                    <a:pt x="182880" y="0"/>
                  </a:cubicBezTo>
                  <a:lnTo>
                    <a:pt x="6675120" y="0"/>
                  </a:lnTo>
                  <a:cubicBezTo>
                    <a:pt x="6776085" y="0"/>
                    <a:pt x="6858000" y="81915"/>
                    <a:pt x="6858000" y="182880"/>
                  </a:cubicBezTo>
                  <a:lnTo>
                    <a:pt x="6858000" y="5577840"/>
                  </a:lnTo>
                  <a:cubicBezTo>
                    <a:pt x="6858000" y="5678805"/>
                    <a:pt x="6776085" y="5760720"/>
                    <a:pt x="6675120" y="5760720"/>
                  </a:cubicBezTo>
                  <a:lnTo>
                    <a:pt x="182880" y="5760720"/>
                  </a:lnTo>
                  <a:cubicBezTo>
                    <a:pt x="81915" y="5760720"/>
                    <a:pt x="0" y="5678805"/>
                    <a:pt x="0" y="5577840"/>
                  </a:cubicBezTo>
                  <a:close/>
                </a:path>
              </a:pathLst>
            </a:custGeom>
            <a:solidFill>
              <a:srgbClr val="FFFFFF"/>
            </a:solidFill>
          </p:spPr>
        </p:sp>
      </p:grpSp>
      <p:grpSp>
        <p:nvGrpSpPr>
          <p:cNvPr name="Group 33" id="33"/>
          <p:cNvGrpSpPr/>
          <p:nvPr/>
        </p:nvGrpSpPr>
        <p:grpSpPr>
          <a:xfrm rot="0">
            <a:off x="11041380" y="2948940"/>
            <a:ext cx="4389120" cy="411480"/>
            <a:chOff x="0" y="0"/>
            <a:chExt cx="5852160" cy="548640"/>
          </a:xfrm>
        </p:grpSpPr>
        <p:sp>
          <p:nvSpPr>
            <p:cNvPr name="Freeform 34" id="34"/>
            <p:cNvSpPr/>
            <p:nvPr/>
          </p:nvSpPr>
          <p:spPr>
            <a:xfrm flipH="false" flipV="false" rot="0">
              <a:off x="0" y="0"/>
              <a:ext cx="5852160" cy="548640"/>
            </a:xfrm>
            <a:custGeom>
              <a:avLst/>
              <a:gdLst/>
              <a:ahLst/>
              <a:cxnLst/>
              <a:rect r="r" b="b" t="t" l="l"/>
              <a:pathLst>
                <a:path h="548640" w="5852160">
                  <a:moveTo>
                    <a:pt x="0" y="0"/>
                  </a:moveTo>
                  <a:lnTo>
                    <a:pt x="5852160" y="0"/>
                  </a:lnTo>
                  <a:lnTo>
                    <a:pt x="5852160" y="548640"/>
                  </a:lnTo>
                  <a:lnTo>
                    <a:pt x="0" y="548640"/>
                  </a:lnTo>
                  <a:close/>
                </a:path>
              </a:pathLst>
            </a:custGeom>
            <a:blipFill>
              <a:blip r:embed="rId9">
                <a:alphaModFix amt="0"/>
              </a:blip>
              <a:stretch>
                <a:fillRect l="0" t="-157840" r="0" b="-157840"/>
              </a:stretch>
            </a:blipFill>
          </p:spPr>
        </p:sp>
        <p:sp>
          <p:nvSpPr>
            <p:cNvPr name="TextBox 35" id="35"/>
            <p:cNvSpPr txBox="true"/>
            <p:nvPr/>
          </p:nvSpPr>
          <p:spPr>
            <a:xfrm>
              <a:off x="0" y="-9525"/>
              <a:ext cx="5852160" cy="558165"/>
            </a:xfrm>
            <a:prstGeom prst="rect">
              <a:avLst/>
            </a:prstGeom>
          </p:spPr>
          <p:txBody>
            <a:bodyPr anchor="ctr" rtlCol="false" tIns="0" lIns="0" bIns="0" rIns="0"/>
            <a:lstStyle/>
            <a:p>
              <a:pPr algn="l">
                <a:lnSpc>
                  <a:spcPts val="1889"/>
                </a:lnSpc>
              </a:pPr>
              <a:r>
                <a:rPr lang="en-US" b="true" sz="1575" spc="150">
                  <a:solidFill>
                    <a:srgbClr val="387F7F"/>
                  </a:solidFill>
                  <a:latin typeface="Poppins Bold"/>
                  <a:ea typeface="Poppins Bold"/>
                  <a:cs typeface="Poppins Bold"/>
                  <a:sym typeface="Poppins Bold"/>
                </a:rPr>
                <a:t>VERIFIED RESULTS</a:t>
              </a:r>
            </a:p>
          </p:txBody>
        </p:sp>
      </p:grpSp>
      <p:grpSp>
        <p:nvGrpSpPr>
          <p:cNvPr name="Group 36" id="36"/>
          <p:cNvGrpSpPr/>
          <p:nvPr/>
        </p:nvGrpSpPr>
        <p:grpSpPr>
          <a:xfrm rot="0">
            <a:off x="11041380" y="3566160"/>
            <a:ext cx="2331720" cy="548640"/>
            <a:chOff x="0" y="0"/>
            <a:chExt cx="3108960" cy="731520"/>
          </a:xfrm>
        </p:grpSpPr>
        <p:sp>
          <p:nvSpPr>
            <p:cNvPr name="Freeform 37" id="37"/>
            <p:cNvSpPr/>
            <p:nvPr/>
          </p:nvSpPr>
          <p:spPr>
            <a:xfrm flipH="false" flipV="false" rot="0">
              <a:off x="0" y="0"/>
              <a:ext cx="3108960" cy="731520"/>
            </a:xfrm>
            <a:custGeom>
              <a:avLst/>
              <a:gdLst/>
              <a:ahLst/>
              <a:cxnLst/>
              <a:rect r="r" b="b" t="t" l="l"/>
              <a:pathLst>
                <a:path h="731520" w="3108960">
                  <a:moveTo>
                    <a:pt x="0" y="0"/>
                  </a:moveTo>
                  <a:lnTo>
                    <a:pt x="3108960" y="0"/>
                  </a:lnTo>
                  <a:lnTo>
                    <a:pt x="3108960" y="731520"/>
                  </a:lnTo>
                  <a:lnTo>
                    <a:pt x="0" y="731520"/>
                  </a:lnTo>
                  <a:close/>
                </a:path>
              </a:pathLst>
            </a:custGeom>
            <a:blipFill>
              <a:blip r:embed="rId9">
                <a:alphaModFix amt="0"/>
              </a:blip>
              <a:stretch>
                <a:fillRect l="0" t="-32811" r="0" b="-32811"/>
              </a:stretch>
            </a:blipFill>
          </p:spPr>
        </p:sp>
        <p:sp>
          <p:nvSpPr>
            <p:cNvPr name="TextBox 38" id="38"/>
            <p:cNvSpPr txBox="true"/>
            <p:nvPr/>
          </p:nvSpPr>
          <p:spPr>
            <a:xfrm>
              <a:off x="0" y="-19050"/>
              <a:ext cx="3108960" cy="750570"/>
            </a:xfrm>
            <a:prstGeom prst="rect">
              <a:avLst/>
            </a:prstGeom>
          </p:spPr>
          <p:txBody>
            <a:bodyPr anchor="ctr" rtlCol="false" tIns="0" lIns="0" bIns="0" rIns="0"/>
            <a:lstStyle/>
            <a:p>
              <a:pPr algn="l">
                <a:lnSpc>
                  <a:spcPts val="2250"/>
                </a:lnSpc>
              </a:pPr>
              <a:r>
                <a:rPr lang="en-US" sz="1875">
                  <a:solidFill>
                    <a:srgbClr val="475569"/>
                  </a:solidFill>
                  <a:latin typeface="Poppins"/>
                  <a:ea typeface="Poppins"/>
                  <a:cs typeface="Poppins"/>
                  <a:sym typeface="Poppins"/>
                </a:rPr>
                <a:t>January</a:t>
              </a:r>
            </a:p>
          </p:txBody>
        </p:sp>
      </p:grpSp>
      <p:grpSp>
        <p:nvGrpSpPr>
          <p:cNvPr name="Group 39" id="39"/>
          <p:cNvGrpSpPr/>
          <p:nvPr/>
        </p:nvGrpSpPr>
        <p:grpSpPr>
          <a:xfrm rot="0">
            <a:off x="13167360" y="3566160"/>
            <a:ext cx="2194560" cy="548640"/>
            <a:chOff x="0" y="0"/>
            <a:chExt cx="2926080" cy="731520"/>
          </a:xfrm>
        </p:grpSpPr>
        <p:sp>
          <p:nvSpPr>
            <p:cNvPr name="Freeform 40" id="40"/>
            <p:cNvSpPr/>
            <p:nvPr/>
          </p:nvSpPr>
          <p:spPr>
            <a:xfrm flipH="false" flipV="false" rot="0">
              <a:off x="0" y="0"/>
              <a:ext cx="2926080" cy="731520"/>
            </a:xfrm>
            <a:custGeom>
              <a:avLst/>
              <a:gdLst/>
              <a:ahLst/>
              <a:cxnLst/>
              <a:rect r="r" b="b" t="t" l="l"/>
              <a:pathLst>
                <a:path h="731520" w="2926080">
                  <a:moveTo>
                    <a:pt x="0" y="0"/>
                  </a:moveTo>
                  <a:lnTo>
                    <a:pt x="2926080" y="0"/>
                  </a:lnTo>
                  <a:lnTo>
                    <a:pt x="2926080" y="731520"/>
                  </a:lnTo>
                  <a:lnTo>
                    <a:pt x="0" y="731520"/>
                  </a:lnTo>
                  <a:close/>
                </a:path>
              </a:pathLst>
            </a:custGeom>
            <a:blipFill>
              <a:blip r:embed="rId9">
                <a:alphaModFix amt="0"/>
              </a:blip>
              <a:stretch>
                <a:fillRect l="0" t="-27940" r="0" b="-27940"/>
              </a:stretch>
            </a:blipFill>
          </p:spPr>
        </p:sp>
        <p:sp>
          <p:nvSpPr>
            <p:cNvPr name="TextBox 41" id="41"/>
            <p:cNvSpPr txBox="true"/>
            <p:nvPr/>
          </p:nvSpPr>
          <p:spPr>
            <a:xfrm>
              <a:off x="0" y="-19050"/>
              <a:ext cx="2926080" cy="750570"/>
            </a:xfrm>
            <a:prstGeom prst="rect">
              <a:avLst/>
            </a:prstGeom>
          </p:spPr>
          <p:txBody>
            <a:bodyPr anchor="ctr" rtlCol="false" tIns="0" lIns="0" bIns="0" rIns="0"/>
            <a:lstStyle/>
            <a:p>
              <a:pPr algn="r">
                <a:lnSpc>
                  <a:spcPts val="2520"/>
                </a:lnSpc>
              </a:pPr>
              <a:r>
                <a:rPr lang="en-US" sz="2100" b="true">
                  <a:solidFill>
                    <a:srgbClr val="387F7F"/>
                  </a:solidFill>
                  <a:latin typeface="Poppins Bold"/>
                  <a:ea typeface="Poppins Bold"/>
                  <a:cs typeface="Poppins Bold"/>
                  <a:sym typeface="Poppins Bold"/>
                </a:rPr>
                <a:t>2,473</a:t>
              </a:r>
            </a:p>
          </p:txBody>
        </p:sp>
      </p:grpSp>
      <p:grpSp>
        <p:nvGrpSpPr>
          <p:cNvPr name="Group 42" id="42"/>
          <p:cNvGrpSpPr/>
          <p:nvPr/>
        </p:nvGrpSpPr>
        <p:grpSpPr>
          <a:xfrm rot="0">
            <a:off x="11041380" y="4251960"/>
            <a:ext cx="2331720" cy="548640"/>
            <a:chOff x="0" y="0"/>
            <a:chExt cx="3108960" cy="731520"/>
          </a:xfrm>
        </p:grpSpPr>
        <p:sp>
          <p:nvSpPr>
            <p:cNvPr name="Freeform 43" id="43"/>
            <p:cNvSpPr/>
            <p:nvPr/>
          </p:nvSpPr>
          <p:spPr>
            <a:xfrm flipH="false" flipV="false" rot="0">
              <a:off x="0" y="0"/>
              <a:ext cx="3108960" cy="731520"/>
            </a:xfrm>
            <a:custGeom>
              <a:avLst/>
              <a:gdLst/>
              <a:ahLst/>
              <a:cxnLst/>
              <a:rect r="r" b="b" t="t" l="l"/>
              <a:pathLst>
                <a:path h="731520" w="3108960">
                  <a:moveTo>
                    <a:pt x="0" y="0"/>
                  </a:moveTo>
                  <a:lnTo>
                    <a:pt x="3108960" y="0"/>
                  </a:lnTo>
                  <a:lnTo>
                    <a:pt x="3108960" y="731520"/>
                  </a:lnTo>
                  <a:lnTo>
                    <a:pt x="0" y="731520"/>
                  </a:lnTo>
                  <a:close/>
                </a:path>
              </a:pathLst>
            </a:custGeom>
            <a:blipFill>
              <a:blip r:embed="rId9">
                <a:alphaModFix amt="0"/>
              </a:blip>
              <a:stretch>
                <a:fillRect l="0" t="-32811" r="0" b="-32811"/>
              </a:stretch>
            </a:blipFill>
          </p:spPr>
        </p:sp>
        <p:sp>
          <p:nvSpPr>
            <p:cNvPr name="TextBox 44" id="44"/>
            <p:cNvSpPr txBox="true"/>
            <p:nvPr/>
          </p:nvSpPr>
          <p:spPr>
            <a:xfrm>
              <a:off x="0" y="-19050"/>
              <a:ext cx="3108960" cy="750570"/>
            </a:xfrm>
            <a:prstGeom prst="rect">
              <a:avLst/>
            </a:prstGeom>
          </p:spPr>
          <p:txBody>
            <a:bodyPr anchor="ctr" rtlCol="false" tIns="0" lIns="0" bIns="0" rIns="0"/>
            <a:lstStyle/>
            <a:p>
              <a:pPr algn="l">
                <a:lnSpc>
                  <a:spcPts val="2250"/>
                </a:lnSpc>
              </a:pPr>
              <a:r>
                <a:rPr lang="en-US" sz="1875">
                  <a:solidFill>
                    <a:srgbClr val="475569"/>
                  </a:solidFill>
                  <a:latin typeface="Poppins"/>
                  <a:ea typeface="Poppins"/>
                  <a:cs typeface="Poppins"/>
                  <a:sym typeface="Poppins"/>
                </a:rPr>
                <a:t>February</a:t>
              </a:r>
            </a:p>
          </p:txBody>
        </p:sp>
      </p:grpSp>
      <p:grpSp>
        <p:nvGrpSpPr>
          <p:cNvPr name="Group 45" id="45"/>
          <p:cNvGrpSpPr/>
          <p:nvPr/>
        </p:nvGrpSpPr>
        <p:grpSpPr>
          <a:xfrm rot="0">
            <a:off x="13167360" y="4251960"/>
            <a:ext cx="2194560" cy="548640"/>
            <a:chOff x="0" y="0"/>
            <a:chExt cx="2926080" cy="731520"/>
          </a:xfrm>
        </p:grpSpPr>
        <p:sp>
          <p:nvSpPr>
            <p:cNvPr name="Freeform 46" id="46"/>
            <p:cNvSpPr/>
            <p:nvPr/>
          </p:nvSpPr>
          <p:spPr>
            <a:xfrm flipH="false" flipV="false" rot="0">
              <a:off x="0" y="0"/>
              <a:ext cx="2926080" cy="731520"/>
            </a:xfrm>
            <a:custGeom>
              <a:avLst/>
              <a:gdLst/>
              <a:ahLst/>
              <a:cxnLst/>
              <a:rect r="r" b="b" t="t" l="l"/>
              <a:pathLst>
                <a:path h="731520" w="2926080">
                  <a:moveTo>
                    <a:pt x="0" y="0"/>
                  </a:moveTo>
                  <a:lnTo>
                    <a:pt x="2926080" y="0"/>
                  </a:lnTo>
                  <a:lnTo>
                    <a:pt x="2926080" y="731520"/>
                  </a:lnTo>
                  <a:lnTo>
                    <a:pt x="0" y="731520"/>
                  </a:lnTo>
                  <a:close/>
                </a:path>
              </a:pathLst>
            </a:custGeom>
            <a:blipFill>
              <a:blip r:embed="rId9">
                <a:alphaModFix amt="0"/>
              </a:blip>
              <a:stretch>
                <a:fillRect l="0" t="-27940" r="0" b="-27940"/>
              </a:stretch>
            </a:blipFill>
          </p:spPr>
        </p:sp>
        <p:sp>
          <p:nvSpPr>
            <p:cNvPr name="TextBox 47" id="47"/>
            <p:cNvSpPr txBox="true"/>
            <p:nvPr/>
          </p:nvSpPr>
          <p:spPr>
            <a:xfrm>
              <a:off x="0" y="-19050"/>
              <a:ext cx="2926080" cy="750570"/>
            </a:xfrm>
            <a:prstGeom prst="rect">
              <a:avLst/>
            </a:prstGeom>
          </p:spPr>
          <p:txBody>
            <a:bodyPr anchor="ctr" rtlCol="false" tIns="0" lIns="0" bIns="0" rIns="0"/>
            <a:lstStyle/>
            <a:p>
              <a:pPr algn="r">
                <a:lnSpc>
                  <a:spcPts val="2520"/>
                </a:lnSpc>
              </a:pPr>
              <a:r>
                <a:rPr lang="en-US" sz="2100" b="true">
                  <a:solidFill>
                    <a:srgbClr val="387F7F"/>
                  </a:solidFill>
                  <a:latin typeface="Poppins Bold"/>
                  <a:ea typeface="Poppins Bold"/>
                  <a:cs typeface="Poppins Bold"/>
                  <a:sym typeface="Poppins Bold"/>
                </a:rPr>
                <a:t>2,329</a:t>
              </a:r>
            </a:p>
          </p:txBody>
        </p:sp>
      </p:grpSp>
      <p:grpSp>
        <p:nvGrpSpPr>
          <p:cNvPr name="Group 48" id="48"/>
          <p:cNvGrpSpPr/>
          <p:nvPr/>
        </p:nvGrpSpPr>
        <p:grpSpPr>
          <a:xfrm rot="0">
            <a:off x="11041380" y="4937760"/>
            <a:ext cx="2331720" cy="548640"/>
            <a:chOff x="0" y="0"/>
            <a:chExt cx="3108960" cy="731520"/>
          </a:xfrm>
        </p:grpSpPr>
        <p:sp>
          <p:nvSpPr>
            <p:cNvPr name="Freeform 49" id="49"/>
            <p:cNvSpPr/>
            <p:nvPr/>
          </p:nvSpPr>
          <p:spPr>
            <a:xfrm flipH="false" flipV="false" rot="0">
              <a:off x="0" y="0"/>
              <a:ext cx="3108960" cy="731520"/>
            </a:xfrm>
            <a:custGeom>
              <a:avLst/>
              <a:gdLst/>
              <a:ahLst/>
              <a:cxnLst/>
              <a:rect r="r" b="b" t="t" l="l"/>
              <a:pathLst>
                <a:path h="731520" w="3108960">
                  <a:moveTo>
                    <a:pt x="0" y="0"/>
                  </a:moveTo>
                  <a:lnTo>
                    <a:pt x="3108960" y="0"/>
                  </a:lnTo>
                  <a:lnTo>
                    <a:pt x="3108960" y="731520"/>
                  </a:lnTo>
                  <a:lnTo>
                    <a:pt x="0" y="731520"/>
                  </a:lnTo>
                  <a:close/>
                </a:path>
              </a:pathLst>
            </a:custGeom>
            <a:blipFill>
              <a:blip r:embed="rId9">
                <a:alphaModFix amt="0"/>
              </a:blip>
              <a:stretch>
                <a:fillRect l="0" t="-32811" r="0" b="-32811"/>
              </a:stretch>
            </a:blipFill>
          </p:spPr>
        </p:sp>
        <p:sp>
          <p:nvSpPr>
            <p:cNvPr name="TextBox 50" id="50"/>
            <p:cNvSpPr txBox="true"/>
            <p:nvPr/>
          </p:nvSpPr>
          <p:spPr>
            <a:xfrm>
              <a:off x="0" y="-19050"/>
              <a:ext cx="3108960" cy="750570"/>
            </a:xfrm>
            <a:prstGeom prst="rect">
              <a:avLst/>
            </a:prstGeom>
          </p:spPr>
          <p:txBody>
            <a:bodyPr anchor="ctr" rtlCol="false" tIns="0" lIns="0" bIns="0" rIns="0"/>
            <a:lstStyle/>
            <a:p>
              <a:pPr algn="l">
                <a:lnSpc>
                  <a:spcPts val="2250"/>
                </a:lnSpc>
              </a:pPr>
              <a:r>
                <a:rPr lang="en-US" sz="1875">
                  <a:solidFill>
                    <a:srgbClr val="475569"/>
                  </a:solidFill>
                  <a:latin typeface="Poppins"/>
                  <a:ea typeface="Poppins"/>
                  <a:cs typeface="Poppins"/>
                  <a:sym typeface="Poppins"/>
                </a:rPr>
                <a:t>March</a:t>
              </a:r>
            </a:p>
          </p:txBody>
        </p:sp>
      </p:grpSp>
      <p:grpSp>
        <p:nvGrpSpPr>
          <p:cNvPr name="Group 51" id="51"/>
          <p:cNvGrpSpPr/>
          <p:nvPr/>
        </p:nvGrpSpPr>
        <p:grpSpPr>
          <a:xfrm rot="0">
            <a:off x="13167360" y="4937760"/>
            <a:ext cx="2194560" cy="548640"/>
            <a:chOff x="0" y="0"/>
            <a:chExt cx="2926080" cy="731520"/>
          </a:xfrm>
        </p:grpSpPr>
        <p:sp>
          <p:nvSpPr>
            <p:cNvPr name="Freeform 52" id="52"/>
            <p:cNvSpPr/>
            <p:nvPr/>
          </p:nvSpPr>
          <p:spPr>
            <a:xfrm flipH="false" flipV="false" rot="0">
              <a:off x="0" y="0"/>
              <a:ext cx="2926080" cy="731520"/>
            </a:xfrm>
            <a:custGeom>
              <a:avLst/>
              <a:gdLst/>
              <a:ahLst/>
              <a:cxnLst/>
              <a:rect r="r" b="b" t="t" l="l"/>
              <a:pathLst>
                <a:path h="731520" w="2926080">
                  <a:moveTo>
                    <a:pt x="0" y="0"/>
                  </a:moveTo>
                  <a:lnTo>
                    <a:pt x="2926080" y="0"/>
                  </a:lnTo>
                  <a:lnTo>
                    <a:pt x="2926080" y="731520"/>
                  </a:lnTo>
                  <a:lnTo>
                    <a:pt x="0" y="731520"/>
                  </a:lnTo>
                  <a:close/>
                </a:path>
              </a:pathLst>
            </a:custGeom>
            <a:blipFill>
              <a:blip r:embed="rId9">
                <a:alphaModFix amt="0"/>
              </a:blip>
              <a:stretch>
                <a:fillRect l="0" t="-27940" r="0" b="-27940"/>
              </a:stretch>
            </a:blipFill>
          </p:spPr>
        </p:sp>
        <p:sp>
          <p:nvSpPr>
            <p:cNvPr name="TextBox 53" id="53"/>
            <p:cNvSpPr txBox="true"/>
            <p:nvPr/>
          </p:nvSpPr>
          <p:spPr>
            <a:xfrm>
              <a:off x="0" y="-19050"/>
              <a:ext cx="2926080" cy="750570"/>
            </a:xfrm>
            <a:prstGeom prst="rect">
              <a:avLst/>
            </a:prstGeom>
          </p:spPr>
          <p:txBody>
            <a:bodyPr anchor="ctr" rtlCol="false" tIns="0" lIns="0" bIns="0" rIns="0"/>
            <a:lstStyle/>
            <a:p>
              <a:pPr algn="r">
                <a:lnSpc>
                  <a:spcPts val="2520"/>
                </a:lnSpc>
              </a:pPr>
              <a:r>
                <a:rPr lang="en-US" sz="2100" b="true">
                  <a:solidFill>
                    <a:srgbClr val="387F7F"/>
                  </a:solidFill>
                  <a:latin typeface="Poppins Bold"/>
                  <a:ea typeface="Poppins Bold"/>
                  <a:cs typeface="Poppins Bold"/>
                  <a:sym typeface="Poppins Bold"/>
                </a:rPr>
                <a:t>2,960</a:t>
              </a:r>
            </a:p>
          </p:txBody>
        </p:sp>
      </p:grpSp>
      <p:sp>
        <p:nvSpPr>
          <p:cNvPr name="AutoShape 54" id="54"/>
          <p:cNvSpPr/>
          <p:nvPr/>
        </p:nvSpPr>
        <p:spPr>
          <a:xfrm rot="14880">
            <a:off x="11031836" y="5755958"/>
            <a:ext cx="4408208" cy="0"/>
          </a:xfrm>
          <a:prstGeom prst="line">
            <a:avLst/>
          </a:prstGeom>
          <a:ln cap="rnd" w="9525">
            <a:solidFill>
              <a:srgbClr val="E2E8F0"/>
            </a:solidFill>
            <a:prstDash val="solid"/>
            <a:headEnd type="none" len="sm" w="sm"/>
            <a:tailEnd type="none" len="sm" w="sm"/>
          </a:ln>
        </p:spPr>
      </p:sp>
      <p:sp>
        <p:nvSpPr>
          <p:cNvPr name="TextBox 55" id="55"/>
          <p:cNvSpPr txBox="true"/>
          <p:nvPr/>
        </p:nvSpPr>
        <p:spPr>
          <a:xfrm rot="0">
            <a:off x="11041380" y="5909310"/>
            <a:ext cx="4389120" cy="1085850"/>
          </a:xfrm>
          <a:prstGeom prst="rect">
            <a:avLst/>
          </a:prstGeom>
        </p:spPr>
        <p:txBody>
          <a:bodyPr anchor="t" rtlCol="false" tIns="0" lIns="0" bIns="0" rIns="0">
            <a:spAutoFit/>
          </a:bodyPr>
          <a:lstStyle/>
          <a:p>
            <a:pPr algn="l">
              <a:lnSpc>
                <a:spcPts val="2475"/>
              </a:lnSpc>
            </a:pPr>
            <a:r>
              <a:rPr lang="en-US" sz="1650">
                <a:solidFill>
                  <a:srgbClr val="64748B"/>
                </a:solidFill>
                <a:latin typeface="Poppins"/>
                <a:ea typeface="Poppins"/>
                <a:cs typeface="Poppins"/>
                <a:sym typeface="Poppins"/>
              </a:rPr>
              <a:t>Previous Month for January returns BLANK. There is no December 2024 in the model. That is correct, not a bug.</a:t>
            </a:r>
          </a:p>
        </p:txBody>
      </p:sp>
      <p:grpSp>
        <p:nvGrpSpPr>
          <p:cNvPr name="Group 56" id="56"/>
          <p:cNvGrpSpPr/>
          <p:nvPr/>
        </p:nvGrpSpPr>
        <p:grpSpPr>
          <a:xfrm rot="0">
            <a:off x="1028700" y="7406640"/>
            <a:ext cx="14744700" cy="1371600"/>
            <a:chOff x="0" y="0"/>
            <a:chExt cx="19659600" cy="1828800"/>
          </a:xfrm>
        </p:grpSpPr>
        <p:sp>
          <p:nvSpPr>
            <p:cNvPr name="Freeform 57" id="57"/>
            <p:cNvSpPr/>
            <p:nvPr/>
          </p:nvSpPr>
          <p:spPr>
            <a:xfrm flipH="false" flipV="false" rot="0">
              <a:off x="0" y="0"/>
              <a:ext cx="19659600" cy="1828800"/>
            </a:xfrm>
            <a:custGeom>
              <a:avLst/>
              <a:gdLst/>
              <a:ahLst/>
              <a:cxnLst/>
              <a:rect r="r" b="b" t="t" l="l"/>
              <a:pathLst>
                <a:path h="1828800" w="19659600">
                  <a:moveTo>
                    <a:pt x="0" y="164592"/>
                  </a:moveTo>
                  <a:cubicBezTo>
                    <a:pt x="0" y="73660"/>
                    <a:pt x="73660" y="0"/>
                    <a:pt x="164592" y="0"/>
                  </a:cubicBezTo>
                  <a:lnTo>
                    <a:pt x="19495008" y="0"/>
                  </a:lnTo>
                  <a:cubicBezTo>
                    <a:pt x="19585939" y="0"/>
                    <a:pt x="19659600" y="73660"/>
                    <a:pt x="19659600" y="164592"/>
                  </a:cubicBezTo>
                  <a:lnTo>
                    <a:pt x="19659600" y="1664208"/>
                  </a:lnTo>
                  <a:cubicBezTo>
                    <a:pt x="19659600" y="1755140"/>
                    <a:pt x="19585939" y="1828800"/>
                    <a:pt x="19495008" y="1828800"/>
                  </a:cubicBezTo>
                  <a:lnTo>
                    <a:pt x="164592" y="1828800"/>
                  </a:lnTo>
                  <a:cubicBezTo>
                    <a:pt x="73660" y="1828800"/>
                    <a:pt x="0" y="1755140"/>
                    <a:pt x="0" y="1664208"/>
                  </a:cubicBezTo>
                  <a:close/>
                </a:path>
              </a:pathLst>
            </a:custGeom>
            <a:solidFill>
              <a:srgbClr val="EEF4F4"/>
            </a:solidFill>
          </p:spPr>
        </p:sp>
      </p:grpSp>
      <p:grpSp>
        <p:nvGrpSpPr>
          <p:cNvPr name="Group 58" id="58"/>
          <p:cNvGrpSpPr/>
          <p:nvPr/>
        </p:nvGrpSpPr>
        <p:grpSpPr>
          <a:xfrm rot="0">
            <a:off x="1028700" y="7406640"/>
            <a:ext cx="102870" cy="1371600"/>
            <a:chOff x="0" y="0"/>
            <a:chExt cx="137160" cy="1828800"/>
          </a:xfrm>
        </p:grpSpPr>
        <p:sp>
          <p:nvSpPr>
            <p:cNvPr name="Freeform 59" id="59"/>
            <p:cNvSpPr/>
            <p:nvPr/>
          </p:nvSpPr>
          <p:spPr>
            <a:xfrm flipH="false" flipV="false" rot="0">
              <a:off x="0" y="0"/>
              <a:ext cx="137160" cy="1828800"/>
            </a:xfrm>
            <a:custGeom>
              <a:avLst/>
              <a:gdLst/>
              <a:ahLst/>
              <a:cxnLst/>
              <a:rect r="r" b="b" t="t" l="l"/>
              <a:pathLst>
                <a:path h="1828800" w="137160">
                  <a:moveTo>
                    <a:pt x="0" y="0"/>
                  </a:moveTo>
                  <a:lnTo>
                    <a:pt x="137160" y="0"/>
                  </a:lnTo>
                  <a:lnTo>
                    <a:pt x="137160" y="1828800"/>
                  </a:lnTo>
                  <a:lnTo>
                    <a:pt x="0" y="1828800"/>
                  </a:lnTo>
                  <a:close/>
                </a:path>
              </a:pathLst>
            </a:custGeom>
            <a:solidFill>
              <a:srgbClr val="387F7F"/>
            </a:solidFill>
          </p:spPr>
        </p:sp>
      </p:grpSp>
      <p:grpSp>
        <p:nvGrpSpPr>
          <p:cNvPr name="Group 60" id="60"/>
          <p:cNvGrpSpPr/>
          <p:nvPr/>
        </p:nvGrpSpPr>
        <p:grpSpPr>
          <a:xfrm rot="0">
            <a:off x="1440180" y="7708392"/>
            <a:ext cx="754380" cy="754380"/>
            <a:chOff x="0" y="0"/>
            <a:chExt cx="1005840" cy="1005840"/>
          </a:xfrm>
        </p:grpSpPr>
        <p:sp>
          <p:nvSpPr>
            <p:cNvPr name="Freeform 61" id="61"/>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387F7F"/>
            </a:solidFill>
          </p:spPr>
        </p:sp>
      </p:grpSp>
      <p:grpSp>
        <p:nvGrpSpPr>
          <p:cNvPr name="Group 62" id="62"/>
          <p:cNvGrpSpPr/>
          <p:nvPr/>
        </p:nvGrpSpPr>
        <p:grpSpPr>
          <a:xfrm rot="0">
            <a:off x="1440180" y="7708392"/>
            <a:ext cx="754380" cy="754380"/>
            <a:chOff x="0" y="0"/>
            <a:chExt cx="1005840" cy="1005840"/>
          </a:xfrm>
        </p:grpSpPr>
        <p:sp>
          <p:nvSpPr>
            <p:cNvPr name="Freeform 63" id="63"/>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9">
                <a:alphaModFix amt="0"/>
              </a:blip>
              <a:stretch>
                <a:fillRect l="-78303" t="0" r="-78303" b="0"/>
              </a:stretch>
            </a:blipFill>
          </p:spPr>
        </p:sp>
        <p:sp>
          <p:nvSpPr>
            <p:cNvPr name="TextBox 64" id="64"/>
            <p:cNvSpPr txBox="true"/>
            <p:nvPr/>
          </p:nvSpPr>
          <p:spPr>
            <a:xfrm>
              <a:off x="0" y="-19050"/>
              <a:ext cx="1005840" cy="102489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a:t>
              </a:r>
            </a:p>
          </p:txBody>
        </p:sp>
      </p:grpSp>
      <p:grpSp>
        <p:nvGrpSpPr>
          <p:cNvPr name="Group 65" id="65"/>
          <p:cNvGrpSpPr/>
          <p:nvPr/>
        </p:nvGrpSpPr>
        <p:grpSpPr>
          <a:xfrm rot="0">
            <a:off x="2537460" y="7406640"/>
            <a:ext cx="12755880" cy="1371600"/>
            <a:chOff x="0" y="0"/>
            <a:chExt cx="17007840" cy="1828800"/>
          </a:xfrm>
        </p:grpSpPr>
        <p:sp>
          <p:nvSpPr>
            <p:cNvPr name="Freeform 66" id="66"/>
            <p:cNvSpPr/>
            <p:nvPr/>
          </p:nvSpPr>
          <p:spPr>
            <a:xfrm flipH="false" flipV="false" rot="0">
              <a:off x="0" y="0"/>
              <a:ext cx="17007839" cy="1828800"/>
            </a:xfrm>
            <a:custGeom>
              <a:avLst/>
              <a:gdLst/>
              <a:ahLst/>
              <a:cxnLst/>
              <a:rect r="r" b="b" t="t" l="l"/>
              <a:pathLst>
                <a:path h="1828800" w="17007839">
                  <a:moveTo>
                    <a:pt x="0" y="0"/>
                  </a:moveTo>
                  <a:lnTo>
                    <a:pt x="17007839" y="0"/>
                  </a:lnTo>
                  <a:lnTo>
                    <a:pt x="17007839" y="1828800"/>
                  </a:lnTo>
                  <a:lnTo>
                    <a:pt x="0" y="1828800"/>
                  </a:lnTo>
                  <a:close/>
                </a:path>
              </a:pathLst>
            </a:custGeom>
            <a:blipFill>
              <a:blip r:embed="rId9">
                <a:alphaModFix amt="0"/>
              </a:blip>
              <a:stretch>
                <a:fillRect l="0" t="-131210" r="0" b="-131210"/>
              </a:stretch>
            </a:blipFill>
          </p:spPr>
        </p:sp>
        <p:sp>
          <p:nvSpPr>
            <p:cNvPr name="TextBox 67" id="67"/>
            <p:cNvSpPr txBox="true"/>
            <p:nvPr/>
          </p:nvSpPr>
          <p:spPr>
            <a:xfrm>
              <a:off x="0" y="-114300"/>
              <a:ext cx="17007840" cy="1943100"/>
            </a:xfrm>
            <a:prstGeom prst="rect">
              <a:avLst/>
            </a:prstGeom>
          </p:spPr>
          <p:txBody>
            <a:bodyPr anchor="ctr" rtlCol="false" tIns="0" lIns="0" bIns="0" rIns="0"/>
            <a:lstStyle/>
            <a:p>
              <a:pPr algn="l">
                <a:lnSpc>
                  <a:spcPts val="3645"/>
                </a:lnSpc>
              </a:pPr>
              <a:r>
                <a:rPr lang="en-US" sz="2250" b="true">
                  <a:solidFill>
                    <a:srgbClr val="387F7F"/>
                  </a:solidFill>
                  <a:latin typeface="Poppins Bold"/>
                  <a:ea typeface="Poppins Bold"/>
                  <a:cs typeface="Poppins Bold"/>
                  <a:sym typeface="Poppins Bold"/>
                </a:rPr>
                <a:t>This works only because dates.csv exists and is marked as a date table. That is what Topic 7.2 was setting up.</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5" id="5"/>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6497824" y="8924125"/>
            <a:ext cx="647224" cy="571500"/>
            <a:chOff x="0" y="0"/>
            <a:chExt cx="862965" cy="762000"/>
          </a:xfrm>
        </p:grpSpPr>
        <p:sp>
          <p:nvSpPr>
            <p:cNvPr name="Freeform 7" id="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8" id="8"/>
          <p:cNvGrpSpPr/>
          <p:nvPr/>
        </p:nvGrpSpPr>
        <p:grpSpPr>
          <a:xfrm rot="0">
            <a:off x="0" y="0"/>
            <a:ext cx="18287543" cy="10287000"/>
            <a:chOff x="0" y="0"/>
            <a:chExt cx="24383390" cy="13716000"/>
          </a:xfrm>
        </p:grpSpPr>
        <p:sp>
          <p:nvSpPr>
            <p:cNvPr name="Freeform 9" id="9"/>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20494A"/>
            </a:solidFill>
          </p:spPr>
        </p:sp>
      </p:grpSp>
      <p:grpSp>
        <p:nvGrpSpPr>
          <p:cNvPr name="Group 10" id="10"/>
          <p:cNvGrpSpPr/>
          <p:nvPr/>
        </p:nvGrpSpPr>
        <p:grpSpPr>
          <a:xfrm rot="0">
            <a:off x="1124712" y="7399782"/>
            <a:ext cx="219456" cy="219456"/>
            <a:chOff x="0" y="0"/>
            <a:chExt cx="292608" cy="292608"/>
          </a:xfrm>
        </p:grpSpPr>
        <p:sp>
          <p:nvSpPr>
            <p:cNvPr name="Freeform 11" id="11"/>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2" id="12"/>
          <p:cNvGrpSpPr/>
          <p:nvPr/>
        </p:nvGrpSpPr>
        <p:grpSpPr>
          <a:xfrm rot="0">
            <a:off x="1124712" y="7975854"/>
            <a:ext cx="219456" cy="219456"/>
            <a:chOff x="0" y="0"/>
            <a:chExt cx="292608" cy="292608"/>
          </a:xfrm>
        </p:grpSpPr>
        <p:sp>
          <p:nvSpPr>
            <p:cNvPr name="Freeform 13" id="13"/>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grpSp>
        <p:nvGrpSpPr>
          <p:cNvPr name="Group 14" id="14"/>
          <p:cNvGrpSpPr/>
          <p:nvPr/>
        </p:nvGrpSpPr>
        <p:grpSpPr>
          <a:xfrm rot="0">
            <a:off x="1124712" y="8551926"/>
            <a:ext cx="219456" cy="219456"/>
            <a:chOff x="0" y="0"/>
            <a:chExt cx="292608" cy="292608"/>
          </a:xfrm>
        </p:grpSpPr>
        <p:sp>
          <p:nvSpPr>
            <p:cNvPr name="Freeform 15" id="15"/>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387F7F"/>
            </a:solidFill>
          </p:spPr>
        </p:sp>
      </p:grpSp>
      <p:sp>
        <p:nvSpPr>
          <p:cNvPr name="Freeform 16" id="16"/>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850392" y="480060"/>
            <a:ext cx="4389120" cy="2880360"/>
            <a:chOff x="0" y="0"/>
            <a:chExt cx="5852160" cy="3840480"/>
          </a:xfrm>
        </p:grpSpPr>
        <p:sp>
          <p:nvSpPr>
            <p:cNvPr name="Freeform 18" id="18"/>
            <p:cNvSpPr/>
            <p:nvPr/>
          </p:nvSpPr>
          <p:spPr>
            <a:xfrm flipH="false" flipV="false" rot="0">
              <a:off x="0" y="0"/>
              <a:ext cx="5852160" cy="3840480"/>
            </a:xfrm>
            <a:custGeom>
              <a:avLst/>
              <a:gdLst/>
              <a:ahLst/>
              <a:cxnLst/>
              <a:rect r="r" b="b" t="t" l="l"/>
              <a:pathLst>
                <a:path h="3840480" w="5852160">
                  <a:moveTo>
                    <a:pt x="0" y="0"/>
                  </a:moveTo>
                  <a:lnTo>
                    <a:pt x="5852160" y="0"/>
                  </a:lnTo>
                  <a:lnTo>
                    <a:pt x="5852160" y="3840480"/>
                  </a:lnTo>
                  <a:lnTo>
                    <a:pt x="0" y="3840480"/>
                  </a:lnTo>
                  <a:close/>
                </a:path>
              </a:pathLst>
            </a:custGeom>
            <a:blipFill>
              <a:blip r:embed="rId9">
                <a:alphaModFix amt="0"/>
              </a:blip>
              <a:stretch>
                <a:fillRect l="-34199" t="0" r="-34199" b="0"/>
              </a:stretch>
            </a:blipFill>
          </p:spPr>
        </p:sp>
        <p:sp>
          <p:nvSpPr>
            <p:cNvPr name="TextBox 19" id="19"/>
            <p:cNvSpPr txBox="true"/>
            <p:nvPr/>
          </p:nvSpPr>
          <p:spPr>
            <a:xfrm>
              <a:off x="0" y="-190500"/>
              <a:ext cx="5852160" cy="4030980"/>
            </a:xfrm>
            <a:prstGeom prst="rect">
              <a:avLst/>
            </a:prstGeom>
          </p:spPr>
          <p:txBody>
            <a:bodyPr anchor="ctr" rtlCol="false" tIns="0" lIns="0" bIns="0" rIns="0"/>
            <a:lstStyle/>
            <a:p>
              <a:pPr algn="l">
                <a:lnSpc>
                  <a:spcPts val="23400"/>
                </a:lnSpc>
              </a:pPr>
              <a:r>
                <a:rPr lang="en-US" sz="19500" b="true">
                  <a:solidFill>
                    <a:srgbClr val="2F6364"/>
                  </a:solidFill>
                  <a:latin typeface="Poppins Bold"/>
                  <a:ea typeface="Poppins Bold"/>
                  <a:cs typeface="Poppins Bold"/>
                  <a:sym typeface="Poppins Bold"/>
                </a:rPr>
                <a:t>03</a:t>
              </a:r>
            </a:p>
          </p:txBody>
        </p:sp>
      </p:grpSp>
      <p:grpSp>
        <p:nvGrpSpPr>
          <p:cNvPr name="Group 20" id="20"/>
          <p:cNvGrpSpPr/>
          <p:nvPr/>
        </p:nvGrpSpPr>
        <p:grpSpPr>
          <a:xfrm rot="0">
            <a:off x="1069848" y="3730752"/>
            <a:ext cx="10149840" cy="466344"/>
            <a:chOff x="0" y="0"/>
            <a:chExt cx="13533120" cy="621792"/>
          </a:xfrm>
        </p:grpSpPr>
        <p:sp>
          <p:nvSpPr>
            <p:cNvPr name="Freeform 21" id="21"/>
            <p:cNvSpPr/>
            <p:nvPr/>
          </p:nvSpPr>
          <p:spPr>
            <a:xfrm flipH="false" flipV="false" rot="0">
              <a:off x="0" y="0"/>
              <a:ext cx="13533120" cy="621792"/>
            </a:xfrm>
            <a:custGeom>
              <a:avLst/>
              <a:gdLst/>
              <a:ahLst/>
              <a:cxnLst/>
              <a:rect r="r" b="b" t="t" l="l"/>
              <a:pathLst>
                <a:path h="621792" w="13533120">
                  <a:moveTo>
                    <a:pt x="0" y="0"/>
                  </a:moveTo>
                  <a:lnTo>
                    <a:pt x="13533120" y="0"/>
                  </a:lnTo>
                  <a:lnTo>
                    <a:pt x="13533120" y="621792"/>
                  </a:lnTo>
                  <a:lnTo>
                    <a:pt x="0" y="621792"/>
                  </a:lnTo>
                  <a:close/>
                </a:path>
              </a:pathLst>
            </a:custGeom>
            <a:blipFill>
              <a:blip r:embed="rId9">
                <a:alphaModFix amt="0"/>
              </a:blip>
              <a:stretch>
                <a:fillRect l="0" t="-374086" r="0" b="-374086"/>
              </a:stretch>
            </a:blipFill>
          </p:spPr>
        </p:sp>
        <p:sp>
          <p:nvSpPr>
            <p:cNvPr name="TextBox 22" id="22"/>
            <p:cNvSpPr txBox="true"/>
            <p:nvPr/>
          </p:nvSpPr>
          <p:spPr>
            <a:xfrm>
              <a:off x="0" y="-19050"/>
              <a:ext cx="13533120" cy="640842"/>
            </a:xfrm>
            <a:prstGeom prst="rect">
              <a:avLst/>
            </a:prstGeom>
          </p:spPr>
          <p:txBody>
            <a:bodyPr anchor="ctr" rtlCol="false" tIns="0" lIns="0" bIns="0" rIns="0"/>
            <a:lstStyle/>
            <a:p>
              <a:pPr algn="l">
                <a:lnSpc>
                  <a:spcPts val="2340"/>
                </a:lnSpc>
              </a:pPr>
              <a:r>
                <a:rPr lang="en-US" b="true" sz="1950" spc="375">
                  <a:solidFill>
                    <a:srgbClr val="8FBEBE"/>
                  </a:solidFill>
                  <a:latin typeface="Poppins Bold"/>
                  <a:ea typeface="Poppins Bold"/>
                  <a:cs typeface="Poppins Bold"/>
                  <a:sym typeface="Poppins Bold"/>
                </a:rPr>
                <a:t>PART THREE</a:t>
              </a:r>
            </a:p>
          </p:txBody>
        </p:sp>
      </p:grpSp>
      <p:grpSp>
        <p:nvGrpSpPr>
          <p:cNvPr name="Group 23" id="23"/>
          <p:cNvGrpSpPr/>
          <p:nvPr/>
        </p:nvGrpSpPr>
        <p:grpSpPr>
          <a:xfrm rot="0">
            <a:off x="1069848" y="4361688"/>
            <a:ext cx="1851660" cy="116586"/>
            <a:chOff x="0" y="0"/>
            <a:chExt cx="2468880" cy="155448"/>
          </a:xfrm>
        </p:grpSpPr>
        <p:sp>
          <p:nvSpPr>
            <p:cNvPr name="Freeform 24" id="24"/>
            <p:cNvSpPr/>
            <p:nvPr/>
          </p:nvSpPr>
          <p:spPr>
            <a:xfrm flipH="false" flipV="false" rot="0">
              <a:off x="0" y="0"/>
              <a:ext cx="2468880" cy="155448"/>
            </a:xfrm>
            <a:custGeom>
              <a:avLst/>
              <a:gdLst/>
              <a:ahLst/>
              <a:cxnLst/>
              <a:rect r="r" b="b" t="t" l="l"/>
              <a:pathLst>
                <a:path h="155448" w="2468880">
                  <a:moveTo>
                    <a:pt x="0" y="0"/>
                  </a:moveTo>
                  <a:lnTo>
                    <a:pt x="2468880" y="0"/>
                  </a:lnTo>
                  <a:lnTo>
                    <a:pt x="2468880" y="155448"/>
                  </a:lnTo>
                  <a:lnTo>
                    <a:pt x="0" y="155448"/>
                  </a:lnTo>
                  <a:close/>
                </a:path>
              </a:pathLst>
            </a:custGeom>
            <a:solidFill>
              <a:srgbClr val="387F7F"/>
            </a:solidFill>
          </p:spPr>
        </p:sp>
      </p:grpSp>
      <p:grpSp>
        <p:nvGrpSpPr>
          <p:cNvPr name="Group 25" id="25"/>
          <p:cNvGrpSpPr/>
          <p:nvPr/>
        </p:nvGrpSpPr>
        <p:grpSpPr>
          <a:xfrm rot="0">
            <a:off x="1069848" y="4732020"/>
            <a:ext cx="11109960" cy="2194560"/>
            <a:chOff x="0" y="0"/>
            <a:chExt cx="14813280" cy="2926080"/>
          </a:xfrm>
        </p:grpSpPr>
        <p:sp>
          <p:nvSpPr>
            <p:cNvPr name="Freeform 26" id="26"/>
            <p:cNvSpPr/>
            <p:nvPr/>
          </p:nvSpPr>
          <p:spPr>
            <a:xfrm flipH="false" flipV="false" rot="0">
              <a:off x="0" y="0"/>
              <a:ext cx="14813280" cy="2926080"/>
            </a:xfrm>
            <a:custGeom>
              <a:avLst/>
              <a:gdLst/>
              <a:ahLst/>
              <a:cxnLst/>
              <a:rect r="r" b="b" t="t" l="l"/>
              <a:pathLst>
                <a:path h="2926080" w="14813280">
                  <a:moveTo>
                    <a:pt x="0" y="0"/>
                  </a:moveTo>
                  <a:lnTo>
                    <a:pt x="14813280" y="0"/>
                  </a:lnTo>
                  <a:lnTo>
                    <a:pt x="14813280" y="2926080"/>
                  </a:lnTo>
                  <a:lnTo>
                    <a:pt x="0" y="2926080"/>
                  </a:lnTo>
                  <a:close/>
                </a:path>
              </a:pathLst>
            </a:custGeom>
            <a:blipFill>
              <a:blip r:embed="rId9">
                <a:alphaModFix amt="0"/>
              </a:blip>
              <a:stretch>
                <a:fillRect l="0" t="-48643" r="0" b="-48643"/>
              </a:stretch>
            </a:blipFill>
          </p:spPr>
        </p:sp>
        <p:sp>
          <p:nvSpPr>
            <p:cNvPr name="TextBox 27" id="27"/>
            <p:cNvSpPr txBox="true"/>
            <p:nvPr/>
          </p:nvSpPr>
          <p:spPr>
            <a:xfrm>
              <a:off x="0" y="-104775"/>
              <a:ext cx="14813280" cy="3030855"/>
            </a:xfrm>
            <a:prstGeom prst="rect">
              <a:avLst/>
            </a:prstGeom>
          </p:spPr>
          <p:txBody>
            <a:bodyPr anchor="ctr" rtlCol="false" tIns="0" lIns="0" bIns="0" rIns="0"/>
            <a:lstStyle/>
            <a:p>
              <a:pPr algn="l">
                <a:lnSpc>
                  <a:spcPts val="6998"/>
                </a:lnSpc>
              </a:pPr>
              <a:r>
                <a:rPr lang="en-US" sz="5400" b="true">
                  <a:solidFill>
                    <a:srgbClr val="FFFFFF"/>
                  </a:solidFill>
                  <a:latin typeface="Poppins Bold"/>
                  <a:ea typeface="Poppins Bold"/>
                  <a:cs typeface="Poppins Bold"/>
                  <a:sym typeface="Poppins Bold"/>
                </a:rPr>
                <a:t>Verification</a:t>
              </a:r>
            </a:p>
          </p:txBody>
        </p:sp>
      </p:grpSp>
      <p:grpSp>
        <p:nvGrpSpPr>
          <p:cNvPr name="Group 28" id="28"/>
          <p:cNvGrpSpPr/>
          <p:nvPr/>
        </p:nvGrpSpPr>
        <p:grpSpPr>
          <a:xfrm rot="0">
            <a:off x="1645920" y="7283196"/>
            <a:ext cx="9875520" cy="466344"/>
            <a:chOff x="0" y="0"/>
            <a:chExt cx="13167360" cy="621792"/>
          </a:xfrm>
        </p:grpSpPr>
        <p:sp>
          <p:nvSpPr>
            <p:cNvPr name="Freeform 29" id="29"/>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0" id="30"/>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Predict, run, reconcile, then break it deliberately</a:t>
              </a:r>
            </a:p>
          </p:txBody>
        </p:sp>
      </p:grpSp>
      <p:grpSp>
        <p:nvGrpSpPr>
          <p:cNvPr name="Group 31" id="31"/>
          <p:cNvGrpSpPr/>
          <p:nvPr/>
        </p:nvGrpSpPr>
        <p:grpSpPr>
          <a:xfrm rot="0">
            <a:off x="1645920" y="7859268"/>
            <a:ext cx="9875520" cy="466344"/>
            <a:chOff x="0" y="0"/>
            <a:chExt cx="13167360" cy="621792"/>
          </a:xfrm>
        </p:grpSpPr>
        <p:sp>
          <p:nvSpPr>
            <p:cNvPr name="Freeform 32" id="32"/>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3" id="33"/>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Learn the three ways a measure looks right and is not</a:t>
              </a:r>
            </a:p>
          </p:txBody>
        </p:sp>
      </p:grpSp>
      <p:grpSp>
        <p:nvGrpSpPr>
          <p:cNvPr name="Group 34" id="34"/>
          <p:cNvGrpSpPr/>
          <p:nvPr/>
        </p:nvGrpSpPr>
        <p:grpSpPr>
          <a:xfrm rot="0">
            <a:off x="1645920" y="8435340"/>
            <a:ext cx="9875520" cy="466344"/>
            <a:chOff x="0" y="0"/>
            <a:chExt cx="13167360" cy="621792"/>
          </a:xfrm>
        </p:grpSpPr>
        <p:sp>
          <p:nvSpPr>
            <p:cNvPr name="Freeform 35" id="35"/>
            <p:cNvSpPr/>
            <p:nvPr/>
          </p:nvSpPr>
          <p:spPr>
            <a:xfrm flipH="false" flipV="false" rot="0">
              <a:off x="0" y="0"/>
              <a:ext cx="13167361" cy="621792"/>
            </a:xfrm>
            <a:custGeom>
              <a:avLst/>
              <a:gdLst/>
              <a:ahLst/>
              <a:cxnLst/>
              <a:rect r="r" b="b" t="t" l="l"/>
              <a:pathLst>
                <a:path h="621792" w="13167361">
                  <a:moveTo>
                    <a:pt x="0" y="0"/>
                  </a:moveTo>
                  <a:lnTo>
                    <a:pt x="13167361" y="0"/>
                  </a:lnTo>
                  <a:lnTo>
                    <a:pt x="13167361" y="621792"/>
                  </a:lnTo>
                  <a:lnTo>
                    <a:pt x="0" y="621792"/>
                  </a:lnTo>
                  <a:close/>
                </a:path>
              </a:pathLst>
            </a:custGeom>
            <a:blipFill>
              <a:blip r:embed="rId9">
                <a:alphaModFix amt="0"/>
              </a:blip>
              <a:stretch>
                <a:fillRect l="0" t="-362624" r="0" b="-362624"/>
              </a:stretch>
            </a:blipFill>
          </p:spPr>
        </p:sp>
        <p:sp>
          <p:nvSpPr>
            <p:cNvPr name="TextBox 36" id="36"/>
            <p:cNvSpPr txBox="true"/>
            <p:nvPr/>
          </p:nvSpPr>
          <p:spPr>
            <a:xfrm>
              <a:off x="0" y="-19050"/>
              <a:ext cx="13167360" cy="640842"/>
            </a:xfrm>
            <a:prstGeom prst="rect">
              <a:avLst/>
            </a:prstGeom>
          </p:spPr>
          <p:txBody>
            <a:bodyPr anchor="ctr" rtlCol="false" tIns="0" lIns="0" bIns="0" rIns="0"/>
            <a:lstStyle/>
            <a:p>
              <a:pPr algn="l">
                <a:lnSpc>
                  <a:spcPts val="2430"/>
                </a:lnSpc>
              </a:pPr>
              <a:r>
                <a:rPr lang="en-US" sz="2025">
                  <a:solidFill>
                    <a:srgbClr val="C3DAD9"/>
                  </a:solidFill>
                  <a:latin typeface="Poppins"/>
                  <a:ea typeface="Poppins"/>
                  <a:cs typeface="Poppins"/>
                  <a:sym typeface="Poppins"/>
                </a:rPr>
                <a:t>Understand the error no tool can catch for you</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006613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How to</a:t>
            </a:r>
            <a:r>
              <a:rPr lang="en-US" sz="5000">
                <a:solidFill>
                  <a:srgbClr val="388080"/>
                </a:solidFill>
                <a:latin typeface="Poppins"/>
                <a:ea typeface="Poppins"/>
                <a:cs typeface="Poppins"/>
                <a:sym typeface="Poppins"/>
              </a:rPr>
              <a:t> prove a measure is right</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1028700" y="2537460"/>
            <a:ext cx="3429000" cy="4663440"/>
            <a:chOff x="0" y="0"/>
            <a:chExt cx="4572000" cy="6217920"/>
          </a:xfrm>
        </p:grpSpPr>
        <p:sp>
          <p:nvSpPr>
            <p:cNvPr name="Freeform 12" id="12"/>
            <p:cNvSpPr/>
            <p:nvPr/>
          </p:nvSpPr>
          <p:spPr>
            <a:xfrm flipH="false" flipV="false" rot="0">
              <a:off x="0" y="0"/>
              <a:ext cx="4572000" cy="6217920"/>
            </a:xfrm>
            <a:custGeom>
              <a:avLst/>
              <a:gdLst/>
              <a:ahLst/>
              <a:cxnLst/>
              <a:rect r="r" b="b" t="t" l="l"/>
              <a:pathLst>
                <a:path h="6217920" w="4572000">
                  <a:moveTo>
                    <a:pt x="0" y="182880"/>
                  </a:moveTo>
                  <a:cubicBezTo>
                    <a:pt x="0" y="81915"/>
                    <a:pt x="81915" y="0"/>
                    <a:pt x="182880" y="0"/>
                  </a:cubicBezTo>
                  <a:lnTo>
                    <a:pt x="4389120" y="0"/>
                  </a:lnTo>
                  <a:cubicBezTo>
                    <a:pt x="4490085" y="0"/>
                    <a:pt x="4572000" y="81915"/>
                    <a:pt x="4572000" y="182880"/>
                  </a:cubicBezTo>
                  <a:lnTo>
                    <a:pt x="4572000" y="6035040"/>
                  </a:lnTo>
                  <a:cubicBezTo>
                    <a:pt x="4572000" y="6136005"/>
                    <a:pt x="4490085" y="6217920"/>
                    <a:pt x="4389120" y="6217920"/>
                  </a:cubicBezTo>
                  <a:lnTo>
                    <a:pt x="182880" y="6217920"/>
                  </a:lnTo>
                  <a:cubicBezTo>
                    <a:pt x="81915" y="6217920"/>
                    <a:pt x="0" y="6136005"/>
                    <a:pt x="0" y="6035040"/>
                  </a:cubicBezTo>
                  <a:close/>
                </a:path>
              </a:pathLst>
            </a:custGeom>
            <a:solidFill>
              <a:srgbClr val="FFFFFF"/>
            </a:solidFill>
          </p:spPr>
        </p:sp>
      </p:grpSp>
      <p:grpSp>
        <p:nvGrpSpPr>
          <p:cNvPr name="Group 13" id="13"/>
          <p:cNvGrpSpPr/>
          <p:nvPr/>
        </p:nvGrpSpPr>
        <p:grpSpPr>
          <a:xfrm rot="0">
            <a:off x="1028700" y="2537460"/>
            <a:ext cx="3429000" cy="123444"/>
            <a:chOff x="0" y="0"/>
            <a:chExt cx="4572000" cy="164592"/>
          </a:xfrm>
        </p:grpSpPr>
        <p:sp>
          <p:nvSpPr>
            <p:cNvPr name="Freeform 14" id="14"/>
            <p:cNvSpPr/>
            <p:nvPr/>
          </p:nvSpPr>
          <p:spPr>
            <a:xfrm flipH="false" flipV="false" rot="0">
              <a:off x="0" y="0"/>
              <a:ext cx="4572000" cy="164592"/>
            </a:xfrm>
            <a:custGeom>
              <a:avLst/>
              <a:gdLst/>
              <a:ahLst/>
              <a:cxnLst/>
              <a:rect r="r" b="b" t="t" l="l"/>
              <a:pathLst>
                <a:path h="164592" w="4572000">
                  <a:moveTo>
                    <a:pt x="0" y="0"/>
                  </a:moveTo>
                  <a:lnTo>
                    <a:pt x="4572000" y="0"/>
                  </a:lnTo>
                  <a:lnTo>
                    <a:pt x="4572000" y="164592"/>
                  </a:lnTo>
                  <a:lnTo>
                    <a:pt x="0" y="164592"/>
                  </a:lnTo>
                  <a:close/>
                </a:path>
              </a:pathLst>
            </a:custGeom>
            <a:solidFill>
              <a:srgbClr val="387F7F"/>
            </a:solidFill>
          </p:spPr>
        </p:sp>
      </p:grpSp>
      <p:grpSp>
        <p:nvGrpSpPr>
          <p:cNvPr name="Group 15" id="15"/>
          <p:cNvGrpSpPr/>
          <p:nvPr/>
        </p:nvGrpSpPr>
        <p:grpSpPr>
          <a:xfrm rot="0">
            <a:off x="2318004" y="3113532"/>
            <a:ext cx="850392" cy="850392"/>
            <a:chOff x="0" y="0"/>
            <a:chExt cx="1133856" cy="1133856"/>
          </a:xfrm>
        </p:grpSpPr>
        <p:sp>
          <p:nvSpPr>
            <p:cNvPr name="Freeform 16" id="16"/>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387F7F"/>
            </a:solidFill>
          </p:spPr>
        </p:sp>
      </p:grpSp>
      <p:grpSp>
        <p:nvGrpSpPr>
          <p:cNvPr name="Group 17" id="17"/>
          <p:cNvGrpSpPr/>
          <p:nvPr/>
        </p:nvGrpSpPr>
        <p:grpSpPr>
          <a:xfrm rot="0">
            <a:off x="2318004" y="3113532"/>
            <a:ext cx="850392" cy="850392"/>
            <a:chOff x="0" y="0"/>
            <a:chExt cx="1133856" cy="1133856"/>
          </a:xfrm>
        </p:grpSpPr>
        <p:sp>
          <p:nvSpPr>
            <p:cNvPr name="Freeform 18" id="18"/>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9">
                <a:alphaModFix amt="0"/>
              </a:blip>
              <a:stretch>
                <a:fillRect l="-78303" t="0" r="-78303" b="0"/>
              </a:stretch>
            </a:blipFill>
          </p:spPr>
        </p:sp>
        <p:sp>
          <p:nvSpPr>
            <p:cNvPr name="TextBox 19" id="19"/>
            <p:cNvSpPr txBox="true"/>
            <p:nvPr/>
          </p:nvSpPr>
          <p:spPr>
            <a:xfrm>
              <a:off x="0" y="-28575"/>
              <a:ext cx="1133856" cy="1162431"/>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1</a:t>
              </a:r>
            </a:p>
          </p:txBody>
        </p:sp>
      </p:grpSp>
      <p:grpSp>
        <p:nvGrpSpPr>
          <p:cNvPr name="Group 20" id="20"/>
          <p:cNvGrpSpPr/>
          <p:nvPr/>
        </p:nvGrpSpPr>
        <p:grpSpPr>
          <a:xfrm rot="0">
            <a:off x="1028700" y="4183380"/>
            <a:ext cx="3429000" cy="548640"/>
            <a:chOff x="0" y="0"/>
            <a:chExt cx="4572000" cy="731520"/>
          </a:xfrm>
        </p:grpSpPr>
        <p:sp>
          <p:nvSpPr>
            <p:cNvPr name="Freeform 21" id="21"/>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9">
                <a:alphaModFix amt="0"/>
              </a:blip>
              <a:stretch>
                <a:fillRect l="0" t="-71781" r="0" b="-71781"/>
              </a:stretch>
            </a:blipFill>
          </p:spPr>
        </p:sp>
        <p:sp>
          <p:nvSpPr>
            <p:cNvPr name="TextBox 22" id="22"/>
            <p:cNvSpPr txBox="true"/>
            <p:nvPr/>
          </p:nvSpPr>
          <p:spPr>
            <a:xfrm>
              <a:off x="0" y="-19050"/>
              <a:ext cx="4572000" cy="750570"/>
            </a:xfrm>
            <a:prstGeom prst="rect">
              <a:avLst/>
            </a:prstGeom>
          </p:spPr>
          <p:txBody>
            <a:bodyPr anchor="ctr" rtlCol="false" tIns="0" lIns="0" bIns="0" rIns="0"/>
            <a:lstStyle/>
            <a:p>
              <a:pPr algn="ctr">
                <a:lnSpc>
                  <a:spcPts val="2520"/>
                </a:lnSpc>
              </a:pPr>
              <a:r>
                <a:rPr lang="en-US" sz="2100" b="true">
                  <a:solidFill>
                    <a:srgbClr val="0A1A23"/>
                  </a:solidFill>
                  <a:latin typeface="Poppins Bold"/>
                  <a:ea typeface="Poppins Bold"/>
                  <a:cs typeface="Poppins Bold"/>
                  <a:sym typeface="Poppins Bold"/>
                </a:rPr>
                <a:t>Predict</a:t>
              </a:r>
            </a:p>
          </p:txBody>
        </p:sp>
      </p:grpSp>
      <p:sp>
        <p:nvSpPr>
          <p:cNvPr name="TextBox 23" id="23"/>
          <p:cNvSpPr txBox="true"/>
          <p:nvPr/>
        </p:nvSpPr>
        <p:spPr>
          <a:xfrm rot="0">
            <a:off x="1330452" y="4812030"/>
            <a:ext cx="2825496" cy="2183130"/>
          </a:xfrm>
          <a:prstGeom prst="rect">
            <a:avLst/>
          </a:prstGeom>
        </p:spPr>
        <p:txBody>
          <a:bodyPr anchor="t" rtlCol="false" tIns="0" lIns="0" bIns="0" rIns="0">
            <a:spAutoFit/>
          </a:bodyPr>
          <a:lstStyle/>
          <a:p>
            <a:pPr algn="ctr">
              <a:lnSpc>
                <a:spcPts val="2475"/>
              </a:lnSpc>
            </a:pPr>
            <a:r>
              <a:rPr lang="en-US" sz="1650">
                <a:solidFill>
                  <a:srgbClr val="475569"/>
                </a:solidFill>
                <a:latin typeface="Poppins"/>
                <a:ea typeface="Poppins"/>
                <a:cs typeface="Poppins"/>
                <a:sym typeface="Poppins"/>
              </a:rPr>
              <a:t>Before you run it, write down the number you expect and why. On-Time Rate should be near 82 percent because the SLA is 90 and Adaeze is worried.</a:t>
            </a:r>
          </a:p>
        </p:txBody>
      </p:sp>
      <p:grpSp>
        <p:nvGrpSpPr>
          <p:cNvPr name="Group 24" id="24"/>
          <p:cNvGrpSpPr/>
          <p:nvPr/>
        </p:nvGrpSpPr>
        <p:grpSpPr>
          <a:xfrm rot="0">
            <a:off x="4485132" y="4183380"/>
            <a:ext cx="438912" cy="438912"/>
            <a:chOff x="0" y="0"/>
            <a:chExt cx="585216" cy="585216"/>
          </a:xfrm>
        </p:grpSpPr>
        <p:sp>
          <p:nvSpPr>
            <p:cNvPr name="Freeform 25" id="25"/>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26" id="26"/>
            <p:cNvSpPr txBox="true"/>
            <p:nvPr/>
          </p:nvSpPr>
          <p:spPr>
            <a:xfrm>
              <a:off x="0" y="-19050"/>
              <a:ext cx="585216" cy="604266"/>
            </a:xfrm>
            <a:prstGeom prst="rect">
              <a:avLst/>
            </a:prstGeom>
          </p:spPr>
          <p:txBody>
            <a:bodyPr anchor="ctr" rtlCol="false" tIns="0" lIns="0" bIns="0" rIns="0"/>
            <a:lstStyle/>
            <a:p>
              <a:pPr algn="ctr">
                <a:lnSpc>
                  <a:spcPts val="2649"/>
                </a:lnSpc>
              </a:pPr>
              <a:r>
                <a:rPr lang="en-US" sz="2208" b="true">
                  <a:solidFill>
                    <a:srgbClr val="387F7F"/>
                  </a:solidFill>
                  <a:latin typeface="Poppins Bold"/>
                  <a:ea typeface="Poppins Bold"/>
                  <a:cs typeface="Poppins Bold"/>
                  <a:sym typeface="Poppins Bold"/>
                </a:rPr>
                <a:t>›</a:t>
              </a:r>
            </a:p>
          </p:txBody>
        </p:sp>
      </p:grpSp>
      <p:grpSp>
        <p:nvGrpSpPr>
          <p:cNvPr name="Group 27" id="27"/>
          <p:cNvGrpSpPr/>
          <p:nvPr/>
        </p:nvGrpSpPr>
        <p:grpSpPr>
          <a:xfrm rot="0">
            <a:off x="4800600" y="2537460"/>
            <a:ext cx="3429000" cy="4663440"/>
            <a:chOff x="0" y="0"/>
            <a:chExt cx="4572000" cy="6217920"/>
          </a:xfrm>
        </p:grpSpPr>
        <p:sp>
          <p:nvSpPr>
            <p:cNvPr name="Freeform 28" id="28"/>
            <p:cNvSpPr/>
            <p:nvPr/>
          </p:nvSpPr>
          <p:spPr>
            <a:xfrm flipH="false" flipV="false" rot="0">
              <a:off x="0" y="0"/>
              <a:ext cx="4572000" cy="6217920"/>
            </a:xfrm>
            <a:custGeom>
              <a:avLst/>
              <a:gdLst/>
              <a:ahLst/>
              <a:cxnLst/>
              <a:rect r="r" b="b" t="t" l="l"/>
              <a:pathLst>
                <a:path h="6217920" w="4572000">
                  <a:moveTo>
                    <a:pt x="0" y="182880"/>
                  </a:moveTo>
                  <a:cubicBezTo>
                    <a:pt x="0" y="81915"/>
                    <a:pt x="81915" y="0"/>
                    <a:pt x="182880" y="0"/>
                  </a:cubicBezTo>
                  <a:lnTo>
                    <a:pt x="4389120" y="0"/>
                  </a:lnTo>
                  <a:cubicBezTo>
                    <a:pt x="4490085" y="0"/>
                    <a:pt x="4572000" y="81915"/>
                    <a:pt x="4572000" y="182880"/>
                  </a:cubicBezTo>
                  <a:lnTo>
                    <a:pt x="4572000" y="6035040"/>
                  </a:lnTo>
                  <a:cubicBezTo>
                    <a:pt x="4572000" y="6136005"/>
                    <a:pt x="4490085" y="6217920"/>
                    <a:pt x="4389120" y="6217920"/>
                  </a:cubicBezTo>
                  <a:lnTo>
                    <a:pt x="182880" y="6217920"/>
                  </a:lnTo>
                  <a:cubicBezTo>
                    <a:pt x="81915" y="6217920"/>
                    <a:pt x="0" y="6136005"/>
                    <a:pt x="0" y="6035040"/>
                  </a:cubicBezTo>
                  <a:close/>
                </a:path>
              </a:pathLst>
            </a:custGeom>
            <a:solidFill>
              <a:srgbClr val="FFFFFF"/>
            </a:solidFill>
          </p:spPr>
        </p:sp>
      </p:grpSp>
      <p:grpSp>
        <p:nvGrpSpPr>
          <p:cNvPr name="Group 29" id="29"/>
          <p:cNvGrpSpPr/>
          <p:nvPr/>
        </p:nvGrpSpPr>
        <p:grpSpPr>
          <a:xfrm rot="0">
            <a:off x="4800600" y="2537460"/>
            <a:ext cx="3429000" cy="123444"/>
            <a:chOff x="0" y="0"/>
            <a:chExt cx="4572000" cy="164592"/>
          </a:xfrm>
        </p:grpSpPr>
        <p:sp>
          <p:nvSpPr>
            <p:cNvPr name="Freeform 30" id="30"/>
            <p:cNvSpPr/>
            <p:nvPr/>
          </p:nvSpPr>
          <p:spPr>
            <a:xfrm flipH="false" flipV="false" rot="0">
              <a:off x="0" y="0"/>
              <a:ext cx="4572000" cy="164592"/>
            </a:xfrm>
            <a:custGeom>
              <a:avLst/>
              <a:gdLst/>
              <a:ahLst/>
              <a:cxnLst/>
              <a:rect r="r" b="b" t="t" l="l"/>
              <a:pathLst>
                <a:path h="164592" w="4572000">
                  <a:moveTo>
                    <a:pt x="0" y="0"/>
                  </a:moveTo>
                  <a:lnTo>
                    <a:pt x="4572000" y="0"/>
                  </a:lnTo>
                  <a:lnTo>
                    <a:pt x="4572000" y="164592"/>
                  </a:lnTo>
                  <a:lnTo>
                    <a:pt x="0" y="164592"/>
                  </a:lnTo>
                  <a:close/>
                </a:path>
              </a:pathLst>
            </a:custGeom>
            <a:solidFill>
              <a:srgbClr val="387F7F"/>
            </a:solidFill>
          </p:spPr>
        </p:sp>
      </p:grpSp>
      <p:grpSp>
        <p:nvGrpSpPr>
          <p:cNvPr name="Group 31" id="31"/>
          <p:cNvGrpSpPr/>
          <p:nvPr/>
        </p:nvGrpSpPr>
        <p:grpSpPr>
          <a:xfrm rot="0">
            <a:off x="6089904" y="3113532"/>
            <a:ext cx="850392" cy="850392"/>
            <a:chOff x="0" y="0"/>
            <a:chExt cx="1133856" cy="1133856"/>
          </a:xfrm>
        </p:grpSpPr>
        <p:sp>
          <p:nvSpPr>
            <p:cNvPr name="Freeform 32" id="32"/>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387F7F"/>
            </a:solidFill>
          </p:spPr>
        </p:sp>
      </p:grpSp>
      <p:grpSp>
        <p:nvGrpSpPr>
          <p:cNvPr name="Group 33" id="33"/>
          <p:cNvGrpSpPr/>
          <p:nvPr/>
        </p:nvGrpSpPr>
        <p:grpSpPr>
          <a:xfrm rot="0">
            <a:off x="6089904" y="3113532"/>
            <a:ext cx="850392" cy="850392"/>
            <a:chOff x="0" y="0"/>
            <a:chExt cx="1133856" cy="1133856"/>
          </a:xfrm>
        </p:grpSpPr>
        <p:sp>
          <p:nvSpPr>
            <p:cNvPr name="Freeform 34" id="34"/>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9">
                <a:alphaModFix amt="0"/>
              </a:blip>
              <a:stretch>
                <a:fillRect l="-78303" t="0" r="-78303" b="0"/>
              </a:stretch>
            </a:blipFill>
          </p:spPr>
        </p:sp>
        <p:sp>
          <p:nvSpPr>
            <p:cNvPr name="TextBox 35" id="35"/>
            <p:cNvSpPr txBox="true"/>
            <p:nvPr/>
          </p:nvSpPr>
          <p:spPr>
            <a:xfrm>
              <a:off x="0" y="-28575"/>
              <a:ext cx="1133856" cy="1162431"/>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2</a:t>
              </a:r>
            </a:p>
          </p:txBody>
        </p:sp>
      </p:grpSp>
      <p:grpSp>
        <p:nvGrpSpPr>
          <p:cNvPr name="Group 36" id="36"/>
          <p:cNvGrpSpPr/>
          <p:nvPr/>
        </p:nvGrpSpPr>
        <p:grpSpPr>
          <a:xfrm rot="0">
            <a:off x="4800600" y="4183380"/>
            <a:ext cx="3429000" cy="548640"/>
            <a:chOff x="0" y="0"/>
            <a:chExt cx="4572000" cy="731520"/>
          </a:xfrm>
        </p:grpSpPr>
        <p:sp>
          <p:nvSpPr>
            <p:cNvPr name="Freeform 37" id="37"/>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9">
                <a:alphaModFix amt="0"/>
              </a:blip>
              <a:stretch>
                <a:fillRect l="0" t="-71781" r="0" b="-71781"/>
              </a:stretch>
            </a:blipFill>
          </p:spPr>
        </p:sp>
        <p:sp>
          <p:nvSpPr>
            <p:cNvPr name="TextBox 38" id="38"/>
            <p:cNvSpPr txBox="true"/>
            <p:nvPr/>
          </p:nvSpPr>
          <p:spPr>
            <a:xfrm>
              <a:off x="0" y="-19050"/>
              <a:ext cx="4572000" cy="750570"/>
            </a:xfrm>
            <a:prstGeom prst="rect">
              <a:avLst/>
            </a:prstGeom>
          </p:spPr>
          <p:txBody>
            <a:bodyPr anchor="ctr" rtlCol="false" tIns="0" lIns="0" bIns="0" rIns="0"/>
            <a:lstStyle/>
            <a:p>
              <a:pPr algn="ctr">
                <a:lnSpc>
                  <a:spcPts val="2520"/>
                </a:lnSpc>
              </a:pPr>
              <a:r>
                <a:rPr lang="en-US" sz="2100" b="true">
                  <a:solidFill>
                    <a:srgbClr val="0A1A23"/>
                  </a:solidFill>
                  <a:latin typeface="Poppins Bold"/>
                  <a:ea typeface="Poppins Bold"/>
                  <a:cs typeface="Poppins Bold"/>
                  <a:sym typeface="Poppins Bold"/>
                </a:rPr>
                <a:t>Run it at total level</a:t>
              </a:r>
            </a:p>
          </p:txBody>
        </p:sp>
      </p:grpSp>
      <p:sp>
        <p:nvSpPr>
          <p:cNvPr name="TextBox 39" id="39"/>
          <p:cNvSpPr txBox="true"/>
          <p:nvPr/>
        </p:nvSpPr>
        <p:spPr>
          <a:xfrm rot="0">
            <a:off x="5102352" y="4812030"/>
            <a:ext cx="2825496" cy="2183130"/>
          </a:xfrm>
          <a:prstGeom prst="rect">
            <a:avLst/>
          </a:prstGeom>
        </p:spPr>
        <p:txBody>
          <a:bodyPr anchor="t" rtlCol="false" tIns="0" lIns="0" bIns="0" rIns="0">
            <a:spAutoFit/>
          </a:bodyPr>
          <a:lstStyle/>
          <a:p>
            <a:pPr algn="ctr">
              <a:lnSpc>
                <a:spcPts val="2475"/>
              </a:lnSpc>
            </a:pPr>
            <a:r>
              <a:rPr lang="en-US" sz="1650">
                <a:solidFill>
                  <a:srgbClr val="475569"/>
                </a:solidFill>
                <a:latin typeface="Poppins"/>
                <a:ea typeface="Poppins"/>
                <a:cs typeface="Poppins"/>
                <a:sym typeface="Poppins"/>
              </a:rPr>
              <a:t>No slicers, no filters, one card visual. 33,850 divided by 41,280 is 82.0 percent.</a:t>
            </a:r>
          </a:p>
        </p:txBody>
      </p:sp>
      <p:grpSp>
        <p:nvGrpSpPr>
          <p:cNvPr name="Group 40" id="40"/>
          <p:cNvGrpSpPr/>
          <p:nvPr/>
        </p:nvGrpSpPr>
        <p:grpSpPr>
          <a:xfrm rot="0">
            <a:off x="8257032" y="4183380"/>
            <a:ext cx="438912" cy="438912"/>
            <a:chOff x="0" y="0"/>
            <a:chExt cx="585216" cy="585216"/>
          </a:xfrm>
        </p:grpSpPr>
        <p:sp>
          <p:nvSpPr>
            <p:cNvPr name="Freeform 41" id="41"/>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42" id="42"/>
            <p:cNvSpPr txBox="true"/>
            <p:nvPr/>
          </p:nvSpPr>
          <p:spPr>
            <a:xfrm>
              <a:off x="0" y="-19050"/>
              <a:ext cx="585216" cy="604266"/>
            </a:xfrm>
            <a:prstGeom prst="rect">
              <a:avLst/>
            </a:prstGeom>
          </p:spPr>
          <p:txBody>
            <a:bodyPr anchor="ctr" rtlCol="false" tIns="0" lIns="0" bIns="0" rIns="0"/>
            <a:lstStyle/>
            <a:p>
              <a:pPr algn="ctr">
                <a:lnSpc>
                  <a:spcPts val="2649"/>
                </a:lnSpc>
              </a:pPr>
              <a:r>
                <a:rPr lang="en-US" sz="2208" b="true">
                  <a:solidFill>
                    <a:srgbClr val="387F7F"/>
                  </a:solidFill>
                  <a:latin typeface="Poppins Bold"/>
                  <a:ea typeface="Poppins Bold"/>
                  <a:cs typeface="Poppins Bold"/>
                  <a:sym typeface="Poppins Bold"/>
                </a:rPr>
                <a:t>›</a:t>
              </a:r>
            </a:p>
          </p:txBody>
        </p:sp>
      </p:grpSp>
      <p:grpSp>
        <p:nvGrpSpPr>
          <p:cNvPr name="Group 43" id="43"/>
          <p:cNvGrpSpPr/>
          <p:nvPr/>
        </p:nvGrpSpPr>
        <p:grpSpPr>
          <a:xfrm rot="0">
            <a:off x="8572500" y="2537460"/>
            <a:ext cx="3429000" cy="4663440"/>
            <a:chOff x="0" y="0"/>
            <a:chExt cx="4572000" cy="6217920"/>
          </a:xfrm>
        </p:grpSpPr>
        <p:sp>
          <p:nvSpPr>
            <p:cNvPr name="Freeform 44" id="44"/>
            <p:cNvSpPr/>
            <p:nvPr/>
          </p:nvSpPr>
          <p:spPr>
            <a:xfrm flipH="false" flipV="false" rot="0">
              <a:off x="0" y="0"/>
              <a:ext cx="4572000" cy="6217920"/>
            </a:xfrm>
            <a:custGeom>
              <a:avLst/>
              <a:gdLst/>
              <a:ahLst/>
              <a:cxnLst/>
              <a:rect r="r" b="b" t="t" l="l"/>
              <a:pathLst>
                <a:path h="6217920" w="4572000">
                  <a:moveTo>
                    <a:pt x="0" y="182880"/>
                  </a:moveTo>
                  <a:cubicBezTo>
                    <a:pt x="0" y="81915"/>
                    <a:pt x="81915" y="0"/>
                    <a:pt x="182880" y="0"/>
                  </a:cubicBezTo>
                  <a:lnTo>
                    <a:pt x="4389120" y="0"/>
                  </a:lnTo>
                  <a:cubicBezTo>
                    <a:pt x="4490085" y="0"/>
                    <a:pt x="4572000" y="81915"/>
                    <a:pt x="4572000" y="182880"/>
                  </a:cubicBezTo>
                  <a:lnTo>
                    <a:pt x="4572000" y="6035040"/>
                  </a:lnTo>
                  <a:cubicBezTo>
                    <a:pt x="4572000" y="6136005"/>
                    <a:pt x="4490085" y="6217920"/>
                    <a:pt x="4389120" y="6217920"/>
                  </a:cubicBezTo>
                  <a:lnTo>
                    <a:pt x="182880" y="6217920"/>
                  </a:lnTo>
                  <a:cubicBezTo>
                    <a:pt x="81915" y="6217920"/>
                    <a:pt x="0" y="6136005"/>
                    <a:pt x="0" y="6035040"/>
                  </a:cubicBezTo>
                  <a:close/>
                </a:path>
              </a:pathLst>
            </a:custGeom>
            <a:solidFill>
              <a:srgbClr val="FFFFFF"/>
            </a:solidFill>
          </p:spPr>
        </p:sp>
      </p:grpSp>
      <p:grpSp>
        <p:nvGrpSpPr>
          <p:cNvPr name="Group 45" id="45"/>
          <p:cNvGrpSpPr/>
          <p:nvPr/>
        </p:nvGrpSpPr>
        <p:grpSpPr>
          <a:xfrm rot="0">
            <a:off x="8572500" y="2537460"/>
            <a:ext cx="3429000" cy="123444"/>
            <a:chOff x="0" y="0"/>
            <a:chExt cx="4572000" cy="164592"/>
          </a:xfrm>
        </p:grpSpPr>
        <p:sp>
          <p:nvSpPr>
            <p:cNvPr name="Freeform 46" id="46"/>
            <p:cNvSpPr/>
            <p:nvPr/>
          </p:nvSpPr>
          <p:spPr>
            <a:xfrm flipH="false" flipV="false" rot="0">
              <a:off x="0" y="0"/>
              <a:ext cx="4572000" cy="164592"/>
            </a:xfrm>
            <a:custGeom>
              <a:avLst/>
              <a:gdLst/>
              <a:ahLst/>
              <a:cxnLst/>
              <a:rect r="r" b="b" t="t" l="l"/>
              <a:pathLst>
                <a:path h="164592" w="4572000">
                  <a:moveTo>
                    <a:pt x="0" y="0"/>
                  </a:moveTo>
                  <a:lnTo>
                    <a:pt x="4572000" y="0"/>
                  </a:lnTo>
                  <a:lnTo>
                    <a:pt x="4572000" y="164592"/>
                  </a:lnTo>
                  <a:lnTo>
                    <a:pt x="0" y="164592"/>
                  </a:lnTo>
                  <a:close/>
                </a:path>
              </a:pathLst>
            </a:custGeom>
            <a:solidFill>
              <a:srgbClr val="387F7F"/>
            </a:solidFill>
          </p:spPr>
        </p:sp>
      </p:grpSp>
      <p:grpSp>
        <p:nvGrpSpPr>
          <p:cNvPr name="Group 47" id="47"/>
          <p:cNvGrpSpPr/>
          <p:nvPr/>
        </p:nvGrpSpPr>
        <p:grpSpPr>
          <a:xfrm rot="0">
            <a:off x="9861804" y="3113532"/>
            <a:ext cx="850392" cy="850392"/>
            <a:chOff x="0" y="0"/>
            <a:chExt cx="1133856" cy="1133856"/>
          </a:xfrm>
        </p:grpSpPr>
        <p:sp>
          <p:nvSpPr>
            <p:cNvPr name="Freeform 48" id="48"/>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387F7F"/>
            </a:solidFill>
          </p:spPr>
        </p:sp>
      </p:grpSp>
      <p:grpSp>
        <p:nvGrpSpPr>
          <p:cNvPr name="Group 49" id="49"/>
          <p:cNvGrpSpPr/>
          <p:nvPr/>
        </p:nvGrpSpPr>
        <p:grpSpPr>
          <a:xfrm rot="0">
            <a:off x="9861804" y="3113532"/>
            <a:ext cx="850392" cy="850392"/>
            <a:chOff x="0" y="0"/>
            <a:chExt cx="1133856" cy="1133856"/>
          </a:xfrm>
        </p:grpSpPr>
        <p:sp>
          <p:nvSpPr>
            <p:cNvPr name="Freeform 50" id="50"/>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9">
                <a:alphaModFix amt="0"/>
              </a:blip>
              <a:stretch>
                <a:fillRect l="-78303" t="0" r="-78303" b="0"/>
              </a:stretch>
            </a:blipFill>
          </p:spPr>
        </p:sp>
        <p:sp>
          <p:nvSpPr>
            <p:cNvPr name="TextBox 51" id="51"/>
            <p:cNvSpPr txBox="true"/>
            <p:nvPr/>
          </p:nvSpPr>
          <p:spPr>
            <a:xfrm>
              <a:off x="0" y="-28575"/>
              <a:ext cx="1133856" cy="1162431"/>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3</a:t>
              </a:r>
            </a:p>
          </p:txBody>
        </p:sp>
      </p:grpSp>
      <p:grpSp>
        <p:nvGrpSpPr>
          <p:cNvPr name="Group 52" id="52"/>
          <p:cNvGrpSpPr/>
          <p:nvPr/>
        </p:nvGrpSpPr>
        <p:grpSpPr>
          <a:xfrm rot="0">
            <a:off x="8572500" y="4183380"/>
            <a:ext cx="3429000" cy="548640"/>
            <a:chOff x="0" y="0"/>
            <a:chExt cx="4572000" cy="731520"/>
          </a:xfrm>
        </p:grpSpPr>
        <p:sp>
          <p:nvSpPr>
            <p:cNvPr name="Freeform 53" id="53"/>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9">
                <a:alphaModFix amt="0"/>
              </a:blip>
              <a:stretch>
                <a:fillRect l="0" t="-71781" r="0" b="-71781"/>
              </a:stretch>
            </a:blipFill>
          </p:spPr>
        </p:sp>
        <p:sp>
          <p:nvSpPr>
            <p:cNvPr name="TextBox 54" id="54"/>
            <p:cNvSpPr txBox="true"/>
            <p:nvPr/>
          </p:nvSpPr>
          <p:spPr>
            <a:xfrm>
              <a:off x="0" y="-19050"/>
              <a:ext cx="4572000" cy="750570"/>
            </a:xfrm>
            <a:prstGeom prst="rect">
              <a:avLst/>
            </a:prstGeom>
          </p:spPr>
          <p:txBody>
            <a:bodyPr anchor="ctr" rtlCol="false" tIns="0" lIns="0" bIns="0" rIns="0"/>
            <a:lstStyle/>
            <a:p>
              <a:pPr algn="ctr">
                <a:lnSpc>
                  <a:spcPts val="2520"/>
                </a:lnSpc>
              </a:pPr>
              <a:r>
                <a:rPr lang="en-US" sz="2100" b="true">
                  <a:solidFill>
                    <a:srgbClr val="0A1A23"/>
                  </a:solidFill>
                  <a:latin typeface="Poppins Bold"/>
                  <a:ea typeface="Poppins Bold"/>
                  <a:cs typeface="Poppins Bold"/>
                  <a:sym typeface="Poppins Bold"/>
                </a:rPr>
                <a:t>Reconcile against source</a:t>
              </a:r>
            </a:p>
          </p:txBody>
        </p:sp>
      </p:grpSp>
      <p:sp>
        <p:nvSpPr>
          <p:cNvPr name="TextBox 55" id="55"/>
          <p:cNvSpPr txBox="true"/>
          <p:nvPr/>
        </p:nvSpPr>
        <p:spPr>
          <a:xfrm rot="0">
            <a:off x="8874252" y="4812030"/>
            <a:ext cx="2825496" cy="2183130"/>
          </a:xfrm>
          <a:prstGeom prst="rect">
            <a:avLst/>
          </a:prstGeom>
        </p:spPr>
        <p:txBody>
          <a:bodyPr anchor="t" rtlCol="false" tIns="0" lIns="0" bIns="0" rIns="0">
            <a:spAutoFit/>
          </a:bodyPr>
          <a:lstStyle/>
          <a:p>
            <a:pPr algn="ctr">
              <a:lnSpc>
                <a:spcPts val="2475"/>
              </a:lnSpc>
            </a:pPr>
            <a:r>
              <a:rPr lang="en-US" sz="1650">
                <a:solidFill>
                  <a:srgbClr val="475569"/>
                </a:solidFill>
                <a:latin typeface="Poppins"/>
                <a:ea typeface="Poppins"/>
                <a:cs typeface="Poppins"/>
                <a:sym typeface="Poppins"/>
              </a:rPr>
              <a:t>Filter the raw table in Table view to Status equals On time and read the row count. It should read 33,850.</a:t>
            </a:r>
          </a:p>
        </p:txBody>
      </p:sp>
      <p:grpSp>
        <p:nvGrpSpPr>
          <p:cNvPr name="Group 56" id="56"/>
          <p:cNvGrpSpPr/>
          <p:nvPr/>
        </p:nvGrpSpPr>
        <p:grpSpPr>
          <a:xfrm rot="0">
            <a:off x="12028932" y="4183380"/>
            <a:ext cx="438912" cy="438912"/>
            <a:chOff x="0" y="0"/>
            <a:chExt cx="585216" cy="585216"/>
          </a:xfrm>
        </p:grpSpPr>
        <p:sp>
          <p:nvSpPr>
            <p:cNvPr name="Freeform 57" id="57"/>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close/>
                </a:path>
              </a:pathLst>
            </a:custGeom>
            <a:blipFill>
              <a:blip r:embed="rId9">
                <a:alphaModFix amt="0"/>
              </a:blip>
              <a:stretch>
                <a:fillRect l="-78303" t="0" r="-78303" b="0"/>
              </a:stretch>
            </a:blipFill>
          </p:spPr>
        </p:sp>
        <p:sp>
          <p:nvSpPr>
            <p:cNvPr name="TextBox 58" id="58"/>
            <p:cNvSpPr txBox="true"/>
            <p:nvPr/>
          </p:nvSpPr>
          <p:spPr>
            <a:xfrm>
              <a:off x="0" y="-19050"/>
              <a:ext cx="585216" cy="604266"/>
            </a:xfrm>
            <a:prstGeom prst="rect">
              <a:avLst/>
            </a:prstGeom>
          </p:spPr>
          <p:txBody>
            <a:bodyPr anchor="ctr" rtlCol="false" tIns="0" lIns="0" bIns="0" rIns="0"/>
            <a:lstStyle/>
            <a:p>
              <a:pPr algn="ctr">
                <a:lnSpc>
                  <a:spcPts val="2649"/>
                </a:lnSpc>
              </a:pPr>
              <a:r>
                <a:rPr lang="en-US" sz="2208" b="true">
                  <a:solidFill>
                    <a:srgbClr val="387F7F"/>
                  </a:solidFill>
                  <a:latin typeface="Poppins Bold"/>
                  <a:ea typeface="Poppins Bold"/>
                  <a:cs typeface="Poppins Bold"/>
                  <a:sym typeface="Poppins Bold"/>
                </a:rPr>
                <a:t>›</a:t>
              </a:r>
            </a:p>
          </p:txBody>
        </p:sp>
      </p:grpSp>
      <p:grpSp>
        <p:nvGrpSpPr>
          <p:cNvPr name="Group 59" id="59"/>
          <p:cNvGrpSpPr/>
          <p:nvPr/>
        </p:nvGrpSpPr>
        <p:grpSpPr>
          <a:xfrm rot="0">
            <a:off x="12344400" y="2537460"/>
            <a:ext cx="3429000" cy="4663440"/>
            <a:chOff x="0" y="0"/>
            <a:chExt cx="4572000" cy="6217920"/>
          </a:xfrm>
        </p:grpSpPr>
        <p:sp>
          <p:nvSpPr>
            <p:cNvPr name="Freeform 60" id="60"/>
            <p:cNvSpPr/>
            <p:nvPr/>
          </p:nvSpPr>
          <p:spPr>
            <a:xfrm flipH="false" flipV="false" rot="0">
              <a:off x="0" y="0"/>
              <a:ext cx="4572000" cy="6217920"/>
            </a:xfrm>
            <a:custGeom>
              <a:avLst/>
              <a:gdLst/>
              <a:ahLst/>
              <a:cxnLst/>
              <a:rect r="r" b="b" t="t" l="l"/>
              <a:pathLst>
                <a:path h="6217920" w="4572000">
                  <a:moveTo>
                    <a:pt x="0" y="182880"/>
                  </a:moveTo>
                  <a:cubicBezTo>
                    <a:pt x="0" y="81915"/>
                    <a:pt x="81915" y="0"/>
                    <a:pt x="182880" y="0"/>
                  </a:cubicBezTo>
                  <a:lnTo>
                    <a:pt x="4389120" y="0"/>
                  </a:lnTo>
                  <a:cubicBezTo>
                    <a:pt x="4490085" y="0"/>
                    <a:pt x="4572000" y="81915"/>
                    <a:pt x="4572000" y="182880"/>
                  </a:cubicBezTo>
                  <a:lnTo>
                    <a:pt x="4572000" y="6035040"/>
                  </a:lnTo>
                  <a:cubicBezTo>
                    <a:pt x="4572000" y="6136005"/>
                    <a:pt x="4490085" y="6217920"/>
                    <a:pt x="4389120" y="6217920"/>
                  </a:cubicBezTo>
                  <a:lnTo>
                    <a:pt x="182880" y="6217920"/>
                  </a:lnTo>
                  <a:cubicBezTo>
                    <a:pt x="81915" y="6217920"/>
                    <a:pt x="0" y="6136005"/>
                    <a:pt x="0" y="6035040"/>
                  </a:cubicBezTo>
                  <a:close/>
                </a:path>
              </a:pathLst>
            </a:custGeom>
            <a:solidFill>
              <a:srgbClr val="FFFFFF"/>
            </a:solidFill>
          </p:spPr>
        </p:sp>
      </p:grpSp>
      <p:grpSp>
        <p:nvGrpSpPr>
          <p:cNvPr name="Group 61" id="61"/>
          <p:cNvGrpSpPr/>
          <p:nvPr/>
        </p:nvGrpSpPr>
        <p:grpSpPr>
          <a:xfrm rot="0">
            <a:off x="12344400" y="2537460"/>
            <a:ext cx="3429000" cy="123444"/>
            <a:chOff x="0" y="0"/>
            <a:chExt cx="4572000" cy="164592"/>
          </a:xfrm>
        </p:grpSpPr>
        <p:sp>
          <p:nvSpPr>
            <p:cNvPr name="Freeform 62" id="62"/>
            <p:cNvSpPr/>
            <p:nvPr/>
          </p:nvSpPr>
          <p:spPr>
            <a:xfrm flipH="false" flipV="false" rot="0">
              <a:off x="0" y="0"/>
              <a:ext cx="4572000" cy="164592"/>
            </a:xfrm>
            <a:custGeom>
              <a:avLst/>
              <a:gdLst/>
              <a:ahLst/>
              <a:cxnLst/>
              <a:rect r="r" b="b" t="t" l="l"/>
              <a:pathLst>
                <a:path h="164592" w="4572000">
                  <a:moveTo>
                    <a:pt x="0" y="0"/>
                  </a:moveTo>
                  <a:lnTo>
                    <a:pt x="4572000" y="0"/>
                  </a:lnTo>
                  <a:lnTo>
                    <a:pt x="4572000" y="164592"/>
                  </a:lnTo>
                  <a:lnTo>
                    <a:pt x="0" y="164592"/>
                  </a:lnTo>
                  <a:close/>
                </a:path>
              </a:pathLst>
            </a:custGeom>
            <a:solidFill>
              <a:srgbClr val="387F7F"/>
            </a:solidFill>
          </p:spPr>
        </p:sp>
      </p:grpSp>
      <p:grpSp>
        <p:nvGrpSpPr>
          <p:cNvPr name="Group 63" id="63"/>
          <p:cNvGrpSpPr/>
          <p:nvPr/>
        </p:nvGrpSpPr>
        <p:grpSpPr>
          <a:xfrm rot="0">
            <a:off x="13633704" y="3113532"/>
            <a:ext cx="850392" cy="850392"/>
            <a:chOff x="0" y="0"/>
            <a:chExt cx="1133856" cy="1133856"/>
          </a:xfrm>
        </p:grpSpPr>
        <p:sp>
          <p:nvSpPr>
            <p:cNvPr name="Freeform 64" id="64"/>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387F7F"/>
            </a:solidFill>
          </p:spPr>
        </p:sp>
      </p:grpSp>
      <p:grpSp>
        <p:nvGrpSpPr>
          <p:cNvPr name="Group 65" id="65"/>
          <p:cNvGrpSpPr/>
          <p:nvPr/>
        </p:nvGrpSpPr>
        <p:grpSpPr>
          <a:xfrm rot="0">
            <a:off x="13633704" y="3113532"/>
            <a:ext cx="850392" cy="850392"/>
            <a:chOff x="0" y="0"/>
            <a:chExt cx="1133856" cy="1133856"/>
          </a:xfrm>
        </p:grpSpPr>
        <p:sp>
          <p:nvSpPr>
            <p:cNvPr name="Freeform 66" id="66"/>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9">
                <a:alphaModFix amt="0"/>
              </a:blip>
              <a:stretch>
                <a:fillRect l="-78303" t="0" r="-78303" b="0"/>
              </a:stretch>
            </a:blipFill>
          </p:spPr>
        </p:sp>
        <p:sp>
          <p:nvSpPr>
            <p:cNvPr name="TextBox 67" id="67"/>
            <p:cNvSpPr txBox="true"/>
            <p:nvPr/>
          </p:nvSpPr>
          <p:spPr>
            <a:xfrm>
              <a:off x="0" y="-28575"/>
              <a:ext cx="1133856" cy="1162431"/>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4</a:t>
              </a:r>
            </a:p>
          </p:txBody>
        </p:sp>
      </p:grpSp>
      <p:grpSp>
        <p:nvGrpSpPr>
          <p:cNvPr name="Group 68" id="68"/>
          <p:cNvGrpSpPr/>
          <p:nvPr/>
        </p:nvGrpSpPr>
        <p:grpSpPr>
          <a:xfrm rot="0">
            <a:off x="12344400" y="4183380"/>
            <a:ext cx="3429000" cy="548640"/>
            <a:chOff x="0" y="0"/>
            <a:chExt cx="4572000" cy="731520"/>
          </a:xfrm>
        </p:grpSpPr>
        <p:sp>
          <p:nvSpPr>
            <p:cNvPr name="Freeform 69" id="69"/>
            <p:cNvSpPr/>
            <p:nvPr/>
          </p:nvSpPr>
          <p:spPr>
            <a:xfrm flipH="false" flipV="false" rot="0">
              <a:off x="0" y="0"/>
              <a:ext cx="4572000" cy="731520"/>
            </a:xfrm>
            <a:custGeom>
              <a:avLst/>
              <a:gdLst/>
              <a:ahLst/>
              <a:cxnLst/>
              <a:rect r="r" b="b" t="t" l="l"/>
              <a:pathLst>
                <a:path h="731520" w="4572000">
                  <a:moveTo>
                    <a:pt x="0" y="0"/>
                  </a:moveTo>
                  <a:lnTo>
                    <a:pt x="4572000" y="0"/>
                  </a:lnTo>
                  <a:lnTo>
                    <a:pt x="4572000" y="731520"/>
                  </a:lnTo>
                  <a:lnTo>
                    <a:pt x="0" y="731520"/>
                  </a:lnTo>
                  <a:close/>
                </a:path>
              </a:pathLst>
            </a:custGeom>
            <a:blipFill>
              <a:blip r:embed="rId9">
                <a:alphaModFix amt="0"/>
              </a:blip>
              <a:stretch>
                <a:fillRect l="0" t="-71781" r="0" b="-71781"/>
              </a:stretch>
            </a:blipFill>
          </p:spPr>
        </p:sp>
        <p:sp>
          <p:nvSpPr>
            <p:cNvPr name="TextBox 70" id="70"/>
            <p:cNvSpPr txBox="true"/>
            <p:nvPr/>
          </p:nvSpPr>
          <p:spPr>
            <a:xfrm>
              <a:off x="0" y="-19050"/>
              <a:ext cx="4572000" cy="750570"/>
            </a:xfrm>
            <a:prstGeom prst="rect">
              <a:avLst/>
            </a:prstGeom>
          </p:spPr>
          <p:txBody>
            <a:bodyPr anchor="ctr" rtlCol="false" tIns="0" lIns="0" bIns="0" rIns="0"/>
            <a:lstStyle/>
            <a:p>
              <a:pPr algn="ctr">
                <a:lnSpc>
                  <a:spcPts val="2520"/>
                </a:lnSpc>
              </a:pPr>
              <a:r>
                <a:rPr lang="en-US" sz="2100" b="true">
                  <a:solidFill>
                    <a:srgbClr val="0A1A23"/>
                  </a:solidFill>
                  <a:latin typeface="Poppins Bold"/>
                  <a:ea typeface="Poppins Bold"/>
                  <a:cs typeface="Poppins Bold"/>
                  <a:sym typeface="Poppins Bold"/>
                </a:rPr>
                <a:t>Break it deliberately</a:t>
              </a:r>
            </a:p>
          </p:txBody>
        </p:sp>
      </p:grpSp>
      <p:sp>
        <p:nvSpPr>
          <p:cNvPr name="TextBox 71" id="71"/>
          <p:cNvSpPr txBox="true"/>
          <p:nvPr/>
        </p:nvSpPr>
        <p:spPr>
          <a:xfrm rot="0">
            <a:off x="12646152" y="4812030"/>
            <a:ext cx="2825496" cy="2183130"/>
          </a:xfrm>
          <a:prstGeom prst="rect">
            <a:avLst/>
          </a:prstGeom>
        </p:spPr>
        <p:txBody>
          <a:bodyPr anchor="t" rtlCol="false" tIns="0" lIns="0" bIns="0" rIns="0">
            <a:spAutoFit/>
          </a:bodyPr>
          <a:lstStyle/>
          <a:p>
            <a:pPr algn="ctr">
              <a:lnSpc>
                <a:spcPts val="2475"/>
              </a:lnSpc>
            </a:pPr>
            <a:r>
              <a:rPr lang="en-US" sz="1650">
                <a:solidFill>
                  <a:srgbClr val="475569"/>
                </a:solidFill>
                <a:latin typeface="Poppins"/>
                <a:ea typeface="Poppins"/>
                <a:cs typeface="Poppins"/>
                <a:sym typeface="Poppins"/>
              </a:rPr>
              <a:t>Filter to a single rider with few deliveries. This is where divide-by-zero and blank handling show up.</a:t>
            </a:r>
          </a:p>
        </p:txBody>
      </p:sp>
      <p:grpSp>
        <p:nvGrpSpPr>
          <p:cNvPr name="Group 72" id="72"/>
          <p:cNvGrpSpPr/>
          <p:nvPr/>
        </p:nvGrpSpPr>
        <p:grpSpPr>
          <a:xfrm rot="0">
            <a:off x="1028700" y="7475220"/>
            <a:ext cx="14744700" cy="1440180"/>
            <a:chOff x="0" y="0"/>
            <a:chExt cx="19659600" cy="1920240"/>
          </a:xfrm>
        </p:grpSpPr>
        <p:sp>
          <p:nvSpPr>
            <p:cNvPr name="Freeform 73" id="73"/>
            <p:cNvSpPr/>
            <p:nvPr/>
          </p:nvSpPr>
          <p:spPr>
            <a:xfrm flipH="false" flipV="false" rot="0">
              <a:off x="0" y="0"/>
              <a:ext cx="19659600" cy="1920240"/>
            </a:xfrm>
            <a:custGeom>
              <a:avLst/>
              <a:gdLst/>
              <a:ahLst/>
              <a:cxnLst/>
              <a:rect r="r" b="b" t="t" l="l"/>
              <a:pathLst>
                <a:path h="1920240" w="19659600">
                  <a:moveTo>
                    <a:pt x="0" y="164592"/>
                  </a:moveTo>
                  <a:cubicBezTo>
                    <a:pt x="0" y="73660"/>
                    <a:pt x="73660" y="0"/>
                    <a:pt x="164592" y="0"/>
                  </a:cubicBezTo>
                  <a:lnTo>
                    <a:pt x="19495008" y="0"/>
                  </a:lnTo>
                  <a:cubicBezTo>
                    <a:pt x="19585939" y="0"/>
                    <a:pt x="19659600" y="73660"/>
                    <a:pt x="19659600" y="164592"/>
                  </a:cubicBezTo>
                  <a:lnTo>
                    <a:pt x="19659600" y="1755648"/>
                  </a:lnTo>
                  <a:cubicBezTo>
                    <a:pt x="19659600" y="1846580"/>
                    <a:pt x="19585939" y="1920240"/>
                    <a:pt x="19495008" y="1920240"/>
                  </a:cubicBezTo>
                  <a:lnTo>
                    <a:pt x="164592" y="1920240"/>
                  </a:lnTo>
                  <a:cubicBezTo>
                    <a:pt x="73660" y="1920240"/>
                    <a:pt x="0" y="1846580"/>
                    <a:pt x="0" y="1755648"/>
                  </a:cubicBezTo>
                  <a:close/>
                </a:path>
              </a:pathLst>
            </a:custGeom>
            <a:solidFill>
              <a:srgbClr val="EEF4F4"/>
            </a:solidFill>
          </p:spPr>
        </p:sp>
      </p:grpSp>
      <p:grpSp>
        <p:nvGrpSpPr>
          <p:cNvPr name="Group 74" id="74"/>
          <p:cNvGrpSpPr/>
          <p:nvPr/>
        </p:nvGrpSpPr>
        <p:grpSpPr>
          <a:xfrm rot="0">
            <a:off x="1028700" y="7475220"/>
            <a:ext cx="102870" cy="1440180"/>
            <a:chOff x="0" y="0"/>
            <a:chExt cx="137160" cy="1920240"/>
          </a:xfrm>
        </p:grpSpPr>
        <p:sp>
          <p:nvSpPr>
            <p:cNvPr name="Freeform 75" id="75"/>
            <p:cNvSpPr/>
            <p:nvPr/>
          </p:nvSpPr>
          <p:spPr>
            <a:xfrm flipH="false" flipV="false" rot="0">
              <a:off x="0" y="0"/>
              <a:ext cx="137160" cy="1920240"/>
            </a:xfrm>
            <a:custGeom>
              <a:avLst/>
              <a:gdLst/>
              <a:ahLst/>
              <a:cxnLst/>
              <a:rect r="r" b="b" t="t" l="l"/>
              <a:pathLst>
                <a:path h="1920240" w="137160">
                  <a:moveTo>
                    <a:pt x="0" y="0"/>
                  </a:moveTo>
                  <a:lnTo>
                    <a:pt x="137160" y="0"/>
                  </a:lnTo>
                  <a:lnTo>
                    <a:pt x="137160" y="1920240"/>
                  </a:lnTo>
                  <a:lnTo>
                    <a:pt x="0" y="1920240"/>
                  </a:lnTo>
                  <a:close/>
                </a:path>
              </a:pathLst>
            </a:custGeom>
            <a:solidFill>
              <a:srgbClr val="387F7F"/>
            </a:solidFill>
          </p:spPr>
        </p:sp>
      </p:grpSp>
      <p:grpSp>
        <p:nvGrpSpPr>
          <p:cNvPr name="Group 76" id="76"/>
          <p:cNvGrpSpPr/>
          <p:nvPr/>
        </p:nvGrpSpPr>
        <p:grpSpPr>
          <a:xfrm rot="0">
            <a:off x="1577340" y="7475220"/>
            <a:ext cx="13853160" cy="1440180"/>
            <a:chOff x="0" y="0"/>
            <a:chExt cx="18470880" cy="1920240"/>
          </a:xfrm>
        </p:grpSpPr>
        <p:sp>
          <p:nvSpPr>
            <p:cNvPr name="Freeform 77" id="77"/>
            <p:cNvSpPr/>
            <p:nvPr/>
          </p:nvSpPr>
          <p:spPr>
            <a:xfrm flipH="false" flipV="false" rot="0">
              <a:off x="0" y="0"/>
              <a:ext cx="18470880" cy="1920240"/>
            </a:xfrm>
            <a:custGeom>
              <a:avLst/>
              <a:gdLst/>
              <a:ahLst/>
              <a:cxnLst/>
              <a:rect r="r" b="b" t="t" l="l"/>
              <a:pathLst>
                <a:path h="1920240" w="18470880">
                  <a:moveTo>
                    <a:pt x="0" y="0"/>
                  </a:moveTo>
                  <a:lnTo>
                    <a:pt x="18470880" y="0"/>
                  </a:lnTo>
                  <a:lnTo>
                    <a:pt x="18470880" y="1920240"/>
                  </a:lnTo>
                  <a:lnTo>
                    <a:pt x="0" y="1920240"/>
                  </a:lnTo>
                  <a:close/>
                </a:path>
              </a:pathLst>
            </a:custGeom>
            <a:blipFill>
              <a:blip r:embed="rId9">
                <a:alphaModFix amt="0"/>
              </a:blip>
              <a:stretch>
                <a:fillRect l="0" t="-137427" r="0" b="-137427"/>
              </a:stretch>
            </a:blipFill>
          </p:spPr>
        </p:sp>
        <p:sp>
          <p:nvSpPr>
            <p:cNvPr name="TextBox 78" id="78"/>
            <p:cNvSpPr txBox="true"/>
            <p:nvPr/>
          </p:nvSpPr>
          <p:spPr>
            <a:xfrm>
              <a:off x="0" y="-85725"/>
              <a:ext cx="18470880" cy="2005965"/>
            </a:xfrm>
            <a:prstGeom prst="rect">
              <a:avLst/>
            </a:prstGeom>
          </p:spPr>
          <p:txBody>
            <a:bodyPr anchor="ctr" rtlCol="false" tIns="0" lIns="0" bIns="0" rIns="0"/>
            <a:lstStyle/>
            <a:p>
              <a:pPr algn="l">
                <a:lnSpc>
                  <a:spcPts val="3375"/>
                </a:lnSpc>
              </a:pPr>
              <a:r>
                <a:rPr lang="en-US" sz="2250" b="true">
                  <a:solidFill>
                    <a:srgbClr val="387F7F"/>
                  </a:solidFill>
                  <a:latin typeface="Poppins Bold"/>
                  <a:ea typeface="Poppins Bold"/>
                  <a:cs typeface="Poppins Bold"/>
                  <a:sym typeface="Poppins Bold"/>
                </a:rPr>
                <a:t>You have now used prediction on joins, on models and on measures. In Module 8 you will use it on AI output. It is the same move.</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392822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Th</a:t>
            </a:r>
            <a:r>
              <a:rPr lang="en-US" sz="5000">
                <a:solidFill>
                  <a:srgbClr val="388080"/>
                </a:solidFill>
                <a:latin typeface="Poppins"/>
                <a:ea typeface="Poppins"/>
                <a:cs typeface="Poppins"/>
                <a:sym typeface="Poppins"/>
              </a:rPr>
              <a:t>ree ways a measure looks right and is not</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1028700" y="2468880"/>
            <a:ext cx="4594860" cy="4663440"/>
            <a:chOff x="0" y="0"/>
            <a:chExt cx="6126480" cy="6217920"/>
          </a:xfrm>
        </p:grpSpPr>
        <p:sp>
          <p:nvSpPr>
            <p:cNvPr name="Freeform 12" id="12"/>
            <p:cNvSpPr/>
            <p:nvPr/>
          </p:nvSpPr>
          <p:spPr>
            <a:xfrm flipH="false" flipV="false" rot="0">
              <a:off x="0" y="0"/>
              <a:ext cx="6126480" cy="6217920"/>
            </a:xfrm>
            <a:custGeom>
              <a:avLst/>
              <a:gdLst/>
              <a:ahLst/>
              <a:cxnLst/>
              <a:rect r="r" b="b" t="t" l="l"/>
              <a:pathLst>
                <a:path h="6217920" w="6126480">
                  <a:moveTo>
                    <a:pt x="0" y="182880"/>
                  </a:moveTo>
                  <a:cubicBezTo>
                    <a:pt x="0" y="81915"/>
                    <a:pt x="81915" y="0"/>
                    <a:pt x="182880" y="0"/>
                  </a:cubicBezTo>
                  <a:lnTo>
                    <a:pt x="5943600" y="0"/>
                  </a:lnTo>
                  <a:cubicBezTo>
                    <a:pt x="6044565" y="0"/>
                    <a:pt x="6126480" y="81915"/>
                    <a:pt x="6126480" y="182880"/>
                  </a:cubicBezTo>
                  <a:lnTo>
                    <a:pt x="6126480" y="6035040"/>
                  </a:lnTo>
                  <a:cubicBezTo>
                    <a:pt x="6126480" y="6136005"/>
                    <a:pt x="6044565" y="6217920"/>
                    <a:pt x="5943600" y="6217920"/>
                  </a:cubicBezTo>
                  <a:lnTo>
                    <a:pt x="182880" y="6217920"/>
                  </a:lnTo>
                  <a:cubicBezTo>
                    <a:pt x="81915" y="6217920"/>
                    <a:pt x="0" y="6136005"/>
                    <a:pt x="0" y="6035040"/>
                  </a:cubicBezTo>
                  <a:close/>
                </a:path>
              </a:pathLst>
            </a:custGeom>
            <a:solidFill>
              <a:srgbClr val="FFFFFF"/>
            </a:solidFill>
          </p:spPr>
        </p:sp>
      </p:grpSp>
      <p:grpSp>
        <p:nvGrpSpPr>
          <p:cNvPr name="Group 13" id="13"/>
          <p:cNvGrpSpPr/>
          <p:nvPr/>
        </p:nvGrpSpPr>
        <p:grpSpPr>
          <a:xfrm rot="0">
            <a:off x="1028700" y="2468880"/>
            <a:ext cx="4594860" cy="123444"/>
            <a:chOff x="0" y="0"/>
            <a:chExt cx="6126480" cy="164592"/>
          </a:xfrm>
        </p:grpSpPr>
        <p:sp>
          <p:nvSpPr>
            <p:cNvPr name="Freeform 14" id="14"/>
            <p:cNvSpPr/>
            <p:nvPr/>
          </p:nvSpPr>
          <p:spPr>
            <a:xfrm flipH="false" flipV="false" rot="0">
              <a:off x="0" y="0"/>
              <a:ext cx="6126480" cy="164592"/>
            </a:xfrm>
            <a:custGeom>
              <a:avLst/>
              <a:gdLst/>
              <a:ahLst/>
              <a:cxnLst/>
              <a:rect r="r" b="b" t="t" l="l"/>
              <a:pathLst>
                <a:path h="164592" w="6126480">
                  <a:moveTo>
                    <a:pt x="0" y="0"/>
                  </a:moveTo>
                  <a:lnTo>
                    <a:pt x="6126480" y="0"/>
                  </a:lnTo>
                  <a:lnTo>
                    <a:pt x="6126480" y="164592"/>
                  </a:lnTo>
                  <a:lnTo>
                    <a:pt x="0" y="164592"/>
                  </a:lnTo>
                  <a:close/>
                </a:path>
              </a:pathLst>
            </a:custGeom>
            <a:solidFill>
              <a:srgbClr val="C9821F"/>
            </a:solidFill>
          </p:spPr>
        </p:sp>
      </p:grpSp>
      <p:grpSp>
        <p:nvGrpSpPr>
          <p:cNvPr name="Group 15" id="15"/>
          <p:cNvGrpSpPr/>
          <p:nvPr/>
        </p:nvGrpSpPr>
        <p:grpSpPr>
          <a:xfrm rot="0">
            <a:off x="1467612" y="3044952"/>
            <a:ext cx="822960" cy="822960"/>
            <a:chOff x="0" y="0"/>
            <a:chExt cx="1097280" cy="1097280"/>
          </a:xfrm>
        </p:grpSpPr>
        <p:sp>
          <p:nvSpPr>
            <p:cNvPr name="Freeform 16" id="16"/>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C9821F"/>
            </a:solidFill>
          </p:spPr>
        </p:sp>
      </p:grpSp>
      <p:grpSp>
        <p:nvGrpSpPr>
          <p:cNvPr name="Group 17" id="17"/>
          <p:cNvGrpSpPr/>
          <p:nvPr/>
        </p:nvGrpSpPr>
        <p:grpSpPr>
          <a:xfrm rot="0">
            <a:off x="1467612" y="3044952"/>
            <a:ext cx="822960" cy="822960"/>
            <a:chOff x="0" y="0"/>
            <a:chExt cx="1097280" cy="1097280"/>
          </a:xfrm>
        </p:grpSpPr>
        <p:sp>
          <p:nvSpPr>
            <p:cNvPr name="Freeform 18" id="18"/>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19" id="19"/>
            <p:cNvSpPr txBox="true"/>
            <p:nvPr/>
          </p:nvSpPr>
          <p:spPr>
            <a:xfrm>
              <a:off x="0" y="-19050"/>
              <a:ext cx="1097280" cy="111633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1</a:t>
              </a:r>
            </a:p>
          </p:txBody>
        </p:sp>
      </p:grpSp>
      <p:grpSp>
        <p:nvGrpSpPr>
          <p:cNvPr name="Group 20" id="20"/>
          <p:cNvGrpSpPr/>
          <p:nvPr/>
        </p:nvGrpSpPr>
        <p:grpSpPr>
          <a:xfrm rot="0">
            <a:off x="2468880" y="2948940"/>
            <a:ext cx="2811780" cy="1028700"/>
            <a:chOff x="0" y="0"/>
            <a:chExt cx="3749040" cy="1371600"/>
          </a:xfrm>
        </p:grpSpPr>
        <p:sp>
          <p:nvSpPr>
            <p:cNvPr name="Freeform 21" id="21"/>
            <p:cNvSpPr/>
            <p:nvPr/>
          </p:nvSpPr>
          <p:spPr>
            <a:xfrm flipH="false" flipV="false" rot="0">
              <a:off x="0" y="0"/>
              <a:ext cx="3749040" cy="1371600"/>
            </a:xfrm>
            <a:custGeom>
              <a:avLst/>
              <a:gdLst/>
              <a:ahLst/>
              <a:cxnLst/>
              <a:rect r="r" b="b" t="t" l="l"/>
              <a:pathLst>
                <a:path h="1371600" w="3749040">
                  <a:moveTo>
                    <a:pt x="0" y="0"/>
                  </a:moveTo>
                  <a:lnTo>
                    <a:pt x="3749040" y="0"/>
                  </a:lnTo>
                  <a:lnTo>
                    <a:pt x="3749040" y="1371600"/>
                  </a:lnTo>
                  <a:lnTo>
                    <a:pt x="0" y="1371600"/>
                  </a:lnTo>
                  <a:close/>
                </a:path>
              </a:pathLst>
            </a:custGeom>
            <a:blipFill>
              <a:blip r:embed="rId9">
                <a:alphaModFix amt="0"/>
              </a:blip>
              <a:stretch>
                <a:fillRect l="0" t="-3259" r="0" b="-3259"/>
              </a:stretch>
            </a:blipFill>
          </p:spPr>
        </p:sp>
        <p:sp>
          <p:nvSpPr>
            <p:cNvPr name="TextBox 22" id="22"/>
            <p:cNvSpPr txBox="true"/>
            <p:nvPr/>
          </p:nvSpPr>
          <p:spPr>
            <a:xfrm>
              <a:off x="0" y="-47625"/>
              <a:ext cx="3749040" cy="1419225"/>
            </a:xfrm>
            <a:prstGeom prst="rect">
              <a:avLst/>
            </a:prstGeom>
          </p:spPr>
          <p:txBody>
            <a:bodyPr anchor="ctr" rtlCol="false" tIns="0" lIns="0" bIns="0" rIns="0"/>
            <a:lstStyle/>
            <a:p>
              <a:pPr algn="l">
                <a:lnSpc>
                  <a:spcPts val="2620"/>
                </a:lnSpc>
              </a:pPr>
              <a:r>
                <a:rPr lang="en-US" sz="1950" b="true">
                  <a:solidFill>
                    <a:srgbClr val="0A1A23"/>
                  </a:solidFill>
                  <a:latin typeface="Poppins Bold"/>
                  <a:ea typeface="Poppins Bold"/>
                  <a:cs typeface="Poppins Bold"/>
                  <a:sym typeface="Poppins Bold"/>
                </a:rPr>
                <a:t>The total is right, the breakdown is not</a:t>
              </a:r>
            </a:p>
          </p:txBody>
        </p:sp>
      </p:grpSp>
      <p:sp>
        <p:nvSpPr>
          <p:cNvPr name="TextBox 23" id="23"/>
          <p:cNvSpPr txBox="true"/>
          <p:nvPr/>
        </p:nvSpPr>
        <p:spPr>
          <a:xfrm rot="0">
            <a:off x="1467612" y="4253865"/>
            <a:ext cx="3717036" cy="2604135"/>
          </a:xfrm>
          <a:prstGeom prst="rect">
            <a:avLst/>
          </a:prstGeom>
        </p:spPr>
        <p:txBody>
          <a:bodyPr anchor="t" rtlCol="false" tIns="0" lIns="0" bIns="0" rIns="0">
            <a:spAutoFit/>
          </a:bodyPr>
          <a:lstStyle/>
          <a:p>
            <a:pPr algn="l">
              <a:lnSpc>
                <a:spcPts val="2649"/>
              </a:lnSpc>
            </a:pPr>
            <a:r>
              <a:rPr lang="en-US" sz="1725">
                <a:solidFill>
                  <a:srgbClr val="475569"/>
                </a:solidFill>
                <a:latin typeface="Poppins"/>
                <a:ea typeface="Poppins"/>
                <a:cs typeface="Poppins"/>
                <a:sym typeface="Poppins"/>
              </a:rPr>
              <a:t>A measure can return the correct grand total while every individual row is wrong, because the errors cancel. Always check at least one row, not just the total.</a:t>
            </a:r>
          </a:p>
        </p:txBody>
      </p:sp>
      <p:grpSp>
        <p:nvGrpSpPr>
          <p:cNvPr name="Group 24" id="24"/>
          <p:cNvGrpSpPr/>
          <p:nvPr/>
        </p:nvGrpSpPr>
        <p:grpSpPr>
          <a:xfrm rot="0">
            <a:off x="6007608" y="2468880"/>
            <a:ext cx="4594860" cy="4663440"/>
            <a:chOff x="0" y="0"/>
            <a:chExt cx="6126480" cy="6217920"/>
          </a:xfrm>
        </p:grpSpPr>
        <p:sp>
          <p:nvSpPr>
            <p:cNvPr name="Freeform 25" id="25"/>
            <p:cNvSpPr/>
            <p:nvPr/>
          </p:nvSpPr>
          <p:spPr>
            <a:xfrm flipH="false" flipV="false" rot="0">
              <a:off x="0" y="0"/>
              <a:ext cx="6126480" cy="6217920"/>
            </a:xfrm>
            <a:custGeom>
              <a:avLst/>
              <a:gdLst/>
              <a:ahLst/>
              <a:cxnLst/>
              <a:rect r="r" b="b" t="t" l="l"/>
              <a:pathLst>
                <a:path h="6217920" w="6126480">
                  <a:moveTo>
                    <a:pt x="0" y="182880"/>
                  </a:moveTo>
                  <a:cubicBezTo>
                    <a:pt x="0" y="81915"/>
                    <a:pt x="81915" y="0"/>
                    <a:pt x="182880" y="0"/>
                  </a:cubicBezTo>
                  <a:lnTo>
                    <a:pt x="5943600" y="0"/>
                  </a:lnTo>
                  <a:cubicBezTo>
                    <a:pt x="6044565" y="0"/>
                    <a:pt x="6126480" y="81915"/>
                    <a:pt x="6126480" y="182880"/>
                  </a:cubicBezTo>
                  <a:lnTo>
                    <a:pt x="6126480" y="6035040"/>
                  </a:lnTo>
                  <a:cubicBezTo>
                    <a:pt x="6126480" y="6136005"/>
                    <a:pt x="6044565" y="6217920"/>
                    <a:pt x="5943600" y="6217920"/>
                  </a:cubicBezTo>
                  <a:lnTo>
                    <a:pt x="182880" y="6217920"/>
                  </a:lnTo>
                  <a:cubicBezTo>
                    <a:pt x="81915" y="6217920"/>
                    <a:pt x="0" y="6136005"/>
                    <a:pt x="0" y="6035040"/>
                  </a:cubicBezTo>
                  <a:close/>
                </a:path>
              </a:pathLst>
            </a:custGeom>
            <a:solidFill>
              <a:srgbClr val="FFFFFF"/>
            </a:solidFill>
          </p:spPr>
        </p:sp>
      </p:grpSp>
      <p:grpSp>
        <p:nvGrpSpPr>
          <p:cNvPr name="Group 26" id="26"/>
          <p:cNvGrpSpPr/>
          <p:nvPr/>
        </p:nvGrpSpPr>
        <p:grpSpPr>
          <a:xfrm rot="0">
            <a:off x="6007608" y="2468880"/>
            <a:ext cx="4594860" cy="123444"/>
            <a:chOff x="0" y="0"/>
            <a:chExt cx="6126480" cy="164592"/>
          </a:xfrm>
        </p:grpSpPr>
        <p:sp>
          <p:nvSpPr>
            <p:cNvPr name="Freeform 27" id="27"/>
            <p:cNvSpPr/>
            <p:nvPr/>
          </p:nvSpPr>
          <p:spPr>
            <a:xfrm flipH="false" flipV="false" rot="0">
              <a:off x="0" y="0"/>
              <a:ext cx="6126480" cy="164592"/>
            </a:xfrm>
            <a:custGeom>
              <a:avLst/>
              <a:gdLst/>
              <a:ahLst/>
              <a:cxnLst/>
              <a:rect r="r" b="b" t="t" l="l"/>
              <a:pathLst>
                <a:path h="164592" w="6126480">
                  <a:moveTo>
                    <a:pt x="0" y="0"/>
                  </a:moveTo>
                  <a:lnTo>
                    <a:pt x="6126480" y="0"/>
                  </a:lnTo>
                  <a:lnTo>
                    <a:pt x="6126480" y="164592"/>
                  </a:lnTo>
                  <a:lnTo>
                    <a:pt x="0" y="164592"/>
                  </a:lnTo>
                  <a:close/>
                </a:path>
              </a:pathLst>
            </a:custGeom>
            <a:solidFill>
              <a:srgbClr val="C9821F"/>
            </a:solidFill>
          </p:spPr>
        </p:sp>
      </p:grpSp>
      <p:grpSp>
        <p:nvGrpSpPr>
          <p:cNvPr name="Group 28" id="28"/>
          <p:cNvGrpSpPr/>
          <p:nvPr/>
        </p:nvGrpSpPr>
        <p:grpSpPr>
          <a:xfrm rot="0">
            <a:off x="6446520" y="3044952"/>
            <a:ext cx="822960" cy="822960"/>
            <a:chOff x="0" y="0"/>
            <a:chExt cx="1097280" cy="1097280"/>
          </a:xfrm>
        </p:grpSpPr>
        <p:sp>
          <p:nvSpPr>
            <p:cNvPr name="Freeform 29" id="29"/>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C9821F"/>
            </a:solidFill>
          </p:spPr>
        </p:sp>
      </p:grpSp>
      <p:grpSp>
        <p:nvGrpSpPr>
          <p:cNvPr name="Group 30" id="30"/>
          <p:cNvGrpSpPr/>
          <p:nvPr/>
        </p:nvGrpSpPr>
        <p:grpSpPr>
          <a:xfrm rot="0">
            <a:off x="6446520" y="3044952"/>
            <a:ext cx="822960" cy="822960"/>
            <a:chOff x="0" y="0"/>
            <a:chExt cx="1097280" cy="1097280"/>
          </a:xfrm>
        </p:grpSpPr>
        <p:sp>
          <p:nvSpPr>
            <p:cNvPr name="Freeform 31" id="31"/>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32" id="32"/>
            <p:cNvSpPr txBox="true"/>
            <p:nvPr/>
          </p:nvSpPr>
          <p:spPr>
            <a:xfrm>
              <a:off x="0" y="-19050"/>
              <a:ext cx="1097280" cy="111633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2</a:t>
              </a:r>
            </a:p>
          </p:txBody>
        </p:sp>
      </p:grpSp>
      <p:grpSp>
        <p:nvGrpSpPr>
          <p:cNvPr name="Group 33" id="33"/>
          <p:cNvGrpSpPr/>
          <p:nvPr/>
        </p:nvGrpSpPr>
        <p:grpSpPr>
          <a:xfrm rot="0">
            <a:off x="7447788" y="2948940"/>
            <a:ext cx="2811780" cy="1028700"/>
            <a:chOff x="0" y="0"/>
            <a:chExt cx="3749040" cy="1371600"/>
          </a:xfrm>
        </p:grpSpPr>
        <p:sp>
          <p:nvSpPr>
            <p:cNvPr name="Freeform 34" id="34"/>
            <p:cNvSpPr/>
            <p:nvPr/>
          </p:nvSpPr>
          <p:spPr>
            <a:xfrm flipH="false" flipV="false" rot="0">
              <a:off x="0" y="0"/>
              <a:ext cx="3749040" cy="1371600"/>
            </a:xfrm>
            <a:custGeom>
              <a:avLst/>
              <a:gdLst/>
              <a:ahLst/>
              <a:cxnLst/>
              <a:rect r="r" b="b" t="t" l="l"/>
              <a:pathLst>
                <a:path h="1371600" w="3749040">
                  <a:moveTo>
                    <a:pt x="0" y="0"/>
                  </a:moveTo>
                  <a:lnTo>
                    <a:pt x="3749040" y="0"/>
                  </a:lnTo>
                  <a:lnTo>
                    <a:pt x="3749040" y="1371600"/>
                  </a:lnTo>
                  <a:lnTo>
                    <a:pt x="0" y="1371600"/>
                  </a:lnTo>
                  <a:close/>
                </a:path>
              </a:pathLst>
            </a:custGeom>
            <a:blipFill>
              <a:blip r:embed="rId9">
                <a:alphaModFix amt="0"/>
              </a:blip>
              <a:stretch>
                <a:fillRect l="0" t="-3259" r="0" b="-3259"/>
              </a:stretch>
            </a:blipFill>
          </p:spPr>
        </p:sp>
        <p:sp>
          <p:nvSpPr>
            <p:cNvPr name="TextBox 35" id="35"/>
            <p:cNvSpPr txBox="true"/>
            <p:nvPr/>
          </p:nvSpPr>
          <p:spPr>
            <a:xfrm>
              <a:off x="0" y="-47625"/>
              <a:ext cx="3749040" cy="1419225"/>
            </a:xfrm>
            <a:prstGeom prst="rect">
              <a:avLst/>
            </a:prstGeom>
          </p:spPr>
          <p:txBody>
            <a:bodyPr anchor="ctr" rtlCol="false" tIns="0" lIns="0" bIns="0" rIns="0"/>
            <a:lstStyle/>
            <a:p>
              <a:pPr algn="l">
                <a:lnSpc>
                  <a:spcPts val="2620"/>
                </a:lnSpc>
              </a:pPr>
              <a:r>
                <a:rPr lang="en-US" sz="1950" b="true">
                  <a:solidFill>
                    <a:srgbClr val="0A1A23"/>
                  </a:solidFill>
                  <a:latin typeface="Poppins Bold"/>
                  <a:ea typeface="Poppins Bold"/>
                  <a:cs typeface="Poppins Bold"/>
                  <a:sym typeface="Poppins Bold"/>
                </a:rPr>
                <a:t>Blank is not zero</a:t>
              </a:r>
            </a:p>
          </p:txBody>
        </p:sp>
      </p:grpSp>
      <p:sp>
        <p:nvSpPr>
          <p:cNvPr name="TextBox 36" id="36"/>
          <p:cNvSpPr txBox="true"/>
          <p:nvPr/>
        </p:nvSpPr>
        <p:spPr>
          <a:xfrm rot="0">
            <a:off x="6446520" y="4253865"/>
            <a:ext cx="3717036" cy="2604135"/>
          </a:xfrm>
          <a:prstGeom prst="rect">
            <a:avLst/>
          </a:prstGeom>
        </p:spPr>
        <p:txBody>
          <a:bodyPr anchor="t" rtlCol="false" tIns="0" lIns="0" bIns="0" rIns="0">
            <a:spAutoFit/>
          </a:bodyPr>
          <a:lstStyle/>
          <a:p>
            <a:pPr algn="l">
              <a:lnSpc>
                <a:spcPts val="2649"/>
              </a:lnSpc>
            </a:pPr>
            <a:r>
              <a:rPr lang="en-US" sz="1725">
                <a:solidFill>
                  <a:srgbClr val="475569"/>
                </a:solidFill>
                <a:latin typeface="Poppins"/>
                <a:ea typeface="Poppins"/>
                <a:cs typeface="Poppins"/>
                <a:sym typeface="Poppins"/>
              </a:rPr>
              <a:t>A blank means “no rows matched”. A zero means “rows matched and summed to nothing”. A chart draws them differently and a manager reads them identically.</a:t>
            </a:r>
          </a:p>
        </p:txBody>
      </p:sp>
      <p:grpSp>
        <p:nvGrpSpPr>
          <p:cNvPr name="Group 37" id="37"/>
          <p:cNvGrpSpPr/>
          <p:nvPr/>
        </p:nvGrpSpPr>
        <p:grpSpPr>
          <a:xfrm rot="0">
            <a:off x="10986516" y="2468880"/>
            <a:ext cx="4594860" cy="4663440"/>
            <a:chOff x="0" y="0"/>
            <a:chExt cx="6126480" cy="6217920"/>
          </a:xfrm>
        </p:grpSpPr>
        <p:sp>
          <p:nvSpPr>
            <p:cNvPr name="Freeform 38" id="38"/>
            <p:cNvSpPr/>
            <p:nvPr/>
          </p:nvSpPr>
          <p:spPr>
            <a:xfrm flipH="false" flipV="false" rot="0">
              <a:off x="0" y="0"/>
              <a:ext cx="6126480" cy="6217920"/>
            </a:xfrm>
            <a:custGeom>
              <a:avLst/>
              <a:gdLst/>
              <a:ahLst/>
              <a:cxnLst/>
              <a:rect r="r" b="b" t="t" l="l"/>
              <a:pathLst>
                <a:path h="6217920" w="6126480">
                  <a:moveTo>
                    <a:pt x="0" y="182880"/>
                  </a:moveTo>
                  <a:cubicBezTo>
                    <a:pt x="0" y="81915"/>
                    <a:pt x="81915" y="0"/>
                    <a:pt x="182880" y="0"/>
                  </a:cubicBezTo>
                  <a:lnTo>
                    <a:pt x="5943600" y="0"/>
                  </a:lnTo>
                  <a:cubicBezTo>
                    <a:pt x="6044565" y="0"/>
                    <a:pt x="6126480" y="81915"/>
                    <a:pt x="6126480" y="182880"/>
                  </a:cubicBezTo>
                  <a:lnTo>
                    <a:pt x="6126480" y="6035040"/>
                  </a:lnTo>
                  <a:cubicBezTo>
                    <a:pt x="6126480" y="6136005"/>
                    <a:pt x="6044565" y="6217920"/>
                    <a:pt x="5943600" y="6217920"/>
                  </a:cubicBezTo>
                  <a:lnTo>
                    <a:pt x="182880" y="6217920"/>
                  </a:lnTo>
                  <a:cubicBezTo>
                    <a:pt x="81915" y="6217920"/>
                    <a:pt x="0" y="6136005"/>
                    <a:pt x="0" y="6035040"/>
                  </a:cubicBezTo>
                  <a:close/>
                </a:path>
              </a:pathLst>
            </a:custGeom>
            <a:solidFill>
              <a:srgbClr val="FFFFFF"/>
            </a:solidFill>
          </p:spPr>
        </p:sp>
      </p:grpSp>
      <p:grpSp>
        <p:nvGrpSpPr>
          <p:cNvPr name="Group 39" id="39"/>
          <p:cNvGrpSpPr/>
          <p:nvPr/>
        </p:nvGrpSpPr>
        <p:grpSpPr>
          <a:xfrm rot="0">
            <a:off x="10986516" y="2468880"/>
            <a:ext cx="4594860" cy="123444"/>
            <a:chOff x="0" y="0"/>
            <a:chExt cx="6126480" cy="164592"/>
          </a:xfrm>
        </p:grpSpPr>
        <p:sp>
          <p:nvSpPr>
            <p:cNvPr name="Freeform 40" id="40"/>
            <p:cNvSpPr/>
            <p:nvPr/>
          </p:nvSpPr>
          <p:spPr>
            <a:xfrm flipH="false" flipV="false" rot="0">
              <a:off x="0" y="0"/>
              <a:ext cx="6126480" cy="164592"/>
            </a:xfrm>
            <a:custGeom>
              <a:avLst/>
              <a:gdLst/>
              <a:ahLst/>
              <a:cxnLst/>
              <a:rect r="r" b="b" t="t" l="l"/>
              <a:pathLst>
                <a:path h="164592" w="6126480">
                  <a:moveTo>
                    <a:pt x="0" y="0"/>
                  </a:moveTo>
                  <a:lnTo>
                    <a:pt x="6126480" y="0"/>
                  </a:lnTo>
                  <a:lnTo>
                    <a:pt x="6126480" y="164592"/>
                  </a:lnTo>
                  <a:lnTo>
                    <a:pt x="0" y="164592"/>
                  </a:lnTo>
                  <a:close/>
                </a:path>
              </a:pathLst>
            </a:custGeom>
            <a:solidFill>
              <a:srgbClr val="A8322D"/>
            </a:solidFill>
          </p:spPr>
        </p:sp>
      </p:grpSp>
      <p:grpSp>
        <p:nvGrpSpPr>
          <p:cNvPr name="Group 41" id="41"/>
          <p:cNvGrpSpPr/>
          <p:nvPr/>
        </p:nvGrpSpPr>
        <p:grpSpPr>
          <a:xfrm rot="0">
            <a:off x="11425428" y="3044952"/>
            <a:ext cx="822960" cy="822960"/>
            <a:chOff x="0" y="0"/>
            <a:chExt cx="1097280" cy="1097280"/>
          </a:xfrm>
        </p:grpSpPr>
        <p:sp>
          <p:nvSpPr>
            <p:cNvPr name="Freeform 42" id="42"/>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A8322D"/>
            </a:solidFill>
          </p:spPr>
        </p:sp>
      </p:grpSp>
      <p:grpSp>
        <p:nvGrpSpPr>
          <p:cNvPr name="Group 43" id="43"/>
          <p:cNvGrpSpPr/>
          <p:nvPr/>
        </p:nvGrpSpPr>
        <p:grpSpPr>
          <a:xfrm rot="0">
            <a:off x="11425428" y="3044952"/>
            <a:ext cx="822960" cy="822960"/>
            <a:chOff x="0" y="0"/>
            <a:chExt cx="1097280" cy="1097280"/>
          </a:xfrm>
        </p:grpSpPr>
        <p:sp>
          <p:nvSpPr>
            <p:cNvPr name="Freeform 44" id="44"/>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9">
                <a:alphaModFix amt="0"/>
              </a:blip>
              <a:stretch>
                <a:fillRect l="-78303" t="0" r="-78303" b="0"/>
              </a:stretch>
            </a:blipFill>
          </p:spPr>
        </p:sp>
        <p:sp>
          <p:nvSpPr>
            <p:cNvPr name="TextBox 45" id="45"/>
            <p:cNvSpPr txBox="true"/>
            <p:nvPr/>
          </p:nvSpPr>
          <p:spPr>
            <a:xfrm>
              <a:off x="0" y="-19050"/>
              <a:ext cx="1097280" cy="1116330"/>
            </a:xfrm>
            <a:prstGeom prst="rect">
              <a:avLst/>
            </a:prstGeom>
          </p:spPr>
          <p:txBody>
            <a:bodyPr anchor="ctr" rtlCol="false" tIns="0" lIns="0" bIns="0" rIns="0"/>
            <a:lstStyle/>
            <a:p>
              <a:pPr algn="ctr">
                <a:lnSpc>
                  <a:spcPts val="3779"/>
                </a:lnSpc>
              </a:pPr>
              <a:r>
                <a:rPr lang="en-US" sz="3150" b="true">
                  <a:solidFill>
                    <a:srgbClr val="FFFFFF"/>
                  </a:solidFill>
                  <a:latin typeface="Poppins Bold"/>
                  <a:ea typeface="Poppins Bold"/>
                  <a:cs typeface="Poppins Bold"/>
                  <a:sym typeface="Poppins Bold"/>
                </a:rPr>
                <a:t>3</a:t>
              </a:r>
            </a:p>
          </p:txBody>
        </p:sp>
      </p:grpSp>
      <p:grpSp>
        <p:nvGrpSpPr>
          <p:cNvPr name="Group 46" id="46"/>
          <p:cNvGrpSpPr/>
          <p:nvPr/>
        </p:nvGrpSpPr>
        <p:grpSpPr>
          <a:xfrm rot="0">
            <a:off x="12426696" y="2948940"/>
            <a:ext cx="2811780" cy="1028700"/>
            <a:chOff x="0" y="0"/>
            <a:chExt cx="3749040" cy="1371600"/>
          </a:xfrm>
        </p:grpSpPr>
        <p:sp>
          <p:nvSpPr>
            <p:cNvPr name="Freeform 47" id="47"/>
            <p:cNvSpPr/>
            <p:nvPr/>
          </p:nvSpPr>
          <p:spPr>
            <a:xfrm flipH="false" flipV="false" rot="0">
              <a:off x="0" y="0"/>
              <a:ext cx="3749040" cy="1371600"/>
            </a:xfrm>
            <a:custGeom>
              <a:avLst/>
              <a:gdLst/>
              <a:ahLst/>
              <a:cxnLst/>
              <a:rect r="r" b="b" t="t" l="l"/>
              <a:pathLst>
                <a:path h="1371600" w="3749040">
                  <a:moveTo>
                    <a:pt x="0" y="0"/>
                  </a:moveTo>
                  <a:lnTo>
                    <a:pt x="3749040" y="0"/>
                  </a:lnTo>
                  <a:lnTo>
                    <a:pt x="3749040" y="1371600"/>
                  </a:lnTo>
                  <a:lnTo>
                    <a:pt x="0" y="1371600"/>
                  </a:lnTo>
                  <a:close/>
                </a:path>
              </a:pathLst>
            </a:custGeom>
            <a:blipFill>
              <a:blip r:embed="rId9">
                <a:alphaModFix amt="0"/>
              </a:blip>
              <a:stretch>
                <a:fillRect l="0" t="-3259" r="0" b="-3259"/>
              </a:stretch>
            </a:blipFill>
          </p:spPr>
        </p:sp>
        <p:sp>
          <p:nvSpPr>
            <p:cNvPr name="TextBox 48" id="48"/>
            <p:cNvSpPr txBox="true"/>
            <p:nvPr/>
          </p:nvSpPr>
          <p:spPr>
            <a:xfrm>
              <a:off x="0" y="-47625"/>
              <a:ext cx="3749040" cy="1419225"/>
            </a:xfrm>
            <a:prstGeom prst="rect">
              <a:avLst/>
            </a:prstGeom>
          </p:spPr>
          <p:txBody>
            <a:bodyPr anchor="ctr" rtlCol="false" tIns="0" lIns="0" bIns="0" rIns="0"/>
            <a:lstStyle/>
            <a:p>
              <a:pPr algn="l">
                <a:lnSpc>
                  <a:spcPts val="2620"/>
                </a:lnSpc>
              </a:pPr>
              <a:r>
                <a:rPr lang="en-US" sz="1950" b="true">
                  <a:solidFill>
                    <a:srgbClr val="0A1A23"/>
                  </a:solidFill>
                  <a:latin typeface="Poppins Bold"/>
                  <a:ea typeface="Poppins Bold"/>
                  <a:cs typeface="Poppins Bold"/>
                  <a:sym typeface="Poppins Bold"/>
                </a:rPr>
                <a:t>The measure is right, the definition is wrong</a:t>
              </a:r>
            </a:p>
          </p:txBody>
        </p:sp>
      </p:grpSp>
      <p:sp>
        <p:nvSpPr>
          <p:cNvPr name="TextBox 49" id="49"/>
          <p:cNvSpPr txBox="true"/>
          <p:nvPr/>
        </p:nvSpPr>
        <p:spPr>
          <a:xfrm rot="0">
            <a:off x="11425428" y="4253865"/>
            <a:ext cx="3717036" cy="2604135"/>
          </a:xfrm>
          <a:prstGeom prst="rect">
            <a:avLst/>
          </a:prstGeom>
        </p:spPr>
        <p:txBody>
          <a:bodyPr anchor="t" rtlCol="false" tIns="0" lIns="0" bIns="0" rIns="0">
            <a:spAutoFit/>
          </a:bodyPr>
          <a:lstStyle/>
          <a:p>
            <a:pPr algn="l">
              <a:lnSpc>
                <a:spcPts val="2649"/>
              </a:lnSpc>
            </a:pPr>
            <a:r>
              <a:rPr lang="en-US" sz="1725">
                <a:solidFill>
                  <a:srgbClr val="475569"/>
                </a:solidFill>
                <a:latin typeface="Poppins"/>
                <a:ea typeface="Poppins"/>
                <a:cs typeface="Poppins"/>
                <a:sym typeface="Poppins"/>
              </a:rPr>
              <a:t>An on-time rate of 82 percent is arithmetically perfect and still wrong if the business counts cancelled deliveries and you did not. This is Adaeze's question from the start of the topic.</a:t>
            </a:r>
          </a:p>
        </p:txBody>
      </p:sp>
      <p:grpSp>
        <p:nvGrpSpPr>
          <p:cNvPr name="Group 50" id="50"/>
          <p:cNvGrpSpPr/>
          <p:nvPr/>
        </p:nvGrpSpPr>
        <p:grpSpPr>
          <a:xfrm rot="0">
            <a:off x="1028700" y="7406640"/>
            <a:ext cx="14744700" cy="1508760"/>
            <a:chOff x="0" y="0"/>
            <a:chExt cx="19659600" cy="2011680"/>
          </a:xfrm>
        </p:grpSpPr>
        <p:sp>
          <p:nvSpPr>
            <p:cNvPr name="Freeform 51" id="51"/>
            <p:cNvSpPr/>
            <p:nvPr/>
          </p:nvSpPr>
          <p:spPr>
            <a:xfrm flipH="false" flipV="false" rot="0">
              <a:off x="0" y="0"/>
              <a:ext cx="19659600" cy="2011680"/>
            </a:xfrm>
            <a:custGeom>
              <a:avLst/>
              <a:gdLst/>
              <a:ahLst/>
              <a:cxnLst/>
              <a:rect r="r" b="b" t="t" l="l"/>
              <a:pathLst>
                <a:path h="2011680" w="19659600">
                  <a:moveTo>
                    <a:pt x="0" y="164592"/>
                  </a:moveTo>
                  <a:cubicBezTo>
                    <a:pt x="0" y="73660"/>
                    <a:pt x="73660" y="0"/>
                    <a:pt x="164592" y="0"/>
                  </a:cubicBezTo>
                  <a:lnTo>
                    <a:pt x="19495008" y="0"/>
                  </a:lnTo>
                  <a:cubicBezTo>
                    <a:pt x="19585939" y="0"/>
                    <a:pt x="19659600" y="73660"/>
                    <a:pt x="19659600" y="164592"/>
                  </a:cubicBezTo>
                  <a:lnTo>
                    <a:pt x="19659600" y="1847088"/>
                  </a:lnTo>
                  <a:cubicBezTo>
                    <a:pt x="19659600" y="1938020"/>
                    <a:pt x="19585939" y="2011680"/>
                    <a:pt x="19495008" y="2011680"/>
                  </a:cubicBezTo>
                  <a:lnTo>
                    <a:pt x="164592" y="2011680"/>
                  </a:lnTo>
                  <a:cubicBezTo>
                    <a:pt x="73660" y="2011680"/>
                    <a:pt x="0" y="1938020"/>
                    <a:pt x="0" y="1847088"/>
                  </a:cubicBezTo>
                  <a:close/>
                </a:path>
              </a:pathLst>
            </a:custGeom>
            <a:solidFill>
              <a:srgbClr val="FBEDEC"/>
            </a:solidFill>
          </p:spPr>
        </p:sp>
      </p:grpSp>
      <p:grpSp>
        <p:nvGrpSpPr>
          <p:cNvPr name="Group 52" id="52"/>
          <p:cNvGrpSpPr/>
          <p:nvPr/>
        </p:nvGrpSpPr>
        <p:grpSpPr>
          <a:xfrm rot="0">
            <a:off x="1028700" y="7406640"/>
            <a:ext cx="102870" cy="1508760"/>
            <a:chOff x="0" y="0"/>
            <a:chExt cx="137160" cy="2011680"/>
          </a:xfrm>
        </p:grpSpPr>
        <p:sp>
          <p:nvSpPr>
            <p:cNvPr name="Freeform 53" id="53"/>
            <p:cNvSpPr/>
            <p:nvPr/>
          </p:nvSpPr>
          <p:spPr>
            <a:xfrm flipH="false" flipV="false" rot="0">
              <a:off x="0" y="0"/>
              <a:ext cx="137160" cy="2011680"/>
            </a:xfrm>
            <a:custGeom>
              <a:avLst/>
              <a:gdLst/>
              <a:ahLst/>
              <a:cxnLst/>
              <a:rect r="r" b="b" t="t" l="l"/>
              <a:pathLst>
                <a:path h="2011680" w="137160">
                  <a:moveTo>
                    <a:pt x="0" y="0"/>
                  </a:moveTo>
                  <a:lnTo>
                    <a:pt x="137160" y="0"/>
                  </a:lnTo>
                  <a:lnTo>
                    <a:pt x="137160" y="2011680"/>
                  </a:lnTo>
                  <a:lnTo>
                    <a:pt x="0" y="2011680"/>
                  </a:lnTo>
                  <a:close/>
                </a:path>
              </a:pathLst>
            </a:custGeom>
            <a:solidFill>
              <a:srgbClr val="A8322D"/>
            </a:solidFill>
          </p:spPr>
        </p:sp>
      </p:grpSp>
      <p:grpSp>
        <p:nvGrpSpPr>
          <p:cNvPr name="Group 54" id="54"/>
          <p:cNvGrpSpPr/>
          <p:nvPr/>
        </p:nvGrpSpPr>
        <p:grpSpPr>
          <a:xfrm rot="0">
            <a:off x="1440180" y="7749540"/>
            <a:ext cx="754380" cy="754380"/>
            <a:chOff x="0" y="0"/>
            <a:chExt cx="1005840" cy="1005840"/>
          </a:xfrm>
        </p:grpSpPr>
        <p:sp>
          <p:nvSpPr>
            <p:cNvPr name="Freeform 55" id="55"/>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A8322D"/>
            </a:solidFill>
          </p:spPr>
        </p:sp>
      </p:grpSp>
      <p:grpSp>
        <p:nvGrpSpPr>
          <p:cNvPr name="Group 56" id="56"/>
          <p:cNvGrpSpPr/>
          <p:nvPr/>
        </p:nvGrpSpPr>
        <p:grpSpPr>
          <a:xfrm rot="0">
            <a:off x="1440180" y="7749540"/>
            <a:ext cx="754380" cy="754380"/>
            <a:chOff x="0" y="0"/>
            <a:chExt cx="1005840" cy="1005840"/>
          </a:xfrm>
        </p:grpSpPr>
        <p:sp>
          <p:nvSpPr>
            <p:cNvPr name="Freeform 57" id="57"/>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9">
                <a:alphaModFix amt="0"/>
              </a:blip>
              <a:stretch>
                <a:fillRect l="-78303" t="0" r="-78303" b="0"/>
              </a:stretch>
            </a:blipFill>
          </p:spPr>
        </p:sp>
        <p:sp>
          <p:nvSpPr>
            <p:cNvPr name="TextBox 58" id="58"/>
            <p:cNvSpPr txBox="true"/>
            <p:nvPr/>
          </p:nvSpPr>
          <p:spPr>
            <a:xfrm>
              <a:off x="0" y="-28575"/>
              <a:ext cx="1005840" cy="1034415"/>
            </a:xfrm>
            <a:prstGeom prst="rect">
              <a:avLst/>
            </a:prstGeom>
          </p:spPr>
          <p:txBody>
            <a:bodyPr anchor="ctr" rtlCol="false" tIns="0" lIns="0" bIns="0" rIns="0"/>
            <a:lstStyle/>
            <a:p>
              <a:pPr algn="ctr">
                <a:lnSpc>
                  <a:spcPts val="3960"/>
                </a:lnSpc>
              </a:pPr>
              <a:r>
                <a:rPr lang="en-US" sz="3300" b="true">
                  <a:solidFill>
                    <a:srgbClr val="FFFFFF"/>
                  </a:solidFill>
                  <a:latin typeface="Poppins Bold"/>
                  <a:ea typeface="Poppins Bold"/>
                  <a:cs typeface="Poppins Bold"/>
                  <a:sym typeface="Poppins Bold"/>
                </a:rPr>
                <a:t>!</a:t>
              </a:r>
            </a:p>
          </p:txBody>
        </p:sp>
      </p:grpSp>
      <p:grpSp>
        <p:nvGrpSpPr>
          <p:cNvPr name="Group 59" id="59"/>
          <p:cNvGrpSpPr/>
          <p:nvPr/>
        </p:nvGrpSpPr>
        <p:grpSpPr>
          <a:xfrm rot="0">
            <a:off x="2537460" y="7406640"/>
            <a:ext cx="12755880" cy="1508760"/>
            <a:chOff x="0" y="0"/>
            <a:chExt cx="17007840" cy="2011680"/>
          </a:xfrm>
        </p:grpSpPr>
        <p:sp>
          <p:nvSpPr>
            <p:cNvPr name="Freeform 60" id="60"/>
            <p:cNvSpPr/>
            <p:nvPr/>
          </p:nvSpPr>
          <p:spPr>
            <a:xfrm flipH="false" flipV="false" rot="0">
              <a:off x="0" y="0"/>
              <a:ext cx="17007839" cy="2011680"/>
            </a:xfrm>
            <a:custGeom>
              <a:avLst/>
              <a:gdLst/>
              <a:ahLst/>
              <a:cxnLst/>
              <a:rect r="r" b="b" t="t" l="l"/>
              <a:pathLst>
                <a:path h="2011680" w="17007839">
                  <a:moveTo>
                    <a:pt x="0" y="0"/>
                  </a:moveTo>
                  <a:lnTo>
                    <a:pt x="17007839" y="0"/>
                  </a:lnTo>
                  <a:lnTo>
                    <a:pt x="17007839" y="2011680"/>
                  </a:lnTo>
                  <a:lnTo>
                    <a:pt x="0" y="2011680"/>
                  </a:lnTo>
                  <a:close/>
                </a:path>
              </a:pathLst>
            </a:custGeom>
            <a:blipFill>
              <a:blip r:embed="rId9">
                <a:alphaModFix amt="0"/>
              </a:blip>
              <a:stretch>
                <a:fillRect l="0" t="-114737" r="0" b="-114737"/>
              </a:stretch>
            </a:blipFill>
          </p:spPr>
        </p:sp>
        <p:sp>
          <p:nvSpPr>
            <p:cNvPr name="TextBox 61" id="61"/>
            <p:cNvSpPr txBox="true"/>
            <p:nvPr/>
          </p:nvSpPr>
          <p:spPr>
            <a:xfrm>
              <a:off x="0" y="-104775"/>
              <a:ext cx="17007840" cy="2116455"/>
            </a:xfrm>
            <a:prstGeom prst="rect">
              <a:avLst/>
            </a:prstGeom>
          </p:spPr>
          <p:txBody>
            <a:bodyPr anchor="ctr" rtlCol="false" tIns="0" lIns="0" bIns="0" rIns="0"/>
            <a:lstStyle/>
            <a:p>
              <a:pPr algn="l">
                <a:lnSpc>
                  <a:spcPts val="3766"/>
                </a:lnSpc>
              </a:pPr>
              <a:r>
                <a:rPr lang="en-US" sz="2325" b="true">
                  <a:solidFill>
                    <a:srgbClr val="7A2C28"/>
                  </a:solidFill>
                  <a:latin typeface="Poppins Bold"/>
                  <a:ea typeface="Poppins Bold"/>
                  <a:cs typeface="Poppins Bold"/>
                  <a:sym typeface="Poppins Bold"/>
                </a:rPr>
                <a:t>Trap three cannot be caught in Power BI. It is caught by asking the person who owns the number.</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512077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Th</a:t>
            </a:r>
            <a:r>
              <a:rPr lang="en-US" sz="5000">
                <a:solidFill>
                  <a:srgbClr val="388080"/>
                </a:solidFill>
                <a:latin typeface="Poppins"/>
                <a:ea typeface="Poppins"/>
                <a:cs typeface="Poppins"/>
                <a:sym typeface="Poppins"/>
              </a:rPr>
              <a:t>ree measures</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857250" y="3017520"/>
            <a:ext cx="15636240" cy="2537460"/>
            <a:chOff x="0" y="0"/>
            <a:chExt cx="20848320" cy="3383280"/>
          </a:xfrm>
        </p:grpSpPr>
        <p:sp>
          <p:nvSpPr>
            <p:cNvPr name="Freeform 12" id="12"/>
            <p:cNvSpPr/>
            <p:nvPr/>
          </p:nvSpPr>
          <p:spPr>
            <a:xfrm flipH="false" flipV="false" rot="0">
              <a:off x="0" y="0"/>
              <a:ext cx="20848320" cy="3383280"/>
            </a:xfrm>
            <a:custGeom>
              <a:avLst/>
              <a:gdLst/>
              <a:ahLst/>
              <a:cxnLst/>
              <a:rect r="r" b="b" t="t" l="l"/>
              <a:pathLst>
                <a:path h="3383280" w="20848320">
                  <a:moveTo>
                    <a:pt x="0" y="182880"/>
                  </a:moveTo>
                  <a:cubicBezTo>
                    <a:pt x="0" y="81915"/>
                    <a:pt x="81915" y="0"/>
                    <a:pt x="182880" y="0"/>
                  </a:cubicBezTo>
                  <a:lnTo>
                    <a:pt x="20665439" y="0"/>
                  </a:lnTo>
                  <a:cubicBezTo>
                    <a:pt x="20766404" y="0"/>
                    <a:pt x="20848320" y="81915"/>
                    <a:pt x="20848320" y="182880"/>
                  </a:cubicBezTo>
                  <a:lnTo>
                    <a:pt x="20848320" y="3200400"/>
                  </a:lnTo>
                  <a:cubicBezTo>
                    <a:pt x="20848320" y="3301365"/>
                    <a:pt x="20766404" y="3383280"/>
                    <a:pt x="20665439" y="3383280"/>
                  </a:cubicBezTo>
                  <a:lnTo>
                    <a:pt x="182880" y="3383280"/>
                  </a:lnTo>
                  <a:cubicBezTo>
                    <a:pt x="81915" y="3383280"/>
                    <a:pt x="0" y="3301365"/>
                    <a:pt x="0" y="3200400"/>
                  </a:cubicBezTo>
                  <a:close/>
                </a:path>
              </a:pathLst>
            </a:custGeom>
            <a:solidFill>
              <a:srgbClr val="FFFFFF"/>
            </a:solidFill>
          </p:spPr>
        </p:sp>
      </p:grpSp>
      <p:grpSp>
        <p:nvGrpSpPr>
          <p:cNvPr name="Group 13" id="13"/>
          <p:cNvGrpSpPr/>
          <p:nvPr/>
        </p:nvGrpSpPr>
        <p:grpSpPr>
          <a:xfrm rot="0">
            <a:off x="857250" y="3017520"/>
            <a:ext cx="123444" cy="2537460"/>
            <a:chOff x="0" y="0"/>
            <a:chExt cx="164592" cy="3383280"/>
          </a:xfrm>
        </p:grpSpPr>
        <p:sp>
          <p:nvSpPr>
            <p:cNvPr name="Freeform 14" id="14"/>
            <p:cNvSpPr/>
            <p:nvPr/>
          </p:nvSpPr>
          <p:spPr>
            <a:xfrm flipH="false" flipV="false" rot="0">
              <a:off x="0" y="0"/>
              <a:ext cx="164592" cy="3383280"/>
            </a:xfrm>
            <a:custGeom>
              <a:avLst/>
              <a:gdLst/>
              <a:ahLst/>
              <a:cxnLst/>
              <a:rect r="r" b="b" t="t" l="l"/>
              <a:pathLst>
                <a:path h="3383280" w="164592">
                  <a:moveTo>
                    <a:pt x="0" y="0"/>
                  </a:moveTo>
                  <a:lnTo>
                    <a:pt x="164592" y="0"/>
                  </a:lnTo>
                  <a:lnTo>
                    <a:pt x="164592" y="3383280"/>
                  </a:lnTo>
                  <a:lnTo>
                    <a:pt x="0" y="3383280"/>
                  </a:lnTo>
                  <a:close/>
                </a:path>
              </a:pathLst>
            </a:custGeom>
            <a:solidFill>
              <a:srgbClr val="387F7F"/>
            </a:solidFill>
          </p:spPr>
        </p:sp>
      </p:grpSp>
      <p:grpSp>
        <p:nvGrpSpPr>
          <p:cNvPr name="Group 15" id="15"/>
          <p:cNvGrpSpPr/>
          <p:nvPr/>
        </p:nvGrpSpPr>
        <p:grpSpPr>
          <a:xfrm rot="0">
            <a:off x="1337310" y="3291840"/>
            <a:ext cx="14401800" cy="411480"/>
            <a:chOff x="0" y="0"/>
            <a:chExt cx="19202400" cy="548640"/>
          </a:xfrm>
        </p:grpSpPr>
        <p:sp>
          <p:nvSpPr>
            <p:cNvPr name="Freeform 16" id="16"/>
            <p:cNvSpPr/>
            <p:nvPr/>
          </p:nvSpPr>
          <p:spPr>
            <a:xfrm flipH="false" flipV="false" rot="0">
              <a:off x="0" y="0"/>
              <a:ext cx="19202400" cy="548640"/>
            </a:xfrm>
            <a:custGeom>
              <a:avLst/>
              <a:gdLst/>
              <a:ahLst/>
              <a:cxnLst/>
              <a:rect r="r" b="b" t="t" l="l"/>
              <a:pathLst>
                <a:path h="548640" w="19202400">
                  <a:moveTo>
                    <a:pt x="0" y="0"/>
                  </a:moveTo>
                  <a:lnTo>
                    <a:pt x="19202400" y="0"/>
                  </a:lnTo>
                  <a:lnTo>
                    <a:pt x="19202400" y="548640"/>
                  </a:lnTo>
                  <a:lnTo>
                    <a:pt x="0" y="548640"/>
                  </a:lnTo>
                  <a:close/>
                </a:path>
              </a:pathLst>
            </a:custGeom>
            <a:blipFill>
              <a:blip r:embed="rId9">
                <a:alphaModFix amt="0"/>
              </a:blip>
              <a:stretch>
                <a:fillRect l="0" t="-631976" r="0" b="-631976"/>
              </a:stretch>
            </a:blipFill>
          </p:spPr>
        </p:sp>
        <p:sp>
          <p:nvSpPr>
            <p:cNvPr name="TextBox 17" id="17"/>
            <p:cNvSpPr txBox="true"/>
            <p:nvPr/>
          </p:nvSpPr>
          <p:spPr>
            <a:xfrm>
              <a:off x="0" y="-9525"/>
              <a:ext cx="19202400" cy="558165"/>
            </a:xfrm>
            <a:prstGeom prst="rect">
              <a:avLst/>
            </a:prstGeom>
          </p:spPr>
          <p:txBody>
            <a:bodyPr anchor="ctr" rtlCol="false" tIns="0" lIns="0" bIns="0" rIns="0"/>
            <a:lstStyle/>
            <a:p>
              <a:pPr algn="l">
                <a:lnSpc>
                  <a:spcPts val="1980"/>
                </a:lnSpc>
              </a:pPr>
              <a:r>
                <a:rPr lang="en-US" sz="1650" b="true">
                  <a:solidFill>
                    <a:srgbClr val="387F7F"/>
                  </a:solidFill>
                  <a:latin typeface="Poppins Bold"/>
                  <a:ea typeface="Poppins Bold"/>
                  <a:cs typeface="Poppins Bold"/>
                  <a:sym typeface="Poppins Bold"/>
                </a:rPr>
                <a:t>THE TASK</a:t>
              </a:r>
            </a:p>
          </p:txBody>
        </p:sp>
      </p:grpSp>
      <p:sp>
        <p:nvSpPr>
          <p:cNvPr name="TextBox 18" id="18"/>
          <p:cNvSpPr txBox="true"/>
          <p:nvPr/>
        </p:nvSpPr>
        <p:spPr>
          <a:xfrm rot="0">
            <a:off x="1337310" y="3676650"/>
            <a:ext cx="14813280" cy="1741170"/>
          </a:xfrm>
          <a:prstGeom prst="rect">
            <a:avLst/>
          </a:prstGeom>
        </p:spPr>
        <p:txBody>
          <a:bodyPr anchor="t" rtlCol="false" tIns="0" lIns="0" bIns="0" rIns="0">
            <a:spAutoFit/>
          </a:bodyPr>
          <a:lstStyle/>
          <a:p>
            <a:pPr algn="l">
              <a:lnSpc>
                <a:spcPts val="3393"/>
              </a:lnSpc>
            </a:pPr>
            <a:r>
              <a:rPr lang="en-US" sz="2175">
                <a:solidFill>
                  <a:srgbClr val="475569"/>
                </a:solidFill>
                <a:latin typeface="Poppins"/>
                <a:ea typeface="Poppins"/>
                <a:cs typeface="Poppins"/>
                <a:sym typeface="Poppins"/>
              </a:rPr>
              <a:t>Using your completed SwiftRoute model, write and verify:</a:t>
            </a:r>
          </a:p>
          <a:p>
            <a:pPr algn="l">
              <a:lnSpc>
                <a:spcPts val="3393"/>
              </a:lnSpc>
            </a:pPr>
            <a:r>
              <a:rPr lang="en-US" sz="2175">
                <a:solidFill>
                  <a:srgbClr val="475569"/>
                </a:solidFill>
                <a:latin typeface="Poppins"/>
                <a:ea typeface="Poppins"/>
                <a:cs typeface="Poppins"/>
                <a:sym typeface="Poppins"/>
              </a:rPr>
              <a:t>1.  Total Revenue, summing DeliveryFee.</a:t>
            </a:r>
          </a:p>
          <a:p>
            <a:pPr algn="l">
              <a:lnSpc>
                <a:spcPts val="3393"/>
              </a:lnSpc>
            </a:pPr>
            <a:r>
              <a:rPr lang="en-US" sz="2175">
                <a:solidFill>
                  <a:srgbClr val="475569"/>
                </a:solidFill>
                <a:latin typeface="Poppins"/>
                <a:ea typeface="Poppins"/>
                <a:cs typeface="Poppins"/>
                <a:sym typeface="Poppins"/>
              </a:rPr>
              <a:t>2.  Late Rate, the proportion of deliveries not on time, using DIVIDE.</a:t>
            </a:r>
          </a:p>
          <a:p>
            <a:pPr algn="l">
              <a:lnSpc>
                <a:spcPts val="3393"/>
              </a:lnSpc>
            </a:pPr>
            <a:r>
              <a:rPr lang="en-US" sz="2175">
                <a:solidFill>
                  <a:srgbClr val="475569"/>
                </a:solidFill>
                <a:latin typeface="Poppins"/>
                <a:ea typeface="Poppins"/>
                <a:cs typeface="Poppins"/>
                <a:sym typeface="Poppins"/>
              </a:rPr>
              <a:t>3.  Revenue Previous Month, using CALCULATE and DATEADD.</a:t>
            </a:r>
          </a:p>
        </p:txBody>
      </p:sp>
      <p:grpSp>
        <p:nvGrpSpPr>
          <p:cNvPr name="Group 19" id="19"/>
          <p:cNvGrpSpPr/>
          <p:nvPr/>
        </p:nvGrpSpPr>
        <p:grpSpPr>
          <a:xfrm rot="0">
            <a:off x="857250" y="5829300"/>
            <a:ext cx="15636240" cy="2125980"/>
            <a:chOff x="0" y="0"/>
            <a:chExt cx="20848320" cy="2834640"/>
          </a:xfrm>
        </p:grpSpPr>
        <p:sp>
          <p:nvSpPr>
            <p:cNvPr name="Freeform 20" id="20"/>
            <p:cNvSpPr/>
            <p:nvPr/>
          </p:nvSpPr>
          <p:spPr>
            <a:xfrm flipH="false" flipV="false" rot="0">
              <a:off x="0" y="0"/>
              <a:ext cx="20848320" cy="2834640"/>
            </a:xfrm>
            <a:custGeom>
              <a:avLst/>
              <a:gdLst/>
              <a:ahLst/>
              <a:cxnLst/>
              <a:rect r="r" b="b" t="t" l="l"/>
              <a:pathLst>
                <a:path h="2834640" w="20848320">
                  <a:moveTo>
                    <a:pt x="0" y="164592"/>
                  </a:moveTo>
                  <a:cubicBezTo>
                    <a:pt x="0" y="73660"/>
                    <a:pt x="73660" y="0"/>
                    <a:pt x="164592" y="0"/>
                  </a:cubicBezTo>
                  <a:lnTo>
                    <a:pt x="20683728" y="0"/>
                  </a:lnTo>
                  <a:cubicBezTo>
                    <a:pt x="20774661" y="0"/>
                    <a:pt x="20848320" y="73660"/>
                    <a:pt x="20848320" y="164592"/>
                  </a:cubicBezTo>
                  <a:lnTo>
                    <a:pt x="20848320" y="2670048"/>
                  </a:lnTo>
                  <a:cubicBezTo>
                    <a:pt x="20848320" y="2760980"/>
                    <a:pt x="20774661" y="2834640"/>
                    <a:pt x="20683728" y="2834640"/>
                  </a:cubicBezTo>
                  <a:lnTo>
                    <a:pt x="164592" y="2834640"/>
                  </a:lnTo>
                  <a:cubicBezTo>
                    <a:pt x="73660" y="2834640"/>
                    <a:pt x="0" y="2760980"/>
                    <a:pt x="0" y="2670048"/>
                  </a:cubicBezTo>
                  <a:close/>
                </a:path>
              </a:pathLst>
            </a:custGeom>
            <a:solidFill>
              <a:srgbClr val="EEF4F4"/>
            </a:solidFill>
          </p:spPr>
        </p:sp>
      </p:grpSp>
      <p:grpSp>
        <p:nvGrpSpPr>
          <p:cNvPr name="Group 21" id="21"/>
          <p:cNvGrpSpPr/>
          <p:nvPr/>
        </p:nvGrpSpPr>
        <p:grpSpPr>
          <a:xfrm rot="0">
            <a:off x="857250" y="5829300"/>
            <a:ext cx="123444" cy="2125980"/>
            <a:chOff x="0" y="0"/>
            <a:chExt cx="164592" cy="2834640"/>
          </a:xfrm>
        </p:grpSpPr>
        <p:sp>
          <p:nvSpPr>
            <p:cNvPr name="Freeform 22" id="22"/>
            <p:cNvSpPr/>
            <p:nvPr/>
          </p:nvSpPr>
          <p:spPr>
            <a:xfrm flipH="false" flipV="false" rot="0">
              <a:off x="0" y="0"/>
              <a:ext cx="164592" cy="2834640"/>
            </a:xfrm>
            <a:custGeom>
              <a:avLst/>
              <a:gdLst/>
              <a:ahLst/>
              <a:cxnLst/>
              <a:rect r="r" b="b" t="t" l="l"/>
              <a:pathLst>
                <a:path h="2834640" w="164592">
                  <a:moveTo>
                    <a:pt x="0" y="0"/>
                  </a:moveTo>
                  <a:lnTo>
                    <a:pt x="164592" y="0"/>
                  </a:lnTo>
                  <a:lnTo>
                    <a:pt x="164592" y="2834640"/>
                  </a:lnTo>
                  <a:lnTo>
                    <a:pt x="0" y="2834640"/>
                  </a:lnTo>
                  <a:close/>
                </a:path>
              </a:pathLst>
            </a:custGeom>
            <a:solidFill>
              <a:srgbClr val="9BB7B7"/>
            </a:solidFill>
          </p:spPr>
        </p:sp>
      </p:grpSp>
      <p:grpSp>
        <p:nvGrpSpPr>
          <p:cNvPr name="Group 23" id="23"/>
          <p:cNvGrpSpPr/>
          <p:nvPr/>
        </p:nvGrpSpPr>
        <p:grpSpPr>
          <a:xfrm rot="0">
            <a:off x="1337310" y="6103620"/>
            <a:ext cx="14401800" cy="438912"/>
            <a:chOff x="0" y="0"/>
            <a:chExt cx="19202400" cy="585216"/>
          </a:xfrm>
        </p:grpSpPr>
        <p:sp>
          <p:nvSpPr>
            <p:cNvPr name="Freeform 24" id="24"/>
            <p:cNvSpPr/>
            <p:nvPr/>
          </p:nvSpPr>
          <p:spPr>
            <a:xfrm flipH="false" flipV="false" rot="0">
              <a:off x="0" y="0"/>
              <a:ext cx="19202400" cy="585216"/>
            </a:xfrm>
            <a:custGeom>
              <a:avLst/>
              <a:gdLst/>
              <a:ahLst/>
              <a:cxnLst/>
              <a:rect r="r" b="b" t="t" l="l"/>
              <a:pathLst>
                <a:path h="585216" w="19202400">
                  <a:moveTo>
                    <a:pt x="0" y="0"/>
                  </a:moveTo>
                  <a:lnTo>
                    <a:pt x="19202400" y="0"/>
                  </a:lnTo>
                  <a:lnTo>
                    <a:pt x="19202400" y="585216"/>
                  </a:lnTo>
                  <a:lnTo>
                    <a:pt x="0" y="585216"/>
                  </a:lnTo>
                  <a:close/>
                </a:path>
              </a:pathLst>
            </a:custGeom>
            <a:blipFill>
              <a:blip r:embed="rId9">
                <a:alphaModFix amt="0"/>
              </a:blip>
              <a:stretch>
                <a:fillRect l="0" t="-589352" r="0" b="-589352"/>
              </a:stretch>
            </a:blipFill>
          </p:spPr>
        </p:sp>
        <p:sp>
          <p:nvSpPr>
            <p:cNvPr name="TextBox 25" id="25"/>
            <p:cNvSpPr txBox="true"/>
            <p:nvPr/>
          </p:nvSpPr>
          <p:spPr>
            <a:xfrm>
              <a:off x="0" y="-9525"/>
              <a:ext cx="19202400" cy="594741"/>
            </a:xfrm>
            <a:prstGeom prst="rect">
              <a:avLst/>
            </a:prstGeom>
          </p:spPr>
          <p:txBody>
            <a:bodyPr anchor="ctr" rtlCol="false" tIns="0" lIns="0" bIns="0" rIns="0"/>
            <a:lstStyle/>
            <a:p>
              <a:pPr algn="l">
                <a:lnSpc>
                  <a:spcPts val="1980"/>
                </a:lnSpc>
              </a:pPr>
              <a:r>
                <a:rPr lang="en-US" sz="1650" b="true">
                  <a:solidFill>
                    <a:srgbClr val="20494A"/>
                  </a:solidFill>
                  <a:latin typeface="Poppins Bold"/>
                  <a:ea typeface="Poppins Bold"/>
                  <a:cs typeface="Poppins Bold"/>
                  <a:sym typeface="Poppins Bold"/>
                </a:rPr>
                <a:t>EXPECTED OUTPUT AT TOTAL LEVEL</a:t>
              </a:r>
            </a:p>
          </p:txBody>
        </p:sp>
      </p:grpSp>
      <p:sp>
        <p:nvSpPr>
          <p:cNvPr name="TextBox 26" id="26"/>
          <p:cNvSpPr txBox="true"/>
          <p:nvPr/>
        </p:nvSpPr>
        <p:spPr>
          <a:xfrm rot="0">
            <a:off x="1337310" y="6478905"/>
            <a:ext cx="14813280" cy="1339215"/>
          </a:xfrm>
          <a:prstGeom prst="rect">
            <a:avLst/>
          </a:prstGeom>
        </p:spPr>
        <p:txBody>
          <a:bodyPr anchor="t" rtlCol="false" tIns="0" lIns="0" bIns="0" rIns="0">
            <a:spAutoFit/>
          </a:bodyPr>
          <a:lstStyle/>
          <a:p>
            <a:pPr algn="l">
              <a:lnSpc>
                <a:spcPts val="3402"/>
              </a:lnSpc>
            </a:pPr>
            <a:r>
              <a:rPr lang="en-US" sz="2100">
                <a:solidFill>
                  <a:srgbClr val="475569"/>
                </a:solidFill>
                <a:latin typeface="Poppins"/>
                <a:ea typeface="Poppins"/>
                <a:cs typeface="Poppins"/>
                <a:sym typeface="Poppins"/>
              </a:rPr>
              <a:t>Total Revenue ₦247,680,000.   Late Rate 18.0 percent.   Revenue Previous Month returns blank for January 2025, which is correct and is not a bug.</a:t>
            </a:r>
          </a:p>
        </p:txBody>
      </p:sp>
      <p:sp>
        <p:nvSpPr>
          <p:cNvPr name="TextBox 27" id="27"/>
          <p:cNvSpPr txBox="true"/>
          <p:nvPr/>
        </p:nvSpPr>
        <p:spPr>
          <a:xfrm rot="0">
            <a:off x="857250" y="8134350"/>
            <a:ext cx="15636240" cy="643890"/>
          </a:xfrm>
          <a:prstGeom prst="rect">
            <a:avLst/>
          </a:prstGeom>
        </p:spPr>
        <p:txBody>
          <a:bodyPr anchor="t" rtlCol="false" tIns="0" lIns="0" bIns="0" rIns="0">
            <a:spAutoFit/>
          </a:bodyPr>
          <a:lstStyle/>
          <a:p>
            <a:pPr algn="ctr">
              <a:lnSpc>
                <a:spcPts val="3280"/>
              </a:lnSpc>
            </a:pPr>
            <a:r>
              <a:rPr lang="en-US" sz="2025" i="true">
                <a:solidFill>
                  <a:srgbClr val="64748B"/>
                </a:solidFill>
                <a:latin typeface="Poppins Italics"/>
                <a:ea typeface="Poppins Italics"/>
                <a:cs typeface="Poppins Italics"/>
                <a:sym typeface="Poppins Italics"/>
              </a:rPr>
              <a:t>Write your prediction for Late Rate before you build it.</a:t>
            </a:r>
          </a:p>
        </p:txBody>
      </p:sp>
      <p:grpSp>
        <p:nvGrpSpPr>
          <p:cNvPr name="Group 28" id="28"/>
          <p:cNvGrpSpPr/>
          <p:nvPr/>
        </p:nvGrpSpPr>
        <p:grpSpPr>
          <a:xfrm rot="0">
            <a:off x="1143000" y="1571625"/>
            <a:ext cx="8229600" cy="438912"/>
            <a:chOff x="0" y="0"/>
            <a:chExt cx="10972800" cy="585216"/>
          </a:xfrm>
        </p:grpSpPr>
        <p:sp>
          <p:nvSpPr>
            <p:cNvPr name="Freeform 29" id="29"/>
            <p:cNvSpPr/>
            <p:nvPr/>
          </p:nvSpPr>
          <p:spPr>
            <a:xfrm flipH="false" flipV="false" rot="0">
              <a:off x="0" y="0"/>
              <a:ext cx="10972800" cy="585216"/>
            </a:xfrm>
            <a:custGeom>
              <a:avLst/>
              <a:gdLst/>
              <a:ahLst/>
              <a:cxnLst/>
              <a:rect r="r" b="b" t="t" l="l"/>
              <a:pathLst>
                <a:path h="585216" w="10972800">
                  <a:moveTo>
                    <a:pt x="0" y="0"/>
                  </a:moveTo>
                  <a:lnTo>
                    <a:pt x="10972800" y="0"/>
                  </a:lnTo>
                  <a:lnTo>
                    <a:pt x="10972800" y="585216"/>
                  </a:lnTo>
                  <a:lnTo>
                    <a:pt x="0" y="585216"/>
                  </a:lnTo>
                  <a:close/>
                </a:path>
              </a:pathLst>
            </a:custGeom>
            <a:blipFill>
              <a:blip r:embed="rId9">
                <a:alphaModFix amt="0"/>
              </a:blip>
              <a:stretch>
                <a:fillRect l="0" t="-315344" r="0" b="-315344"/>
              </a:stretch>
            </a:blipFill>
          </p:spPr>
        </p:sp>
        <p:sp>
          <p:nvSpPr>
            <p:cNvPr name="TextBox 30" id="30"/>
            <p:cNvSpPr txBox="true"/>
            <p:nvPr/>
          </p:nvSpPr>
          <p:spPr>
            <a:xfrm>
              <a:off x="0" y="-19050"/>
              <a:ext cx="10972800" cy="604266"/>
            </a:xfrm>
            <a:prstGeom prst="rect">
              <a:avLst/>
            </a:prstGeom>
          </p:spPr>
          <p:txBody>
            <a:bodyPr anchor="ctr" rtlCol="false" tIns="0" lIns="0" bIns="0" rIns="0"/>
            <a:lstStyle/>
            <a:p>
              <a:pPr algn="l">
                <a:lnSpc>
                  <a:spcPts val="2160"/>
                </a:lnSpc>
              </a:pPr>
              <a:r>
                <a:rPr lang="en-US" b="true" sz="1800" spc="300">
                  <a:solidFill>
                    <a:srgbClr val="8FBEBE"/>
                  </a:solidFill>
                  <a:latin typeface="Poppins Bold"/>
                  <a:ea typeface="Poppins Bold"/>
                  <a:cs typeface="Poppins Bold"/>
                  <a:sym typeface="Poppins Bold"/>
                </a:rPr>
                <a:t>YOUR TURN</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7669014"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Solution</a:t>
            </a:r>
            <a:r>
              <a:rPr lang="en-US" sz="5000">
                <a:solidFill>
                  <a:srgbClr val="388080"/>
                </a:solidFill>
                <a:latin typeface="Poppins"/>
                <a:ea typeface="Poppins"/>
                <a:cs typeface="Poppins"/>
                <a:sym typeface="Poppins"/>
              </a:rPr>
              <a:t> and verification</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819150" y="2466175"/>
            <a:ext cx="9464040" cy="4869180"/>
            <a:chOff x="0" y="0"/>
            <a:chExt cx="12618720" cy="6492240"/>
          </a:xfrm>
        </p:grpSpPr>
        <p:sp>
          <p:nvSpPr>
            <p:cNvPr name="Freeform 12" id="12"/>
            <p:cNvSpPr/>
            <p:nvPr/>
          </p:nvSpPr>
          <p:spPr>
            <a:xfrm flipH="false" flipV="false" rot="0">
              <a:off x="0" y="0"/>
              <a:ext cx="12618720" cy="6492240"/>
            </a:xfrm>
            <a:custGeom>
              <a:avLst/>
              <a:gdLst/>
              <a:ahLst/>
              <a:cxnLst/>
              <a:rect r="r" b="b" t="t" l="l"/>
              <a:pathLst>
                <a:path h="6492240" w="12618720">
                  <a:moveTo>
                    <a:pt x="0" y="164592"/>
                  </a:moveTo>
                  <a:cubicBezTo>
                    <a:pt x="0" y="73660"/>
                    <a:pt x="73660" y="0"/>
                    <a:pt x="164592" y="0"/>
                  </a:cubicBezTo>
                  <a:lnTo>
                    <a:pt x="12454128" y="0"/>
                  </a:lnTo>
                  <a:cubicBezTo>
                    <a:pt x="12545060" y="0"/>
                    <a:pt x="12618720" y="73660"/>
                    <a:pt x="12618720" y="164592"/>
                  </a:cubicBezTo>
                  <a:lnTo>
                    <a:pt x="12618720" y="6327648"/>
                  </a:lnTo>
                  <a:cubicBezTo>
                    <a:pt x="12618720" y="6418580"/>
                    <a:pt x="12545060" y="6492240"/>
                    <a:pt x="12454128" y="6492240"/>
                  </a:cubicBezTo>
                  <a:lnTo>
                    <a:pt x="164592" y="6492240"/>
                  </a:lnTo>
                  <a:cubicBezTo>
                    <a:pt x="73660" y="6492240"/>
                    <a:pt x="0" y="6418580"/>
                    <a:pt x="0" y="6327648"/>
                  </a:cubicBezTo>
                  <a:close/>
                </a:path>
              </a:pathLst>
            </a:custGeom>
            <a:solidFill>
              <a:srgbClr val="10312F"/>
            </a:solidFill>
          </p:spPr>
        </p:sp>
      </p:grpSp>
      <p:grpSp>
        <p:nvGrpSpPr>
          <p:cNvPr name="Group 13" id="13"/>
          <p:cNvGrpSpPr/>
          <p:nvPr/>
        </p:nvGrpSpPr>
        <p:grpSpPr>
          <a:xfrm rot="0">
            <a:off x="1230630" y="2740495"/>
            <a:ext cx="8641080" cy="4320540"/>
            <a:chOff x="0" y="0"/>
            <a:chExt cx="11521440" cy="5760720"/>
          </a:xfrm>
        </p:grpSpPr>
        <p:sp>
          <p:nvSpPr>
            <p:cNvPr name="Freeform 14" id="14"/>
            <p:cNvSpPr/>
            <p:nvPr/>
          </p:nvSpPr>
          <p:spPr>
            <a:xfrm flipH="false" flipV="false" rot="0">
              <a:off x="0" y="0"/>
              <a:ext cx="11521440" cy="5760720"/>
            </a:xfrm>
            <a:custGeom>
              <a:avLst/>
              <a:gdLst/>
              <a:ahLst/>
              <a:cxnLst/>
              <a:rect r="r" b="b" t="t" l="l"/>
              <a:pathLst>
                <a:path h="5760720" w="11521440">
                  <a:moveTo>
                    <a:pt x="0" y="0"/>
                  </a:moveTo>
                  <a:lnTo>
                    <a:pt x="11521440" y="0"/>
                  </a:lnTo>
                  <a:lnTo>
                    <a:pt x="11521440" y="5760720"/>
                  </a:lnTo>
                  <a:lnTo>
                    <a:pt x="0" y="5760720"/>
                  </a:lnTo>
                  <a:close/>
                </a:path>
              </a:pathLst>
            </a:custGeom>
            <a:blipFill>
              <a:blip r:embed="rId9">
                <a:alphaModFix amt="0"/>
              </a:blip>
              <a:stretch>
                <a:fillRect l="-14151" t="0" r="-14151" b="0"/>
              </a:stretch>
            </a:blipFill>
          </p:spPr>
        </p:sp>
        <p:sp>
          <p:nvSpPr>
            <p:cNvPr name="TextBox 15" id="15"/>
            <p:cNvSpPr txBox="true"/>
            <p:nvPr/>
          </p:nvSpPr>
          <p:spPr>
            <a:xfrm>
              <a:off x="0" y="-38100"/>
              <a:ext cx="11521440" cy="5798820"/>
            </a:xfrm>
            <a:prstGeom prst="rect">
              <a:avLst/>
            </a:prstGeom>
          </p:spPr>
          <p:txBody>
            <a:bodyPr anchor="ctr" rtlCol="false" tIns="0" lIns="0" bIns="0" rIns="0"/>
            <a:lstStyle/>
            <a:p>
              <a:pPr algn="l">
                <a:lnSpc>
                  <a:spcPts val="2475"/>
                </a:lnSpc>
              </a:pPr>
              <a:r>
                <a:rPr lang="en-US" sz="1650">
                  <a:solidFill>
                    <a:srgbClr val="CFE6E3"/>
                  </a:solidFill>
                  <a:latin typeface="Roboto Mono"/>
                  <a:ea typeface="Roboto Mono"/>
                  <a:cs typeface="Roboto Mono"/>
                  <a:sym typeface="Roboto Mono"/>
                </a:rPr>
                <a:t>Total Revenue =</a:t>
              </a:r>
            </a:p>
            <a:p>
              <a:pPr algn="l">
                <a:lnSpc>
                  <a:spcPts val="2475"/>
                </a:lnSpc>
              </a:pPr>
              <a:r>
                <a:rPr lang="en-US" sz="1650">
                  <a:solidFill>
                    <a:srgbClr val="CFE6E3"/>
                  </a:solidFill>
                  <a:latin typeface="Roboto Mono"/>
                  <a:ea typeface="Roboto Mono"/>
                  <a:cs typeface="Roboto Mono"/>
                  <a:sym typeface="Roboto Mono"/>
                </a:rPr>
                <a:t>  SUM ( swiftroute_deliveries[DeliveryFee] )</a:t>
              </a:r>
            </a:p>
            <a:p>
              <a:pPr algn="l">
                <a:lnSpc>
                  <a:spcPts val="2475"/>
                </a:lnSpc>
              </a:pPr>
            </a:p>
            <a:p>
              <a:pPr algn="l">
                <a:lnSpc>
                  <a:spcPts val="2475"/>
                </a:lnSpc>
              </a:pPr>
              <a:r>
                <a:rPr lang="en-US" sz="1650">
                  <a:solidFill>
                    <a:srgbClr val="CFE6E3"/>
                  </a:solidFill>
                  <a:latin typeface="Roboto Mono"/>
                  <a:ea typeface="Roboto Mono"/>
                  <a:cs typeface="Roboto Mono"/>
                  <a:sym typeface="Roboto Mono"/>
                </a:rPr>
                <a:t>Late Rate =</a:t>
              </a:r>
            </a:p>
            <a:p>
              <a:pPr algn="l">
                <a:lnSpc>
                  <a:spcPts val="2475"/>
                </a:lnSpc>
              </a:pPr>
              <a:r>
                <a:rPr lang="en-US" sz="1650">
                  <a:solidFill>
                    <a:srgbClr val="CFE6E3"/>
                  </a:solidFill>
                  <a:latin typeface="Roboto Mono"/>
                  <a:ea typeface="Roboto Mono"/>
                  <a:cs typeface="Roboto Mono"/>
                  <a:sym typeface="Roboto Mono"/>
                </a:rPr>
                <a:t>  DIVIDE (</a:t>
              </a:r>
            </a:p>
            <a:p>
              <a:pPr algn="l">
                <a:lnSpc>
                  <a:spcPts val="2475"/>
                </a:lnSpc>
              </a:pPr>
              <a:r>
                <a:rPr lang="en-US" sz="1650">
                  <a:solidFill>
                    <a:srgbClr val="CFE6E3"/>
                  </a:solidFill>
                  <a:latin typeface="Roboto Mono"/>
                  <a:ea typeface="Roboto Mono"/>
                  <a:cs typeface="Roboto Mono"/>
                  <a:sym typeface="Roboto Mono"/>
                </a:rPr>
                <a:t>    CALCULATE ( [Total Deliveries],</a:t>
              </a:r>
            </a:p>
            <a:p>
              <a:pPr algn="l">
                <a:lnSpc>
                  <a:spcPts val="2475"/>
                </a:lnSpc>
              </a:pPr>
              <a:r>
                <a:rPr lang="en-US" sz="1650">
                  <a:solidFill>
                    <a:srgbClr val="CFE6E3"/>
                  </a:solidFill>
                  <a:latin typeface="Roboto Mono"/>
                  <a:ea typeface="Roboto Mono"/>
                  <a:cs typeface="Roboto Mono"/>
                  <a:sym typeface="Roboto Mono"/>
                </a:rPr>
                <a:t>                swiftroute_deliveries[Status] &lt;&gt; "On time" ),</a:t>
              </a:r>
            </a:p>
            <a:p>
              <a:pPr algn="l">
                <a:lnSpc>
                  <a:spcPts val="2475"/>
                </a:lnSpc>
              </a:pPr>
              <a:r>
                <a:rPr lang="en-US" sz="1650">
                  <a:solidFill>
                    <a:srgbClr val="CFE6E3"/>
                  </a:solidFill>
                  <a:latin typeface="Roboto Mono"/>
                  <a:ea typeface="Roboto Mono"/>
                  <a:cs typeface="Roboto Mono"/>
                  <a:sym typeface="Roboto Mono"/>
                </a:rPr>
                <a:t>    [Total Deliveries]</a:t>
              </a:r>
            </a:p>
            <a:p>
              <a:pPr algn="l">
                <a:lnSpc>
                  <a:spcPts val="2475"/>
                </a:lnSpc>
              </a:pPr>
              <a:r>
                <a:rPr lang="en-US" sz="1650">
                  <a:solidFill>
                    <a:srgbClr val="CFE6E3"/>
                  </a:solidFill>
                  <a:latin typeface="Roboto Mono"/>
                  <a:ea typeface="Roboto Mono"/>
                  <a:cs typeface="Roboto Mono"/>
                  <a:sym typeface="Roboto Mono"/>
                </a:rPr>
                <a:t>  )</a:t>
              </a:r>
            </a:p>
            <a:p>
              <a:pPr algn="l">
                <a:lnSpc>
                  <a:spcPts val="2475"/>
                </a:lnSpc>
              </a:pPr>
            </a:p>
            <a:p>
              <a:pPr algn="l">
                <a:lnSpc>
                  <a:spcPts val="2475"/>
                </a:lnSpc>
              </a:pPr>
              <a:r>
                <a:rPr lang="en-US" sz="1650">
                  <a:solidFill>
                    <a:srgbClr val="CFE6E3"/>
                  </a:solidFill>
                  <a:latin typeface="Roboto Mono"/>
                  <a:ea typeface="Roboto Mono"/>
                  <a:cs typeface="Roboto Mono"/>
                  <a:sym typeface="Roboto Mono"/>
                </a:rPr>
                <a:t>Revenue Previous Month =</a:t>
              </a:r>
            </a:p>
            <a:p>
              <a:pPr algn="l">
                <a:lnSpc>
                  <a:spcPts val="2475"/>
                </a:lnSpc>
              </a:pPr>
              <a:r>
                <a:rPr lang="en-US" sz="1650">
                  <a:solidFill>
                    <a:srgbClr val="CFE6E3"/>
                  </a:solidFill>
                  <a:latin typeface="Roboto Mono"/>
                  <a:ea typeface="Roboto Mono"/>
                  <a:cs typeface="Roboto Mono"/>
                  <a:sym typeface="Roboto Mono"/>
                </a:rPr>
                <a:t>  CALCULATE ( [Total Revenue],</a:t>
              </a:r>
            </a:p>
            <a:p>
              <a:pPr algn="l">
                <a:lnSpc>
                  <a:spcPts val="2475"/>
                </a:lnSpc>
              </a:pPr>
              <a:r>
                <a:rPr lang="en-US" sz="1650">
                  <a:solidFill>
                    <a:srgbClr val="CFE6E3"/>
                  </a:solidFill>
                  <a:latin typeface="Roboto Mono"/>
                  <a:ea typeface="Roboto Mono"/>
                  <a:cs typeface="Roboto Mono"/>
                  <a:sym typeface="Roboto Mono"/>
                </a:rPr>
                <a:t>              DATEADD ( dates[DateKey], -1, MONTH ) )</a:t>
              </a:r>
            </a:p>
          </p:txBody>
        </p:sp>
      </p:grpSp>
      <p:grpSp>
        <p:nvGrpSpPr>
          <p:cNvPr name="Group 16" id="16"/>
          <p:cNvGrpSpPr/>
          <p:nvPr/>
        </p:nvGrpSpPr>
        <p:grpSpPr>
          <a:xfrm rot="0">
            <a:off x="10831830" y="2466175"/>
            <a:ext cx="4732020" cy="2125980"/>
            <a:chOff x="0" y="0"/>
            <a:chExt cx="6309360" cy="2834640"/>
          </a:xfrm>
        </p:grpSpPr>
        <p:sp>
          <p:nvSpPr>
            <p:cNvPr name="Freeform 17" id="17"/>
            <p:cNvSpPr/>
            <p:nvPr/>
          </p:nvSpPr>
          <p:spPr>
            <a:xfrm flipH="false" flipV="false" rot="0">
              <a:off x="0" y="0"/>
              <a:ext cx="6309360" cy="2834640"/>
            </a:xfrm>
            <a:custGeom>
              <a:avLst/>
              <a:gdLst/>
              <a:ahLst/>
              <a:cxnLst/>
              <a:rect r="r" b="b" t="t" l="l"/>
              <a:pathLst>
                <a:path h="2834640" w="6309360">
                  <a:moveTo>
                    <a:pt x="0" y="182880"/>
                  </a:moveTo>
                  <a:cubicBezTo>
                    <a:pt x="0" y="81915"/>
                    <a:pt x="81915" y="0"/>
                    <a:pt x="182880" y="0"/>
                  </a:cubicBezTo>
                  <a:lnTo>
                    <a:pt x="6126480" y="0"/>
                  </a:lnTo>
                  <a:cubicBezTo>
                    <a:pt x="6227445" y="0"/>
                    <a:pt x="6309360" y="81915"/>
                    <a:pt x="6309360" y="182880"/>
                  </a:cubicBezTo>
                  <a:lnTo>
                    <a:pt x="6309360" y="2651760"/>
                  </a:lnTo>
                  <a:cubicBezTo>
                    <a:pt x="6309360" y="2752725"/>
                    <a:pt x="6227445" y="2834640"/>
                    <a:pt x="6126480" y="2834640"/>
                  </a:cubicBezTo>
                  <a:lnTo>
                    <a:pt x="182880" y="2834640"/>
                  </a:lnTo>
                  <a:cubicBezTo>
                    <a:pt x="81915" y="2834640"/>
                    <a:pt x="0" y="2752725"/>
                    <a:pt x="0" y="2651760"/>
                  </a:cubicBezTo>
                  <a:close/>
                </a:path>
              </a:pathLst>
            </a:custGeom>
            <a:solidFill>
              <a:srgbClr val="FFFFFF"/>
            </a:solidFill>
          </p:spPr>
        </p:sp>
      </p:grpSp>
      <p:grpSp>
        <p:nvGrpSpPr>
          <p:cNvPr name="Group 18" id="18"/>
          <p:cNvGrpSpPr/>
          <p:nvPr/>
        </p:nvGrpSpPr>
        <p:grpSpPr>
          <a:xfrm rot="0">
            <a:off x="11174730" y="2740495"/>
            <a:ext cx="4114800" cy="411480"/>
            <a:chOff x="0" y="0"/>
            <a:chExt cx="5486400" cy="548640"/>
          </a:xfrm>
        </p:grpSpPr>
        <p:sp>
          <p:nvSpPr>
            <p:cNvPr name="Freeform 19" id="19"/>
            <p:cNvSpPr/>
            <p:nvPr/>
          </p:nvSpPr>
          <p:spPr>
            <a:xfrm flipH="false" flipV="false" rot="0">
              <a:off x="0" y="0"/>
              <a:ext cx="5486400" cy="548640"/>
            </a:xfrm>
            <a:custGeom>
              <a:avLst/>
              <a:gdLst/>
              <a:ahLst/>
              <a:cxnLst/>
              <a:rect r="r" b="b" t="t" l="l"/>
              <a:pathLst>
                <a:path h="548640" w="5486400">
                  <a:moveTo>
                    <a:pt x="0" y="0"/>
                  </a:moveTo>
                  <a:lnTo>
                    <a:pt x="5486400" y="0"/>
                  </a:lnTo>
                  <a:lnTo>
                    <a:pt x="5486400" y="548640"/>
                  </a:lnTo>
                  <a:lnTo>
                    <a:pt x="0" y="548640"/>
                  </a:lnTo>
                  <a:close/>
                </a:path>
              </a:pathLst>
            </a:custGeom>
            <a:blipFill>
              <a:blip r:embed="rId9">
                <a:alphaModFix amt="0"/>
              </a:blip>
              <a:stretch>
                <a:fillRect l="0" t="-144850" r="0" b="-144850"/>
              </a:stretch>
            </a:blipFill>
          </p:spPr>
        </p:sp>
        <p:sp>
          <p:nvSpPr>
            <p:cNvPr name="TextBox 20" id="20"/>
            <p:cNvSpPr txBox="true"/>
            <p:nvPr/>
          </p:nvSpPr>
          <p:spPr>
            <a:xfrm>
              <a:off x="0" y="-9525"/>
              <a:ext cx="5486400" cy="558165"/>
            </a:xfrm>
            <a:prstGeom prst="rect">
              <a:avLst/>
            </a:prstGeom>
          </p:spPr>
          <p:txBody>
            <a:bodyPr anchor="ctr" rtlCol="false" tIns="0" lIns="0" bIns="0" rIns="0"/>
            <a:lstStyle/>
            <a:p>
              <a:pPr algn="l">
                <a:lnSpc>
                  <a:spcPts val="1889"/>
                </a:lnSpc>
              </a:pPr>
              <a:r>
                <a:rPr lang="en-US" b="true" sz="1575" spc="150">
                  <a:solidFill>
                    <a:srgbClr val="387F7F"/>
                  </a:solidFill>
                  <a:latin typeface="Poppins Bold"/>
                  <a:ea typeface="Poppins Bold"/>
                  <a:cs typeface="Poppins Bold"/>
                  <a:sym typeface="Poppins Bold"/>
                </a:rPr>
                <a:t>THE RECONCILIATION</a:t>
              </a:r>
            </a:p>
          </p:txBody>
        </p:sp>
      </p:grpSp>
      <p:grpSp>
        <p:nvGrpSpPr>
          <p:cNvPr name="Group 21" id="21"/>
          <p:cNvGrpSpPr/>
          <p:nvPr/>
        </p:nvGrpSpPr>
        <p:grpSpPr>
          <a:xfrm rot="0">
            <a:off x="11174730" y="3289135"/>
            <a:ext cx="4114800" cy="685800"/>
            <a:chOff x="0" y="0"/>
            <a:chExt cx="5486400" cy="914400"/>
          </a:xfrm>
        </p:grpSpPr>
        <p:sp>
          <p:nvSpPr>
            <p:cNvPr name="Freeform 22" id="22"/>
            <p:cNvSpPr/>
            <p:nvPr/>
          </p:nvSpPr>
          <p:spPr>
            <a:xfrm flipH="false" flipV="false" rot="0">
              <a:off x="0" y="0"/>
              <a:ext cx="5486400" cy="914400"/>
            </a:xfrm>
            <a:custGeom>
              <a:avLst/>
              <a:gdLst/>
              <a:ahLst/>
              <a:cxnLst/>
              <a:rect r="r" b="b" t="t" l="l"/>
              <a:pathLst>
                <a:path h="914400" w="5486400">
                  <a:moveTo>
                    <a:pt x="0" y="0"/>
                  </a:moveTo>
                  <a:lnTo>
                    <a:pt x="5486400" y="0"/>
                  </a:lnTo>
                  <a:lnTo>
                    <a:pt x="5486400" y="914400"/>
                  </a:lnTo>
                  <a:lnTo>
                    <a:pt x="0" y="914400"/>
                  </a:lnTo>
                  <a:close/>
                </a:path>
              </a:pathLst>
            </a:custGeom>
            <a:blipFill>
              <a:blip r:embed="rId9">
                <a:alphaModFix amt="0"/>
              </a:blip>
              <a:stretch>
                <a:fillRect l="0" t="-66910" r="0" b="-66910"/>
              </a:stretch>
            </a:blipFill>
          </p:spPr>
        </p:sp>
        <p:sp>
          <p:nvSpPr>
            <p:cNvPr name="TextBox 23" id="23"/>
            <p:cNvSpPr txBox="true"/>
            <p:nvPr/>
          </p:nvSpPr>
          <p:spPr>
            <a:xfrm>
              <a:off x="0" y="-28575"/>
              <a:ext cx="5486400" cy="942975"/>
            </a:xfrm>
            <a:prstGeom prst="rect">
              <a:avLst/>
            </a:prstGeom>
          </p:spPr>
          <p:txBody>
            <a:bodyPr anchor="ctr" rtlCol="false" tIns="0" lIns="0" bIns="0" rIns="0"/>
            <a:lstStyle/>
            <a:p>
              <a:pPr algn="ctr">
                <a:lnSpc>
                  <a:spcPts val="2700"/>
                </a:lnSpc>
              </a:pPr>
              <a:r>
                <a:rPr lang="en-US" sz="2250" b="true">
                  <a:solidFill>
                    <a:srgbClr val="0A1A23"/>
                  </a:solidFill>
                  <a:latin typeface="Poppins Bold"/>
                  <a:ea typeface="Poppins Bold"/>
                  <a:cs typeface="Poppins Bold"/>
                  <a:sym typeface="Poppins Bold"/>
                </a:rPr>
                <a:t>82.0%  +  18.0%  =  100%</a:t>
              </a:r>
            </a:p>
          </p:txBody>
        </p:sp>
      </p:grpSp>
      <p:sp>
        <p:nvSpPr>
          <p:cNvPr name="TextBox 24" id="24"/>
          <p:cNvSpPr txBox="true"/>
          <p:nvPr/>
        </p:nvSpPr>
        <p:spPr>
          <a:xfrm rot="0">
            <a:off x="11174730" y="3967315"/>
            <a:ext cx="4114800" cy="556260"/>
          </a:xfrm>
          <a:prstGeom prst="rect">
            <a:avLst/>
          </a:prstGeom>
        </p:spPr>
        <p:txBody>
          <a:bodyPr anchor="t" rtlCol="false" tIns="0" lIns="0" bIns="0" rIns="0">
            <a:spAutoFit/>
          </a:bodyPr>
          <a:lstStyle/>
          <a:p>
            <a:pPr algn="ctr">
              <a:lnSpc>
                <a:spcPts val="2551"/>
              </a:lnSpc>
            </a:pPr>
            <a:r>
              <a:rPr lang="en-US" sz="1575">
                <a:solidFill>
                  <a:srgbClr val="64748B"/>
                </a:solidFill>
                <a:latin typeface="Poppins"/>
                <a:ea typeface="Poppins"/>
                <a:cs typeface="Poppins"/>
                <a:sym typeface="Poppins"/>
              </a:rPr>
              <a:t>33,850 on time, 7,430 late, 41,280 total.</a:t>
            </a:r>
          </a:p>
        </p:txBody>
      </p:sp>
      <p:grpSp>
        <p:nvGrpSpPr>
          <p:cNvPr name="Group 25" id="25"/>
          <p:cNvGrpSpPr/>
          <p:nvPr/>
        </p:nvGrpSpPr>
        <p:grpSpPr>
          <a:xfrm rot="0">
            <a:off x="10831830" y="4866475"/>
            <a:ext cx="4732020" cy="2468880"/>
            <a:chOff x="0" y="0"/>
            <a:chExt cx="6309360" cy="3291840"/>
          </a:xfrm>
        </p:grpSpPr>
        <p:sp>
          <p:nvSpPr>
            <p:cNvPr name="Freeform 26" id="26"/>
            <p:cNvSpPr/>
            <p:nvPr/>
          </p:nvSpPr>
          <p:spPr>
            <a:xfrm flipH="false" flipV="false" rot="0">
              <a:off x="0" y="0"/>
              <a:ext cx="6309360" cy="3291840"/>
            </a:xfrm>
            <a:custGeom>
              <a:avLst/>
              <a:gdLst/>
              <a:ahLst/>
              <a:cxnLst/>
              <a:rect r="r" b="b" t="t" l="l"/>
              <a:pathLst>
                <a:path h="3291840" w="6309360">
                  <a:moveTo>
                    <a:pt x="0" y="164592"/>
                  </a:moveTo>
                  <a:cubicBezTo>
                    <a:pt x="0" y="73660"/>
                    <a:pt x="73660" y="0"/>
                    <a:pt x="164592" y="0"/>
                  </a:cubicBezTo>
                  <a:lnTo>
                    <a:pt x="6144768" y="0"/>
                  </a:lnTo>
                  <a:cubicBezTo>
                    <a:pt x="6235700" y="0"/>
                    <a:pt x="6309360" y="73660"/>
                    <a:pt x="6309360" y="164592"/>
                  </a:cubicBezTo>
                  <a:lnTo>
                    <a:pt x="6309360" y="3127248"/>
                  </a:lnTo>
                  <a:cubicBezTo>
                    <a:pt x="6309360" y="3218180"/>
                    <a:pt x="6235700" y="3291840"/>
                    <a:pt x="6144768" y="3291840"/>
                  </a:cubicBezTo>
                  <a:lnTo>
                    <a:pt x="164592" y="3291840"/>
                  </a:lnTo>
                  <a:cubicBezTo>
                    <a:pt x="73660" y="3291840"/>
                    <a:pt x="0" y="3218180"/>
                    <a:pt x="0" y="3127248"/>
                  </a:cubicBezTo>
                  <a:close/>
                </a:path>
              </a:pathLst>
            </a:custGeom>
            <a:solidFill>
              <a:srgbClr val="FFFFFF"/>
            </a:solidFill>
          </p:spPr>
        </p:sp>
      </p:grpSp>
      <p:grpSp>
        <p:nvGrpSpPr>
          <p:cNvPr name="Group 27" id="27"/>
          <p:cNvGrpSpPr/>
          <p:nvPr/>
        </p:nvGrpSpPr>
        <p:grpSpPr>
          <a:xfrm rot="0">
            <a:off x="10831830" y="4866475"/>
            <a:ext cx="102870" cy="2468880"/>
            <a:chOff x="0" y="0"/>
            <a:chExt cx="137160" cy="3291840"/>
          </a:xfrm>
        </p:grpSpPr>
        <p:sp>
          <p:nvSpPr>
            <p:cNvPr name="Freeform 28" id="28"/>
            <p:cNvSpPr/>
            <p:nvPr/>
          </p:nvSpPr>
          <p:spPr>
            <a:xfrm flipH="false" flipV="false" rot="0">
              <a:off x="0" y="0"/>
              <a:ext cx="137160" cy="3291840"/>
            </a:xfrm>
            <a:custGeom>
              <a:avLst/>
              <a:gdLst/>
              <a:ahLst/>
              <a:cxnLst/>
              <a:rect r="r" b="b" t="t" l="l"/>
              <a:pathLst>
                <a:path h="3291840" w="137160">
                  <a:moveTo>
                    <a:pt x="0" y="0"/>
                  </a:moveTo>
                  <a:lnTo>
                    <a:pt x="137160" y="0"/>
                  </a:lnTo>
                  <a:lnTo>
                    <a:pt x="137160" y="3291840"/>
                  </a:lnTo>
                  <a:lnTo>
                    <a:pt x="0" y="3291840"/>
                  </a:lnTo>
                  <a:close/>
                </a:path>
              </a:pathLst>
            </a:custGeom>
            <a:solidFill>
              <a:srgbClr val="387F7F"/>
            </a:solidFill>
          </p:spPr>
        </p:sp>
      </p:grpSp>
      <p:sp>
        <p:nvSpPr>
          <p:cNvPr name="TextBox 29" id="29"/>
          <p:cNvSpPr txBox="true"/>
          <p:nvPr/>
        </p:nvSpPr>
        <p:spPr>
          <a:xfrm rot="0">
            <a:off x="11243310" y="5064595"/>
            <a:ext cx="4046220" cy="1310640"/>
          </a:xfrm>
          <a:prstGeom prst="rect">
            <a:avLst/>
          </a:prstGeom>
        </p:spPr>
        <p:txBody>
          <a:bodyPr anchor="t" rtlCol="false" tIns="0" lIns="0" bIns="0" rIns="0">
            <a:spAutoFit/>
          </a:bodyPr>
          <a:lstStyle/>
          <a:p>
            <a:pPr algn="l">
              <a:lnSpc>
                <a:spcPts val="2812"/>
              </a:lnSpc>
            </a:pPr>
            <a:r>
              <a:rPr lang="en-US" sz="1875" b="true">
                <a:solidFill>
                  <a:srgbClr val="0A1A23"/>
                </a:solidFill>
                <a:latin typeface="Poppins Bold"/>
                <a:ea typeface="Poppins Bold"/>
                <a:cs typeface="Poppins Bold"/>
                <a:sym typeface="Poppins Bold"/>
              </a:rPr>
              <a:t>If your two rates do not sum to 100, your Status values are not what you assumed.</a:t>
            </a:r>
          </a:p>
        </p:txBody>
      </p:sp>
      <p:sp>
        <p:nvSpPr>
          <p:cNvPr name="TextBox 30" id="30"/>
          <p:cNvSpPr txBox="true"/>
          <p:nvPr/>
        </p:nvSpPr>
        <p:spPr>
          <a:xfrm rot="0">
            <a:off x="11243310" y="6327610"/>
            <a:ext cx="4046220" cy="939165"/>
          </a:xfrm>
          <a:prstGeom prst="rect">
            <a:avLst/>
          </a:prstGeom>
        </p:spPr>
        <p:txBody>
          <a:bodyPr anchor="t" rtlCol="false" tIns="0" lIns="0" bIns="0" rIns="0">
            <a:spAutoFit/>
          </a:bodyPr>
          <a:lstStyle/>
          <a:p>
            <a:pPr algn="l">
              <a:lnSpc>
                <a:spcPts val="2268"/>
              </a:lnSpc>
            </a:pPr>
            <a:r>
              <a:rPr lang="en-US" sz="1575">
                <a:solidFill>
                  <a:srgbClr val="64748B"/>
                </a:solidFill>
                <a:latin typeface="Poppins"/>
                <a:ea typeface="Poppins"/>
                <a:cs typeface="Poppins"/>
                <a:sym typeface="Poppins"/>
              </a:rPr>
              <a:t>That is a reconciliation against a known relationship, rather than a known number. It is a technique in its own right.</a:t>
            </a:r>
          </a:p>
        </p:txBody>
      </p:sp>
      <p:grpSp>
        <p:nvGrpSpPr>
          <p:cNvPr name="Group 31" id="31"/>
          <p:cNvGrpSpPr/>
          <p:nvPr/>
        </p:nvGrpSpPr>
        <p:grpSpPr>
          <a:xfrm rot="0">
            <a:off x="819150" y="7746835"/>
            <a:ext cx="14744700" cy="1234440"/>
            <a:chOff x="0" y="0"/>
            <a:chExt cx="19659600" cy="1645920"/>
          </a:xfrm>
        </p:grpSpPr>
        <p:sp>
          <p:nvSpPr>
            <p:cNvPr name="Freeform 32" id="32"/>
            <p:cNvSpPr/>
            <p:nvPr/>
          </p:nvSpPr>
          <p:spPr>
            <a:xfrm flipH="false" flipV="false" rot="0">
              <a:off x="0" y="0"/>
              <a:ext cx="19659600" cy="1645920"/>
            </a:xfrm>
            <a:custGeom>
              <a:avLst/>
              <a:gdLst/>
              <a:ahLst/>
              <a:cxnLst/>
              <a:rect r="r" b="b" t="t" l="l"/>
              <a:pathLst>
                <a:path h="1645920" w="19659600">
                  <a:moveTo>
                    <a:pt x="0" y="164592"/>
                  </a:moveTo>
                  <a:cubicBezTo>
                    <a:pt x="0" y="73660"/>
                    <a:pt x="73660" y="0"/>
                    <a:pt x="164592" y="0"/>
                  </a:cubicBezTo>
                  <a:lnTo>
                    <a:pt x="19495008" y="0"/>
                  </a:lnTo>
                  <a:cubicBezTo>
                    <a:pt x="19585939" y="0"/>
                    <a:pt x="19659600" y="73660"/>
                    <a:pt x="19659600" y="164592"/>
                  </a:cubicBezTo>
                  <a:lnTo>
                    <a:pt x="19659600" y="1481328"/>
                  </a:lnTo>
                  <a:cubicBezTo>
                    <a:pt x="19659600" y="1572260"/>
                    <a:pt x="19585939" y="1645920"/>
                    <a:pt x="19495008" y="1645920"/>
                  </a:cubicBezTo>
                  <a:lnTo>
                    <a:pt x="164592" y="1645920"/>
                  </a:lnTo>
                  <a:cubicBezTo>
                    <a:pt x="73660" y="1645920"/>
                    <a:pt x="0" y="1572260"/>
                    <a:pt x="0" y="1481328"/>
                  </a:cubicBezTo>
                  <a:close/>
                </a:path>
              </a:pathLst>
            </a:custGeom>
            <a:solidFill>
              <a:srgbClr val="EEF4F4"/>
            </a:solidFill>
          </p:spPr>
        </p:sp>
      </p:grpSp>
      <p:grpSp>
        <p:nvGrpSpPr>
          <p:cNvPr name="Group 33" id="33"/>
          <p:cNvGrpSpPr/>
          <p:nvPr/>
        </p:nvGrpSpPr>
        <p:grpSpPr>
          <a:xfrm rot="0">
            <a:off x="819150" y="7746835"/>
            <a:ext cx="102870" cy="1234440"/>
            <a:chOff x="0" y="0"/>
            <a:chExt cx="137160" cy="1645920"/>
          </a:xfrm>
        </p:grpSpPr>
        <p:sp>
          <p:nvSpPr>
            <p:cNvPr name="Freeform 34" id="34"/>
            <p:cNvSpPr/>
            <p:nvPr/>
          </p:nvSpPr>
          <p:spPr>
            <a:xfrm flipH="false" flipV="false" rot="0">
              <a:off x="0" y="0"/>
              <a:ext cx="137160" cy="1645920"/>
            </a:xfrm>
            <a:custGeom>
              <a:avLst/>
              <a:gdLst/>
              <a:ahLst/>
              <a:cxnLst/>
              <a:rect r="r" b="b" t="t" l="l"/>
              <a:pathLst>
                <a:path h="1645920" w="137160">
                  <a:moveTo>
                    <a:pt x="0" y="0"/>
                  </a:moveTo>
                  <a:lnTo>
                    <a:pt x="137160" y="0"/>
                  </a:lnTo>
                  <a:lnTo>
                    <a:pt x="137160" y="1645920"/>
                  </a:lnTo>
                  <a:lnTo>
                    <a:pt x="0" y="1645920"/>
                  </a:lnTo>
                  <a:close/>
                </a:path>
              </a:pathLst>
            </a:custGeom>
            <a:solidFill>
              <a:srgbClr val="387F7F"/>
            </a:solidFill>
          </p:spPr>
        </p:sp>
      </p:grpSp>
      <p:grpSp>
        <p:nvGrpSpPr>
          <p:cNvPr name="Group 35" id="35"/>
          <p:cNvGrpSpPr/>
          <p:nvPr/>
        </p:nvGrpSpPr>
        <p:grpSpPr>
          <a:xfrm rot="0">
            <a:off x="1367790" y="7746835"/>
            <a:ext cx="13853160" cy="1234440"/>
            <a:chOff x="0" y="0"/>
            <a:chExt cx="18470880" cy="1645920"/>
          </a:xfrm>
        </p:grpSpPr>
        <p:sp>
          <p:nvSpPr>
            <p:cNvPr name="Freeform 36" id="36"/>
            <p:cNvSpPr/>
            <p:nvPr/>
          </p:nvSpPr>
          <p:spPr>
            <a:xfrm flipH="false" flipV="false" rot="0">
              <a:off x="0" y="0"/>
              <a:ext cx="18470880" cy="1645920"/>
            </a:xfrm>
            <a:custGeom>
              <a:avLst/>
              <a:gdLst/>
              <a:ahLst/>
              <a:cxnLst/>
              <a:rect r="r" b="b" t="t" l="l"/>
              <a:pathLst>
                <a:path h="1645920" w="18470880">
                  <a:moveTo>
                    <a:pt x="0" y="0"/>
                  </a:moveTo>
                  <a:lnTo>
                    <a:pt x="18470880" y="0"/>
                  </a:lnTo>
                  <a:lnTo>
                    <a:pt x="18470880" y="1645920"/>
                  </a:lnTo>
                  <a:lnTo>
                    <a:pt x="0" y="1645920"/>
                  </a:lnTo>
                  <a:close/>
                </a:path>
              </a:pathLst>
            </a:custGeom>
            <a:blipFill>
              <a:blip r:embed="rId9">
                <a:alphaModFix amt="0"/>
              </a:blip>
              <a:stretch>
                <a:fillRect l="0" t="-168665" r="0" b="-168665"/>
              </a:stretch>
            </a:blipFill>
          </p:spPr>
        </p:sp>
        <p:sp>
          <p:nvSpPr>
            <p:cNvPr name="TextBox 37" id="37"/>
            <p:cNvSpPr txBox="true"/>
            <p:nvPr/>
          </p:nvSpPr>
          <p:spPr>
            <a:xfrm>
              <a:off x="0" y="-104775"/>
              <a:ext cx="18470880" cy="1750695"/>
            </a:xfrm>
            <a:prstGeom prst="rect">
              <a:avLst/>
            </a:prstGeom>
          </p:spPr>
          <p:txBody>
            <a:bodyPr anchor="ctr" rtlCol="false" tIns="0" lIns="0" bIns="0" rIns="0"/>
            <a:lstStyle/>
            <a:p>
              <a:pPr algn="l">
                <a:lnSpc>
                  <a:spcPts val="3402"/>
                </a:lnSpc>
              </a:pPr>
              <a:r>
                <a:rPr lang="en-US" sz="2100" b="true">
                  <a:solidFill>
                    <a:srgbClr val="387F7F"/>
                  </a:solidFill>
                  <a:latin typeface="Poppins Bold"/>
                  <a:ea typeface="Poppins Bold"/>
                  <a:cs typeface="Poppins Bold"/>
                  <a:sym typeface="Poppins Bold"/>
                </a:rPr>
                <a:t>Every figure on this slide was produced by running these measures against the dataset, not from memory.</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10390584"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What</a:t>
            </a:r>
            <a:r>
              <a:rPr lang="en-US" sz="5000">
                <a:solidFill>
                  <a:srgbClr val="388080"/>
                </a:solidFill>
                <a:latin typeface="Poppins"/>
                <a:ea typeface="Poppins"/>
                <a:cs typeface="Poppins"/>
                <a:sym typeface="Poppins"/>
              </a:rPr>
              <a:t> is deliberately out of scope</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914400" y="2606040"/>
            <a:ext cx="14744700" cy="3497580"/>
            <a:chOff x="0" y="0"/>
            <a:chExt cx="19659600" cy="4663440"/>
          </a:xfrm>
        </p:grpSpPr>
        <p:sp>
          <p:nvSpPr>
            <p:cNvPr name="Freeform 12" id="12"/>
            <p:cNvSpPr/>
            <p:nvPr/>
          </p:nvSpPr>
          <p:spPr>
            <a:xfrm flipH="false" flipV="false" rot="0">
              <a:off x="0" y="0"/>
              <a:ext cx="19659600" cy="4663440"/>
            </a:xfrm>
            <a:custGeom>
              <a:avLst/>
              <a:gdLst/>
              <a:ahLst/>
              <a:cxnLst/>
              <a:rect r="r" b="b" t="t" l="l"/>
              <a:pathLst>
                <a:path h="4663440" w="19659600">
                  <a:moveTo>
                    <a:pt x="0" y="182880"/>
                  </a:moveTo>
                  <a:cubicBezTo>
                    <a:pt x="0" y="81915"/>
                    <a:pt x="81915" y="0"/>
                    <a:pt x="182880" y="0"/>
                  </a:cubicBezTo>
                  <a:lnTo>
                    <a:pt x="19476720" y="0"/>
                  </a:lnTo>
                  <a:cubicBezTo>
                    <a:pt x="19577684" y="0"/>
                    <a:pt x="19659600" y="81915"/>
                    <a:pt x="19659600" y="182880"/>
                  </a:cubicBezTo>
                  <a:lnTo>
                    <a:pt x="19659600" y="4480560"/>
                  </a:lnTo>
                  <a:cubicBezTo>
                    <a:pt x="19659600" y="4581525"/>
                    <a:pt x="19577684" y="4663440"/>
                    <a:pt x="19476720" y="4663440"/>
                  </a:cubicBezTo>
                  <a:lnTo>
                    <a:pt x="182880" y="4663440"/>
                  </a:lnTo>
                  <a:cubicBezTo>
                    <a:pt x="81915" y="4663440"/>
                    <a:pt x="0" y="4581525"/>
                    <a:pt x="0" y="4480560"/>
                  </a:cubicBezTo>
                  <a:close/>
                </a:path>
              </a:pathLst>
            </a:custGeom>
            <a:solidFill>
              <a:srgbClr val="FFFFFF"/>
            </a:solidFill>
          </p:spPr>
        </p:sp>
      </p:grpSp>
      <p:grpSp>
        <p:nvGrpSpPr>
          <p:cNvPr name="Group 13" id="13"/>
          <p:cNvGrpSpPr/>
          <p:nvPr/>
        </p:nvGrpSpPr>
        <p:grpSpPr>
          <a:xfrm rot="0">
            <a:off x="1446371" y="3138011"/>
            <a:ext cx="1130618" cy="1130618"/>
            <a:chOff x="0" y="0"/>
            <a:chExt cx="1507490" cy="1507490"/>
          </a:xfrm>
        </p:grpSpPr>
        <p:sp>
          <p:nvSpPr>
            <p:cNvPr name="Freeform 14" id="14"/>
            <p:cNvSpPr/>
            <p:nvPr/>
          </p:nvSpPr>
          <p:spPr>
            <a:xfrm flipH="false" flipV="false" rot="0">
              <a:off x="0" y="0"/>
              <a:ext cx="1507490" cy="1507490"/>
            </a:xfrm>
            <a:custGeom>
              <a:avLst/>
              <a:gdLst/>
              <a:ahLst/>
              <a:cxnLst/>
              <a:rect r="r" b="b" t="t" l="l"/>
              <a:pathLst>
                <a:path h="1507490" w="1507490">
                  <a:moveTo>
                    <a:pt x="0" y="753745"/>
                  </a:moveTo>
                  <a:cubicBezTo>
                    <a:pt x="0" y="337439"/>
                    <a:pt x="337439" y="0"/>
                    <a:pt x="753745" y="0"/>
                  </a:cubicBezTo>
                  <a:cubicBezTo>
                    <a:pt x="1170051" y="0"/>
                    <a:pt x="1507490" y="337439"/>
                    <a:pt x="1507490" y="753745"/>
                  </a:cubicBezTo>
                  <a:cubicBezTo>
                    <a:pt x="1507490" y="1170051"/>
                    <a:pt x="1170051" y="1507490"/>
                    <a:pt x="753745" y="1507490"/>
                  </a:cubicBezTo>
                  <a:cubicBezTo>
                    <a:pt x="337439" y="1507490"/>
                    <a:pt x="0" y="1170051"/>
                    <a:pt x="0" y="753745"/>
                  </a:cubicBezTo>
                  <a:close/>
                </a:path>
              </a:pathLst>
            </a:custGeom>
            <a:solidFill>
              <a:srgbClr val="FFFFFF"/>
            </a:solidFill>
            <a:ln w="33338" cap="sq">
              <a:solidFill>
                <a:srgbClr val="387F7F"/>
              </a:solidFill>
              <a:prstDash val="solid"/>
              <a:miter/>
            </a:ln>
          </p:spPr>
        </p:sp>
      </p:grpSp>
      <p:grpSp>
        <p:nvGrpSpPr>
          <p:cNvPr name="Group 15" id="15"/>
          <p:cNvGrpSpPr/>
          <p:nvPr/>
        </p:nvGrpSpPr>
        <p:grpSpPr>
          <a:xfrm rot="0">
            <a:off x="1463040" y="3154680"/>
            <a:ext cx="1097280" cy="1097280"/>
            <a:chOff x="0" y="0"/>
            <a:chExt cx="1463040" cy="1463040"/>
          </a:xfrm>
        </p:grpSpPr>
        <p:sp>
          <p:nvSpPr>
            <p:cNvPr name="Freeform 16" id="16"/>
            <p:cNvSpPr/>
            <p:nvPr/>
          </p:nvSpPr>
          <p:spPr>
            <a:xfrm flipH="false" flipV="false" rot="0">
              <a:off x="0" y="0"/>
              <a:ext cx="1463040" cy="1463040"/>
            </a:xfrm>
            <a:custGeom>
              <a:avLst/>
              <a:gdLst/>
              <a:ahLst/>
              <a:cxnLst/>
              <a:rect r="r" b="b" t="t" l="l"/>
              <a:pathLst>
                <a:path h="1463040" w="1463040">
                  <a:moveTo>
                    <a:pt x="0" y="0"/>
                  </a:moveTo>
                  <a:lnTo>
                    <a:pt x="1463040" y="0"/>
                  </a:lnTo>
                  <a:lnTo>
                    <a:pt x="1463040" y="1463040"/>
                  </a:lnTo>
                  <a:lnTo>
                    <a:pt x="0" y="1463040"/>
                  </a:lnTo>
                  <a:close/>
                </a:path>
              </a:pathLst>
            </a:custGeom>
            <a:blipFill>
              <a:blip r:embed="rId9">
                <a:alphaModFix amt="0"/>
              </a:blip>
              <a:stretch>
                <a:fillRect l="-78303" t="0" r="-78303" b="0"/>
              </a:stretch>
            </a:blipFill>
          </p:spPr>
        </p:sp>
        <p:sp>
          <p:nvSpPr>
            <p:cNvPr name="TextBox 17" id="17"/>
            <p:cNvSpPr txBox="true"/>
            <p:nvPr/>
          </p:nvSpPr>
          <p:spPr>
            <a:xfrm>
              <a:off x="0" y="-38100"/>
              <a:ext cx="1463040" cy="1501140"/>
            </a:xfrm>
            <a:prstGeom prst="rect">
              <a:avLst/>
            </a:prstGeom>
          </p:spPr>
          <p:txBody>
            <a:bodyPr anchor="ctr" rtlCol="false" tIns="0" lIns="0" bIns="0" rIns="0"/>
            <a:lstStyle/>
            <a:p>
              <a:pPr algn="ctr">
                <a:lnSpc>
                  <a:spcPts val="4680"/>
                </a:lnSpc>
              </a:pPr>
              <a:r>
                <a:rPr lang="en-US" sz="3900" b="true">
                  <a:solidFill>
                    <a:srgbClr val="387F7F"/>
                  </a:solidFill>
                  <a:latin typeface="Poppins Bold"/>
                  <a:ea typeface="Poppins Bold"/>
                  <a:cs typeface="Poppins Bold"/>
                  <a:sym typeface="Poppins Bold"/>
                </a:rPr>
                <a:t>◱</a:t>
              </a:r>
            </a:p>
          </p:txBody>
        </p:sp>
      </p:grpSp>
      <p:sp>
        <p:nvSpPr>
          <p:cNvPr name="TextBox 18" id="18"/>
          <p:cNvSpPr txBox="true"/>
          <p:nvPr/>
        </p:nvSpPr>
        <p:spPr>
          <a:xfrm rot="0">
            <a:off x="2971800" y="3040380"/>
            <a:ext cx="12207240" cy="1623060"/>
          </a:xfrm>
          <a:prstGeom prst="rect">
            <a:avLst/>
          </a:prstGeom>
        </p:spPr>
        <p:txBody>
          <a:bodyPr anchor="t" rtlCol="false" tIns="0" lIns="0" bIns="0" rIns="0">
            <a:spAutoFit/>
          </a:bodyPr>
          <a:lstStyle/>
          <a:p>
            <a:pPr algn="l">
              <a:lnSpc>
                <a:spcPts val="3645"/>
              </a:lnSpc>
            </a:pPr>
            <a:r>
              <a:rPr lang="en-US" sz="2250">
                <a:solidFill>
                  <a:srgbClr val="475569"/>
                </a:solidFill>
                <a:latin typeface="Poppins"/>
                <a:ea typeface="Poppins"/>
                <a:cs typeface="Poppins"/>
                <a:sym typeface="Poppins"/>
              </a:rPr>
              <a:t>DAX has several hundred functions, iterator functions that behave differently from the ones you met today, row context, context transition, and variables. None of it is on today's slides, and that is a decision rather than an oversight.</a:t>
            </a:r>
          </a:p>
        </p:txBody>
      </p:sp>
      <p:sp>
        <p:nvSpPr>
          <p:cNvPr name="TextBox 19" id="19"/>
          <p:cNvSpPr txBox="true"/>
          <p:nvPr/>
        </p:nvSpPr>
        <p:spPr>
          <a:xfrm rot="0">
            <a:off x="2971800" y="4617720"/>
            <a:ext cx="12207240" cy="1280160"/>
          </a:xfrm>
          <a:prstGeom prst="rect">
            <a:avLst/>
          </a:prstGeom>
        </p:spPr>
        <p:txBody>
          <a:bodyPr anchor="t" rtlCol="false" tIns="0" lIns="0" bIns="0" rIns="0">
            <a:spAutoFit/>
          </a:bodyPr>
          <a:lstStyle/>
          <a:p>
            <a:pPr algn="l">
              <a:lnSpc>
                <a:spcPts val="3645"/>
              </a:lnSpc>
            </a:pPr>
            <a:r>
              <a:rPr lang="en-US" sz="2250">
                <a:solidFill>
                  <a:srgbClr val="475569"/>
                </a:solidFill>
                <a:latin typeface="Poppins"/>
                <a:ea typeface="Poppins"/>
                <a:cs typeface="Poppins"/>
                <a:sym typeface="Poppins"/>
              </a:rPr>
              <a:t>Three measure shapes cover the substantial majority of real operational dashboards. Learn these three properly, verify them properly, and you will build reports that work.</a:t>
            </a:r>
          </a:p>
        </p:txBody>
      </p:sp>
      <p:grpSp>
        <p:nvGrpSpPr>
          <p:cNvPr name="Group 20" id="20"/>
          <p:cNvGrpSpPr/>
          <p:nvPr/>
        </p:nvGrpSpPr>
        <p:grpSpPr>
          <a:xfrm rot="0">
            <a:off x="914400" y="6446520"/>
            <a:ext cx="14744700" cy="1577340"/>
            <a:chOff x="0" y="0"/>
            <a:chExt cx="19659600" cy="2103120"/>
          </a:xfrm>
        </p:grpSpPr>
        <p:sp>
          <p:nvSpPr>
            <p:cNvPr name="Freeform 21" id="21"/>
            <p:cNvSpPr/>
            <p:nvPr/>
          </p:nvSpPr>
          <p:spPr>
            <a:xfrm flipH="false" flipV="false" rot="0">
              <a:off x="0" y="0"/>
              <a:ext cx="19659600" cy="2103120"/>
            </a:xfrm>
            <a:custGeom>
              <a:avLst/>
              <a:gdLst/>
              <a:ahLst/>
              <a:cxnLst/>
              <a:rect r="r" b="b" t="t" l="l"/>
              <a:pathLst>
                <a:path h="2103120" w="19659600">
                  <a:moveTo>
                    <a:pt x="0" y="182880"/>
                  </a:moveTo>
                  <a:cubicBezTo>
                    <a:pt x="0" y="81915"/>
                    <a:pt x="81915" y="0"/>
                    <a:pt x="182880" y="0"/>
                  </a:cubicBezTo>
                  <a:lnTo>
                    <a:pt x="19476720" y="0"/>
                  </a:lnTo>
                  <a:cubicBezTo>
                    <a:pt x="19577684" y="0"/>
                    <a:pt x="19659600" y="81915"/>
                    <a:pt x="19659600" y="182880"/>
                  </a:cubicBezTo>
                  <a:lnTo>
                    <a:pt x="19659600" y="1920240"/>
                  </a:lnTo>
                  <a:cubicBezTo>
                    <a:pt x="19659600" y="2021205"/>
                    <a:pt x="19577684" y="2103120"/>
                    <a:pt x="19476720" y="2103120"/>
                  </a:cubicBezTo>
                  <a:lnTo>
                    <a:pt x="182880" y="2103120"/>
                  </a:lnTo>
                  <a:cubicBezTo>
                    <a:pt x="81915" y="2103120"/>
                    <a:pt x="0" y="2021205"/>
                    <a:pt x="0" y="1920240"/>
                  </a:cubicBezTo>
                  <a:close/>
                </a:path>
              </a:pathLst>
            </a:custGeom>
            <a:solidFill>
              <a:srgbClr val="EEF4F4"/>
            </a:solidFill>
          </p:spPr>
        </p:sp>
      </p:grpSp>
      <p:grpSp>
        <p:nvGrpSpPr>
          <p:cNvPr name="Group 22" id="22"/>
          <p:cNvGrpSpPr/>
          <p:nvPr/>
        </p:nvGrpSpPr>
        <p:grpSpPr>
          <a:xfrm rot="0">
            <a:off x="1325880" y="6789420"/>
            <a:ext cx="754380" cy="754380"/>
            <a:chOff x="0" y="0"/>
            <a:chExt cx="1005840" cy="1005840"/>
          </a:xfrm>
        </p:grpSpPr>
        <p:sp>
          <p:nvSpPr>
            <p:cNvPr name="Freeform 23" id="23"/>
            <p:cNvSpPr/>
            <p:nvPr/>
          </p:nvSpPr>
          <p:spPr>
            <a:xfrm flipH="false" flipV="false" rot="0">
              <a:off x="0" y="0"/>
              <a:ext cx="1005840" cy="1005840"/>
            </a:xfrm>
            <a:custGeom>
              <a:avLst/>
              <a:gdLst/>
              <a:ahLst/>
              <a:cxnLst/>
              <a:rect r="r" b="b" t="t" l="l"/>
              <a:pathLst>
                <a:path h="1005840" w="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387F7F"/>
            </a:solidFill>
          </p:spPr>
        </p:sp>
      </p:grpSp>
      <p:grpSp>
        <p:nvGrpSpPr>
          <p:cNvPr name="Group 24" id="24"/>
          <p:cNvGrpSpPr/>
          <p:nvPr/>
        </p:nvGrpSpPr>
        <p:grpSpPr>
          <a:xfrm rot="0">
            <a:off x="1325880" y="6789420"/>
            <a:ext cx="754380" cy="754380"/>
            <a:chOff x="0" y="0"/>
            <a:chExt cx="1005840" cy="1005840"/>
          </a:xfrm>
        </p:grpSpPr>
        <p:sp>
          <p:nvSpPr>
            <p:cNvPr name="Freeform 25" id="25"/>
            <p:cNvSpPr/>
            <p:nvPr/>
          </p:nvSpPr>
          <p:spPr>
            <a:xfrm flipH="false" flipV="false" rot="0">
              <a:off x="0" y="0"/>
              <a:ext cx="1005840" cy="1005840"/>
            </a:xfrm>
            <a:custGeom>
              <a:avLst/>
              <a:gdLst/>
              <a:ahLst/>
              <a:cxnLst/>
              <a:rect r="r" b="b" t="t" l="l"/>
              <a:pathLst>
                <a:path h="1005840" w="1005840">
                  <a:moveTo>
                    <a:pt x="0" y="0"/>
                  </a:moveTo>
                  <a:lnTo>
                    <a:pt x="1005840" y="0"/>
                  </a:lnTo>
                  <a:lnTo>
                    <a:pt x="1005840" y="1005840"/>
                  </a:lnTo>
                  <a:lnTo>
                    <a:pt x="0" y="1005840"/>
                  </a:lnTo>
                  <a:close/>
                </a:path>
              </a:pathLst>
            </a:custGeom>
            <a:blipFill>
              <a:blip r:embed="rId9">
                <a:alphaModFix amt="0"/>
              </a:blip>
              <a:stretch>
                <a:fillRect l="-78303" t="0" r="-78303" b="0"/>
              </a:stretch>
            </a:blipFill>
          </p:spPr>
        </p:sp>
        <p:sp>
          <p:nvSpPr>
            <p:cNvPr name="TextBox 26" id="26"/>
            <p:cNvSpPr txBox="true"/>
            <p:nvPr/>
          </p:nvSpPr>
          <p:spPr>
            <a:xfrm>
              <a:off x="0" y="-28575"/>
              <a:ext cx="1005840" cy="1034415"/>
            </a:xfrm>
            <a:prstGeom prst="rect">
              <a:avLst/>
            </a:prstGeom>
          </p:spPr>
          <p:txBody>
            <a:bodyPr anchor="ctr" rtlCol="false" tIns="0" lIns="0" bIns="0" rIns="0"/>
            <a:lstStyle/>
            <a:p>
              <a:pPr algn="ctr">
                <a:lnSpc>
                  <a:spcPts val="3600"/>
                </a:lnSpc>
              </a:pPr>
              <a:r>
                <a:rPr lang="en-US" sz="3000" b="true">
                  <a:solidFill>
                    <a:srgbClr val="FFFFFF"/>
                  </a:solidFill>
                  <a:latin typeface="Poppins Bold"/>
                  <a:ea typeface="Poppins Bold"/>
                  <a:cs typeface="Poppins Bold"/>
                  <a:sym typeface="Poppins Bold"/>
                </a:rPr>
                <a:t>→</a:t>
              </a:r>
            </a:p>
          </p:txBody>
        </p:sp>
      </p:grpSp>
      <p:sp>
        <p:nvSpPr>
          <p:cNvPr name="TextBox 27" id="27"/>
          <p:cNvSpPr txBox="true"/>
          <p:nvPr/>
        </p:nvSpPr>
        <p:spPr>
          <a:xfrm rot="0">
            <a:off x="2423160" y="6566535"/>
            <a:ext cx="12755880" cy="1251585"/>
          </a:xfrm>
          <a:prstGeom prst="rect">
            <a:avLst/>
          </a:prstGeom>
        </p:spPr>
        <p:txBody>
          <a:bodyPr anchor="t" rtlCol="false" tIns="0" lIns="0" bIns="0" rIns="0">
            <a:spAutoFit/>
          </a:bodyPr>
          <a:lstStyle/>
          <a:p>
            <a:pPr algn="l">
              <a:lnSpc>
                <a:spcPts val="3225"/>
              </a:lnSpc>
            </a:pPr>
            <a:r>
              <a:rPr lang="en-US" sz="2100" b="true">
                <a:solidFill>
                  <a:srgbClr val="0A1A23"/>
                </a:solidFill>
                <a:latin typeface="Poppins Bold"/>
                <a:ea typeface="Poppins Bold"/>
                <a:cs typeface="Poppins Bold"/>
                <a:sym typeface="Poppins Bold"/>
              </a:rPr>
              <a:t>When you need more, SQLBI's free “Introducing DAX” course is where to go. It will make sense, because you will already know what a filter context is.</a:t>
            </a:r>
          </a:p>
        </p:txBody>
      </p:sp>
      <p:grpSp>
        <p:nvGrpSpPr>
          <p:cNvPr name="Group 28" id="28"/>
          <p:cNvGrpSpPr/>
          <p:nvPr/>
        </p:nvGrpSpPr>
        <p:grpSpPr>
          <a:xfrm rot="0">
            <a:off x="914400" y="8366760"/>
            <a:ext cx="14744700" cy="1028700"/>
            <a:chOff x="0" y="0"/>
            <a:chExt cx="19659600" cy="1371600"/>
          </a:xfrm>
        </p:grpSpPr>
        <p:sp>
          <p:nvSpPr>
            <p:cNvPr name="Freeform 29" id="29"/>
            <p:cNvSpPr/>
            <p:nvPr/>
          </p:nvSpPr>
          <p:spPr>
            <a:xfrm flipH="false" flipV="false" rot="0">
              <a:off x="0" y="0"/>
              <a:ext cx="19659600" cy="1371600"/>
            </a:xfrm>
            <a:custGeom>
              <a:avLst/>
              <a:gdLst/>
              <a:ahLst/>
              <a:cxnLst/>
              <a:rect r="r" b="b" t="t" l="l"/>
              <a:pathLst>
                <a:path h="1371600" w="19659600">
                  <a:moveTo>
                    <a:pt x="0" y="164592"/>
                  </a:moveTo>
                  <a:cubicBezTo>
                    <a:pt x="0" y="73660"/>
                    <a:pt x="73660" y="0"/>
                    <a:pt x="164592" y="0"/>
                  </a:cubicBezTo>
                  <a:lnTo>
                    <a:pt x="19495008" y="0"/>
                  </a:lnTo>
                  <a:cubicBezTo>
                    <a:pt x="19585939" y="0"/>
                    <a:pt x="19659600" y="73660"/>
                    <a:pt x="19659600" y="164592"/>
                  </a:cubicBezTo>
                  <a:lnTo>
                    <a:pt x="19659600" y="1207008"/>
                  </a:lnTo>
                  <a:cubicBezTo>
                    <a:pt x="19659600" y="1297940"/>
                    <a:pt x="19585939" y="1371600"/>
                    <a:pt x="19495008" y="1371600"/>
                  </a:cubicBezTo>
                  <a:lnTo>
                    <a:pt x="164592" y="1371600"/>
                  </a:lnTo>
                  <a:cubicBezTo>
                    <a:pt x="73660" y="1371600"/>
                    <a:pt x="0" y="1297940"/>
                    <a:pt x="0" y="1207008"/>
                  </a:cubicBezTo>
                  <a:close/>
                </a:path>
              </a:pathLst>
            </a:custGeom>
            <a:solidFill>
              <a:srgbClr val="EEF4F4"/>
            </a:solidFill>
          </p:spPr>
        </p:sp>
      </p:grpSp>
      <p:grpSp>
        <p:nvGrpSpPr>
          <p:cNvPr name="Group 30" id="30"/>
          <p:cNvGrpSpPr/>
          <p:nvPr/>
        </p:nvGrpSpPr>
        <p:grpSpPr>
          <a:xfrm rot="0">
            <a:off x="914400" y="8366760"/>
            <a:ext cx="102870" cy="1028700"/>
            <a:chOff x="0" y="0"/>
            <a:chExt cx="137160" cy="1371600"/>
          </a:xfrm>
        </p:grpSpPr>
        <p:sp>
          <p:nvSpPr>
            <p:cNvPr name="Freeform 31" id="31"/>
            <p:cNvSpPr/>
            <p:nvPr/>
          </p:nvSpPr>
          <p:spPr>
            <a:xfrm flipH="false" flipV="false" rot="0">
              <a:off x="0" y="0"/>
              <a:ext cx="137160" cy="1371600"/>
            </a:xfrm>
            <a:custGeom>
              <a:avLst/>
              <a:gdLst/>
              <a:ahLst/>
              <a:cxnLst/>
              <a:rect r="r" b="b" t="t" l="l"/>
              <a:pathLst>
                <a:path h="1371600" w="137160">
                  <a:moveTo>
                    <a:pt x="0" y="0"/>
                  </a:moveTo>
                  <a:lnTo>
                    <a:pt x="137160" y="0"/>
                  </a:lnTo>
                  <a:lnTo>
                    <a:pt x="137160" y="1371600"/>
                  </a:lnTo>
                  <a:lnTo>
                    <a:pt x="0" y="1371600"/>
                  </a:lnTo>
                  <a:close/>
                </a:path>
              </a:pathLst>
            </a:custGeom>
            <a:solidFill>
              <a:srgbClr val="387F7F"/>
            </a:solidFill>
          </p:spPr>
        </p:sp>
      </p:grpSp>
      <p:grpSp>
        <p:nvGrpSpPr>
          <p:cNvPr name="Group 32" id="32"/>
          <p:cNvGrpSpPr/>
          <p:nvPr/>
        </p:nvGrpSpPr>
        <p:grpSpPr>
          <a:xfrm rot="0">
            <a:off x="1463040" y="8366760"/>
            <a:ext cx="13853160" cy="1028700"/>
            <a:chOff x="0" y="0"/>
            <a:chExt cx="18470880" cy="1371600"/>
          </a:xfrm>
        </p:grpSpPr>
        <p:sp>
          <p:nvSpPr>
            <p:cNvPr name="Freeform 33" id="33"/>
            <p:cNvSpPr/>
            <p:nvPr/>
          </p:nvSpPr>
          <p:spPr>
            <a:xfrm flipH="false" flipV="false" rot="0">
              <a:off x="0" y="0"/>
              <a:ext cx="18470880" cy="1371600"/>
            </a:xfrm>
            <a:custGeom>
              <a:avLst/>
              <a:gdLst/>
              <a:ahLst/>
              <a:cxnLst/>
              <a:rect r="r" b="b" t="t" l="l"/>
              <a:pathLst>
                <a:path h="1371600" w="18470880">
                  <a:moveTo>
                    <a:pt x="0" y="0"/>
                  </a:moveTo>
                  <a:lnTo>
                    <a:pt x="18470880" y="0"/>
                  </a:lnTo>
                  <a:lnTo>
                    <a:pt x="18470880" y="1371600"/>
                  </a:lnTo>
                  <a:lnTo>
                    <a:pt x="0" y="1371600"/>
                  </a:lnTo>
                  <a:close/>
                </a:path>
              </a:pathLst>
            </a:custGeom>
            <a:blipFill>
              <a:blip r:embed="rId9">
                <a:alphaModFix amt="0"/>
              </a:blip>
              <a:stretch>
                <a:fillRect l="0" t="-212398" r="0" b="-212398"/>
              </a:stretch>
            </a:blipFill>
          </p:spPr>
        </p:sp>
        <p:sp>
          <p:nvSpPr>
            <p:cNvPr name="TextBox 34" id="34"/>
            <p:cNvSpPr txBox="true"/>
            <p:nvPr/>
          </p:nvSpPr>
          <p:spPr>
            <a:xfrm>
              <a:off x="0" y="-104775"/>
              <a:ext cx="18470880" cy="1476375"/>
            </a:xfrm>
            <a:prstGeom prst="rect">
              <a:avLst/>
            </a:prstGeom>
          </p:spPr>
          <p:txBody>
            <a:bodyPr anchor="ctr" rtlCol="false" tIns="0" lIns="0" bIns="0" rIns="0"/>
            <a:lstStyle/>
            <a:p>
              <a:pPr algn="l">
                <a:lnSpc>
                  <a:spcPts val="3402"/>
                </a:lnSpc>
              </a:pPr>
              <a:r>
                <a:rPr lang="en-US" sz="2100" b="true">
                  <a:solidFill>
                    <a:srgbClr val="387F7F"/>
                  </a:solidFill>
                  <a:latin typeface="Poppins Bold"/>
                  <a:ea typeface="Poppins Bold"/>
                  <a:cs typeface="Poppins Bold"/>
                  <a:sym typeface="Poppins Bold"/>
                </a:rPr>
                <a:t>Scope discipline is what makes one module of Power BI work.</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txBody>
          <a:bodyPr/>
          <a:p/>
        </p:txBody>
      </p:sp>
      <p:sp>
        <p:nvSpPr>
          <p:cNvPr name="TextBox 7" id="7"/>
          <p:cNvSpPr txBox="true"/>
          <p:nvPr/>
        </p:nvSpPr>
        <p:spPr>
          <a:xfrm rot="0">
            <a:off x="1143000" y="762000"/>
            <a:ext cx="388887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Topic Recap</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876300" y="2606040"/>
            <a:ext cx="9975476" cy="1069848"/>
            <a:chOff x="0" y="0"/>
            <a:chExt cx="13300635" cy="1426464"/>
          </a:xfrm>
        </p:grpSpPr>
        <p:sp>
          <p:nvSpPr>
            <p:cNvPr name="Freeform 12" id="12"/>
            <p:cNvSpPr/>
            <p:nvPr/>
          </p:nvSpPr>
          <p:spPr>
            <a:xfrm flipH="false" flipV="false" rot="0">
              <a:off x="0" y="0"/>
              <a:ext cx="13300635" cy="1426464"/>
            </a:xfrm>
            <a:custGeom>
              <a:avLst/>
              <a:gdLst/>
              <a:ahLst/>
              <a:cxnLst/>
              <a:rect r="r" b="b" t="t" l="l"/>
              <a:pathLst>
                <a:path h="1426464" w="13300635">
                  <a:moveTo>
                    <a:pt x="0" y="182880"/>
                  </a:moveTo>
                  <a:cubicBezTo>
                    <a:pt x="0" y="81915"/>
                    <a:pt x="55419" y="0"/>
                    <a:pt x="123727" y="0"/>
                  </a:cubicBezTo>
                  <a:lnTo>
                    <a:pt x="13176909" y="0"/>
                  </a:lnTo>
                  <a:cubicBezTo>
                    <a:pt x="13245215" y="0"/>
                    <a:pt x="13300635" y="81915"/>
                    <a:pt x="13300635" y="182880"/>
                  </a:cubicBezTo>
                  <a:lnTo>
                    <a:pt x="13300635" y="1243584"/>
                  </a:lnTo>
                  <a:cubicBezTo>
                    <a:pt x="13300635" y="1344549"/>
                    <a:pt x="13245215" y="1426464"/>
                    <a:pt x="13176909" y="1426464"/>
                  </a:cubicBezTo>
                  <a:lnTo>
                    <a:pt x="123727" y="1426464"/>
                  </a:lnTo>
                  <a:cubicBezTo>
                    <a:pt x="55419" y="1426464"/>
                    <a:pt x="0" y="1344549"/>
                    <a:pt x="0" y="1243584"/>
                  </a:cubicBezTo>
                  <a:close/>
                </a:path>
              </a:pathLst>
            </a:custGeom>
            <a:solidFill>
              <a:srgbClr val="FFFFFF"/>
            </a:solidFill>
          </p:spPr>
        </p:sp>
      </p:grpSp>
      <p:grpSp>
        <p:nvGrpSpPr>
          <p:cNvPr name="Group 13" id="13"/>
          <p:cNvGrpSpPr/>
          <p:nvPr/>
        </p:nvGrpSpPr>
        <p:grpSpPr>
          <a:xfrm rot="0">
            <a:off x="1246632" y="2825496"/>
            <a:ext cx="617220" cy="617220"/>
            <a:chOff x="0" y="0"/>
            <a:chExt cx="822960" cy="822960"/>
          </a:xfrm>
        </p:grpSpPr>
        <p:sp>
          <p:nvSpPr>
            <p:cNvPr name="Freeform 14" id="1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387F7F"/>
            </a:solidFill>
          </p:spPr>
        </p:sp>
      </p:grpSp>
      <p:grpSp>
        <p:nvGrpSpPr>
          <p:cNvPr name="Group 15" id="15"/>
          <p:cNvGrpSpPr/>
          <p:nvPr/>
        </p:nvGrpSpPr>
        <p:grpSpPr>
          <a:xfrm rot="0">
            <a:off x="1246632" y="2825496"/>
            <a:ext cx="617220" cy="617220"/>
            <a:chOff x="0" y="0"/>
            <a:chExt cx="822960" cy="822960"/>
          </a:xfrm>
        </p:grpSpPr>
        <p:sp>
          <p:nvSpPr>
            <p:cNvPr name="Freeform 16" id="1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9">
                <a:alphaModFix amt="0"/>
              </a:blip>
              <a:stretch>
                <a:fillRect l="-78303" t="0" r="-78303" b="0"/>
              </a:stretch>
            </a:blipFill>
          </p:spPr>
        </p:sp>
        <p:sp>
          <p:nvSpPr>
            <p:cNvPr name="TextBox 17" id="17"/>
            <p:cNvSpPr txBox="true"/>
            <p:nvPr/>
          </p:nvSpPr>
          <p:spPr>
            <a:xfrm>
              <a:off x="0" y="-28575"/>
              <a:ext cx="822960" cy="851535"/>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a:t>
              </a:r>
            </a:p>
          </p:txBody>
        </p:sp>
      </p:grpSp>
      <p:grpSp>
        <p:nvGrpSpPr>
          <p:cNvPr name="Group 18" id="18"/>
          <p:cNvGrpSpPr/>
          <p:nvPr/>
        </p:nvGrpSpPr>
        <p:grpSpPr>
          <a:xfrm rot="0">
            <a:off x="2097883" y="2633472"/>
            <a:ext cx="8549744" cy="987552"/>
            <a:chOff x="0" y="0"/>
            <a:chExt cx="11399659" cy="1316736"/>
          </a:xfrm>
        </p:grpSpPr>
        <p:sp>
          <p:nvSpPr>
            <p:cNvPr name="Freeform 19" id="19"/>
            <p:cNvSpPr/>
            <p:nvPr/>
          </p:nvSpPr>
          <p:spPr>
            <a:xfrm flipH="false" flipV="false" rot="0">
              <a:off x="0" y="0"/>
              <a:ext cx="11399659" cy="1316736"/>
            </a:xfrm>
            <a:custGeom>
              <a:avLst/>
              <a:gdLst/>
              <a:ahLst/>
              <a:cxnLst/>
              <a:rect r="r" b="b" t="t" l="l"/>
              <a:pathLst>
                <a:path h="1316736" w="11399659">
                  <a:moveTo>
                    <a:pt x="0" y="0"/>
                  </a:moveTo>
                  <a:lnTo>
                    <a:pt x="11399659" y="0"/>
                  </a:lnTo>
                  <a:lnTo>
                    <a:pt x="11399659" y="1316736"/>
                  </a:lnTo>
                  <a:lnTo>
                    <a:pt x="0" y="1316736"/>
                  </a:lnTo>
                  <a:close/>
                </a:path>
              </a:pathLst>
            </a:custGeom>
            <a:blipFill>
              <a:blip r:embed="rId9">
                <a:alphaModFix amt="0"/>
              </a:blip>
              <a:stretch>
                <a:fillRect l="0" t="-209800" r="-54008" b="-209800"/>
              </a:stretch>
            </a:blipFill>
          </p:spPr>
        </p:sp>
        <p:sp>
          <p:nvSpPr>
            <p:cNvPr name="TextBox 20" id="20"/>
            <p:cNvSpPr txBox="true"/>
            <p:nvPr/>
          </p:nvSpPr>
          <p:spPr>
            <a:xfrm>
              <a:off x="0" y="-66675"/>
              <a:ext cx="11399659" cy="1383411"/>
            </a:xfrm>
            <a:prstGeom prst="rect">
              <a:avLst/>
            </a:prstGeom>
          </p:spPr>
          <p:txBody>
            <a:bodyPr anchor="ctr" rtlCol="false" tIns="0" lIns="0" bIns="0" rIns="0"/>
            <a:lstStyle/>
            <a:p>
              <a:pPr algn="l">
                <a:lnSpc>
                  <a:spcPts val="3024"/>
                </a:lnSpc>
              </a:pPr>
              <a:r>
                <a:rPr lang="en-US" sz="2100">
                  <a:solidFill>
                    <a:srgbClr val="475569"/>
                  </a:solidFill>
                  <a:latin typeface="Poppins"/>
                  <a:ea typeface="Poppins"/>
                  <a:cs typeface="Poppins"/>
                  <a:sym typeface="Poppins"/>
                </a:rPr>
                <a:t>Write an aggregation measure and explain why naming it beats dragging a field in.</a:t>
              </a:r>
            </a:p>
          </p:txBody>
        </p:sp>
      </p:grpSp>
      <p:grpSp>
        <p:nvGrpSpPr>
          <p:cNvPr name="Group 21" id="21"/>
          <p:cNvGrpSpPr/>
          <p:nvPr/>
        </p:nvGrpSpPr>
        <p:grpSpPr>
          <a:xfrm rot="0">
            <a:off x="876300" y="3867912"/>
            <a:ext cx="9975476" cy="1069848"/>
            <a:chOff x="0" y="0"/>
            <a:chExt cx="13300635" cy="1426464"/>
          </a:xfrm>
        </p:grpSpPr>
        <p:sp>
          <p:nvSpPr>
            <p:cNvPr name="Freeform 22" id="22"/>
            <p:cNvSpPr/>
            <p:nvPr/>
          </p:nvSpPr>
          <p:spPr>
            <a:xfrm flipH="false" flipV="false" rot="0">
              <a:off x="0" y="0"/>
              <a:ext cx="13300635" cy="1426464"/>
            </a:xfrm>
            <a:custGeom>
              <a:avLst/>
              <a:gdLst/>
              <a:ahLst/>
              <a:cxnLst/>
              <a:rect r="r" b="b" t="t" l="l"/>
              <a:pathLst>
                <a:path h="1426464" w="13300635">
                  <a:moveTo>
                    <a:pt x="0" y="182880"/>
                  </a:moveTo>
                  <a:cubicBezTo>
                    <a:pt x="0" y="81915"/>
                    <a:pt x="55419" y="0"/>
                    <a:pt x="123727" y="0"/>
                  </a:cubicBezTo>
                  <a:lnTo>
                    <a:pt x="13176909" y="0"/>
                  </a:lnTo>
                  <a:cubicBezTo>
                    <a:pt x="13245215" y="0"/>
                    <a:pt x="13300635" y="81915"/>
                    <a:pt x="13300635" y="182880"/>
                  </a:cubicBezTo>
                  <a:lnTo>
                    <a:pt x="13300635" y="1243584"/>
                  </a:lnTo>
                  <a:cubicBezTo>
                    <a:pt x="13300635" y="1344549"/>
                    <a:pt x="13245215" y="1426464"/>
                    <a:pt x="13176909" y="1426464"/>
                  </a:cubicBezTo>
                  <a:lnTo>
                    <a:pt x="123727" y="1426464"/>
                  </a:lnTo>
                  <a:cubicBezTo>
                    <a:pt x="55419" y="1426464"/>
                    <a:pt x="0" y="1344549"/>
                    <a:pt x="0" y="1243584"/>
                  </a:cubicBezTo>
                  <a:close/>
                </a:path>
              </a:pathLst>
            </a:custGeom>
            <a:solidFill>
              <a:srgbClr val="FFFFFF"/>
            </a:solidFill>
          </p:spPr>
        </p:sp>
      </p:grpSp>
      <p:grpSp>
        <p:nvGrpSpPr>
          <p:cNvPr name="Group 23" id="23"/>
          <p:cNvGrpSpPr/>
          <p:nvPr/>
        </p:nvGrpSpPr>
        <p:grpSpPr>
          <a:xfrm rot="0">
            <a:off x="1246632" y="4087368"/>
            <a:ext cx="617220" cy="617220"/>
            <a:chOff x="0" y="0"/>
            <a:chExt cx="822960" cy="822960"/>
          </a:xfrm>
        </p:grpSpPr>
        <p:sp>
          <p:nvSpPr>
            <p:cNvPr name="Freeform 24" id="2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387F7F"/>
            </a:solidFill>
          </p:spPr>
        </p:sp>
      </p:grpSp>
      <p:grpSp>
        <p:nvGrpSpPr>
          <p:cNvPr name="Group 25" id="25"/>
          <p:cNvGrpSpPr/>
          <p:nvPr/>
        </p:nvGrpSpPr>
        <p:grpSpPr>
          <a:xfrm rot="0">
            <a:off x="1246632" y="4087368"/>
            <a:ext cx="617220" cy="617220"/>
            <a:chOff x="0" y="0"/>
            <a:chExt cx="822960" cy="822960"/>
          </a:xfrm>
        </p:grpSpPr>
        <p:sp>
          <p:nvSpPr>
            <p:cNvPr name="Freeform 26" id="2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9">
                <a:alphaModFix amt="0"/>
              </a:blip>
              <a:stretch>
                <a:fillRect l="-78303" t="0" r="-78303" b="0"/>
              </a:stretch>
            </a:blipFill>
          </p:spPr>
        </p:sp>
        <p:sp>
          <p:nvSpPr>
            <p:cNvPr name="TextBox 27" id="27"/>
            <p:cNvSpPr txBox="true"/>
            <p:nvPr/>
          </p:nvSpPr>
          <p:spPr>
            <a:xfrm>
              <a:off x="0" y="-28575"/>
              <a:ext cx="822960" cy="851535"/>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a:t>
              </a:r>
            </a:p>
          </p:txBody>
        </p:sp>
      </p:grpSp>
      <p:grpSp>
        <p:nvGrpSpPr>
          <p:cNvPr name="Group 28" id="28"/>
          <p:cNvGrpSpPr/>
          <p:nvPr/>
        </p:nvGrpSpPr>
        <p:grpSpPr>
          <a:xfrm rot="0">
            <a:off x="2097883" y="3895344"/>
            <a:ext cx="8549744" cy="987552"/>
            <a:chOff x="0" y="0"/>
            <a:chExt cx="11399659" cy="1316736"/>
          </a:xfrm>
        </p:grpSpPr>
        <p:sp>
          <p:nvSpPr>
            <p:cNvPr name="Freeform 29" id="29"/>
            <p:cNvSpPr/>
            <p:nvPr/>
          </p:nvSpPr>
          <p:spPr>
            <a:xfrm flipH="false" flipV="false" rot="0">
              <a:off x="0" y="0"/>
              <a:ext cx="11399659" cy="1316736"/>
            </a:xfrm>
            <a:custGeom>
              <a:avLst/>
              <a:gdLst/>
              <a:ahLst/>
              <a:cxnLst/>
              <a:rect r="r" b="b" t="t" l="l"/>
              <a:pathLst>
                <a:path h="1316736" w="11399659">
                  <a:moveTo>
                    <a:pt x="0" y="0"/>
                  </a:moveTo>
                  <a:lnTo>
                    <a:pt x="11399659" y="0"/>
                  </a:lnTo>
                  <a:lnTo>
                    <a:pt x="11399659" y="1316736"/>
                  </a:lnTo>
                  <a:lnTo>
                    <a:pt x="0" y="1316736"/>
                  </a:lnTo>
                  <a:close/>
                </a:path>
              </a:pathLst>
            </a:custGeom>
            <a:blipFill>
              <a:blip r:embed="rId9">
                <a:alphaModFix amt="0"/>
              </a:blip>
              <a:stretch>
                <a:fillRect l="0" t="-209800" r="-54008" b="-209800"/>
              </a:stretch>
            </a:blipFill>
          </p:spPr>
        </p:sp>
        <p:sp>
          <p:nvSpPr>
            <p:cNvPr name="TextBox 30" id="30"/>
            <p:cNvSpPr txBox="true"/>
            <p:nvPr/>
          </p:nvSpPr>
          <p:spPr>
            <a:xfrm>
              <a:off x="0" y="-66675"/>
              <a:ext cx="11399659" cy="1383411"/>
            </a:xfrm>
            <a:prstGeom prst="rect">
              <a:avLst/>
            </a:prstGeom>
          </p:spPr>
          <p:txBody>
            <a:bodyPr anchor="ctr" rtlCol="false" tIns="0" lIns="0" bIns="0" rIns="0"/>
            <a:lstStyle/>
            <a:p>
              <a:pPr algn="l">
                <a:lnSpc>
                  <a:spcPts val="3024"/>
                </a:lnSpc>
              </a:pPr>
              <a:r>
                <a:rPr lang="en-US" sz="2100">
                  <a:solidFill>
                    <a:srgbClr val="475569"/>
                  </a:solidFill>
                  <a:latin typeface="Poppins"/>
                  <a:ea typeface="Poppins"/>
                  <a:cs typeface="Poppins"/>
                  <a:sym typeface="Poppins"/>
                </a:rPr>
                <a:t>Write a ratio with DIVIDE and say what happens when the denominator is zero.</a:t>
              </a:r>
            </a:p>
          </p:txBody>
        </p:sp>
      </p:grpSp>
      <p:grpSp>
        <p:nvGrpSpPr>
          <p:cNvPr name="Group 31" id="31"/>
          <p:cNvGrpSpPr/>
          <p:nvPr/>
        </p:nvGrpSpPr>
        <p:grpSpPr>
          <a:xfrm rot="0">
            <a:off x="876300" y="5129784"/>
            <a:ext cx="9975476" cy="1069848"/>
            <a:chOff x="0" y="0"/>
            <a:chExt cx="13300635" cy="1426464"/>
          </a:xfrm>
        </p:grpSpPr>
        <p:sp>
          <p:nvSpPr>
            <p:cNvPr name="Freeform 32" id="32"/>
            <p:cNvSpPr/>
            <p:nvPr/>
          </p:nvSpPr>
          <p:spPr>
            <a:xfrm flipH="false" flipV="false" rot="0">
              <a:off x="0" y="0"/>
              <a:ext cx="13300635" cy="1426464"/>
            </a:xfrm>
            <a:custGeom>
              <a:avLst/>
              <a:gdLst/>
              <a:ahLst/>
              <a:cxnLst/>
              <a:rect r="r" b="b" t="t" l="l"/>
              <a:pathLst>
                <a:path h="1426464" w="13300635">
                  <a:moveTo>
                    <a:pt x="0" y="182880"/>
                  </a:moveTo>
                  <a:cubicBezTo>
                    <a:pt x="0" y="81915"/>
                    <a:pt x="55419" y="0"/>
                    <a:pt x="123727" y="0"/>
                  </a:cubicBezTo>
                  <a:lnTo>
                    <a:pt x="13176909" y="0"/>
                  </a:lnTo>
                  <a:cubicBezTo>
                    <a:pt x="13245215" y="0"/>
                    <a:pt x="13300635" y="81915"/>
                    <a:pt x="13300635" y="182880"/>
                  </a:cubicBezTo>
                  <a:lnTo>
                    <a:pt x="13300635" y="1243584"/>
                  </a:lnTo>
                  <a:cubicBezTo>
                    <a:pt x="13300635" y="1344549"/>
                    <a:pt x="13245215" y="1426464"/>
                    <a:pt x="13176909" y="1426464"/>
                  </a:cubicBezTo>
                  <a:lnTo>
                    <a:pt x="123727" y="1426464"/>
                  </a:lnTo>
                  <a:cubicBezTo>
                    <a:pt x="55419" y="1426464"/>
                    <a:pt x="0" y="1344549"/>
                    <a:pt x="0" y="1243584"/>
                  </a:cubicBezTo>
                  <a:close/>
                </a:path>
              </a:pathLst>
            </a:custGeom>
            <a:solidFill>
              <a:srgbClr val="FFFFFF"/>
            </a:solidFill>
          </p:spPr>
        </p:sp>
      </p:grpSp>
      <p:grpSp>
        <p:nvGrpSpPr>
          <p:cNvPr name="Group 33" id="33"/>
          <p:cNvGrpSpPr/>
          <p:nvPr/>
        </p:nvGrpSpPr>
        <p:grpSpPr>
          <a:xfrm rot="0">
            <a:off x="1246632" y="5349240"/>
            <a:ext cx="617220" cy="617220"/>
            <a:chOff x="0" y="0"/>
            <a:chExt cx="822960" cy="822960"/>
          </a:xfrm>
        </p:grpSpPr>
        <p:sp>
          <p:nvSpPr>
            <p:cNvPr name="Freeform 34" id="3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387F7F"/>
            </a:solidFill>
          </p:spPr>
        </p:sp>
      </p:grpSp>
      <p:grpSp>
        <p:nvGrpSpPr>
          <p:cNvPr name="Group 35" id="35"/>
          <p:cNvGrpSpPr/>
          <p:nvPr/>
        </p:nvGrpSpPr>
        <p:grpSpPr>
          <a:xfrm rot="0">
            <a:off x="1246632" y="5349240"/>
            <a:ext cx="617220" cy="617220"/>
            <a:chOff x="0" y="0"/>
            <a:chExt cx="822960" cy="822960"/>
          </a:xfrm>
        </p:grpSpPr>
        <p:sp>
          <p:nvSpPr>
            <p:cNvPr name="Freeform 36" id="3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9">
                <a:alphaModFix amt="0"/>
              </a:blip>
              <a:stretch>
                <a:fillRect l="-78303" t="0" r="-78303" b="0"/>
              </a:stretch>
            </a:blipFill>
          </p:spPr>
        </p:sp>
        <p:sp>
          <p:nvSpPr>
            <p:cNvPr name="TextBox 37" id="37"/>
            <p:cNvSpPr txBox="true"/>
            <p:nvPr/>
          </p:nvSpPr>
          <p:spPr>
            <a:xfrm>
              <a:off x="0" y="-28575"/>
              <a:ext cx="822960" cy="851535"/>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a:t>
              </a:r>
            </a:p>
          </p:txBody>
        </p:sp>
      </p:grpSp>
      <p:grpSp>
        <p:nvGrpSpPr>
          <p:cNvPr name="Group 38" id="38"/>
          <p:cNvGrpSpPr/>
          <p:nvPr/>
        </p:nvGrpSpPr>
        <p:grpSpPr>
          <a:xfrm rot="0">
            <a:off x="2097883" y="5157216"/>
            <a:ext cx="8549744" cy="987552"/>
            <a:chOff x="0" y="0"/>
            <a:chExt cx="11399659" cy="1316736"/>
          </a:xfrm>
        </p:grpSpPr>
        <p:sp>
          <p:nvSpPr>
            <p:cNvPr name="Freeform 39" id="39"/>
            <p:cNvSpPr/>
            <p:nvPr/>
          </p:nvSpPr>
          <p:spPr>
            <a:xfrm flipH="false" flipV="false" rot="0">
              <a:off x="0" y="0"/>
              <a:ext cx="11399659" cy="1316736"/>
            </a:xfrm>
            <a:custGeom>
              <a:avLst/>
              <a:gdLst/>
              <a:ahLst/>
              <a:cxnLst/>
              <a:rect r="r" b="b" t="t" l="l"/>
              <a:pathLst>
                <a:path h="1316736" w="11399659">
                  <a:moveTo>
                    <a:pt x="0" y="0"/>
                  </a:moveTo>
                  <a:lnTo>
                    <a:pt x="11399659" y="0"/>
                  </a:lnTo>
                  <a:lnTo>
                    <a:pt x="11399659" y="1316736"/>
                  </a:lnTo>
                  <a:lnTo>
                    <a:pt x="0" y="1316736"/>
                  </a:lnTo>
                  <a:close/>
                </a:path>
              </a:pathLst>
            </a:custGeom>
            <a:blipFill>
              <a:blip r:embed="rId9">
                <a:alphaModFix amt="0"/>
              </a:blip>
              <a:stretch>
                <a:fillRect l="0" t="-209800" r="-54008" b="-209800"/>
              </a:stretch>
            </a:blipFill>
          </p:spPr>
        </p:sp>
        <p:sp>
          <p:nvSpPr>
            <p:cNvPr name="TextBox 40" id="40"/>
            <p:cNvSpPr txBox="true"/>
            <p:nvPr/>
          </p:nvSpPr>
          <p:spPr>
            <a:xfrm>
              <a:off x="0" y="-66675"/>
              <a:ext cx="11399659" cy="1383411"/>
            </a:xfrm>
            <a:prstGeom prst="rect">
              <a:avLst/>
            </a:prstGeom>
          </p:spPr>
          <p:txBody>
            <a:bodyPr anchor="ctr" rtlCol="false" tIns="0" lIns="0" bIns="0" rIns="0"/>
            <a:lstStyle/>
            <a:p>
              <a:pPr algn="l">
                <a:lnSpc>
                  <a:spcPts val="3024"/>
                </a:lnSpc>
              </a:pPr>
              <a:r>
                <a:rPr lang="en-US" sz="2100">
                  <a:solidFill>
                    <a:srgbClr val="475569"/>
                  </a:solidFill>
                  <a:latin typeface="Poppins"/>
                  <a:ea typeface="Poppins"/>
                  <a:cs typeface="Poppins"/>
                  <a:sym typeface="Poppins"/>
                </a:rPr>
                <a:t>Write a time comparison with CALCULATE and DATEADD, resting on a marked date table.</a:t>
              </a:r>
            </a:p>
          </p:txBody>
        </p:sp>
      </p:grpSp>
      <p:grpSp>
        <p:nvGrpSpPr>
          <p:cNvPr name="Group 41" id="41"/>
          <p:cNvGrpSpPr/>
          <p:nvPr/>
        </p:nvGrpSpPr>
        <p:grpSpPr>
          <a:xfrm rot="0">
            <a:off x="876300" y="6391656"/>
            <a:ext cx="9975476" cy="1069848"/>
            <a:chOff x="0" y="0"/>
            <a:chExt cx="13300635" cy="1426464"/>
          </a:xfrm>
        </p:grpSpPr>
        <p:sp>
          <p:nvSpPr>
            <p:cNvPr name="Freeform 42" id="42"/>
            <p:cNvSpPr/>
            <p:nvPr/>
          </p:nvSpPr>
          <p:spPr>
            <a:xfrm flipH="false" flipV="false" rot="0">
              <a:off x="0" y="0"/>
              <a:ext cx="13300635" cy="1426464"/>
            </a:xfrm>
            <a:custGeom>
              <a:avLst/>
              <a:gdLst/>
              <a:ahLst/>
              <a:cxnLst/>
              <a:rect r="r" b="b" t="t" l="l"/>
              <a:pathLst>
                <a:path h="1426464" w="13300635">
                  <a:moveTo>
                    <a:pt x="0" y="182880"/>
                  </a:moveTo>
                  <a:cubicBezTo>
                    <a:pt x="0" y="81915"/>
                    <a:pt x="55419" y="0"/>
                    <a:pt x="123727" y="0"/>
                  </a:cubicBezTo>
                  <a:lnTo>
                    <a:pt x="13176909" y="0"/>
                  </a:lnTo>
                  <a:cubicBezTo>
                    <a:pt x="13245215" y="0"/>
                    <a:pt x="13300635" y="81915"/>
                    <a:pt x="13300635" y="182880"/>
                  </a:cubicBezTo>
                  <a:lnTo>
                    <a:pt x="13300635" y="1243584"/>
                  </a:lnTo>
                  <a:cubicBezTo>
                    <a:pt x="13300635" y="1344549"/>
                    <a:pt x="13245215" y="1426464"/>
                    <a:pt x="13176909" y="1426464"/>
                  </a:cubicBezTo>
                  <a:lnTo>
                    <a:pt x="123727" y="1426464"/>
                  </a:lnTo>
                  <a:cubicBezTo>
                    <a:pt x="55419" y="1426464"/>
                    <a:pt x="0" y="1344549"/>
                    <a:pt x="0" y="1243584"/>
                  </a:cubicBezTo>
                  <a:close/>
                </a:path>
              </a:pathLst>
            </a:custGeom>
            <a:solidFill>
              <a:srgbClr val="FFFFFF"/>
            </a:solidFill>
          </p:spPr>
        </p:sp>
      </p:grpSp>
      <p:grpSp>
        <p:nvGrpSpPr>
          <p:cNvPr name="Group 43" id="43"/>
          <p:cNvGrpSpPr/>
          <p:nvPr/>
        </p:nvGrpSpPr>
        <p:grpSpPr>
          <a:xfrm rot="0">
            <a:off x="1246632" y="6611112"/>
            <a:ext cx="617220" cy="617220"/>
            <a:chOff x="0" y="0"/>
            <a:chExt cx="822960" cy="822960"/>
          </a:xfrm>
        </p:grpSpPr>
        <p:sp>
          <p:nvSpPr>
            <p:cNvPr name="Freeform 44" id="44"/>
            <p:cNvSpPr/>
            <p:nvPr/>
          </p:nvSpPr>
          <p:spPr>
            <a:xfrm flipH="false" flipV="false" rot="0">
              <a:off x="0" y="0"/>
              <a:ext cx="822960" cy="822960"/>
            </a:xfrm>
            <a:custGeom>
              <a:avLst/>
              <a:gdLst/>
              <a:ahLst/>
              <a:cxnLst/>
              <a:rect r="r" b="b" t="t" l="l"/>
              <a:pathLst>
                <a:path h="822960" w="822960">
                  <a:moveTo>
                    <a:pt x="0" y="411480"/>
                  </a:moveTo>
                  <a:cubicBezTo>
                    <a:pt x="0" y="184277"/>
                    <a:pt x="184277" y="0"/>
                    <a:pt x="411480" y="0"/>
                  </a:cubicBezTo>
                  <a:cubicBezTo>
                    <a:pt x="638683" y="0"/>
                    <a:pt x="822960" y="184277"/>
                    <a:pt x="822960" y="411480"/>
                  </a:cubicBezTo>
                  <a:cubicBezTo>
                    <a:pt x="822960" y="638683"/>
                    <a:pt x="638683" y="822960"/>
                    <a:pt x="411480" y="822960"/>
                  </a:cubicBezTo>
                  <a:cubicBezTo>
                    <a:pt x="184277" y="822960"/>
                    <a:pt x="0" y="638683"/>
                    <a:pt x="0" y="411480"/>
                  </a:cubicBezTo>
                  <a:close/>
                </a:path>
              </a:pathLst>
            </a:custGeom>
            <a:solidFill>
              <a:srgbClr val="387F7F"/>
            </a:solidFill>
          </p:spPr>
        </p:sp>
      </p:grpSp>
      <p:grpSp>
        <p:nvGrpSpPr>
          <p:cNvPr name="Group 45" id="45"/>
          <p:cNvGrpSpPr/>
          <p:nvPr/>
        </p:nvGrpSpPr>
        <p:grpSpPr>
          <a:xfrm rot="0">
            <a:off x="1246632" y="6611112"/>
            <a:ext cx="617220" cy="617220"/>
            <a:chOff x="0" y="0"/>
            <a:chExt cx="822960" cy="822960"/>
          </a:xfrm>
        </p:grpSpPr>
        <p:sp>
          <p:nvSpPr>
            <p:cNvPr name="Freeform 46" id="46"/>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close/>
                </a:path>
              </a:pathLst>
            </a:custGeom>
            <a:blipFill>
              <a:blip r:embed="rId9">
                <a:alphaModFix amt="0"/>
              </a:blip>
              <a:stretch>
                <a:fillRect l="-78303" t="0" r="-78303" b="0"/>
              </a:stretch>
            </a:blipFill>
          </p:spPr>
        </p:sp>
        <p:sp>
          <p:nvSpPr>
            <p:cNvPr name="TextBox 47" id="47"/>
            <p:cNvSpPr txBox="true"/>
            <p:nvPr/>
          </p:nvSpPr>
          <p:spPr>
            <a:xfrm>
              <a:off x="0" y="-28575"/>
              <a:ext cx="822960" cy="851535"/>
            </a:xfrm>
            <a:prstGeom prst="rect">
              <a:avLst/>
            </a:prstGeom>
          </p:spPr>
          <p:txBody>
            <a:bodyPr anchor="ctr" rtlCol="false" tIns="0" lIns="0" bIns="0" rIns="0"/>
            <a:lstStyle/>
            <a:p>
              <a:pPr algn="ctr">
                <a:lnSpc>
                  <a:spcPts val="3060"/>
                </a:lnSpc>
              </a:pPr>
              <a:r>
                <a:rPr lang="en-US" sz="2550" b="true">
                  <a:solidFill>
                    <a:srgbClr val="FFFFFF"/>
                  </a:solidFill>
                  <a:latin typeface="Poppins Bold"/>
                  <a:ea typeface="Poppins Bold"/>
                  <a:cs typeface="Poppins Bold"/>
                  <a:sym typeface="Poppins Bold"/>
                </a:rPr>
                <a:t>✓</a:t>
              </a:r>
            </a:p>
          </p:txBody>
        </p:sp>
      </p:grpSp>
      <p:grpSp>
        <p:nvGrpSpPr>
          <p:cNvPr name="Group 48" id="48"/>
          <p:cNvGrpSpPr/>
          <p:nvPr/>
        </p:nvGrpSpPr>
        <p:grpSpPr>
          <a:xfrm rot="0">
            <a:off x="2097883" y="6419088"/>
            <a:ext cx="8549744" cy="987552"/>
            <a:chOff x="0" y="0"/>
            <a:chExt cx="11399659" cy="1316736"/>
          </a:xfrm>
        </p:grpSpPr>
        <p:sp>
          <p:nvSpPr>
            <p:cNvPr name="Freeform 49" id="49"/>
            <p:cNvSpPr/>
            <p:nvPr/>
          </p:nvSpPr>
          <p:spPr>
            <a:xfrm flipH="false" flipV="false" rot="0">
              <a:off x="0" y="0"/>
              <a:ext cx="11399659" cy="1316736"/>
            </a:xfrm>
            <a:custGeom>
              <a:avLst/>
              <a:gdLst/>
              <a:ahLst/>
              <a:cxnLst/>
              <a:rect r="r" b="b" t="t" l="l"/>
              <a:pathLst>
                <a:path h="1316736" w="11399659">
                  <a:moveTo>
                    <a:pt x="0" y="0"/>
                  </a:moveTo>
                  <a:lnTo>
                    <a:pt x="11399659" y="0"/>
                  </a:lnTo>
                  <a:lnTo>
                    <a:pt x="11399659" y="1316736"/>
                  </a:lnTo>
                  <a:lnTo>
                    <a:pt x="0" y="1316736"/>
                  </a:lnTo>
                  <a:close/>
                </a:path>
              </a:pathLst>
            </a:custGeom>
            <a:blipFill>
              <a:blip r:embed="rId9">
                <a:alphaModFix amt="0"/>
              </a:blip>
              <a:stretch>
                <a:fillRect l="0" t="-209800" r="-54008" b="-209800"/>
              </a:stretch>
            </a:blipFill>
          </p:spPr>
        </p:sp>
        <p:sp>
          <p:nvSpPr>
            <p:cNvPr name="TextBox 50" id="50"/>
            <p:cNvSpPr txBox="true"/>
            <p:nvPr/>
          </p:nvSpPr>
          <p:spPr>
            <a:xfrm>
              <a:off x="0" y="-66675"/>
              <a:ext cx="11399659" cy="1383411"/>
            </a:xfrm>
            <a:prstGeom prst="rect">
              <a:avLst/>
            </a:prstGeom>
          </p:spPr>
          <p:txBody>
            <a:bodyPr anchor="ctr" rtlCol="false" tIns="0" lIns="0" bIns="0" rIns="0"/>
            <a:lstStyle/>
            <a:p>
              <a:pPr algn="l">
                <a:lnSpc>
                  <a:spcPts val="3024"/>
                </a:lnSpc>
              </a:pPr>
              <a:r>
                <a:rPr lang="en-US" sz="2100">
                  <a:solidFill>
                    <a:srgbClr val="475569"/>
                  </a:solidFill>
                  <a:latin typeface="Poppins"/>
                  <a:ea typeface="Poppins"/>
                  <a:cs typeface="Poppins"/>
                  <a:sym typeface="Poppins"/>
                </a:rPr>
                <a:t>Verify a measure by predicting, reconciling at total level, and checking a single row.</a:t>
              </a:r>
            </a:p>
          </p:txBody>
        </p:sp>
      </p:grpSp>
      <p:grpSp>
        <p:nvGrpSpPr>
          <p:cNvPr name="Group 51" id="51"/>
          <p:cNvGrpSpPr/>
          <p:nvPr/>
        </p:nvGrpSpPr>
        <p:grpSpPr>
          <a:xfrm rot="0">
            <a:off x="876300" y="7818120"/>
            <a:ext cx="14744700" cy="1371600"/>
            <a:chOff x="0" y="0"/>
            <a:chExt cx="19659600" cy="1828800"/>
          </a:xfrm>
        </p:grpSpPr>
        <p:sp>
          <p:nvSpPr>
            <p:cNvPr name="Freeform 52" id="52"/>
            <p:cNvSpPr/>
            <p:nvPr/>
          </p:nvSpPr>
          <p:spPr>
            <a:xfrm flipH="false" flipV="false" rot="0">
              <a:off x="0" y="0"/>
              <a:ext cx="19659600" cy="1828800"/>
            </a:xfrm>
            <a:custGeom>
              <a:avLst/>
              <a:gdLst/>
              <a:ahLst/>
              <a:cxnLst/>
              <a:rect r="r" b="b" t="t" l="l"/>
              <a:pathLst>
                <a:path h="1828800" w="19659600">
                  <a:moveTo>
                    <a:pt x="0" y="164592"/>
                  </a:moveTo>
                  <a:cubicBezTo>
                    <a:pt x="0" y="73660"/>
                    <a:pt x="73660" y="0"/>
                    <a:pt x="164592" y="0"/>
                  </a:cubicBezTo>
                  <a:lnTo>
                    <a:pt x="19495008" y="0"/>
                  </a:lnTo>
                  <a:cubicBezTo>
                    <a:pt x="19585939" y="0"/>
                    <a:pt x="19659600" y="73660"/>
                    <a:pt x="19659600" y="164592"/>
                  </a:cubicBezTo>
                  <a:lnTo>
                    <a:pt x="19659600" y="1664208"/>
                  </a:lnTo>
                  <a:cubicBezTo>
                    <a:pt x="19659600" y="1755140"/>
                    <a:pt x="19585939" y="1828800"/>
                    <a:pt x="19495008" y="1828800"/>
                  </a:cubicBezTo>
                  <a:lnTo>
                    <a:pt x="164592" y="1828800"/>
                  </a:lnTo>
                  <a:cubicBezTo>
                    <a:pt x="73660" y="1828800"/>
                    <a:pt x="0" y="1755140"/>
                    <a:pt x="0" y="1664208"/>
                  </a:cubicBezTo>
                  <a:close/>
                </a:path>
              </a:pathLst>
            </a:custGeom>
            <a:solidFill>
              <a:srgbClr val="EEF4F4"/>
            </a:solidFill>
          </p:spPr>
        </p:sp>
      </p:grpSp>
      <p:grpSp>
        <p:nvGrpSpPr>
          <p:cNvPr name="Group 53" id="53"/>
          <p:cNvGrpSpPr/>
          <p:nvPr/>
        </p:nvGrpSpPr>
        <p:grpSpPr>
          <a:xfrm rot="0">
            <a:off x="876300" y="7818120"/>
            <a:ext cx="102870" cy="1371600"/>
            <a:chOff x="0" y="0"/>
            <a:chExt cx="137160" cy="1828800"/>
          </a:xfrm>
        </p:grpSpPr>
        <p:sp>
          <p:nvSpPr>
            <p:cNvPr name="Freeform 54" id="54"/>
            <p:cNvSpPr/>
            <p:nvPr/>
          </p:nvSpPr>
          <p:spPr>
            <a:xfrm flipH="false" flipV="false" rot="0">
              <a:off x="0" y="0"/>
              <a:ext cx="137160" cy="1828800"/>
            </a:xfrm>
            <a:custGeom>
              <a:avLst/>
              <a:gdLst/>
              <a:ahLst/>
              <a:cxnLst/>
              <a:rect r="r" b="b" t="t" l="l"/>
              <a:pathLst>
                <a:path h="1828800" w="137160">
                  <a:moveTo>
                    <a:pt x="0" y="0"/>
                  </a:moveTo>
                  <a:lnTo>
                    <a:pt x="137160" y="0"/>
                  </a:lnTo>
                  <a:lnTo>
                    <a:pt x="137160" y="1828800"/>
                  </a:lnTo>
                  <a:lnTo>
                    <a:pt x="0" y="1828800"/>
                  </a:lnTo>
                  <a:close/>
                </a:path>
              </a:pathLst>
            </a:custGeom>
            <a:solidFill>
              <a:srgbClr val="387F7F"/>
            </a:solidFill>
          </p:spPr>
        </p:sp>
      </p:grpSp>
      <p:grpSp>
        <p:nvGrpSpPr>
          <p:cNvPr name="Group 55" id="55"/>
          <p:cNvGrpSpPr/>
          <p:nvPr/>
        </p:nvGrpSpPr>
        <p:grpSpPr>
          <a:xfrm rot="0">
            <a:off x="1424940" y="7818120"/>
            <a:ext cx="13853160" cy="1371600"/>
            <a:chOff x="0" y="0"/>
            <a:chExt cx="18470880" cy="1828800"/>
          </a:xfrm>
        </p:grpSpPr>
        <p:sp>
          <p:nvSpPr>
            <p:cNvPr name="Freeform 56" id="56"/>
            <p:cNvSpPr/>
            <p:nvPr/>
          </p:nvSpPr>
          <p:spPr>
            <a:xfrm flipH="false" flipV="false" rot="0">
              <a:off x="0" y="0"/>
              <a:ext cx="18470880" cy="1828800"/>
            </a:xfrm>
            <a:custGeom>
              <a:avLst/>
              <a:gdLst/>
              <a:ahLst/>
              <a:cxnLst/>
              <a:rect r="r" b="b" t="t" l="l"/>
              <a:pathLst>
                <a:path h="1828800" w="18470880">
                  <a:moveTo>
                    <a:pt x="0" y="0"/>
                  </a:moveTo>
                  <a:lnTo>
                    <a:pt x="18470880" y="0"/>
                  </a:lnTo>
                  <a:lnTo>
                    <a:pt x="18470880" y="1828800"/>
                  </a:lnTo>
                  <a:lnTo>
                    <a:pt x="0" y="1828800"/>
                  </a:lnTo>
                  <a:close/>
                </a:path>
              </a:pathLst>
            </a:custGeom>
            <a:blipFill>
              <a:blip r:embed="rId9">
                <a:alphaModFix amt="0"/>
              </a:blip>
              <a:stretch>
                <a:fillRect l="0" t="-146798" r="0" b="-146798"/>
              </a:stretch>
            </a:blipFill>
          </p:spPr>
        </p:sp>
        <p:sp>
          <p:nvSpPr>
            <p:cNvPr name="TextBox 57" id="57"/>
            <p:cNvSpPr txBox="true"/>
            <p:nvPr/>
          </p:nvSpPr>
          <p:spPr>
            <a:xfrm>
              <a:off x="0" y="-114300"/>
              <a:ext cx="18470880" cy="1943100"/>
            </a:xfrm>
            <a:prstGeom prst="rect">
              <a:avLst/>
            </a:prstGeom>
          </p:spPr>
          <p:txBody>
            <a:bodyPr anchor="ctr" rtlCol="false" tIns="0" lIns="0" bIns="0" rIns="0"/>
            <a:lstStyle/>
            <a:p>
              <a:pPr algn="ctr">
                <a:lnSpc>
                  <a:spcPts val="3888"/>
                </a:lnSpc>
              </a:pPr>
              <a:r>
                <a:rPr lang="en-US" sz="2400" b="true">
                  <a:solidFill>
                    <a:srgbClr val="387F7F"/>
                  </a:solidFill>
                  <a:latin typeface="Poppins Bold"/>
                  <a:ea typeface="Poppins Bold"/>
                  <a:cs typeface="Poppins Bold"/>
                  <a:sym typeface="Poppins Bold"/>
                </a:rPr>
                <a:t>Three shapes, verified. That is most of what an operational dashboard ever needs.</a:t>
              </a:r>
            </a:p>
          </p:txBody>
        </p:sp>
      </p:grpSp>
      <p:grpSp>
        <p:nvGrpSpPr>
          <p:cNvPr name="Group 58" id="58"/>
          <p:cNvGrpSpPr/>
          <p:nvPr/>
        </p:nvGrpSpPr>
        <p:grpSpPr>
          <a:xfrm rot="0">
            <a:off x="17306354" y="3728276"/>
            <a:ext cx="457200" cy="457200"/>
            <a:chOff x="0" y="0"/>
            <a:chExt cx="609600" cy="609600"/>
          </a:xfrm>
        </p:grpSpPr>
        <p:sp>
          <p:nvSpPr>
            <p:cNvPr name="Freeform 59" id="59"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0"/>
              <a:stretch>
                <a:fillRect l="0" t="-1562" r="0" b="-1562"/>
              </a:stretch>
            </a:blipFill>
          </p:spPr>
        </p:sp>
      </p:grpSp>
      <p:sp>
        <p:nvSpPr>
          <p:cNvPr name="TextBox 60" id="60"/>
          <p:cNvSpPr txBox="true"/>
          <p:nvPr/>
        </p:nvSpPr>
        <p:spPr>
          <a:xfrm rot="0">
            <a:off x="10851776" y="3561588"/>
            <a:ext cx="6121202" cy="1348740"/>
          </a:xfrm>
          <a:prstGeom prst="rect">
            <a:avLst/>
          </a:prstGeom>
        </p:spPr>
        <p:txBody>
          <a:bodyPr anchor="t" rtlCol="false" tIns="0" lIns="0" bIns="0" rIns="0">
            <a:spAutoFit/>
          </a:bodyPr>
          <a:lstStyle/>
          <a:p>
            <a:pPr algn="r">
              <a:lnSpc>
                <a:spcPts val="5400"/>
              </a:lnSpc>
            </a:pPr>
            <a:r>
              <a:rPr lang="en-US" sz="3600">
                <a:solidFill>
                  <a:srgbClr val="387F7F"/>
                </a:solidFill>
                <a:latin typeface="Inter"/>
                <a:ea typeface="Inter"/>
                <a:cs typeface="Inter"/>
                <a:sym typeface="Inter"/>
              </a:rPr>
              <a:t>Up Next:</a:t>
            </a:r>
          </a:p>
          <a:p>
            <a:pPr algn="r">
              <a:lnSpc>
                <a:spcPts val="5400"/>
              </a:lnSpc>
            </a:pPr>
            <a:r>
              <a:rPr lang="en-US" sz="3600">
                <a:solidFill>
                  <a:srgbClr val="387F7F"/>
                </a:solidFill>
                <a:latin typeface="Inter"/>
                <a:ea typeface="Inter"/>
                <a:cs typeface="Inter"/>
                <a:sym typeface="Inter"/>
              </a:rPr>
              <a:t>Dashboards &amp; publishing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TextBox 7" id="7"/>
          <p:cNvSpPr txBox="true"/>
          <p:nvPr/>
        </p:nvSpPr>
        <p:spPr>
          <a:xfrm rot="0">
            <a:off x="1143000" y="762000"/>
            <a:ext cx="3888879"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Wh</a:t>
            </a:r>
            <a:r>
              <a:rPr lang="en-US" sz="5000">
                <a:solidFill>
                  <a:srgbClr val="388080"/>
                </a:solidFill>
                <a:latin typeface="Poppins"/>
                <a:ea typeface="Poppins"/>
                <a:cs typeface="Poppins"/>
                <a:sym typeface="Poppins"/>
              </a:rPr>
              <a:t>at is Next</a:t>
            </a:r>
          </a:p>
        </p:txBody>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
        <p:nvSpPr>
          <p:cNvPr name="Freeform 10" id="10"/>
          <p:cNvSpPr/>
          <p:nvPr/>
        </p:nvSpPr>
        <p:spPr>
          <a:xfrm flipH="false" flipV="false" rot="0">
            <a:off x="16689057" y="30904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1028700" y="2537460"/>
            <a:ext cx="4594860" cy="4800600"/>
            <a:chOff x="0" y="0"/>
            <a:chExt cx="6126480" cy="6400800"/>
          </a:xfrm>
        </p:grpSpPr>
        <p:sp>
          <p:nvSpPr>
            <p:cNvPr name="Freeform 12" id="12"/>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13" id="13"/>
          <p:cNvGrpSpPr/>
          <p:nvPr/>
        </p:nvGrpSpPr>
        <p:grpSpPr>
          <a:xfrm rot="0">
            <a:off x="1028700" y="2537460"/>
            <a:ext cx="4594860" cy="713232"/>
            <a:chOff x="0" y="0"/>
            <a:chExt cx="6126480" cy="950976"/>
          </a:xfrm>
        </p:grpSpPr>
        <p:sp>
          <p:nvSpPr>
            <p:cNvPr name="Freeform 14" id="14"/>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387F7F"/>
            </a:solidFill>
          </p:spPr>
        </p:sp>
      </p:grpSp>
      <p:grpSp>
        <p:nvGrpSpPr>
          <p:cNvPr name="Group 15" id="15"/>
          <p:cNvGrpSpPr/>
          <p:nvPr/>
        </p:nvGrpSpPr>
        <p:grpSpPr>
          <a:xfrm rot="0">
            <a:off x="1028700" y="2537460"/>
            <a:ext cx="4594860" cy="713232"/>
            <a:chOff x="0" y="0"/>
            <a:chExt cx="6126480" cy="950976"/>
          </a:xfrm>
        </p:grpSpPr>
        <p:sp>
          <p:nvSpPr>
            <p:cNvPr name="Freeform 16" id="16"/>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17" id="17"/>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TOPIC 7.4</a:t>
              </a:r>
            </a:p>
          </p:txBody>
        </p:sp>
      </p:grpSp>
      <p:grpSp>
        <p:nvGrpSpPr>
          <p:cNvPr name="Group 18" id="18"/>
          <p:cNvGrpSpPr/>
          <p:nvPr/>
        </p:nvGrpSpPr>
        <p:grpSpPr>
          <a:xfrm rot="0">
            <a:off x="2815685" y="3686651"/>
            <a:ext cx="1020890" cy="1020890"/>
            <a:chOff x="0" y="0"/>
            <a:chExt cx="1361186" cy="1361186"/>
          </a:xfrm>
        </p:grpSpPr>
        <p:sp>
          <p:nvSpPr>
            <p:cNvPr name="Freeform 19" id="19"/>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20" id="20"/>
          <p:cNvGrpSpPr/>
          <p:nvPr/>
        </p:nvGrpSpPr>
        <p:grpSpPr>
          <a:xfrm rot="0">
            <a:off x="2832354" y="3703320"/>
            <a:ext cx="987552" cy="987552"/>
            <a:chOff x="0" y="0"/>
            <a:chExt cx="1316736" cy="1316736"/>
          </a:xfrm>
        </p:grpSpPr>
        <p:sp>
          <p:nvSpPr>
            <p:cNvPr name="Freeform 21" id="21"/>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22" id="22"/>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sp>
        <p:nvSpPr>
          <p:cNvPr name="TextBox 23" id="23"/>
          <p:cNvSpPr txBox="true"/>
          <p:nvPr/>
        </p:nvSpPr>
        <p:spPr>
          <a:xfrm rot="0">
            <a:off x="1440180" y="4920615"/>
            <a:ext cx="3771900" cy="2143125"/>
          </a:xfrm>
          <a:prstGeom prst="rect">
            <a:avLst/>
          </a:prstGeom>
        </p:spPr>
        <p:txBody>
          <a:bodyPr anchor="t" rtlCol="false" tIns="0" lIns="0" bIns="0" rIns="0">
            <a:spAutoFit/>
          </a:bodyPr>
          <a:lstStyle/>
          <a:p>
            <a:pPr algn="ctr">
              <a:lnSpc>
                <a:spcPts val="2925"/>
              </a:lnSpc>
            </a:pPr>
            <a:r>
              <a:rPr lang="en-US" sz="1875">
                <a:solidFill>
                  <a:srgbClr val="475569"/>
                </a:solidFill>
                <a:latin typeface="Poppins"/>
                <a:ea typeface="Poppins"/>
                <a:cs typeface="Poppins"/>
                <a:sym typeface="Poppins"/>
              </a:rPr>
              <a:t>You have correct numbers. Now you decide which of them Adaeze sees at the start of her day, and what she can do with them.</a:t>
            </a:r>
          </a:p>
        </p:txBody>
      </p:sp>
      <p:grpSp>
        <p:nvGrpSpPr>
          <p:cNvPr name="Group 24" id="24"/>
          <p:cNvGrpSpPr/>
          <p:nvPr/>
        </p:nvGrpSpPr>
        <p:grpSpPr>
          <a:xfrm rot="0">
            <a:off x="6007608" y="2537460"/>
            <a:ext cx="4594860" cy="4800600"/>
            <a:chOff x="0" y="0"/>
            <a:chExt cx="6126480" cy="6400800"/>
          </a:xfrm>
        </p:grpSpPr>
        <p:sp>
          <p:nvSpPr>
            <p:cNvPr name="Freeform 25" id="25"/>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26" id="26"/>
          <p:cNvGrpSpPr/>
          <p:nvPr/>
        </p:nvGrpSpPr>
        <p:grpSpPr>
          <a:xfrm rot="0">
            <a:off x="6007608" y="2537460"/>
            <a:ext cx="4594860" cy="713232"/>
            <a:chOff x="0" y="0"/>
            <a:chExt cx="6126480" cy="950976"/>
          </a:xfrm>
        </p:grpSpPr>
        <p:sp>
          <p:nvSpPr>
            <p:cNvPr name="Freeform 27" id="27"/>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387F7F"/>
            </a:solidFill>
          </p:spPr>
        </p:sp>
      </p:grpSp>
      <p:grpSp>
        <p:nvGrpSpPr>
          <p:cNvPr name="Group 28" id="28"/>
          <p:cNvGrpSpPr/>
          <p:nvPr/>
        </p:nvGrpSpPr>
        <p:grpSpPr>
          <a:xfrm rot="0">
            <a:off x="6007608" y="2537460"/>
            <a:ext cx="4594860" cy="713232"/>
            <a:chOff x="0" y="0"/>
            <a:chExt cx="6126480" cy="950976"/>
          </a:xfrm>
        </p:grpSpPr>
        <p:sp>
          <p:nvSpPr>
            <p:cNvPr name="Freeform 29" id="29"/>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30" id="30"/>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IN THE LAB</a:t>
              </a:r>
            </a:p>
          </p:txBody>
        </p:sp>
      </p:grpSp>
      <p:grpSp>
        <p:nvGrpSpPr>
          <p:cNvPr name="Group 31" id="31"/>
          <p:cNvGrpSpPr/>
          <p:nvPr/>
        </p:nvGrpSpPr>
        <p:grpSpPr>
          <a:xfrm rot="0">
            <a:off x="7794593" y="3686651"/>
            <a:ext cx="1020890" cy="1020890"/>
            <a:chOff x="0" y="0"/>
            <a:chExt cx="1361186" cy="1361186"/>
          </a:xfrm>
        </p:grpSpPr>
        <p:sp>
          <p:nvSpPr>
            <p:cNvPr name="Freeform 32" id="32"/>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387F7F"/>
              </a:solidFill>
              <a:prstDash val="solid"/>
              <a:miter/>
            </a:ln>
          </p:spPr>
        </p:sp>
      </p:grpSp>
      <p:grpSp>
        <p:nvGrpSpPr>
          <p:cNvPr name="Group 33" id="33"/>
          <p:cNvGrpSpPr/>
          <p:nvPr/>
        </p:nvGrpSpPr>
        <p:grpSpPr>
          <a:xfrm rot="0">
            <a:off x="7811262" y="3703320"/>
            <a:ext cx="987552" cy="987552"/>
            <a:chOff x="0" y="0"/>
            <a:chExt cx="1316736" cy="1316736"/>
          </a:xfrm>
        </p:grpSpPr>
        <p:sp>
          <p:nvSpPr>
            <p:cNvPr name="Freeform 34" id="34"/>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35" id="35"/>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387F7F"/>
                  </a:solidFill>
                  <a:latin typeface="Poppins Bold"/>
                  <a:ea typeface="Poppins Bold"/>
                  <a:cs typeface="Poppins Bold"/>
                  <a:sym typeface="Poppins Bold"/>
                </a:rPr>
                <a:t>▣</a:t>
              </a:r>
            </a:p>
          </p:txBody>
        </p:sp>
      </p:grpSp>
      <p:sp>
        <p:nvSpPr>
          <p:cNvPr name="TextBox 36" id="36"/>
          <p:cNvSpPr txBox="true"/>
          <p:nvPr/>
        </p:nvSpPr>
        <p:spPr>
          <a:xfrm rot="0">
            <a:off x="6419088" y="4920615"/>
            <a:ext cx="3771900" cy="2143125"/>
          </a:xfrm>
          <a:prstGeom prst="rect">
            <a:avLst/>
          </a:prstGeom>
        </p:spPr>
        <p:txBody>
          <a:bodyPr anchor="t" rtlCol="false" tIns="0" lIns="0" bIns="0" rIns="0">
            <a:spAutoFit/>
          </a:bodyPr>
          <a:lstStyle/>
          <a:p>
            <a:pPr algn="ctr">
              <a:lnSpc>
                <a:spcPts val="2925"/>
              </a:lnSpc>
            </a:pPr>
            <a:r>
              <a:rPr lang="en-US" sz="1875">
                <a:solidFill>
                  <a:srgbClr val="475569"/>
                </a:solidFill>
                <a:latin typeface="Poppins"/>
                <a:ea typeface="Poppins"/>
                <a:cs typeface="Poppins"/>
                <a:sym typeface="Poppins"/>
              </a:rPr>
              <a:t>Debug three broken measures, then build the four measures the dashboard needs.</a:t>
            </a:r>
          </a:p>
        </p:txBody>
      </p:sp>
      <p:grpSp>
        <p:nvGrpSpPr>
          <p:cNvPr name="Group 37" id="37"/>
          <p:cNvGrpSpPr/>
          <p:nvPr/>
        </p:nvGrpSpPr>
        <p:grpSpPr>
          <a:xfrm rot="0">
            <a:off x="10986516" y="2537460"/>
            <a:ext cx="4594860" cy="4800600"/>
            <a:chOff x="0" y="0"/>
            <a:chExt cx="6126480" cy="6400800"/>
          </a:xfrm>
        </p:grpSpPr>
        <p:sp>
          <p:nvSpPr>
            <p:cNvPr name="Freeform 38" id="38"/>
            <p:cNvSpPr/>
            <p:nvPr/>
          </p:nvSpPr>
          <p:spPr>
            <a:xfrm flipH="false" flipV="false" rot="0">
              <a:off x="0" y="0"/>
              <a:ext cx="6126480" cy="6400800"/>
            </a:xfrm>
            <a:custGeom>
              <a:avLst/>
              <a:gdLst/>
              <a:ahLst/>
              <a:cxnLst/>
              <a:rect r="r" b="b" t="t" l="l"/>
              <a:pathLst>
                <a:path h="6400800" w="6126480">
                  <a:moveTo>
                    <a:pt x="0" y="182880"/>
                  </a:moveTo>
                  <a:cubicBezTo>
                    <a:pt x="0" y="81915"/>
                    <a:pt x="81915" y="0"/>
                    <a:pt x="182880" y="0"/>
                  </a:cubicBezTo>
                  <a:lnTo>
                    <a:pt x="5943600" y="0"/>
                  </a:lnTo>
                  <a:cubicBezTo>
                    <a:pt x="6044565" y="0"/>
                    <a:pt x="6126480" y="81915"/>
                    <a:pt x="6126480" y="182880"/>
                  </a:cubicBezTo>
                  <a:lnTo>
                    <a:pt x="6126480" y="6217920"/>
                  </a:lnTo>
                  <a:cubicBezTo>
                    <a:pt x="6126480" y="6318885"/>
                    <a:pt x="6044565" y="6400800"/>
                    <a:pt x="5943600" y="6400800"/>
                  </a:cubicBezTo>
                  <a:lnTo>
                    <a:pt x="182880" y="6400800"/>
                  </a:lnTo>
                  <a:cubicBezTo>
                    <a:pt x="81915" y="6400800"/>
                    <a:pt x="0" y="6318885"/>
                    <a:pt x="0" y="6217920"/>
                  </a:cubicBezTo>
                  <a:close/>
                </a:path>
              </a:pathLst>
            </a:custGeom>
            <a:solidFill>
              <a:srgbClr val="FFFFFF"/>
            </a:solidFill>
          </p:spPr>
        </p:sp>
      </p:grpSp>
      <p:grpSp>
        <p:nvGrpSpPr>
          <p:cNvPr name="Group 39" id="39"/>
          <p:cNvGrpSpPr/>
          <p:nvPr/>
        </p:nvGrpSpPr>
        <p:grpSpPr>
          <a:xfrm rot="0">
            <a:off x="10986516" y="2537460"/>
            <a:ext cx="4594860" cy="713232"/>
            <a:chOff x="0" y="0"/>
            <a:chExt cx="6126480" cy="950976"/>
          </a:xfrm>
        </p:grpSpPr>
        <p:sp>
          <p:nvSpPr>
            <p:cNvPr name="Freeform 40" id="40"/>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solidFill>
              <a:srgbClr val="C9821F"/>
            </a:solidFill>
          </p:spPr>
        </p:sp>
      </p:grpSp>
      <p:grpSp>
        <p:nvGrpSpPr>
          <p:cNvPr name="Group 41" id="41"/>
          <p:cNvGrpSpPr/>
          <p:nvPr/>
        </p:nvGrpSpPr>
        <p:grpSpPr>
          <a:xfrm rot="0">
            <a:off x="10986516" y="2537460"/>
            <a:ext cx="4594860" cy="713232"/>
            <a:chOff x="0" y="0"/>
            <a:chExt cx="6126480" cy="950976"/>
          </a:xfrm>
        </p:grpSpPr>
        <p:sp>
          <p:nvSpPr>
            <p:cNvPr name="Freeform 42" id="42"/>
            <p:cNvSpPr/>
            <p:nvPr/>
          </p:nvSpPr>
          <p:spPr>
            <a:xfrm flipH="false" flipV="false" rot="0">
              <a:off x="0" y="0"/>
              <a:ext cx="6126480" cy="950976"/>
            </a:xfrm>
            <a:custGeom>
              <a:avLst/>
              <a:gdLst/>
              <a:ahLst/>
              <a:cxnLst/>
              <a:rect r="r" b="b" t="t" l="l"/>
              <a:pathLst>
                <a:path h="950976" w="6126480">
                  <a:moveTo>
                    <a:pt x="0" y="0"/>
                  </a:moveTo>
                  <a:lnTo>
                    <a:pt x="6126480" y="0"/>
                  </a:lnTo>
                  <a:lnTo>
                    <a:pt x="6126480" y="950976"/>
                  </a:lnTo>
                  <a:lnTo>
                    <a:pt x="0" y="950976"/>
                  </a:lnTo>
                  <a:close/>
                </a:path>
              </a:pathLst>
            </a:custGeom>
            <a:blipFill>
              <a:blip r:embed="rId9">
                <a:alphaModFix amt="0"/>
              </a:blip>
              <a:stretch>
                <a:fillRect l="0" t="-75528" r="0" b="-75528"/>
              </a:stretch>
            </a:blipFill>
          </p:spPr>
        </p:sp>
        <p:sp>
          <p:nvSpPr>
            <p:cNvPr name="TextBox 43" id="43"/>
            <p:cNvSpPr txBox="true"/>
            <p:nvPr/>
          </p:nvSpPr>
          <p:spPr>
            <a:xfrm>
              <a:off x="0" y="-9525"/>
              <a:ext cx="6126480" cy="960501"/>
            </a:xfrm>
            <a:prstGeom prst="rect">
              <a:avLst/>
            </a:prstGeom>
          </p:spPr>
          <p:txBody>
            <a:bodyPr anchor="ctr" rtlCol="false" tIns="0" lIns="0" bIns="0" rIns="0"/>
            <a:lstStyle/>
            <a:p>
              <a:pPr algn="ctr">
                <a:lnSpc>
                  <a:spcPts val="2070"/>
                </a:lnSpc>
              </a:pPr>
              <a:r>
                <a:rPr lang="en-US" b="true" sz="1725" spc="149">
                  <a:solidFill>
                    <a:srgbClr val="FFFFFF"/>
                  </a:solidFill>
                  <a:latin typeface="Poppins Bold"/>
                  <a:ea typeface="Poppins Bold"/>
                  <a:cs typeface="Poppins Bold"/>
                  <a:sym typeface="Poppins Bold"/>
                </a:rPr>
                <a:t>COMING IN 7.5</a:t>
              </a:r>
            </a:p>
          </p:txBody>
        </p:sp>
      </p:grpSp>
      <p:grpSp>
        <p:nvGrpSpPr>
          <p:cNvPr name="Group 44" id="44"/>
          <p:cNvGrpSpPr/>
          <p:nvPr/>
        </p:nvGrpSpPr>
        <p:grpSpPr>
          <a:xfrm rot="0">
            <a:off x="12773501" y="3686651"/>
            <a:ext cx="1020890" cy="1020890"/>
            <a:chOff x="0" y="0"/>
            <a:chExt cx="1361186" cy="1361186"/>
          </a:xfrm>
        </p:grpSpPr>
        <p:sp>
          <p:nvSpPr>
            <p:cNvPr name="Freeform 45" id="45"/>
            <p:cNvSpPr/>
            <p:nvPr/>
          </p:nvSpPr>
          <p:spPr>
            <a:xfrm flipH="false" flipV="false" rot="0">
              <a:off x="0" y="0"/>
              <a:ext cx="1361186" cy="1361186"/>
            </a:xfrm>
            <a:custGeom>
              <a:avLst/>
              <a:gdLst/>
              <a:ahLst/>
              <a:cxnLst/>
              <a:rect r="r" b="b" t="t" l="l"/>
              <a:pathLst>
                <a:path h="1361186" w="1361186">
                  <a:moveTo>
                    <a:pt x="0" y="680593"/>
                  </a:moveTo>
                  <a:cubicBezTo>
                    <a:pt x="0" y="304673"/>
                    <a:pt x="304673" y="0"/>
                    <a:pt x="680593" y="0"/>
                  </a:cubicBezTo>
                  <a:cubicBezTo>
                    <a:pt x="1056513" y="0"/>
                    <a:pt x="1361186" y="304673"/>
                    <a:pt x="1361186" y="680593"/>
                  </a:cubicBezTo>
                  <a:cubicBezTo>
                    <a:pt x="1361186" y="1056513"/>
                    <a:pt x="1056513" y="1361186"/>
                    <a:pt x="680593" y="1361186"/>
                  </a:cubicBezTo>
                  <a:cubicBezTo>
                    <a:pt x="304673" y="1361186"/>
                    <a:pt x="0" y="1056513"/>
                    <a:pt x="0" y="680593"/>
                  </a:cubicBezTo>
                  <a:close/>
                </a:path>
              </a:pathLst>
            </a:custGeom>
            <a:solidFill>
              <a:srgbClr val="FFFFFF"/>
            </a:solidFill>
            <a:ln w="33338" cap="sq">
              <a:solidFill>
                <a:srgbClr val="C9821F"/>
              </a:solidFill>
              <a:prstDash val="solid"/>
              <a:miter/>
            </a:ln>
          </p:spPr>
        </p:sp>
      </p:grpSp>
      <p:grpSp>
        <p:nvGrpSpPr>
          <p:cNvPr name="Group 46" id="46"/>
          <p:cNvGrpSpPr/>
          <p:nvPr/>
        </p:nvGrpSpPr>
        <p:grpSpPr>
          <a:xfrm rot="0">
            <a:off x="12790170" y="3703320"/>
            <a:ext cx="987552" cy="987552"/>
            <a:chOff x="0" y="0"/>
            <a:chExt cx="1316736" cy="1316736"/>
          </a:xfrm>
        </p:grpSpPr>
        <p:sp>
          <p:nvSpPr>
            <p:cNvPr name="Freeform 47" id="47"/>
            <p:cNvSpPr/>
            <p:nvPr/>
          </p:nvSpPr>
          <p:spPr>
            <a:xfrm flipH="false" flipV="false" rot="0">
              <a:off x="0" y="0"/>
              <a:ext cx="1316736" cy="1316736"/>
            </a:xfrm>
            <a:custGeom>
              <a:avLst/>
              <a:gdLst/>
              <a:ahLst/>
              <a:cxnLst/>
              <a:rect r="r" b="b" t="t" l="l"/>
              <a:pathLst>
                <a:path h="1316736" w="1316736">
                  <a:moveTo>
                    <a:pt x="0" y="0"/>
                  </a:moveTo>
                  <a:lnTo>
                    <a:pt x="1316736" y="0"/>
                  </a:lnTo>
                  <a:lnTo>
                    <a:pt x="1316736" y="1316736"/>
                  </a:lnTo>
                  <a:lnTo>
                    <a:pt x="0" y="1316736"/>
                  </a:lnTo>
                  <a:close/>
                </a:path>
              </a:pathLst>
            </a:custGeom>
            <a:blipFill>
              <a:blip r:embed="rId9">
                <a:alphaModFix amt="0"/>
              </a:blip>
              <a:stretch>
                <a:fillRect l="-78303" t="0" r="-78303" b="0"/>
              </a:stretch>
            </a:blipFill>
          </p:spPr>
        </p:sp>
        <p:sp>
          <p:nvSpPr>
            <p:cNvPr name="TextBox 48" id="48"/>
            <p:cNvSpPr txBox="true"/>
            <p:nvPr/>
          </p:nvSpPr>
          <p:spPr>
            <a:xfrm>
              <a:off x="0" y="-38100"/>
              <a:ext cx="1316736" cy="1354836"/>
            </a:xfrm>
            <a:prstGeom prst="rect">
              <a:avLst/>
            </a:prstGeom>
          </p:spPr>
          <p:txBody>
            <a:bodyPr anchor="ctr" rtlCol="false" tIns="0" lIns="0" bIns="0" rIns="0"/>
            <a:lstStyle/>
            <a:p>
              <a:pPr algn="ctr">
                <a:lnSpc>
                  <a:spcPts val="4320"/>
                </a:lnSpc>
              </a:pPr>
              <a:r>
                <a:rPr lang="en-US" sz="3600" b="true">
                  <a:solidFill>
                    <a:srgbClr val="C9821F"/>
                  </a:solidFill>
                  <a:latin typeface="Poppins Bold"/>
                  <a:ea typeface="Poppins Bold"/>
                  <a:cs typeface="Poppins Bold"/>
                  <a:sym typeface="Poppins Bold"/>
                </a:rPr>
                <a:t>!</a:t>
              </a:r>
            </a:p>
          </p:txBody>
        </p:sp>
      </p:grpSp>
      <p:sp>
        <p:nvSpPr>
          <p:cNvPr name="TextBox 49" id="49"/>
          <p:cNvSpPr txBox="true"/>
          <p:nvPr/>
        </p:nvSpPr>
        <p:spPr>
          <a:xfrm rot="0">
            <a:off x="11397996" y="4920615"/>
            <a:ext cx="3771900" cy="2143125"/>
          </a:xfrm>
          <a:prstGeom prst="rect">
            <a:avLst/>
          </a:prstGeom>
        </p:spPr>
        <p:txBody>
          <a:bodyPr anchor="t" rtlCol="false" tIns="0" lIns="0" bIns="0" rIns="0">
            <a:spAutoFit/>
          </a:bodyPr>
          <a:lstStyle/>
          <a:p>
            <a:pPr algn="ctr">
              <a:lnSpc>
                <a:spcPts val="2925"/>
              </a:lnSpc>
            </a:pPr>
            <a:r>
              <a:rPr lang="en-US" sz="1875">
                <a:solidFill>
                  <a:srgbClr val="475569"/>
                </a:solidFill>
                <a:latin typeface="Poppins"/>
                <a:ea typeface="Poppins"/>
                <a:cs typeface="Poppins"/>
                <a:sym typeface="Poppins"/>
              </a:rPr>
              <a:t>You will be handed four DAX measures written by an AI assistant. Two are wrong, and one of those returns a plausible number.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DAHT2ZoGXss</dc:identifier>
  <dcterms:modified xsi:type="dcterms:W3CDTF">2011-08-01T06:04:30Z</dcterms:modified>
  <cp:revision>1</cp:revision>
  <dc:title>7.3_DAX Fundamentals</dc:title>
</cp:coreProperties>
</file>