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1.svg" ContentType="image/svg+xml"/>
  <Override PartName="/ppt/media/image1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Inter" charset="1" panose="02000503000000020004"/>
      <p:regular r:id="rId26"/>
    </p:embeddedFont>
    <p:embeddedFont>
      <p:font typeface="Inter Medium" charset="1" panose="02000503000000020004"/>
      <p:regular r:id="rId27"/>
    </p:embeddedFont>
    <p:embeddedFont>
      <p:font typeface="Poppins Bold" charset="1" panose="00000800000000000000"/>
      <p:regular r:id="rId28"/>
    </p:embeddedFont>
    <p:embeddedFont>
      <p:font typeface="Poppins" charset="1" panose="00000500000000000000"/>
      <p:regular r:id="rId30"/>
    </p:embeddedFont>
    <p:embeddedFont>
      <p:font typeface="Poppins Italics" charset="1" panose="00000500000000000000"/>
      <p:regular r:id="rId35"/>
    </p:embeddedFont>
    <p:embeddedFont>
      <p:font typeface="Roboto Mono" charset="1" panose="00000000000000000000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notesMaster" Target="notesMasters/notesMaster1.xml"/><Relationship Id="rId24" Type="http://schemas.openxmlformats.org/officeDocument/2006/relationships/theme" Target="theme/theme2.xml"/><Relationship Id="rId25" Type="http://schemas.openxmlformats.org/officeDocument/2006/relationships/notesSlide" Target="notesSlides/notesSlide1.xml"/><Relationship Id="rId26" Type="http://schemas.openxmlformats.org/officeDocument/2006/relationships/font" Target="fonts/font26.fntdata"/><Relationship Id="rId27" Type="http://schemas.openxmlformats.org/officeDocument/2006/relationships/font" Target="fonts/font27.fntdata"/><Relationship Id="rId28" Type="http://schemas.openxmlformats.org/officeDocument/2006/relationships/font" Target="fonts/font28.fntdata"/><Relationship Id="rId29" Type="http://schemas.openxmlformats.org/officeDocument/2006/relationships/notesSlide" Target="notesSlides/notesSlide2.xml"/><Relationship Id="rId30" Type="http://schemas.openxmlformats.org/officeDocument/2006/relationships/font" Target="fonts/font30.fntdata"/><Relationship Id="rId31" Type="http://schemas.openxmlformats.org/officeDocument/2006/relationships/notesSlide" Target="notesSlides/notesSlide3.xml"/><Relationship Id="rId32" Type="http://schemas.openxmlformats.org/officeDocument/2006/relationships/notesSlide" Target="notesSlides/notesSlide4.xml"/><Relationship Id="rId33" Type="http://schemas.openxmlformats.org/officeDocument/2006/relationships/notesSlide" Target="notesSlides/notesSlide5.xml"/><Relationship Id="rId34" Type="http://schemas.openxmlformats.org/officeDocument/2006/relationships/notesSlide" Target="notesSlides/notesSlide6.xml"/><Relationship Id="rId35" Type="http://schemas.openxmlformats.org/officeDocument/2006/relationships/font" Target="fonts/font35.fntdata"/><Relationship Id="rId36" Type="http://schemas.openxmlformats.org/officeDocument/2006/relationships/notesSlide" Target="notesSlides/notesSlide7.xml"/><Relationship Id="rId37" Type="http://schemas.openxmlformats.org/officeDocument/2006/relationships/notesSlide" Target="notesSlides/notesSlide8.xml"/><Relationship Id="rId38" Type="http://schemas.openxmlformats.org/officeDocument/2006/relationships/notesSlide" Target="notesSlides/notesSlide9.xml"/><Relationship Id="rId39" Type="http://schemas.openxmlformats.org/officeDocument/2006/relationships/font" Target="fonts/font39.fntdata"/><Relationship Id="rId40" Type="http://schemas.openxmlformats.org/officeDocument/2006/relationships/notesSlide" Target="notesSlides/notesSlide10.xml"/><Relationship Id="rId41" Type="http://schemas.openxmlformats.org/officeDocument/2006/relationships/notesSlide" Target="notesSlides/notesSlide11.xml"/><Relationship Id="rId42" Type="http://schemas.openxmlformats.org/officeDocument/2006/relationships/notesSlide" Target="notesSlides/notesSlide12.xml"/><Relationship Id="rId43" Type="http://schemas.openxmlformats.org/officeDocument/2006/relationships/notesSlide" Target="notesSlides/notesSlide13.xml"/><Relationship Id="rId44" Type="http://schemas.openxmlformats.org/officeDocument/2006/relationships/notesSlide" Target="notesSlides/notesSlide14.xml"/><Relationship Id="rId45" Type="http://schemas.openxmlformats.org/officeDocument/2006/relationships/notesSlide" Target="notesSlides/notesSlide15.xml"/><Relationship Id="rId46" Type="http://schemas.openxmlformats.org/officeDocument/2006/relationships/notesSlide" Target="notesSlides/notesSlide16.xml"/><Relationship Id="rId47" Type="http://schemas.openxmlformats.org/officeDocument/2006/relationships/notesSlide" Target="notesSlides/notes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/>
            </a:r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jpe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svg"/><Relationship Id="rId6" Type="http://schemas.openxmlformats.org/officeDocument/2006/relationships/image" Target="../media/image12.png"/><Relationship Id="rId7" Type="http://schemas.openxmlformats.org/officeDocument/2006/relationships/image" Target="../media/image13.svg"/><Relationship Id="rId8" Type="http://schemas.openxmlformats.org/officeDocument/2006/relationships/image" Target="../media/image8.png"/><Relationship Id="rId9" Type="http://schemas.openxmlformats.org/officeDocument/2006/relationships/image" Target="../media/image4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svg"/><Relationship Id="rId6" Type="http://schemas.openxmlformats.org/officeDocument/2006/relationships/image" Target="../media/image12.png"/><Relationship Id="rId7" Type="http://schemas.openxmlformats.org/officeDocument/2006/relationships/image" Target="../media/image13.svg"/><Relationship Id="rId8" Type="http://schemas.openxmlformats.org/officeDocument/2006/relationships/image" Target="../media/image8.png"/><Relationship Id="rId9" Type="http://schemas.openxmlformats.org/officeDocument/2006/relationships/image" Target="../media/image4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svg"/><Relationship Id="rId6" Type="http://schemas.openxmlformats.org/officeDocument/2006/relationships/image" Target="../media/image12.png"/><Relationship Id="rId7" Type="http://schemas.openxmlformats.org/officeDocument/2006/relationships/image" Target="../media/image13.svg"/><Relationship Id="rId8" Type="http://schemas.openxmlformats.org/officeDocument/2006/relationships/image" Target="../media/image8.png"/><Relationship Id="rId9" Type="http://schemas.openxmlformats.org/officeDocument/2006/relationships/image" Target="../media/image4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svg"/><Relationship Id="rId6" Type="http://schemas.openxmlformats.org/officeDocument/2006/relationships/image" Target="../media/image12.png"/><Relationship Id="rId7" Type="http://schemas.openxmlformats.org/officeDocument/2006/relationships/image" Target="../media/image13.svg"/><Relationship Id="rId8" Type="http://schemas.openxmlformats.org/officeDocument/2006/relationships/image" Target="../media/image8.png"/><Relationship Id="rId9" Type="http://schemas.openxmlformats.org/officeDocument/2006/relationships/image" Target="../media/image4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svg"/><Relationship Id="rId6" Type="http://schemas.openxmlformats.org/officeDocument/2006/relationships/image" Target="../media/image12.png"/><Relationship Id="rId7" Type="http://schemas.openxmlformats.org/officeDocument/2006/relationships/image" Target="../media/image13.svg"/><Relationship Id="rId8" Type="http://schemas.openxmlformats.org/officeDocument/2006/relationships/image" Target="../media/image8.png"/><Relationship Id="rId9" Type="http://schemas.openxmlformats.org/officeDocument/2006/relationships/image" Target="../media/image4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svg"/><Relationship Id="rId6" Type="http://schemas.openxmlformats.org/officeDocument/2006/relationships/image" Target="../media/image12.png"/><Relationship Id="rId7" Type="http://schemas.openxmlformats.org/officeDocument/2006/relationships/image" Target="../media/image13.svg"/><Relationship Id="rId8" Type="http://schemas.openxmlformats.org/officeDocument/2006/relationships/image" Target="../media/image8.png"/><Relationship Id="rId9" Type="http://schemas.openxmlformats.org/officeDocument/2006/relationships/image" Target="../media/image4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svg"/><Relationship Id="rId6" Type="http://schemas.openxmlformats.org/officeDocument/2006/relationships/image" Target="../media/image12.png"/><Relationship Id="rId7" Type="http://schemas.openxmlformats.org/officeDocument/2006/relationships/image" Target="../media/image13.svg"/><Relationship Id="rId8" Type="http://schemas.openxmlformats.org/officeDocument/2006/relationships/image" Target="../media/image8.png"/><Relationship Id="rId9" Type="http://schemas.openxmlformats.org/officeDocument/2006/relationships/image" Target="../media/image4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svg"/><Relationship Id="rId6" Type="http://schemas.openxmlformats.org/officeDocument/2006/relationships/image" Target="../media/image12.png"/><Relationship Id="rId7" Type="http://schemas.openxmlformats.org/officeDocument/2006/relationships/image" Target="../media/image13.svg"/><Relationship Id="rId8" Type="http://schemas.openxmlformats.org/officeDocument/2006/relationships/image" Target="../media/image8.png"/><Relationship Id="rId9" Type="http://schemas.openxmlformats.org/officeDocument/2006/relationships/image" Target="../media/image4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svg"/><Relationship Id="rId6" Type="http://schemas.openxmlformats.org/officeDocument/2006/relationships/image" Target="../media/image12.png"/><Relationship Id="rId7" Type="http://schemas.openxmlformats.org/officeDocument/2006/relationships/image" Target="../media/image13.svg"/><Relationship Id="rId8" Type="http://schemas.openxmlformats.org/officeDocument/2006/relationships/image" Target="../media/image8.png"/><Relationship Id="rId9" Type="http://schemas.openxmlformats.org/officeDocument/2006/relationships/image" Target="../media/image4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svg"/><Relationship Id="rId6" Type="http://schemas.openxmlformats.org/officeDocument/2006/relationships/image" Target="../media/image12.png"/><Relationship Id="rId7" Type="http://schemas.openxmlformats.org/officeDocument/2006/relationships/image" Target="../media/image13.svg"/><Relationship Id="rId8" Type="http://schemas.openxmlformats.org/officeDocument/2006/relationships/image" Target="../media/image8.png"/><Relationship Id="rId9" Type="http://schemas.openxmlformats.org/officeDocument/2006/relationships/image" Target="../media/image4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svg"/><Relationship Id="rId6" Type="http://schemas.openxmlformats.org/officeDocument/2006/relationships/image" Target="../media/image12.png"/><Relationship Id="rId7" Type="http://schemas.openxmlformats.org/officeDocument/2006/relationships/image" Target="../media/image13.svg"/><Relationship Id="rId8" Type="http://schemas.openxmlformats.org/officeDocument/2006/relationships/image" Target="../media/image8.png"/><Relationship Id="rId9" Type="http://schemas.openxmlformats.org/officeDocument/2006/relationships/image" Target="../media/image4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svg"/><Relationship Id="rId6" Type="http://schemas.openxmlformats.org/officeDocument/2006/relationships/image" Target="../media/image12.png"/><Relationship Id="rId7" Type="http://schemas.openxmlformats.org/officeDocument/2006/relationships/image" Target="../media/image13.svg"/><Relationship Id="rId8" Type="http://schemas.openxmlformats.org/officeDocument/2006/relationships/image" Target="../media/image8.png"/><Relationship Id="rId9" Type="http://schemas.openxmlformats.org/officeDocument/2006/relationships/image" Target="../media/image4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svg"/><Relationship Id="rId6" Type="http://schemas.openxmlformats.org/officeDocument/2006/relationships/image" Target="../media/image12.png"/><Relationship Id="rId7" Type="http://schemas.openxmlformats.org/officeDocument/2006/relationships/image" Target="../media/image13.svg"/><Relationship Id="rId8" Type="http://schemas.openxmlformats.org/officeDocument/2006/relationships/image" Target="../media/image8.png"/><Relationship Id="rId9" Type="http://schemas.openxmlformats.org/officeDocument/2006/relationships/image" Target="../media/image4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svg"/><Relationship Id="rId6" Type="http://schemas.openxmlformats.org/officeDocument/2006/relationships/image" Target="../media/image12.png"/><Relationship Id="rId7" Type="http://schemas.openxmlformats.org/officeDocument/2006/relationships/image" Target="../media/image13.svg"/><Relationship Id="rId8" Type="http://schemas.openxmlformats.org/officeDocument/2006/relationships/image" Target="../media/image8.png"/><Relationship Id="rId9" Type="http://schemas.openxmlformats.org/officeDocument/2006/relationships/image" Target="../media/image4.jpe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svg"/><Relationship Id="rId6" Type="http://schemas.openxmlformats.org/officeDocument/2006/relationships/image" Target="../media/image12.png"/><Relationship Id="rId7" Type="http://schemas.openxmlformats.org/officeDocument/2006/relationships/image" Target="../media/image13.svg"/><Relationship Id="rId8" Type="http://schemas.openxmlformats.org/officeDocument/2006/relationships/image" Target="../media/image8.png"/><Relationship Id="rId9" Type="http://schemas.openxmlformats.org/officeDocument/2006/relationships/image" Target="../media/image4.jpe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svg"/><Relationship Id="rId6" Type="http://schemas.openxmlformats.org/officeDocument/2006/relationships/image" Target="../media/image12.png"/><Relationship Id="rId7" Type="http://schemas.openxmlformats.org/officeDocument/2006/relationships/image" Target="../media/image13.svg"/><Relationship Id="rId8" Type="http://schemas.openxmlformats.org/officeDocument/2006/relationships/image" Target="../media/image8.png"/><Relationship Id="rId9" Type="http://schemas.openxmlformats.org/officeDocument/2006/relationships/image" Target="../media/image4.jpe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430000" y="0"/>
            <a:ext cx="2286000" cy="1907553"/>
            <a:chOff x="0" y="0"/>
            <a:chExt cx="3048000" cy="25434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048000" cy="2543429"/>
            </a:xfrm>
            <a:custGeom>
              <a:avLst/>
              <a:gdLst/>
              <a:ahLst/>
              <a:cxnLst/>
              <a:rect r="r" b="b" t="t" l="l"/>
              <a:pathLst>
                <a:path h="2543429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2543429"/>
                  </a:lnTo>
                  <a:lnTo>
                    <a:pt x="0" y="25434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8" b="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5001875" y="714375"/>
            <a:ext cx="2857500" cy="2857500"/>
            <a:chOff x="0" y="0"/>
            <a:chExt cx="3810000" cy="381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8100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3810000">
                  <a:moveTo>
                    <a:pt x="0" y="1905000"/>
                  </a:moveTo>
                  <a:cubicBezTo>
                    <a:pt x="0" y="852932"/>
                    <a:pt x="852932" y="0"/>
                    <a:pt x="1905000" y="0"/>
                  </a:cubicBezTo>
                  <a:cubicBezTo>
                    <a:pt x="2957068" y="0"/>
                    <a:pt x="3810000" y="852932"/>
                    <a:pt x="3810000" y="1905000"/>
                  </a:cubicBezTo>
                  <a:cubicBezTo>
                    <a:pt x="3810000" y="2957068"/>
                    <a:pt x="2957068" y="3810000"/>
                    <a:pt x="1905000" y="3810000"/>
                  </a:cubicBezTo>
                  <a:cubicBezTo>
                    <a:pt x="852932" y="3810000"/>
                    <a:pt x="0" y="2957068"/>
                    <a:pt x="0" y="1905000"/>
                  </a:cubicBezTo>
                  <a:close/>
                </a:path>
              </a:pathLst>
            </a:custGeom>
            <a:solidFill>
              <a:srgbClr val="387F7F">
                <a:alpha val="0"/>
              </a:srgbClr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6429375"/>
            <a:ext cx="1907553" cy="1286104"/>
            <a:chOff x="0" y="0"/>
            <a:chExt cx="2543404" cy="171480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543429" cy="1714754"/>
            </a:xfrm>
            <a:custGeom>
              <a:avLst/>
              <a:gdLst/>
              <a:ahLst/>
              <a:cxnLst/>
              <a:rect r="r" b="b" t="t" l="l"/>
              <a:pathLst>
                <a:path h="1714754" w="2543429">
                  <a:moveTo>
                    <a:pt x="0" y="0"/>
                  </a:moveTo>
                  <a:lnTo>
                    <a:pt x="2543429" y="0"/>
                  </a:lnTo>
                  <a:lnTo>
                    <a:pt x="2543429" y="1714754"/>
                  </a:lnTo>
                  <a:lnTo>
                    <a:pt x="0" y="17147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7" b="-2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143000" y="2828906"/>
            <a:ext cx="16002000" cy="438950"/>
            <a:chOff x="0" y="0"/>
            <a:chExt cx="21336000" cy="5852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336000" cy="585270"/>
            </a:xfrm>
            <a:custGeom>
              <a:avLst/>
              <a:gdLst/>
              <a:ahLst/>
              <a:cxnLst/>
              <a:rect r="r" b="b" t="t" l="l"/>
              <a:pathLst>
                <a:path h="585270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585270"/>
                  </a:lnTo>
                  <a:lnTo>
                    <a:pt x="0" y="58527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73523" r="0" b="-647129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21336000" cy="585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387F7F"/>
                  </a:solidFill>
                  <a:latin typeface="Inter"/>
                  <a:ea typeface="Inter"/>
                  <a:cs typeface="Inter"/>
                  <a:sym typeface="Inter"/>
                </a:rPr>
                <a:t>BU</a:t>
              </a:r>
              <a:r>
                <a:rPr lang="en-US" sz="2100">
                  <a:solidFill>
                    <a:srgbClr val="387F7F"/>
                  </a:solidFill>
                  <a:latin typeface="Inter"/>
                  <a:ea typeface="Inter"/>
                  <a:cs typeface="Inter"/>
                  <a:sym typeface="Inter"/>
                </a:rPr>
                <a:t>SINESS INTELLIGENCE WITH POWER BI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43000" y="3349571"/>
            <a:ext cx="9511553" cy="691139"/>
            <a:chOff x="0" y="0"/>
            <a:chExt cx="12682071" cy="92151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682071" cy="921512"/>
            </a:xfrm>
            <a:custGeom>
              <a:avLst/>
              <a:gdLst/>
              <a:ahLst/>
              <a:cxnLst/>
              <a:rect r="r" b="b" t="t" l="l"/>
              <a:pathLst>
                <a:path h="921512" w="12682071">
                  <a:moveTo>
                    <a:pt x="0" y="0"/>
                  </a:moveTo>
                  <a:lnTo>
                    <a:pt x="12682071" y="0"/>
                  </a:lnTo>
                  <a:lnTo>
                    <a:pt x="12682071" y="921512"/>
                  </a:lnTo>
                  <a:lnTo>
                    <a:pt x="0" y="92151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14387" r="-68237" b="-38789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2682071" cy="931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b="true" sz="3300">
                  <a:solidFill>
                    <a:srgbClr val="64748B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Module 7: Loading, Modelling and Dashboards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43000" y="8572500"/>
            <a:ext cx="16002000" cy="28804"/>
            <a:chOff x="0" y="0"/>
            <a:chExt cx="21336000" cy="3840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336000" cy="38354"/>
            </a:xfrm>
            <a:custGeom>
              <a:avLst/>
              <a:gdLst/>
              <a:ahLst/>
              <a:cxnLst/>
              <a:rect r="r" b="b" t="t" l="l"/>
              <a:pathLst>
                <a:path h="38354" w="21336000">
                  <a:moveTo>
                    <a:pt x="0" y="0"/>
                  </a:moveTo>
                  <a:lnTo>
                    <a:pt x="21336000" y="0"/>
                  </a:lnTo>
                  <a:lnTo>
                    <a:pt x="21336000" y="38354"/>
                  </a:lnTo>
                  <a:lnTo>
                    <a:pt x="0" y="38354"/>
                  </a:lnTo>
                  <a:close/>
                </a:path>
              </a:pathLst>
            </a:custGeom>
            <a:solidFill>
              <a:srgbClr val="E2E8F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43000" y="9001125"/>
            <a:ext cx="385648" cy="342900"/>
            <a:chOff x="0" y="0"/>
            <a:chExt cx="514198" cy="4572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14223" cy="457200"/>
            </a:xfrm>
            <a:custGeom>
              <a:avLst/>
              <a:gdLst/>
              <a:ahLst/>
              <a:cxnLst/>
              <a:rect r="r" b="b" t="t" l="l"/>
              <a:pathLst>
                <a:path h="457200" w="514223">
                  <a:moveTo>
                    <a:pt x="0" y="0"/>
                  </a:moveTo>
                  <a:lnTo>
                    <a:pt x="514223" y="0"/>
                  </a:lnTo>
                  <a:lnTo>
                    <a:pt x="514223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24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643062" y="9001125"/>
            <a:ext cx="2143354" cy="438950"/>
            <a:chOff x="0" y="0"/>
            <a:chExt cx="2857805" cy="58526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857800" cy="585270"/>
            </a:xfrm>
            <a:custGeom>
              <a:avLst/>
              <a:gdLst/>
              <a:ahLst/>
              <a:cxnLst/>
              <a:rect r="r" b="b" t="t" l="l"/>
              <a:pathLst>
                <a:path h="585270" w="2857800">
                  <a:moveTo>
                    <a:pt x="0" y="0"/>
                  </a:moveTo>
                  <a:lnTo>
                    <a:pt x="2857800" y="0"/>
                  </a:lnTo>
                  <a:lnTo>
                    <a:pt x="2857800" y="585270"/>
                  </a:lnTo>
                  <a:lnTo>
                    <a:pt x="0" y="58527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8339" r="0" b="-3194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2857805" cy="5852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64748B"/>
                  </a:solidFill>
                  <a:latin typeface="Inter"/>
                  <a:ea typeface="Inter"/>
                  <a:cs typeface="Inter"/>
                  <a:sym typeface="Inter"/>
                </a:rPr>
                <a:t>Topic 6 of 6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143000" y="552450"/>
            <a:ext cx="2124669" cy="1845806"/>
          </a:xfrm>
          <a:custGeom>
            <a:avLst/>
            <a:gdLst/>
            <a:ahLst/>
            <a:cxnLst/>
            <a:rect r="r" b="b" t="t" l="l"/>
            <a:pathLst>
              <a:path h="1845806" w="2124669">
                <a:moveTo>
                  <a:pt x="0" y="0"/>
                </a:moveTo>
                <a:lnTo>
                  <a:pt x="2124669" y="0"/>
                </a:lnTo>
                <a:lnTo>
                  <a:pt x="2124669" y="1845806"/>
                </a:lnTo>
                <a:lnTo>
                  <a:pt x="0" y="184580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1001070" y="1733550"/>
            <a:ext cx="6258230" cy="6258230"/>
            <a:chOff x="0" y="0"/>
            <a:chExt cx="8890000" cy="8890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890000" cy="8890000"/>
            </a:xfrm>
            <a:custGeom>
              <a:avLst/>
              <a:gdLst/>
              <a:ahLst/>
              <a:cxnLst/>
              <a:rect r="r" b="b" t="t" l="l"/>
              <a:pathLst>
                <a:path h="8890000" w="8890000">
                  <a:moveTo>
                    <a:pt x="270611" y="0"/>
                  </a:moveTo>
                  <a:lnTo>
                    <a:pt x="8619389" y="0"/>
                  </a:lnTo>
                  <a:cubicBezTo>
                    <a:pt x="8768843" y="0"/>
                    <a:pt x="8890000" y="121157"/>
                    <a:pt x="8890000" y="270611"/>
                  </a:cubicBezTo>
                  <a:lnTo>
                    <a:pt x="8890000" y="8619389"/>
                  </a:lnTo>
                  <a:cubicBezTo>
                    <a:pt x="8890000" y="8768843"/>
                    <a:pt x="8768843" y="8890000"/>
                    <a:pt x="8619389" y="8890000"/>
                  </a:cubicBezTo>
                  <a:lnTo>
                    <a:pt x="270611" y="8890000"/>
                  </a:lnTo>
                  <a:cubicBezTo>
                    <a:pt x="121157" y="8890000"/>
                    <a:pt x="0" y="8768843"/>
                    <a:pt x="0" y="8619389"/>
                  </a:cubicBezTo>
                  <a:lnTo>
                    <a:pt x="0" y="270611"/>
                  </a:lnTo>
                  <a:cubicBezTo>
                    <a:pt x="0" y="121157"/>
                    <a:pt x="121157" y="0"/>
                    <a:pt x="270611" y="0"/>
                  </a:cubicBez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26" id="26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772" t="0" r="-772" b="0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143000" y="4116229"/>
            <a:ext cx="5727700" cy="2924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50"/>
              </a:lnSpc>
            </a:pPr>
            <a:r>
              <a:rPr lang="en-US" sz="9000" b="true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Capston</a:t>
            </a:r>
            <a:r>
              <a:rPr lang="en-US" b="true" sz="900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e</a:t>
            </a:r>
          </a:p>
          <a:p>
            <a:pPr algn="l">
              <a:lnSpc>
                <a:spcPts val="11250"/>
              </a:lnSpc>
            </a:pPr>
            <a:r>
              <a:rPr lang="en-US" b="true" sz="9000">
                <a:solidFill>
                  <a:srgbClr val="387F7F"/>
                </a:solidFill>
                <a:latin typeface="Poppins Bold"/>
                <a:ea typeface="Poppins Bold"/>
                <a:cs typeface="Poppins Bold"/>
                <a:sym typeface="Poppins Bold"/>
              </a:rPr>
              <a:t>Kick-off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12707045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By the end of this topic, the trainee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 can…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2876550"/>
            <a:ext cx="4869180" cy="4800600"/>
            <a:chOff x="0" y="0"/>
            <a:chExt cx="6492240" cy="6400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492240" cy="6400800"/>
            </a:xfrm>
            <a:custGeom>
              <a:avLst/>
              <a:gdLst/>
              <a:ahLst/>
              <a:cxnLst/>
              <a:rect r="r" b="b" t="t" l="l"/>
              <a:pathLst>
                <a:path h="6400800" w="64922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309360" y="0"/>
                  </a:lnTo>
                  <a:cubicBezTo>
                    <a:pt x="6410325" y="0"/>
                    <a:pt x="6492240" y="81915"/>
                    <a:pt x="6492240" y="182880"/>
                  </a:cubicBezTo>
                  <a:lnTo>
                    <a:pt x="6492240" y="6217920"/>
                  </a:lnTo>
                  <a:cubicBezTo>
                    <a:pt x="6492240" y="6318885"/>
                    <a:pt x="6410325" y="6400800"/>
                    <a:pt x="6309360" y="6400800"/>
                  </a:cubicBezTo>
                  <a:lnTo>
                    <a:pt x="182880" y="6400800"/>
                  </a:lnTo>
                  <a:cubicBezTo>
                    <a:pt x="81915" y="6400800"/>
                    <a:pt x="0" y="6318885"/>
                    <a:pt x="0" y="62179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2876550"/>
            <a:ext cx="4869180" cy="123444"/>
            <a:chOff x="0" y="0"/>
            <a:chExt cx="6492240" cy="1645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492240" cy="164592"/>
            </a:xfrm>
            <a:custGeom>
              <a:avLst/>
              <a:gdLst/>
              <a:ahLst/>
              <a:cxnLst/>
              <a:rect r="r" b="b" t="t" l="l"/>
              <a:pathLst>
                <a:path h="164592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838545" y="3545681"/>
            <a:ext cx="1020890" cy="1020890"/>
            <a:chOff x="0" y="0"/>
            <a:chExt cx="1361186" cy="136118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61186" cy="1361186"/>
            </a:xfrm>
            <a:custGeom>
              <a:avLst/>
              <a:gdLst/>
              <a:ahLst/>
              <a:cxnLst/>
              <a:rect r="r" b="b" t="t" l="l"/>
              <a:pathLst>
                <a:path h="1361186" w="1361186">
                  <a:moveTo>
                    <a:pt x="0" y="680593"/>
                  </a:moveTo>
                  <a:cubicBezTo>
                    <a:pt x="0" y="304673"/>
                    <a:pt x="304673" y="0"/>
                    <a:pt x="680593" y="0"/>
                  </a:cubicBezTo>
                  <a:cubicBezTo>
                    <a:pt x="1056513" y="0"/>
                    <a:pt x="1361186" y="304673"/>
                    <a:pt x="1361186" y="680593"/>
                  </a:cubicBezTo>
                  <a:cubicBezTo>
                    <a:pt x="1361186" y="1056513"/>
                    <a:pt x="1056513" y="1361186"/>
                    <a:pt x="680593" y="1361186"/>
                  </a:cubicBezTo>
                  <a:cubicBezTo>
                    <a:pt x="304673" y="1361186"/>
                    <a:pt x="0" y="1056513"/>
                    <a:pt x="0" y="680593"/>
                  </a:cubicBezTo>
                  <a:close/>
                </a:path>
              </a:pathLst>
            </a:custGeom>
            <a:solidFill>
              <a:srgbClr val="FFFFFF"/>
            </a:solidFill>
            <a:ln w="33338" cap="sq">
              <a:solidFill>
                <a:srgbClr val="387F7F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2855214" y="3562350"/>
            <a:ext cx="987552" cy="987552"/>
            <a:chOff x="0" y="0"/>
            <a:chExt cx="1316736" cy="131673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316736" cy="1354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?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4400" y="4865370"/>
            <a:ext cx="4869180" cy="685800"/>
            <a:chOff x="0" y="0"/>
            <a:chExt cx="6492240" cy="9144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492240" cy="914400"/>
            </a:xfrm>
            <a:custGeom>
              <a:avLst/>
              <a:gdLst/>
              <a:ahLst/>
              <a:cxnLst/>
              <a:rect r="r" b="b" t="t" l="l"/>
              <a:pathLst>
                <a:path h="91440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88343" r="0" b="-8834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649224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79"/>
                </a:lnSpc>
              </a:pPr>
              <a:r>
                <a:rPr lang="en-US" sz="3150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State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325880" y="5602605"/>
            <a:ext cx="4046220" cy="1868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9"/>
              </a:lnSpc>
            </a:pPr>
            <a:r>
              <a:rPr lang="en-US" sz="2025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their capstone business question in one sentence.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195060" y="2876550"/>
            <a:ext cx="4869180" cy="4800600"/>
            <a:chOff x="0" y="0"/>
            <a:chExt cx="6492240" cy="6400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492240" cy="6400800"/>
            </a:xfrm>
            <a:custGeom>
              <a:avLst/>
              <a:gdLst/>
              <a:ahLst/>
              <a:cxnLst/>
              <a:rect r="r" b="b" t="t" l="l"/>
              <a:pathLst>
                <a:path h="6400800" w="64922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309360" y="0"/>
                  </a:lnTo>
                  <a:cubicBezTo>
                    <a:pt x="6410325" y="0"/>
                    <a:pt x="6492240" y="81915"/>
                    <a:pt x="6492240" y="182880"/>
                  </a:cubicBezTo>
                  <a:lnTo>
                    <a:pt x="6492240" y="6217920"/>
                  </a:lnTo>
                  <a:cubicBezTo>
                    <a:pt x="6492240" y="6318885"/>
                    <a:pt x="6410325" y="6400800"/>
                    <a:pt x="6309360" y="6400800"/>
                  </a:cubicBezTo>
                  <a:lnTo>
                    <a:pt x="182880" y="6400800"/>
                  </a:lnTo>
                  <a:cubicBezTo>
                    <a:pt x="81915" y="6400800"/>
                    <a:pt x="0" y="6318885"/>
                    <a:pt x="0" y="62179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195060" y="2876550"/>
            <a:ext cx="4869180" cy="123444"/>
            <a:chOff x="0" y="0"/>
            <a:chExt cx="6492240" cy="1645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492240" cy="164592"/>
            </a:xfrm>
            <a:custGeom>
              <a:avLst/>
              <a:gdLst/>
              <a:ahLst/>
              <a:cxnLst/>
              <a:rect r="r" b="b" t="t" l="l"/>
              <a:pathLst>
                <a:path h="164592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119205" y="3545681"/>
            <a:ext cx="1020890" cy="1020890"/>
            <a:chOff x="0" y="0"/>
            <a:chExt cx="1361186" cy="136118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61186" cy="1361186"/>
            </a:xfrm>
            <a:custGeom>
              <a:avLst/>
              <a:gdLst/>
              <a:ahLst/>
              <a:cxnLst/>
              <a:rect r="r" b="b" t="t" l="l"/>
              <a:pathLst>
                <a:path h="1361186" w="1361186">
                  <a:moveTo>
                    <a:pt x="0" y="680593"/>
                  </a:moveTo>
                  <a:cubicBezTo>
                    <a:pt x="0" y="304673"/>
                    <a:pt x="304673" y="0"/>
                    <a:pt x="680593" y="0"/>
                  </a:cubicBezTo>
                  <a:cubicBezTo>
                    <a:pt x="1056513" y="0"/>
                    <a:pt x="1361186" y="304673"/>
                    <a:pt x="1361186" y="680593"/>
                  </a:cubicBezTo>
                  <a:cubicBezTo>
                    <a:pt x="1361186" y="1056513"/>
                    <a:pt x="1056513" y="1361186"/>
                    <a:pt x="680593" y="1361186"/>
                  </a:cubicBezTo>
                  <a:cubicBezTo>
                    <a:pt x="304673" y="1361186"/>
                    <a:pt x="0" y="1056513"/>
                    <a:pt x="0" y="680593"/>
                  </a:cubicBezTo>
                  <a:close/>
                </a:path>
              </a:pathLst>
            </a:custGeom>
            <a:solidFill>
              <a:srgbClr val="FFFFFF"/>
            </a:solidFill>
            <a:ln w="33338" cap="sq">
              <a:solidFill>
                <a:srgbClr val="387F7F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8135874" y="3562350"/>
            <a:ext cx="987552" cy="987552"/>
            <a:chOff x="0" y="0"/>
            <a:chExt cx="1316736" cy="131673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316736" cy="1354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✓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6195060" y="4865370"/>
            <a:ext cx="4869180" cy="685800"/>
            <a:chOff x="0" y="0"/>
            <a:chExt cx="6492240" cy="9144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492240" cy="914400"/>
            </a:xfrm>
            <a:custGeom>
              <a:avLst/>
              <a:gdLst/>
              <a:ahLst/>
              <a:cxnLst/>
              <a:rect r="r" b="b" t="t" l="l"/>
              <a:pathLst>
                <a:path h="91440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88343" r="0" b="-88343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649224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79"/>
                </a:lnSpc>
              </a:pPr>
              <a:r>
                <a:rPr lang="en-US" sz="3150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Justify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6606540" y="5602605"/>
            <a:ext cx="4046220" cy="1868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9"/>
              </a:lnSpc>
            </a:pPr>
            <a:r>
              <a:rPr lang="en-US" sz="2025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their selected dataset against the sign-off checklist.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1475720" y="2876550"/>
            <a:ext cx="4869180" cy="4800600"/>
            <a:chOff x="0" y="0"/>
            <a:chExt cx="6492240" cy="6400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492240" cy="6400800"/>
            </a:xfrm>
            <a:custGeom>
              <a:avLst/>
              <a:gdLst/>
              <a:ahLst/>
              <a:cxnLst/>
              <a:rect r="r" b="b" t="t" l="l"/>
              <a:pathLst>
                <a:path h="6400800" w="649224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309360" y="0"/>
                  </a:lnTo>
                  <a:cubicBezTo>
                    <a:pt x="6410325" y="0"/>
                    <a:pt x="6492240" y="81915"/>
                    <a:pt x="6492240" y="182880"/>
                  </a:cubicBezTo>
                  <a:lnTo>
                    <a:pt x="6492240" y="6217920"/>
                  </a:lnTo>
                  <a:cubicBezTo>
                    <a:pt x="6492240" y="6318885"/>
                    <a:pt x="6410325" y="6400800"/>
                    <a:pt x="6309360" y="6400800"/>
                  </a:cubicBezTo>
                  <a:lnTo>
                    <a:pt x="182880" y="6400800"/>
                  </a:lnTo>
                  <a:cubicBezTo>
                    <a:pt x="81915" y="6400800"/>
                    <a:pt x="0" y="6318885"/>
                    <a:pt x="0" y="62179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1475720" y="2876550"/>
            <a:ext cx="4869180" cy="123444"/>
            <a:chOff x="0" y="0"/>
            <a:chExt cx="6492240" cy="16459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492240" cy="164592"/>
            </a:xfrm>
            <a:custGeom>
              <a:avLst/>
              <a:gdLst/>
              <a:ahLst/>
              <a:cxnLst/>
              <a:rect r="r" b="b" t="t" l="l"/>
              <a:pathLst>
                <a:path h="164592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3399865" y="3545681"/>
            <a:ext cx="1020890" cy="1020890"/>
            <a:chOff x="0" y="0"/>
            <a:chExt cx="1361186" cy="136118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361186" cy="1361186"/>
            </a:xfrm>
            <a:custGeom>
              <a:avLst/>
              <a:gdLst/>
              <a:ahLst/>
              <a:cxnLst/>
              <a:rect r="r" b="b" t="t" l="l"/>
              <a:pathLst>
                <a:path h="1361186" w="1361186">
                  <a:moveTo>
                    <a:pt x="0" y="680593"/>
                  </a:moveTo>
                  <a:cubicBezTo>
                    <a:pt x="0" y="304673"/>
                    <a:pt x="304673" y="0"/>
                    <a:pt x="680593" y="0"/>
                  </a:cubicBezTo>
                  <a:cubicBezTo>
                    <a:pt x="1056513" y="0"/>
                    <a:pt x="1361186" y="304673"/>
                    <a:pt x="1361186" y="680593"/>
                  </a:cubicBezTo>
                  <a:cubicBezTo>
                    <a:pt x="1361186" y="1056513"/>
                    <a:pt x="1056513" y="1361186"/>
                    <a:pt x="680593" y="1361186"/>
                  </a:cubicBezTo>
                  <a:cubicBezTo>
                    <a:pt x="304673" y="1361186"/>
                    <a:pt x="0" y="1056513"/>
                    <a:pt x="0" y="680593"/>
                  </a:cubicBezTo>
                  <a:close/>
                </a:path>
              </a:pathLst>
            </a:custGeom>
            <a:solidFill>
              <a:srgbClr val="FFFFFF"/>
            </a:solidFill>
            <a:ln w="33338" cap="sq">
              <a:solidFill>
                <a:srgbClr val="387F7F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3416534" y="3562350"/>
            <a:ext cx="987552" cy="987552"/>
            <a:chOff x="0" y="0"/>
            <a:chExt cx="1316736" cy="131673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1316736" cy="1354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→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475720" y="4865370"/>
            <a:ext cx="4869180" cy="685800"/>
            <a:chOff x="0" y="0"/>
            <a:chExt cx="6492240" cy="9144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492240" cy="914400"/>
            </a:xfrm>
            <a:custGeom>
              <a:avLst/>
              <a:gdLst/>
              <a:ahLst/>
              <a:cxnLst/>
              <a:rect r="r" b="b" t="t" l="l"/>
              <a:pathLst>
                <a:path h="914400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88343" r="0" b="-88343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9050"/>
              <a:ext cx="649224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779"/>
                </a:lnSpc>
              </a:pPr>
              <a:r>
                <a:rPr lang="en-US" sz="3150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Agree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1887200" y="5602605"/>
            <a:ext cx="4046220" cy="1868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9"/>
              </a:lnSpc>
            </a:pPr>
            <a:r>
              <a:rPr lang="en-US" sz="2025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a milestone plan with their assigned mentor.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17145000" cy="1571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Five milestones.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 One dataset you cannot swap out cheaply.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28700" y="3090491"/>
            <a:ext cx="4389120" cy="2880360"/>
            <a:chOff x="0" y="0"/>
            <a:chExt cx="5852160" cy="38404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852160" cy="3840480"/>
            </a:xfrm>
            <a:custGeom>
              <a:avLst/>
              <a:gdLst/>
              <a:ahLst/>
              <a:cxnLst/>
              <a:rect r="r" b="b" t="t" l="l"/>
              <a:pathLst>
                <a:path h="38404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840480"/>
                  </a:lnTo>
                  <a:lnTo>
                    <a:pt x="0" y="38404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4199" t="0" r="-34199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0"/>
              <a:ext cx="5852160" cy="4030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0"/>
                </a:lnSpc>
              </a:pPr>
              <a:r>
                <a:rPr lang="en-US" sz="19500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5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165860" y="5688911"/>
            <a:ext cx="4114800" cy="1310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25"/>
              </a:lnSpc>
            </a:pPr>
            <a:r>
              <a:rPr lang="en-US" sz="195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milestones between today and the panel that scores your final work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966460" y="3227651"/>
            <a:ext cx="9806940" cy="2948940"/>
            <a:chOff x="0" y="0"/>
            <a:chExt cx="13075920" cy="393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075920" cy="3931920"/>
            </a:xfrm>
            <a:custGeom>
              <a:avLst/>
              <a:gdLst/>
              <a:ahLst/>
              <a:cxnLst/>
              <a:rect r="r" b="b" t="t" l="l"/>
              <a:pathLst>
                <a:path h="3931920" w="130759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2893040" y="0"/>
                  </a:lnTo>
                  <a:cubicBezTo>
                    <a:pt x="12994005" y="0"/>
                    <a:pt x="13075920" y="81915"/>
                    <a:pt x="13075920" y="182880"/>
                  </a:cubicBezTo>
                  <a:lnTo>
                    <a:pt x="13075920" y="3749040"/>
                  </a:lnTo>
                  <a:cubicBezTo>
                    <a:pt x="13075920" y="3850005"/>
                    <a:pt x="12994005" y="3931920"/>
                    <a:pt x="12893040" y="3931920"/>
                  </a:cubicBezTo>
                  <a:lnTo>
                    <a:pt x="182880" y="3931920"/>
                  </a:lnTo>
                  <a:cubicBezTo>
                    <a:pt x="81915" y="3931920"/>
                    <a:pt x="0" y="3850005"/>
                    <a:pt x="0" y="37490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377940" y="3570551"/>
            <a:ext cx="8983980" cy="2331720"/>
            <a:chOff x="0" y="0"/>
            <a:chExt cx="11978640" cy="31089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978640" cy="3108960"/>
            </a:xfrm>
            <a:custGeom>
              <a:avLst/>
              <a:gdLst/>
              <a:ahLst/>
              <a:cxnLst/>
              <a:rect r="r" b="b" t="t" l="l"/>
              <a:pathLst>
                <a:path h="3108960" w="11978640">
                  <a:moveTo>
                    <a:pt x="0" y="0"/>
                  </a:moveTo>
                  <a:lnTo>
                    <a:pt x="11978640" y="0"/>
                  </a:lnTo>
                  <a:lnTo>
                    <a:pt x="11978640" y="3108960"/>
                  </a:lnTo>
                  <a:lnTo>
                    <a:pt x="0" y="310896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5074" r="0" b="-2507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33350"/>
              <a:ext cx="11978640" cy="32423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131"/>
                </a:lnSpc>
              </a:pPr>
              <a:r>
                <a:rPr lang="en-US" sz="2550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You will stand in front of a panel of industry judges and defend a piece of work you chose today.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5966460" y="6519491"/>
            <a:ext cx="9806940" cy="2057400"/>
            <a:chOff x="0" y="0"/>
            <a:chExt cx="13075920" cy="27432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075920" cy="2743200"/>
            </a:xfrm>
            <a:custGeom>
              <a:avLst/>
              <a:gdLst/>
              <a:ahLst/>
              <a:cxnLst/>
              <a:rect r="r" b="b" t="t" l="l"/>
              <a:pathLst>
                <a:path h="2743200" w="1307592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2911328" y="0"/>
                  </a:lnTo>
                  <a:cubicBezTo>
                    <a:pt x="13002261" y="0"/>
                    <a:pt x="13075920" y="73660"/>
                    <a:pt x="13075920" y="164592"/>
                  </a:cubicBezTo>
                  <a:lnTo>
                    <a:pt x="13075920" y="2578608"/>
                  </a:lnTo>
                  <a:cubicBezTo>
                    <a:pt x="13075920" y="2669540"/>
                    <a:pt x="13002261" y="2743200"/>
                    <a:pt x="12911328" y="2743200"/>
                  </a:cubicBezTo>
                  <a:lnTo>
                    <a:pt x="164592" y="2743200"/>
                  </a:lnTo>
                  <a:cubicBezTo>
                    <a:pt x="73660" y="2743200"/>
                    <a:pt x="0" y="2669540"/>
                    <a:pt x="0" y="2578608"/>
                  </a:cubicBezTo>
                  <a:close/>
                </a:path>
              </a:pathLst>
            </a:custGeom>
            <a:solidFill>
              <a:srgbClr val="EEF4F4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5966460" y="6519491"/>
            <a:ext cx="102870" cy="2057400"/>
            <a:chOff x="0" y="0"/>
            <a:chExt cx="137160" cy="2743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7160" cy="2743200"/>
            </a:xfrm>
            <a:custGeom>
              <a:avLst/>
              <a:gdLst/>
              <a:ahLst/>
              <a:cxnLst/>
              <a:rect r="r" b="b" t="t" l="l"/>
              <a:pathLst>
                <a:path h="2743200" w="137160">
                  <a:moveTo>
                    <a:pt x="0" y="0"/>
                  </a:moveTo>
                  <a:lnTo>
                    <a:pt x="137160" y="0"/>
                  </a:lnTo>
                  <a:lnTo>
                    <a:pt x="137160" y="2743200"/>
                  </a:lnTo>
                  <a:lnTo>
                    <a:pt x="0" y="2743200"/>
                  </a:lnTo>
                  <a:close/>
                </a:path>
              </a:pathLst>
            </a:custGeom>
            <a:solidFill>
              <a:srgbClr val="387F7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6515100" y="6708086"/>
            <a:ext cx="8983980" cy="1663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100" b="true">
                <a:solidFill>
                  <a:srgbClr val="387F7F"/>
                </a:solidFill>
                <a:latin typeface="Poppins Bold"/>
                <a:ea typeface="Poppins Bold"/>
                <a:cs typeface="Poppins Bold"/>
                <a:sym typeface="Poppins Bold"/>
              </a:rPr>
              <a:t>Between now and then: several weeks of real work, one dataset. The dataset is the decision you cannot take back cheaply, which is why today is not a formality.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9257109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Five milestones, two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 modules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47725" y="2474595"/>
            <a:ext cx="14744700" cy="1344168"/>
            <a:chOff x="0" y="0"/>
            <a:chExt cx="19659600" cy="17922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659600" cy="1792224"/>
            </a:xfrm>
            <a:custGeom>
              <a:avLst/>
              <a:gdLst/>
              <a:ahLst/>
              <a:cxnLst/>
              <a:rect r="r" b="b" t="t" l="l"/>
              <a:pathLst>
                <a:path h="1792224" w="196596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9476720" y="0"/>
                  </a:lnTo>
                  <a:cubicBezTo>
                    <a:pt x="19577684" y="0"/>
                    <a:pt x="19659600" y="81915"/>
                    <a:pt x="19659600" y="182880"/>
                  </a:cubicBezTo>
                  <a:lnTo>
                    <a:pt x="19659600" y="1609344"/>
                  </a:lnTo>
                  <a:cubicBezTo>
                    <a:pt x="19659600" y="1710309"/>
                    <a:pt x="19577684" y="1792224"/>
                    <a:pt x="19476720" y="1792224"/>
                  </a:cubicBezTo>
                  <a:lnTo>
                    <a:pt x="182880" y="1792224"/>
                  </a:lnTo>
                  <a:cubicBezTo>
                    <a:pt x="81915" y="1792224"/>
                    <a:pt x="0" y="1710309"/>
                    <a:pt x="0" y="160934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90625" y="2803779"/>
            <a:ext cx="685800" cy="685800"/>
            <a:chOff x="0" y="0"/>
            <a:chExt cx="914400" cy="91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90625" y="2803779"/>
            <a:ext cx="685800" cy="685800"/>
            <a:chOff x="0" y="0"/>
            <a:chExt cx="914400" cy="914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150745" y="2611755"/>
            <a:ext cx="5760720" cy="480060"/>
            <a:chOff x="0" y="0"/>
            <a:chExt cx="7680960" cy="6400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680960" cy="640080"/>
            </a:xfrm>
            <a:custGeom>
              <a:avLst/>
              <a:gdLst/>
              <a:ahLst/>
              <a:cxnLst/>
              <a:rect r="r" b="b" t="t" l="l"/>
              <a:pathLst>
                <a:path h="64008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768096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Proposal and data collection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150745" y="3067431"/>
            <a:ext cx="9464040" cy="696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5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An approved proposal stating the business question, dataset, method and planned deliverables.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2986385" y="2872359"/>
            <a:ext cx="2263140" cy="548640"/>
            <a:chOff x="0" y="0"/>
            <a:chExt cx="3017520" cy="731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01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3017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2651760" y="0"/>
                  </a:lnTo>
                  <a:cubicBezTo>
                    <a:pt x="2853817" y="0"/>
                    <a:pt x="3017520" y="163703"/>
                    <a:pt x="3017520" y="365760"/>
                  </a:cubicBezTo>
                  <a:cubicBezTo>
                    <a:pt x="3017520" y="567817"/>
                    <a:pt x="2853817" y="731520"/>
                    <a:pt x="2651760" y="731520"/>
                  </a:cubicBezTo>
                  <a:lnTo>
                    <a:pt x="365760" y="731520"/>
                  </a:ln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EEF4F4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986385" y="2872359"/>
            <a:ext cx="2263140" cy="548640"/>
            <a:chOff x="0" y="0"/>
            <a:chExt cx="301752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01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0375" r="0" b="-30375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9050"/>
              <a:ext cx="30175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MODULE 8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47725" y="3955923"/>
            <a:ext cx="14744700" cy="1344168"/>
            <a:chOff x="0" y="0"/>
            <a:chExt cx="19659600" cy="179222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659600" cy="1792224"/>
            </a:xfrm>
            <a:custGeom>
              <a:avLst/>
              <a:gdLst/>
              <a:ahLst/>
              <a:cxnLst/>
              <a:rect r="r" b="b" t="t" l="l"/>
              <a:pathLst>
                <a:path h="1792224" w="196596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9476720" y="0"/>
                  </a:lnTo>
                  <a:cubicBezTo>
                    <a:pt x="19577684" y="0"/>
                    <a:pt x="19659600" y="81915"/>
                    <a:pt x="19659600" y="182880"/>
                  </a:cubicBezTo>
                  <a:lnTo>
                    <a:pt x="19659600" y="1609344"/>
                  </a:lnTo>
                  <a:cubicBezTo>
                    <a:pt x="19659600" y="1710309"/>
                    <a:pt x="19577684" y="1792224"/>
                    <a:pt x="19476720" y="1792224"/>
                  </a:cubicBezTo>
                  <a:lnTo>
                    <a:pt x="182880" y="1792224"/>
                  </a:lnTo>
                  <a:cubicBezTo>
                    <a:pt x="81915" y="1792224"/>
                    <a:pt x="0" y="1710309"/>
                    <a:pt x="0" y="160934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90625" y="4285107"/>
            <a:ext cx="685800" cy="685800"/>
            <a:chOff x="0" y="0"/>
            <a:chExt cx="91440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190625" y="4285107"/>
            <a:ext cx="685800" cy="685800"/>
            <a:chOff x="0" y="0"/>
            <a:chExt cx="914400" cy="914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150745" y="4093083"/>
            <a:ext cx="5760720" cy="480060"/>
            <a:chOff x="0" y="0"/>
            <a:chExt cx="7680960" cy="6400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680960" cy="640080"/>
            </a:xfrm>
            <a:custGeom>
              <a:avLst/>
              <a:gdLst/>
              <a:ahLst/>
              <a:cxnLst/>
              <a:rect r="r" b="b" t="t" l="l"/>
              <a:pathLst>
                <a:path h="64008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768096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Cleaning and analysis</a:t>
              </a: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2150745" y="4548759"/>
            <a:ext cx="9464040" cy="696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5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A cleaned, documented dataset and preliminary findings, with a verification note showing how data quality was confirmed.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2986385" y="4353687"/>
            <a:ext cx="2263140" cy="548640"/>
            <a:chOff x="0" y="0"/>
            <a:chExt cx="301752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01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3017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2651760" y="0"/>
                  </a:lnTo>
                  <a:cubicBezTo>
                    <a:pt x="2853817" y="0"/>
                    <a:pt x="3017520" y="163703"/>
                    <a:pt x="3017520" y="365760"/>
                  </a:cubicBezTo>
                  <a:cubicBezTo>
                    <a:pt x="3017520" y="567817"/>
                    <a:pt x="2853817" y="731520"/>
                    <a:pt x="2651760" y="731520"/>
                  </a:cubicBezTo>
                  <a:lnTo>
                    <a:pt x="365760" y="731520"/>
                  </a:ln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EEF4F4"/>
            </a:solid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2986385" y="4353687"/>
            <a:ext cx="2263140" cy="548640"/>
            <a:chOff x="0" y="0"/>
            <a:chExt cx="3017520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01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0375" r="0" b="-3037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30175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MODULE 9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47725" y="5437251"/>
            <a:ext cx="14744700" cy="1344168"/>
            <a:chOff x="0" y="0"/>
            <a:chExt cx="19659600" cy="179222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9659600" cy="1792224"/>
            </a:xfrm>
            <a:custGeom>
              <a:avLst/>
              <a:gdLst/>
              <a:ahLst/>
              <a:cxnLst/>
              <a:rect r="r" b="b" t="t" l="l"/>
              <a:pathLst>
                <a:path h="1792224" w="196596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9476720" y="0"/>
                  </a:lnTo>
                  <a:cubicBezTo>
                    <a:pt x="19577684" y="0"/>
                    <a:pt x="19659600" y="81915"/>
                    <a:pt x="19659600" y="182880"/>
                  </a:cubicBezTo>
                  <a:lnTo>
                    <a:pt x="19659600" y="1609344"/>
                  </a:lnTo>
                  <a:cubicBezTo>
                    <a:pt x="19659600" y="1710309"/>
                    <a:pt x="19577684" y="1792224"/>
                    <a:pt x="19476720" y="1792224"/>
                  </a:cubicBezTo>
                  <a:lnTo>
                    <a:pt x="182880" y="1792224"/>
                  </a:lnTo>
                  <a:cubicBezTo>
                    <a:pt x="81915" y="1792224"/>
                    <a:pt x="0" y="1710309"/>
                    <a:pt x="0" y="160934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90625" y="5766435"/>
            <a:ext cx="685800" cy="685800"/>
            <a:chOff x="0" y="0"/>
            <a:chExt cx="914400" cy="9144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90625" y="5766435"/>
            <a:ext cx="685800" cy="685800"/>
            <a:chOff x="0" y="0"/>
            <a:chExt cx="914400" cy="9144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M3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2150745" y="5574411"/>
            <a:ext cx="5760720" cy="480060"/>
            <a:chOff x="0" y="0"/>
            <a:chExt cx="7680960" cy="6400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680960" cy="640080"/>
            </a:xfrm>
            <a:custGeom>
              <a:avLst/>
              <a:gdLst/>
              <a:ahLst/>
              <a:cxnLst/>
              <a:rect r="r" b="b" t="t" l="l"/>
              <a:pathLst>
                <a:path h="64008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768096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Mentor checkpoint</a:t>
              </a:r>
            </a:p>
          </p:txBody>
        </p:sp>
      </p:grpSp>
      <p:sp>
        <p:nvSpPr>
          <p:cNvPr name="TextBox 53" id="53"/>
          <p:cNvSpPr txBox="true"/>
          <p:nvPr/>
        </p:nvSpPr>
        <p:spPr>
          <a:xfrm rot="0">
            <a:off x="2150745" y="6030087"/>
            <a:ext cx="9464040" cy="696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5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Responsible practice review: defend your analysis at a structured mentor review, and present a completed responsible data and AI record.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2986385" y="5835015"/>
            <a:ext cx="2263140" cy="548640"/>
            <a:chOff x="0" y="0"/>
            <a:chExt cx="3017520" cy="73152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01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3017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2651760" y="0"/>
                  </a:lnTo>
                  <a:cubicBezTo>
                    <a:pt x="2853817" y="0"/>
                    <a:pt x="3017520" y="163703"/>
                    <a:pt x="3017520" y="365760"/>
                  </a:cubicBezTo>
                  <a:cubicBezTo>
                    <a:pt x="3017520" y="567817"/>
                    <a:pt x="2853817" y="731520"/>
                    <a:pt x="2651760" y="731520"/>
                  </a:cubicBezTo>
                  <a:lnTo>
                    <a:pt x="365760" y="731520"/>
                  </a:ln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EEF4F4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2986385" y="5835015"/>
            <a:ext cx="2263140" cy="548640"/>
            <a:chOff x="0" y="0"/>
            <a:chExt cx="3017520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01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0375" r="0" b="-30375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30175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MODULE 9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847725" y="6918579"/>
            <a:ext cx="14744700" cy="1344168"/>
            <a:chOff x="0" y="0"/>
            <a:chExt cx="19659600" cy="179222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9659600" cy="1792224"/>
            </a:xfrm>
            <a:custGeom>
              <a:avLst/>
              <a:gdLst/>
              <a:ahLst/>
              <a:cxnLst/>
              <a:rect r="r" b="b" t="t" l="l"/>
              <a:pathLst>
                <a:path h="1792224" w="196596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9476720" y="0"/>
                  </a:lnTo>
                  <a:cubicBezTo>
                    <a:pt x="19577684" y="0"/>
                    <a:pt x="19659600" y="81915"/>
                    <a:pt x="19659600" y="182880"/>
                  </a:cubicBezTo>
                  <a:lnTo>
                    <a:pt x="19659600" y="1609344"/>
                  </a:lnTo>
                  <a:cubicBezTo>
                    <a:pt x="19659600" y="1710309"/>
                    <a:pt x="19577684" y="1792224"/>
                    <a:pt x="19476720" y="1792224"/>
                  </a:cubicBezTo>
                  <a:lnTo>
                    <a:pt x="182880" y="1792224"/>
                  </a:lnTo>
                  <a:cubicBezTo>
                    <a:pt x="81915" y="1792224"/>
                    <a:pt x="0" y="1710309"/>
                    <a:pt x="0" y="160934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190625" y="7247763"/>
            <a:ext cx="685800" cy="685800"/>
            <a:chOff x="0" y="0"/>
            <a:chExt cx="914400" cy="9144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190625" y="7247763"/>
            <a:ext cx="685800" cy="685800"/>
            <a:chOff x="0" y="0"/>
            <a:chExt cx="914400" cy="9144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M4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2150745" y="7055739"/>
            <a:ext cx="5760720" cy="480060"/>
            <a:chOff x="0" y="0"/>
            <a:chExt cx="7680960" cy="64008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7680960" cy="640080"/>
            </a:xfrm>
            <a:custGeom>
              <a:avLst/>
              <a:gdLst/>
              <a:ahLst/>
              <a:cxnLst/>
              <a:rect r="r" b="b" t="t" l="l"/>
              <a:pathLst>
                <a:path h="64008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768096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Dashboard, report and portfolio</a:t>
              </a:r>
            </a:p>
          </p:txBody>
        </p:sp>
      </p:grpSp>
      <p:sp>
        <p:nvSpPr>
          <p:cNvPr name="TextBox 69" id="69"/>
          <p:cNvSpPr txBox="true"/>
          <p:nvPr/>
        </p:nvSpPr>
        <p:spPr>
          <a:xfrm rot="0">
            <a:off x="2150745" y="7511415"/>
            <a:ext cx="9464040" cy="696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5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A working dashboard and a written report structured as an insight narrative, published to GitHub with a prompt log.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12986385" y="7316343"/>
            <a:ext cx="2263140" cy="548640"/>
            <a:chOff x="0" y="0"/>
            <a:chExt cx="3017520" cy="7315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01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3017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2651760" y="0"/>
                  </a:lnTo>
                  <a:cubicBezTo>
                    <a:pt x="2853817" y="0"/>
                    <a:pt x="3017520" y="163703"/>
                    <a:pt x="3017520" y="365760"/>
                  </a:cubicBezTo>
                  <a:cubicBezTo>
                    <a:pt x="3017520" y="567817"/>
                    <a:pt x="2853817" y="731520"/>
                    <a:pt x="2651760" y="731520"/>
                  </a:cubicBezTo>
                  <a:lnTo>
                    <a:pt x="365760" y="731520"/>
                  </a:ln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EEF4F4"/>
            </a:solid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2986385" y="7316343"/>
            <a:ext cx="2263140" cy="548640"/>
            <a:chOff x="0" y="0"/>
            <a:chExt cx="3017520" cy="73152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01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0375" r="0" b="-30375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19050"/>
              <a:ext cx="30175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MODULE 9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847725" y="8399907"/>
            <a:ext cx="14744700" cy="1344168"/>
            <a:chOff x="0" y="0"/>
            <a:chExt cx="19659600" cy="1792224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9659600" cy="1792224"/>
            </a:xfrm>
            <a:custGeom>
              <a:avLst/>
              <a:gdLst/>
              <a:ahLst/>
              <a:cxnLst/>
              <a:rect r="r" b="b" t="t" l="l"/>
              <a:pathLst>
                <a:path h="1792224" w="196596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9476720" y="0"/>
                  </a:lnTo>
                  <a:cubicBezTo>
                    <a:pt x="19577684" y="0"/>
                    <a:pt x="19659600" y="81915"/>
                    <a:pt x="19659600" y="182880"/>
                  </a:cubicBezTo>
                  <a:lnTo>
                    <a:pt x="19659600" y="1609344"/>
                  </a:lnTo>
                  <a:cubicBezTo>
                    <a:pt x="19659600" y="1710309"/>
                    <a:pt x="19577684" y="1792224"/>
                    <a:pt x="19476720" y="1792224"/>
                  </a:cubicBezTo>
                  <a:lnTo>
                    <a:pt x="182880" y="1792224"/>
                  </a:lnTo>
                  <a:cubicBezTo>
                    <a:pt x="81915" y="1792224"/>
                    <a:pt x="0" y="1710309"/>
                    <a:pt x="0" y="160934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190625" y="8729091"/>
            <a:ext cx="685800" cy="685800"/>
            <a:chOff x="0" y="0"/>
            <a:chExt cx="914400" cy="9144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190625" y="8729091"/>
            <a:ext cx="685800" cy="685800"/>
            <a:chOff x="0" y="0"/>
            <a:chExt cx="914400" cy="91440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914400" cy="914400"/>
            </a:xfrm>
            <a:custGeom>
              <a:avLst/>
              <a:gdLst/>
              <a:ahLst/>
              <a:cxnLst/>
              <a:rect r="r" b="b" t="t" l="l"/>
              <a:pathLst>
                <a:path h="914400" w="914400">
                  <a:moveTo>
                    <a:pt x="0" y="0"/>
                  </a:moveTo>
                  <a:lnTo>
                    <a:pt x="914400" y="0"/>
                  </a:lnTo>
                  <a:lnTo>
                    <a:pt x="91440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19050"/>
              <a:ext cx="91440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M5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2150745" y="8537067"/>
            <a:ext cx="5760720" cy="480060"/>
            <a:chOff x="0" y="0"/>
            <a:chExt cx="7680960" cy="64008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7680960" cy="640080"/>
            </a:xfrm>
            <a:custGeom>
              <a:avLst/>
              <a:gdLst/>
              <a:ahLst/>
              <a:cxnLst/>
              <a:rect r="r" b="b" t="t" l="l"/>
              <a:pathLst>
                <a:path h="64008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640080"/>
                  </a:lnTo>
                  <a:lnTo>
                    <a:pt x="0" y="6400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19050"/>
              <a:ext cx="7680960" cy="6591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Panel presentation</a:t>
              </a:r>
            </a:p>
          </p:txBody>
        </p:sp>
      </p:grpSp>
      <p:sp>
        <p:nvSpPr>
          <p:cNvPr name="TextBox 85" id="85"/>
          <p:cNvSpPr txBox="true"/>
          <p:nvPr/>
        </p:nvSpPr>
        <p:spPr>
          <a:xfrm rot="0">
            <a:off x="2150745" y="8992743"/>
            <a:ext cx="9464040" cy="696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5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Present your project to a panel of judges, answer technical and business questions, and justify where and how AI was used.</a:t>
            </a:r>
          </a:p>
        </p:txBody>
      </p:sp>
      <p:grpSp>
        <p:nvGrpSpPr>
          <p:cNvPr name="Group 86" id="86"/>
          <p:cNvGrpSpPr/>
          <p:nvPr/>
        </p:nvGrpSpPr>
        <p:grpSpPr>
          <a:xfrm rot="0">
            <a:off x="12986385" y="8797671"/>
            <a:ext cx="2263140" cy="548640"/>
            <a:chOff x="0" y="0"/>
            <a:chExt cx="3017520" cy="73152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01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3017520">
                  <a:moveTo>
                    <a:pt x="0" y="365760"/>
                  </a:moveTo>
                  <a:cubicBezTo>
                    <a:pt x="0" y="163703"/>
                    <a:pt x="163703" y="0"/>
                    <a:pt x="365760" y="0"/>
                  </a:cubicBezTo>
                  <a:lnTo>
                    <a:pt x="2651760" y="0"/>
                  </a:lnTo>
                  <a:cubicBezTo>
                    <a:pt x="2853817" y="0"/>
                    <a:pt x="3017520" y="163703"/>
                    <a:pt x="3017520" y="365760"/>
                  </a:cubicBezTo>
                  <a:cubicBezTo>
                    <a:pt x="3017520" y="567817"/>
                    <a:pt x="2853817" y="731520"/>
                    <a:pt x="2651760" y="731520"/>
                  </a:cubicBezTo>
                  <a:lnTo>
                    <a:pt x="365760" y="731520"/>
                  </a:lnTo>
                  <a:cubicBezTo>
                    <a:pt x="163703" y="731520"/>
                    <a:pt x="0" y="567817"/>
                    <a:pt x="0" y="365760"/>
                  </a:cubicBezTo>
                  <a:close/>
                </a:path>
              </a:pathLst>
            </a:custGeom>
            <a:solidFill>
              <a:srgbClr val="EEF4F4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2986385" y="8797671"/>
            <a:ext cx="2263140" cy="548640"/>
            <a:chOff x="0" y="0"/>
            <a:chExt cx="3017520" cy="73152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017520" cy="731520"/>
            </a:xfrm>
            <a:custGeom>
              <a:avLst/>
              <a:gdLst/>
              <a:ahLst/>
              <a:cxnLst/>
              <a:rect r="r" b="b" t="t" l="l"/>
              <a:pathLst>
                <a:path h="73152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0375" r="0" b="-30375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19050"/>
              <a:ext cx="30175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MODULE 9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12498785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The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 question comes before the dataset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04875" y="2567178"/>
            <a:ext cx="7063740" cy="4869180"/>
            <a:chOff x="0" y="0"/>
            <a:chExt cx="9418320" cy="64922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418320" cy="6492240"/>
            </a:xfrm>
            <a:custGeom>
              <a:avLst/>
              <a:gdLst/>
              <a:ahLst/>
              <a:cxnLst/>
              <a:rect r="r" b="b" t="t" l="l"/>
              <a:pathLst>
                <a:path h="6492240" w="94183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9235440" y="0"/>
                  </a:lnTo>
                  <a:cubicBezTo>
                    <a:pt x="9336405" y="0"/>
                    <a:pt x="9418320" y="81915"/>
                    <a:pt x="9418320" y="182880"/>
                  </a:cubicBezTo>
                  <a:lnTo>
                    <a:pt x="9418320" y="6309360"/>
                  </a:lnTo>
                  <a:cubicBezTo>
                    <a:pt x="9418320" y="6410325"/>
                    <a:pt x="9336405" y="6492240"/>
                    <a:pt x="9235440" y="6492240"/>
                  </a:cubicBezTo>
                  <a:lnTo>
                    <a:pt x="182880" y="6492240"/>
                  </a:lnTo>
                  <a:cubicBezTo>
                    <a:pt x="81915" y="6492240"/>
                    <a:pt x="0" y="6410325"/>
                    <a:pt x="0" y="63093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04875" y="2567178"/>
            <a:ext cx="7063740" cy="685800"/>
            <a:chOff x="0" y="0"/>
            <a:chExt cx="9418320" cy="914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418320" cy="914400"/>
            </a:xfrm>
            <a:custGeom>
              <a:avLst/>
              <a:gdLst/>
              <a:ahLst/>
              <a:cxnLst/>
              <a:rect r="r" b="b" t="t" l="l"/>
              <a:pathLst>
                <a:path h="91440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A8322D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04875" y="2567178"/>
            <a:ext cx="7063740" cy="685800"/>
            <a:chOff x="0" y="0"/>
            <a:chExt cx="9418320" cy="9144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418320" cy="914400"/>
            </a:xfrm>
            <a:custGeom>
              <a:avLst/>
              <a:gdLst/>
              <a:ahLst/>
              <a:cxnLst/>
              <a:rect r="r" b="b" t="t" l="l"/>
              <a:pathLst>
                <a:path h="91440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50695" r="0" b="-15069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941832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b="true" sz="1875" spc="1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NOT YET A QUESTION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16355" y="3527298"/>
            <a:ext cx="6240780" cy="1234440"/>
            <a:chOff x="0" y="0"/>
            <a:chExt cx="8321040" cy="1645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3210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8507" r="0" b="-4850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8321040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5"/>
                </a:lnSpc>
              </a:pPr>
              <a:r>
                <a:rPr lang="en-US" sz="1725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✕  “Analysis of Nigerian fintech data.” A topic, not a question.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16355" y="4898898"/>
            <a:ext cx="6240780" cy="1234440"/>
            <a:chOff x="0" y="0"/>
            <a:chExt cx="8321040" cy="1645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3210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8507" r="0" b="-4850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8321040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5"/>
                </a:lnSpc>
              </a:pPr>
              <a:r>
                <a:rPr lang="en-US" sz="1725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✕  “Explore the relationship between variables.” No decision attached.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16355" y="6270498"/>
            <a:ext cx="6240780" cy="1234440"/>
            <a:chOff x="0" y="0"/>
            <a:chExt cx="8321040" cy="16459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83210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8507" r="0" b="-48507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8321040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5"/>
                </a:lnSpc>
              </a:pPr>
              <a:r>
                <a:rPr lang="en-US" sz="1725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✕  “Build a dashboard for a company.” A deliverable, not a question.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8585835" y="2567178"/>
            <a:ext cx="7063740" cy="4869180"/>
            <a:chOff x="0" y="0"/>
            <a:chExt cx="9418320" cy="64922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418320" cy="6492240"/>
            </a:xfrm>
            <a:custGeom>
              <a:avLst/>
              <a:gdLst/>
              <a:ahLst/>
              <a:cxnLst/>
              <a:rect r="r" b="b" t="t" l="l"/>
              <a:pathLst>
                <a:path h="6492240" w="94183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9235440" y="0"/>
                  </a:lnTo>
                  <a:cubicBezTo>
                    <a:pt x="9336405" y="0"/>
                    <a:pt x="9418320" y="81915"/>
                    <a:pt x="9418320" y="182880"/>
                  </a:cubicBezTo>
                  <a:lnTo>
                    <a:pt x="9418320" y="6309360"/>
                  </a:lnTo>
                  <a:cubicBezTo>
                    <a:pt x="9418320" y="6410325"/>
                    <a:pt x="9336405" y="6492240"/>
                    <a:pt x="9235440" y="6492240"/>
                  </a:cubicBezTo>
                  <a:lnTo>
                    <a:pt x="182880" y="6492240"/>
                  </a:lnTo>
                  <a:cubicBezTo>
                    <a:pt x="81915" y="6492240"/>
                    <a:pt x="0" y="6410325"/>
                    <a:pt x="0" y="630936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585835" y="2567178"/>
            <a:ext cx="7063740" cy="685800"/>
            <a:chOff x="0" y="0"/>
            <a:chExt cx="9418320" cy="9144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418320" cy="914400"/>
            </a:xfrm>
            <a:custGeom>
              <a:avLst/>
              <a:gdLst/>
              <a:ahLst/>
              <a:cxnLst/>
              <a:rect r="r" b="b" t="t" l="l"/>
              <a:pathLst>
                <a:path h="91440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914400"/>
                  </a:lnTo>
                  <a:lnTo>
                    <a:pt x="0" y="914400"/>
                  </a:ln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585835" y="2567178"/>
            <a:ext cx="7063740" cy="685800"/>
            <a:chOff x="0" y="0"/>
            <a:chExt cx="9418320" cy="914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418320" cy="914400"/>
            </a:xfrm>
            <a:custGeom>
              <a:avLst/>
              <a:gdLst/>
              <a:ahLst/>
              <a:cxnLst/>
              <a:rect r="r" b="b" t="t" l="l"/>
              <a:pathLst>
                <a:path h="91440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50695" r="0" b="-15069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9418320" cy="9334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b="true" sz="1875" spc="1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 QUESTION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997315" y="3527298"/>
            <a:ext cx="6240780" cy="1234440"/>
            <a:chOff x="0" y="0"/>
            <a:chExt cx="8321040" cy="16459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3210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8507" r="0" b="-48507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8321040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5"/>
                </a:lnSpc>
              </a:pPr>
              <a:r>
                <a:rPr lang="en-US" sz="1725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✓  “Which branches lose the most revenue to stock-outs, and does it vary by day of week?”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997315" y="4898898"/>
            <a:ext cx="6240780" cy="1234440"/>
            <a:chOff x="0" y="0"/>
            <a:chExt cx="8321040" cy="16459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3210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8507" r="0" b="-48507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8321040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5"/>
                </a:lnSpc>
              </a:pPr>
              <a:r>
                <a:rPr lang="en-US" sz="1725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✓  “Do failed transactions cluster around particular banks or times?”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8997315" y="6270498"/>
            <a:ext cx="6240780" cy="1234440"/>
            <a:chOff x="0" y="0"/>
            <a:chExt cx="8321040" cy="16459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321040" cy="1645920"/>
            </a:xfrm>
            <a:custGeom>
              <a:avLst/>
              <a:gdLst/>
              <a:ahLst/>
              <a:cxnLst/>
              <a:rect r="r" b="b" t="t" l="l"/>
              <a:pathLst>
                <a:path h="1645920" w="8321040">
                  <a:moveTo>
                    <a:pt x="0" y="0"/>
                  </a:moveTo>
                  <a:lnTo>
                    <a:pt x="8321040" y="0"/>
                  </a:lnTo>
                  <a:lnTo>
                    <a:pt x="832104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8507" r="0" b="-4850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8321040" cy="17030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5"/>
                </a:lnSpc>
              </a:pPr>
              <a:r>
                <a:rPr lang="en-US" sz="1725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✓  “Which farm inputs correlate with yield differences across cooperatives?”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04875" y="7710678"/>
            <a:ext cx="14744700" cy="1371600"/>
            <a:chOff x="0" y="0"/>
            <a:chExt cx="19659600" cy="18288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9659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96596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9495008" y="0"/>
                  </a:lnTo>
                  <a:cubicBezTo>
                    <a:pt x="19585939" y="0"/>
                    <a:pt x="19659600" y="73660"/>
                    <a:pt x="19659600" y="164592"/>
                  </a:cubicBezTo>
                  <a:lnTo>
                    <a:pt x="19659600" y="1664208"/>
                  </a:lnTo>
                  <a:cubicBezTo>
                    <a:pt x="19659600" y="1755140"/>
                    <a:pt x="19585939" y="1828800"/>
                    <a:pt x="19495008" y="1828800"/>
                  </a:cubicBezTo>
                  <a:lnTo>
                    <a:pt x="164592" y="1828800"/>
                  </a:lnTo>
                  <a:cubicBezTo>
                    <a:pt x="73660" y="1828800"/>
                    <a:pt x="0" y="1755140"/>
                    <a:pt x="0" y="1664208"/>
                  </a:cubicBezTo>
                  <a:close/>
                </a:path>
              </a:pathLst>
            </a:custGeom>
            <a:solidFill>
              <a:srgbClr val="EEF4F4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904875" y="7710678"/>
            <a:ext cx="102870" cy="1371600"/>
            <a:chOff x="0" y="0"/>
            <a:chExt cx="137160" cy="182880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371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37160">
                  <a:moveTo>
                    <a:pt x="0" y="0"/>
                  </a:moveTo>
                  <a:lnTo>
                    <a:pt x="137160" y="0"/>
                  </a:lnTo>
                  <a:lnTo>
                    <a:pt x="13716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453515" y="7710678"/>
            <a:ext cx="13853160" cy="1371600"/>
            <a:chOff x="0" y="0"/>
            <a:chExt cx="18470880" cy="18288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84708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470880">
                  <a:moveTo>
                    <a:pt x="0" y="0"/>
                  </a:moveTo>
                  <a:lnTo>
                    <a:pt x="18470880" y="0"/>
                  </a:lnTo>
                  <a:lnTo>
                    <a:pt x="184708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46798" r="0" b="-14679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114300"/>
              <a:ext cx="18470880" cy="19431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45"/>
                </a:lnSpc>
              </a:pPr>
              <a:r>
                <a:rPr lang="en-US" sz="2250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Test: could a named person act differently depending on the answer? If not, it is a topic.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859671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A template, if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 you are stuck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42975" y="2526030"/>
            <a:ext cx="14744700" cy="2194560"/>
            <a:chOff x="0" y="0"/>
            <a:chExt cx="19659600" cy="2926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6596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96596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9476720" y="0"/>
                  </a:lnTo>
                  <a:cubicBezTo>
                    <a:pt x="19577684" y="0"/>
                    <a:pt x="19659600" y="81915"/>
                    <a:pt x="19659600" y="182880"/>
                  </a:cubicBezTo>
                  <a:lnTo>
                    <a:pt x="19659600" y="2743200"/>
                  </a:lnTo>
                  <a:cubicBezTo>
                    <a:pt x="19659600" y="2844165"/>
                    <a:pt x="19577684" y="2926080"/>
                    <a:pt x="19476720" y="2926080"/>
                  </a:cubicBezTo>
                  <a:lnTo>
                    <a:pt x="182880" y="2926080"/>
                  </a:lnTo>
                  <a:cubicBezTo>
                    <a:pt x="81915" y="2926080"/>
                    <a:pt x="0" y="2844165"/>
                    <a:pt x="0" y="2743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423035" y="2800350"/>
            <a:ext cx="13853160" cy="1645920"/>
            <a:chOff x="0" y="0"/>
            <a:chExt cx="18470880" cy="21945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8470880" cy="2194560"/>
            </a:xfrm>
            <a:custGeom>
              <a:avLst/>
              <a:gdLst/>
              <a:ahLst/>
              <a:cxnLst/>
              <a:rect r="r" b="b" t="t" l="l"/>
              <a:pathLst>
                <a:path h="2194560" w="18470880">
                  <a:moveTo>
                    <a:pt x="0" y="0"/>
                  </a:moveTo>
                  <a:lnTo>
                    <a:pt x="18470880" y="0"/>
                  </a:lnTo>
                  <a:lnTo>
                    <a:pt x="1847088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13999" r="0" b="-11399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42875"/>
              <a:ext cx="18470880" cy="23374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284"/>
                </a:lnSpc>
              </a:pPr>
              <a:r>
                <a:rPr lang="en-US" sz="2550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“For [named decision maker] at [type of organisation], [what varies] across [dimension], and [what should they do about it]?”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42975" y="4994910"/>
            <a:ext cx="14744700" cy="2400300"/>
            <a:chOff x="0" y="0"/>
            <a:chExt cx="19659600" cy="3200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659600" cy="3200400"/>
            </a:xfrm>
            <a:custGeom>
              <a:avLst/>
              <a:gdLst/>
              <a:ahLst/>
              <a:cxnLst/>
              <a:rect r="r" b="b" t="t" l="l"/>
              <a:pathLst>
                <a:path h="3200400" w="196596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9476720" y="0"/>
                  </a:lnTo>
                  <a:cubicBezTo>
                    <a:pt x="19577684" y="0"/>
                    <a:pt x="19659600" y="81915"/>
                    <a:pt x="19659600" y="182880"/>
                  </a:cubicBezTo>
                  <a:lnTo>
                    <a:pt x="19659600" y="3017520"/>
                  </a:lnTo>
                  <a:cubicBezTo>
                    <a:pt x="19659600" y="3118485"/>
                    <a:pt x="19577684" y="3200400"/>
                    <a:pt x="19476720" y="3200400"/>
                  </a:cubicBezTo>
                  <a:lnTo>
                    <a:pt x="182880" y="3200400"/>
                  </a:lnTo>
                  <a:cubicBezTo>
                    <a:pt x="81915" y="3200400"/>
                    <a:pt x="0" y="3118485"/>
                    <a:pt x="0" y="3017520"/>
                  </a:cubicBezTo>
                  <a:close/>
                </a:path>
              </a:pathLst>
            </a:custGeom>
            <a:solidFill>
              <a:srgbClr val="EEF4F4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423035" y="5193030"/>
            <a:ext cx="13853160" cy="487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3"/>
              </a:lnSpc>
            </a:pPr>
            <a:r>
              <a:rPr lang="en-US" sz="1650" b="true">
                <a:solidFill>
                  <a:srgbClr val="387F7F"/>
                </a:solidFill>
                <a:latin typeface="Poppins Bold"/>
                <a:ea typeface="Poppins Bold"/>
                <a:cs typeface="Poppins Bold"/>
                <a:sym typeface="Poppins Bold"/>
              </a:rPr>
              <a:t>WORKED EXAMPLE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23035" y="5634990"/>
            <a:ext cx="13853160" cy="16230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2250" i="true">
                <a:solidFill>
                  <a:srgbClr val="0A1A23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“For the operations manager at a Lagos last-mile delivery firm, how does on-time performance vary across routes and riders, and where should she intervene first?”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42975" y="7738110"/>
            <a:ext cx="14744700" cy="1371600"/>
            <a:chOff x="0" y="0"/>
            <a:chExt cx="19659600" cy="1828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659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96596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9495008" y="0"/>
                  </a:lnTo>
                  <a:cubicBezTo>
                    <a:pt x="19585939" y="0"/>
                    <a:pt x="19659600" y="73660"/>
                    <a:pt x="19659600" y="164592"/>
                  </a:cubicBezTo>
                  <a:lnTo>
                    <a:pt x="19659600" y="1664208"/>
                  </a:lnTo>
                  <a:cubicBezTo>
                    <a:pt x="19659600" y="1755140"/>
                    <a:pt x="19585939" y="1828800"/>
                    <a:pt x="19495008" y="1828800"/>
                  </a:cubicBezTo>
                  <a:lnTo>
                    <a:pt x="164592" y="1828800"/>
                  </a:lnTo>
                  <a:cubicBezTo>
                    <a:pt x="73660" y="1828800"/>
                    <a:pt x="0" y="1755140"/>
                    <a:pt x="0" y="1664208"/>
                  </a:cubicBezTo>
                  <a:close/>
                </a:path>
              </a:pathLst>
            </a:custGeom>
            <a:solidFill>
              <a:srgbClr val="EEF4F4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42975" y="7738110"/>
            <a:ext cx="102870" cy="1371600"/>
            <a:chOff x="0" y="0"/>
            <a:chExt cx="137160" cy="1828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71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37160">
                  <a:moveTo>
                    <a:pt x="0" y="0"/>
                  </a:moveTo>
                  <a:lnTo>
                    <a:pt x="137160" y="0"/>
                  </a:lnTo>
                  <a:lnTo>
                    <a:pt x="13716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491615" y="7738110"/>
            <a:ext cx="13853160" cy="1371600"/>
            <a:chOff x="0" y="0"/>
            <a:chExt cx="18470880" cy="1828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84708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470880">
                  <a:moveTo>
                    <a:pt x="0" y="0"/>
                  </a:moveTo>
                  <a:lnTo>
                    <a:pt x="18470880" y="0"/>
                  </a:lnTo>
                  <a:lnTo>
                    <a:pt x="184708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46798" r="0" b="-14679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85725"/>
              <a:ext cx="18470880" cy="19145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75"/>
                </a:lnSpc>
              </a:pPr>
              <a:r>
                <a:rPr lang="en-US" sz="2250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That is SwiftRoute. You have spent this whole module inside a well-formed capstone question without noticing.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494A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6689057" y="30904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850392" y="480060"/>
            <a:ext cx="4389120" cy="2880360"/>
            <a:chOff x="0" y="0"/>
            <a:chExt cx="5852160" cy="38404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852160" cy="3840480"/>
            </a:xfrm>
            <a:custGeom>
              <a:avLst/>
              <a:gdLst/>
              <a:ahLst/>
              <a:cxnLst/>
              <a:rect r="r" b="b" t="t" l="l"/>
              <a:pathLst>
                <a:path h="38404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840480"/>
                  </a:lnTo>
                  <a:lnTo>
                    <a:pt x="0" y="38404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4199" t="0" r="-34199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0"/>
              <a:ext cx="5852160" cy="4030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0"/>
                </a:lnSpc>
              </a:pPr>
              <a:r>
                <a:rPr lang="en-US" sz="19500" b="true">
                  <a:solidFill>
                    <a:srgbClr val="2F636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69848" y="3730752"/>
            <a:ext cx="10149840" cy="466344"/>
            <a:chOff x="0" y="0"/>
            <a:chExt cx="13533120" cy="62179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533120" cy="621792"/>
            </a:xfrm>
            <a:custGeom>
              <a:avLst/>
              <a:gdLst/>
              <a:ahLst/>
              <a:cxnLst/>
              <a:rect r="r" b="b" t="t" l="l"/>
              <a:pathLst>
                <a:path h="621792" w="13533120">
                  <a:moveTo>
                    <a:pt x="0" y="0"/>
                  </a:moveTo>
                  <a:lnTo>
                    <a:pt x="13533120" y="0"/>
                  </a:lnTo>
                  <a:lnTo>
                    <a:pt x="135331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74086" r="0" b="-37408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353312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75">
                  <a:solidFill>
                    <a:srgbClr val="8FBEB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PART ONE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69848" y="4361688"/>
            <a:ext cx="1851660" cy="116586"/>
            <a:chOff x="0" y="0"/>
            <a:chExt cx="2468880" cy="1554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68880" cy="155448"/>
            </a:xfrm>
            <a:custGeom>
              <a:avLst/>
              <a:gdLst/>
              <a:ahLst/>
              <a:cxnLst/>
              <a:rect r="r" b="b" t="t" l="l"/>
              <a:pathLst>
                <a:path h="155448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155448"/>
                  </a:lnTo>
                  <a:lnTo>
                    <a:pt x="0" y="155448"/>
                  </a:ln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69848" y="4732020"/>
            <a:ext cx="11109960" cy="2194560"/>
            <a:chOff x="0" y="0"/>
            <a:chExt cx="14813280" cy="29260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8132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4813280">
                  <a:moveTo>
                    <a:pt x="0" y="0"/>
                  </a:moveTo>
                  <a:lnTo>
                    <a:pt x="14813280" y="0"/>
                  </a:lnTo>
                  <a:lnTo>
                    <a:pt x="1481328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8643" r="0" b="-4864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04775"/>
              <a:ext cx="14813280" cy="3030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998"/>
                </a:lnSpc>
              </a:pPr>
              <a:r>
                <a:rPr lang="en-US" sz="54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 sign-off checklist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645920" y="7283196"/>
            <a:ext cx="9875520" cy="466344"/>
            <a:chOff x="0" y="0"/>
            <a:chExt cx="13167360" cy="62179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167361" cy="621792"/>
            </a:xfrm>
            <a:custGeom>
              <a:avLst/>
              <a:gdLst/>
              <a:ahLst/>
              <a:cxnLst/>
              <a:rect r="r" b="b" t="t" l="l"/>
              <a:pathLst>
                <a:path h="621792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62624" r="0" b="-36262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1316736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C3DAD9"/>
                  </a:solidFill>
                  <a:latin typeface="Poppins"/>
                  <a:ea typeface="Poppins"/>
                  <a:cs typeface="Poppins"/>
                  <a:sym typeface="Poppins"/>
                </a:rPr>
                <a:t>Four criteria. All four, or not yet.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645920" y="7859268"/>
            <a:ext cx="9875520" cy="466344"/>
            <a:chOff x="0" y="0"/>
            <a:chExt cx="13167360" cy="62179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167361" cy="621792"/>
            </a:xfrm>
            <a:custGeom>
              <a:avLst/>
              <a:gdLst/>
              <a:ahLst/>
              <a:cxnLst/>
              <a:rect r="r" b="b" t="t" l="l"/>
              <a:pathLst>
                <a:path h="621792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62624" r="0" b="-362624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1316736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C3DAD9"/>
                  </a:solidFill>
                  <a:latin typeface="Poppins"/>
                  <a:ea typeface="Poppins"/>
                  <a:cs typeface="Poppins"/>
                  <a:sym typeface="Poppins"/>
                </a:rPr>
                <a:t>Five places to look for real data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645920" y="8435340"/>
            <a:ext cx="9875520" cy="466344"/>
            <a:chOff x="0" y="0"/>
            <a:chExt cx="13167360" cy="62179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167361" cy="621792"/>
            </a:xfrm>
            <a:custGeom>
              <a:avLst/>
              <a:gdLst/>
              <a:ahLst/>
              <a:cxnLst/>
              <a:rect r="r" b="b" t="t" l="l"/>
              <a:pathLst>
                <a:path h="621792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62624" r="0" b="-362624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1316736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C3DAD9"/>
                  </a:solidFill>
                  <a:latin typeface="Poppins"/>
                  <a:ea typeface="Poppins"/>
                  <a:cs typeface="Poppins"/>
                  <a:sym typeface="Poppins"/>
                </a:rPr>
                <a:t>Three traps that cost marks every cohort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9673729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Four criteria. 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All four, or not yet.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85825" y="2583180"/>
            <a:ext cx="7063740" cy="2263140"/>
            <a:chOff x="0" y="0"/>
            <a:chExt cx="9418320" cy="3017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418320" cy="3017520"/>
            </a:xfrm>
            <a:custGeom>
              <a:avLst/>
              <a:gdLst/>
              <a:ahLst/>
              <a:cxnLst/>
              <a:rect r="r" b="b" t="t" l="l"/>
              <a:pathLst>
                <a:path h="3017520" w="94183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9235440" y="0"/>
                  </a:lnTo>
                  <a:cubicBezTo>
                    <a:pt x="9336405" y="0"/>
                    <a:pt x="9418320" y="81915"/>
                    <a:pt x="9418320" y="182880"/>
                  </a:cubicBezTo>
                  <a:lnTo>
                    <a:pt x="9418320" y="2834640"/>
                  </a:lnTo>
                  <a:cubicBezTo>
                    <a:pt x="9418320" y="2935605"/>
                    <a:pt x="9336405" y="3017520"/>
                    <a:pt x="9235440" y="3017520"/>
                  </a:cubicBezTo>
                  <a:lnTo>
                    <a:pt x="182880" y="3017520"/>
                  </a:lnTo>
                  <a:cubicBezTo>
                    <a:pt x="81915" y="3017520"/>
                    <a:pt x="0" y="2935605"/>
                    <a:pt x="0" y="28346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69873" y="2912364"/>
            <a:ext cx="754380" cy="754380"/>
            <a:chOff x="0" y="0"/>
            <a:chExt cx="1005840" cy="10058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69873" y="2912364"/>
            <a:ext cx="754380" cy="754380"/>
            <a:chOff x="0" y="0"/>
            <a:chExt cx="1005840" cy="10058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00584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257425" y="2788920"/>
            <a:ext cx="5349240" cy="548640"/>
            <a:chOff x="0" y="0"/>
            <a:chExt cx="713232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132320" cy="731520"/>
            </a:xfrm>
            <a:custGeom>
              <a:avLst/>
              <a:gdLst/>
              <a:ahLst/>
              <a:cxnLst/>
              <a:rect r="r" b="b" t="t" l="l"/>
              <a:pathLst>
                <a:path h="73152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39979" r="0" b="-139979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713232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Real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269873" y="3779520"/>
            <a:ext cx="6309360" cy="970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2"/>
              </a:lnSpc>
            </a:pPr>
            <a:r>
              <a:rPr lang="en-US" sz="1575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An actual dataset from a real source, not generated by you and not generated by an AI tool. Named source, recorded licence permitting educational reuse.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8566785" y="2583180"/>
            <a:ext cx="7063740" cy="2263140"/>
            <a:chOff x="0" y="0"/>
            <a:chExt cx="9418320" cy="3017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418320" cy="3017520"/>
            </a:xfrm>
            <a:custGeom>
              <a:avLst/>
              <a:gdLst/>
              <a:ahLst/>
              <a:cxnLst/>
              <a:rect r="r" b="b" t="t" l="l"/>
              <a:pathLst>
                <a:path h="3017520" w="94183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9235440" y="0"/>
                  </a:lnTo>
                  <a:cubicBezTo>
                    <a:pt x="9336405" y="0"/>
                    <a:pt x="9418320" y="81915"/>
                    <a:pt x="9418320" y="182880"/>
                  </a:cubicBezTo>
                  <a:lnTo>
                    <a:pt x="9418320" y="2834640"/>
                  </a:lnTo>
                  <a:cubicBezTo>
                    <a:pt x="9418320" y="2935605"/>
                    <a:pt x="9336405" y="3017520"/>
                    <a:pt x="9235440" y="3017520"/>
                  </a:cubicBezTo>
                  <a:lnTo>
                    <a:pt x="182880" y="3017520"/>
                  </a:lnTo>
                  <a:cubicBezTo>
                    <a:pt x="81915" y="3017520"/>
                    <a:pt x="0" y="2935605"/>
                    <a:pt x="0" y="28346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950833" y="2912364"/>
            <a:ext cx="754380" cy="754380"/>
            <a:chOff x="0" y="0"/>
            <a:chExt cx="1005840" cy="10058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950833" y="2912364"/>
            <a:ext cx="754380" cy="754380"/>
            <a:chOff x="0" y="0"/>
            <a:chExt cx="1005840" cy="10058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100584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938385" y="2788920"/>
            <a:ext cx="5349240" cy="548640"/>
            <a:chOff x="0" y="0"/>
            <a:chExt cx="713232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132320" cy="731520"/>
            </a:xfrm>
            <a:custGeom>
              <a:avLst/>
              <a:gdLst/>
              <a:ahLst/>
              <a:cxnLst/>
              <a:rect r="r" b="b" t="t" l="l"/>
              <a:pathLst>
                <a:path h="73152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39979" r="0" b="-13997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713232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Sufficient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8950833" y="3779520"/>
            <a:ext cx="6309360" cy="970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92"/>
              </a:lnSpc>
            </a:pPr>
            <a:r>
              <a:rPr lang="en-US" sz="1575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Enough rows that the analysis is meaningful and a dashboard has something to show. As a working floor: several hundred rows, more than one useful dimension to break them down by.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885825" y="5120640"/>
            <a:ext cx="7063740" cy="2263140"/>
            <a:chOff x="0" y="0"/>
            <a:chExt cx="9418320" cy="3017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418320" cy="3017520"/>
            </a:xfrm>
            <a:custGeom>
              <a:avLst/>
              <a:gdLst/>
              <a:ahLst/>
              <a:cxnLst/>
              <a:rect r="r" b="b" t="t" l="l"/>
              <a:pathLst>
                <a:path h="3017520" w="94183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9235440" y="0"/>
                  </a:lnTo>
                  <a:cubicBezTo>
                    <a:pt x="9336405" y="0"/>
                    <a:pt x="9418320" y="81915"/>
                    <a:pt x="9418320" y="182880"/>
                  </a:cubicBezTo>
                  <a:lnTo>
                    <a:pt x="9418320" y="2834640"/>
                  </a:lnTo>
                  <a:cubicBezTo>
                    <a:pt x="9418320" y="2935605"/>
                    <a:pt x="9336405" y="3017520"/>
                    <a:pt x="9235440" y="3017520"/>
                  </a:cubicBezTo>
                  <a:lnTo>
                    <a:pt x="182880" y="3017520"/>
                  </a:lnTo>
                  <a:cubicBezTo>
                    <a:pt x="81915" y="3017520"/>
                    <a:pt x="0" y="2935605"/>
                    <a:pt x="0" y="28346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269873" y="5449824"/>
            <a:ext cx="754380" cy="754380"/>
            <a:chOff x="0" y="0"/>
            <a:chExt cx="1005840" cy="1005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69873" y="5449824"/>
            <a:ext cx="754380" cy="754380"/>
            <a:chOff x="0" y="0"/>
            <a:chExt cx="1005840" cy="10058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100584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2257425" y="5326380"/>
            <a:ext cx="5349240" cy="548640"/>
            <a:chOff x="0" y="0"/>
            <a:chExt cx="7132320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132320" cy="731520"/>
            </a:xfrm>
            <a:custGeom>
              <a:avLst/>
              <a:gdLst/>
              <a:ahLst/>
              <a:cxnLst/>
              <a:rect r="r" b="b" t="t" l="l"/>
              <a:pathLst>
                <a:path h="73152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39979" r="0" b="-139979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28575"/>
              <a:ext cx="713232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No personal data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566785" y="5120640"/>
            <a:ext cx="7063740" cy="2263140"/>
            <a:chOff x="0" y="0"/>
            <a:chExt cx="9418320" cy="30175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9418320" cy="3017520"/>
            </a:xfrm>
            <a:custGeom>
              <a:avLst/>
              <a:gdLst/>
              <a:ahLst/>
              <a:cxnLst/>
              <a:rect r="r" b="b" t="t" l="l"/>
              <a:pathLst>
                <a:path h="3017520" w="94183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9235440" y="0"/>
                  </a:lnTo>
                  <a:cubicBezTo>
                    <a:pt x="9336405" y="0"/>
                    <a:pt x="9418320" y="81915"/>
                    <a:pt x="9418320" y="182880"/>
                  </a:cubicBezTo>
                  <a:lnTo>
                    <a:pt x="9418320" y="2834640"/>
                  </a:lnTo>
                  <a:cubicBezTo>
                    <a:pt x="9418320" y="2935605"/>
                    <a:pt x="9336405" y="3017520"/>
                    <a:pt x="9235440" y="3017520"/>
                  </a:cubicBezTo>
                  <a:lnTo>
                    <a:pt x="182880" y="3017520"/>
                  </a:lnTo>
                  <a:cubicBezTo>
                    <a:pt x="81915" y="3017520"/>
                    <a:pt x="0" y="2935605"/>
                    <a:pt x="0" y="28346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8950833" y="5449824"/>
            <a:ext cx="754380" cy="754380"/>
            <a:chOff x="0" y="0"/>
            <a:chExt cx="1005840" cy="100584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8950833" y="5449824"/>
            <a:ext cx="754380" cy="754380"/>
            <a:chOff x="0" y="0"/>
            <a:chExt cx="1005840" cy="10058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100584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938385" y="5326380"/>
            <a:ext cx="5349240" cy="548640"/>
            <a:chOff x="0" y="0"/>
            <a:chExt cx="7132320" cy="73152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132320" cy="731520"/>
            </a:xfrm>
            <a:custGeom>
              <a:avLst/>
              <a:gdLst/>
              <a:ahLst/>
              <a:cxnLst/>
              <a:rect r="r" b="b" t="t" l="l"/>
              <a:pathLst>
                <a:path h="731520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39979" r="0" b="-139979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28575"/>
              <a:ext cx="7132320" cy="7600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2250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Genuine question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8942189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Five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 places to find a dataset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71550" y="2400300"/>
            <a:ext cx="14744700" cy="987552"/>
            <a:chOff x="0" y="0"/>
            <a:chExt cx="19659600" cy="131673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6596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96596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9476720" y="0"/>
                  </a:lnTo>
                  <a:cubicBezTo>
                    <a:pt x="19577684" y="0"/>
                    <a:pt x="19659600" y="81915"/>
                    <a:pt x="19659600" y="182880"/>
                  </a:cubicBezTo>
                  <a:lnTo>
                    <a:pt x="19659600" y="1133856"/>
                  </a:lnTo>
                  <a:cubicBezTo>
                    <a:pt x="19659600" y="1234821"/>
                    <a:pt x="19577684" y="1316736"/>
                    <a:pt x="19476720" y="1316736"/>
                  </a:cubicBezTo>
                  <a:lnTo>
                    <a:pt x="182880" y="1316736"/>
                  </a:lnTo>
                  <a:cubicBezTo>
                    <a:pt x="81915" y="1316736"/>
                    <a:pt x="0" y="1234821"/>
                    <a:pt x="0" y="113385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14450" y="2606040"/>
            <a:ext cx="576072" cy="576072"/>
            <a:chOff x="0" y="0"/>
            <a:chExt cx="768096" cy="76809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14450" y="2606040"/>
            <a:ext cx="576072" cy="576072"/>
            <a:chOff x="0" y="0"/>
            <a:chExt cx="768096" cy="76809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768096" cy="7966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205990" y="2510028"/>
            <a:ext cx="4937760" cy="438912"/>
            <a:chOff x="0" y="0"/>
            <a:chExt cx="6583680" cy="58521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583680" cy="585216"/>
            </a:xfrm>
            <a:custGeom>
              <a:avLst/>
              <a:gdLst/>
              <a:ahLst/>
              <a:cxnLst/>
              <a:rect r="r" b="b" t="t" l="l"/>
              <a:pathLst>
                <a:path h="585216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658368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Kaggle Datasets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2205990" y="2921508"/>
            <a:ext cx="4937760" cy="384048"/>
            <a:chOff x="0" y="0"/>
            <a:chExt cx="6583680" cy="51206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583680" cy="512064"/>
            </a:xfrm>
            <a:custGeom>
              <a:avLst/>
              <a:gdLst/>
              <a:ahLst/>
              <a:cxnLst/>
              <a:rect r="r" b="b" t="t" l="l"/>
              <a:pathLst>
                <a:path h="512064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658368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87F7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kaggle.com/datasets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486650" y="2400300"/>
            <a:ext cx="8092440" cy="987552"/>
            <a:chOff x="0" y="0"/>
            <a:chExt cx="10789920" cy="131673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78992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09669" r="0" b="-109669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10789920" cy="1364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65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The widest selection. Filter by licence.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71550" y="3566160"/>
            <a:ext cx="14744700" cy="987552"/>
            <a:chOff x="0" y="0"/>
            <a:chExt cx="19659600" cy="131673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6596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96596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9476720" y="0"/>
                  </a:lnTo>
                  <a:cubicBezTo>
                    <a:pt x="19577684" y="0"/>
                    <a:pt x="19659600" y="81915"/>
                    <a:pt x="19659600" y="182880"/>
                  </a:cubicBezTo>
                  <a:lnTo>
                    <a:pt x="19659600" y="1133856"/>
                  </a:lnTo>
                  <a:cubicBezTo>
                    <a:pt x="19659600" y="1234821"/>
                    <a:pt x="19577684" y="1316736"/>
                    <a:pt x="19476720" y="1316736"/>
                  </a:cubicBezTo>
                  <a:lnTo>
                    <a:pt x="182880" y="1316736"/>
                  </a:lnTo>
                  <a:cubicBezTo>
                    <a:pt x="81915" y="1316736"/>
                    <a:pt x="0" y="1234821"/>
                    <a:pt x="0" y="113385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314450" y="3771900"/>
            <a:ext cx="576072" cy="576072"/>
            <a:chOff x="0" y="0"/>
            <a:chExt cx="768096" cy="76809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314450" y="3771900"/>
            <a:ext cx="576072" cy="576072"/>
            <a:chOff x="0" y="0"/>
            <a:chExt cx="768096" cy="76809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768096" cy="7966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2205990" y="3675888"/>
            <a:ext cx="4937760" cy="438912"/>
            <a:chOff x="0" y="0"/>
            <a:chExt cx="6583680" cy="58521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583680" cy="585216"/>
            </a:xfrm>
            <a:custGeom>
              <a:avLst/>
              <a:gdLst/>
              <a:ahLst/>
              <a:cxnLst/>
              <a:rect r="r" b="b" t="t" l="l"/>
              <a:pathLst>
                <a:path h="585216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658368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National Bureau of Statistics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2205990" y="4087368"/>
            <a:ext cx="4937760" cy="384048"/>
            <a:chOff x="0" y="0"/>
            <a:chExt cx="6583680" cy="51206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583680" cy="512064"/>
            </a:xfrm>
            <a:custGeom>
              <a:avLst/>
              <a:gdLst/>
              <a:ahLst/>
              <a:cxnLst/>
              <a:rect r="r" b="b" t="t" l="l"/>
              <a:pathLst>
                <a:path h="512064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658368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87F7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nigerianstat.gov.ng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7486650" y="3566160"/>
            <a:ext cx="8092440" cy="987552"/>
            <a:chOff x="0" y="0"/>
            <a:chExt cx="10789920" cy="131673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78992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09669" r="0" b="-109669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47625"/>
              <a:ext cx="10789920" cy="1364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65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Official Nigerian economic and social data, ideal for local scenarios.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971550" y="4732020"/>
            <a:ext cx="14744700" cy="987552"/>
            <a:chOff x="0" y="0"/>
            <a:chExt cx="19659600" cy="131673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96596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96596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9476720" y="0"/>
                  </a:lnTo>
                  <a:cubicBezTo>
                    <a:pt x="19577684" y="0"/>
                    <a:pt x="19659600" y="81915"/>
                    <a:pt x="19659600" y="182880"/>
                  </a:cubicBezTo>
                  <a:lnTo>
                    <a:pt x="19659600" y="1133856"/>
                  </a:lnTo>
                  <a:cubicBezTo>
                    <a:pt x="19659600" y="1234821"/>
                    <a:pt x="19577684" y="1316736"/>
                    <a:pt x="19476720" y="1316736"/>
                  </a:cubicBezTo>
                  <a:lnTo>
                    <a:pt x="182880" y="1316736"/>
                  </a:lnTo>
                  <a:cubicBezTo>
                    <a:pt x="81915" y="1316736"/>
                    <a:pt x="0" y="1234821"/>
                    <a:pt x="0" y="113385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314450" y="4937760"/>
            <a:ext cx="576072" cy="576072"/>
            <a:chOff x="0" y="0"/>
            <a:chExt cx="768096" cy="76809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314450" y="4937760"/>
            <a:ext cx="576072" cy="576072"/>
            <a:chOff x="0" y="0"/>
            <a:chExt cx="768096" cy="76809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768096" cy="7966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2205990" y="4841748"/>
            <a:ext cx="4937760" cy="438912"/>
            <a:chOff x="0" y="0"/>
            <a:chExt cx="6583680" cy="58521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6583680" cy="585216"/>
            </a:xfrm>
            <a:custGeom>
              <a:avLst/>
              <a:gdLst/>
              <a:ahLst/>
              <a:cxnLst/>
              <a:rect r="r" b="b" t="t" l="l"/>
              <a:pathLst>
                <a:path h="585216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19050"/>
              <a:ext cx="658368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data.gov.ng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2205990" y="5253228"/>
            <a:ext cx="4937760" cy="384048"/>
            <a:chOff x="0" y="0"/>
            <a:chExt cx="6583680" cy="51206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583680" cy="512064"/>
            </a:xfrm>
            <a:custGeom>
              <a:avLst/>
              <a:gdLst/>
              <a:ahLst/>
              <a:cxnLst/>
              <a:rect r="r" b="b" t="t" l="l"/>
              <a:pathLst>
                <a:path h="512064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658368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87F7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data.gov.ng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7486650" y="4732020"/>
            <a:ext cx="8092440" cy="987552"/>
            <a:chOff x="0" y="0"/>
            <a:chExt cx="10789920" cy="131673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78992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09669" r="0" b="-109669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47625"/>
              <a:ext cx="10789920" cy="1364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65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Nigerian open government data.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971550" y="5897880"/>
            <a:ext cx="14744700" cy="987552"/>
            <a:chOff x="0" y="0"/>
            <a:chExt cx="19659600" cy="131673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96596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96596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9476720" y="0"/>
                  </a:lnTo>
                  <a:cubicBezTo>
                    <a:pt x="19577684" y="0"/>
                    <a:pt x="19659600" y="81915"/>
                    <a:pt x="19659600" y="182880"/>
                  </a:cubicBezTo>
                  <a:lnTo>
                    <a:pt x="19659600" y="1133856"/>
                  </a:lnTo>
                  <a:cubicBezTo>
                    <a:pt x="19659600" y="1234821"/>
                    <a:pt x="19577684" y="1316736"/>
                    <a:pt x="19476720" y="1316736"/>
                  </a:cubicBezTo>
                  <a:lnTo>
                    <a:pt x="182880" y="1316736"/>
                  </a:lnTo>
                  <a:cubicBezTo>
                    <a:pt x="81915" y="1316736"/>
                    <a:pt x="0" y="1234821"/>
                    <a:pt x="0" y="113385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314450" y="6103620"/>
            <a:ext cx="576072" cy="576072"/>
            <a:chOff x="0" y="0"/>
            <a:chExt cx="768096" cy="768096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314450" y="6103620"/>
            <a:ext cx="576072" cy="576072"/>
            <a:chOff x="0" y="0"/>
            <a:chExt cx="768096" cy="76809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28575"/>
              <a:ext cx="768096" cy="7966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2205990" y="6007608"/>
            <a:ext cx="4937760" cy="438912"/>
            <a:chOff x="0" y="0"/>
            <a:chExt cx="6583680" cy="585216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583680" cy="585216"/>
            </a:xfrm>
            <a:custGeom>
              <a:avLst/>
              <a:gdLst/>
              <a:ahLst/>
              <a:cxnLst/>
              <a:rect r="r" b="b" t="t" l="l"/>
              <a:pathLst>
                <a:path h="585216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658368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World Bank Open Data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2205990" y="6419088"/>
            <a:ext cx="4937760" cy="384048"/>
            <a:chOff x="0" y="0"/>
            <a:chExt cx="6583680" cy="51206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6583680" cy="512064"/>
            </a:xfrm>
            <a:custGeom>
              <a:avLst/>
              <a:gdLst/>
              <a:ahLst/>
              <a:cxnLst/>
              <a:rect r="r" b="b" t="t" l="l"/>
              <a:pathLst>
                <a:path h="512064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658368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87F7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data.worldbank.org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7486650" y="5897880"/>
            <a:ext cx="8092440" cy="987552"/>
            <a:chOff x="0" y="0"/>
            <a:chExt cx="10789920" cy="131673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78992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09669" r="0" b="-109669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47625"/>
              <a:ext cx="10789920" cy="1364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65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Clean country-level indicators, good for trend and comparison work.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971550" y="7063740"/>
            <a:ext cx="14744700" cy="987552"/>
            <a:chOff x="0" y="0"/>
            <a:chExt cx="19659600" cy="131673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965960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96596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9476720" y="0"/>
                  </a:lnTo>
                  <a:cubicBezTo>
                    <a:pt x="19577684" y="0"/>
                    <a:pt x="19659600" y="81915"/>
                    <a:pt x="19659600" y="182880"/>
                  </a:cubicBezTo>
                  <a:lnTo>
                    <a:pt x="19659600" y="1133856"/>
                  </a:lnTo>
                  <a:cubicBezTo>
                    <a:pt x="19659600" y="1234821"/>
                    <a:pt x="19577684" y="1316736"/>
                    <a:pt x="19476720" y="1316736"/>
                  </a:cubicBezTo>
                  <a:lnTo>
                    <a:pt x="182880" y="1316736"/>
                  </a:lnTo>
                  <a:cubicBezTo>
                    <a:pt x="81915" y="1316736"/>
                    <a:pt x="0" y="1234821"/>
                    <a:pt x="0" y="113385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314450" y="7269480"/>
            <a:ext cx="576072" cy="576072"/>
            <a:chOff x="0" y="0"/>
            <a:chExt cx="768096" cy="76809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384048"/>
                  </a:moveTo>
                  <a:cubicBezTo>
                    <a:pt x="0" y="171958"/>
                    <a:pt x="171958" y="0"/>
                    <a:pt x="384048" y="0"/>
                  </a:cubicBezTo>
                  <a:cubicBezTo>
                    <a:pt x="596138" y="0"/>
                    <a:pt x="768096" y="171958"/>
                    <a:pt x="768096" y="384048"/>
                  </a:cubicBezTo>
                  <a:cubicBezTo>
                    <a:pt x="768096" y="596138"/>
                    <a:pt x="596138" y="768096"/>
                    <a:pt x="384048" y="768096"/>
                  </a:cubicBezTo>
                  <a:cubicBezTo>
                    <a:pt x="171958" y="768096"/>
                    <a:pt x="0" y="596138"/>
                    <a:pt x="0" y="384048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314450" y="7269480"/>
            <a:ext cx="576072" cy="576072"/>
            <a:chOff x="0" y="0"/>
            <a:chExt cx="768096" cy="768096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768096" cy="768096"/>
            </a:xfrm>
            <a:custGeom>
              <a:avLst/>
              <a:gdLst/>
              <a:ahLst/>
              <a:cxnLst/>
              <a:rect r="r" b="b" t="t" l="l"/>
              <a:pathLst>
                <a:path h="76809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28575"/>
              <a:ext cx="768096" cy="7966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5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2205990" y="7173468"/>
            <a:ext cx="4937760" cy="438912"/>
            <a:chOff x="0" y="0"/>
            <a:chExt cx="6583680" cy="585216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6583680" cy="585216"/>
            </a:xfrm>
            <a:custGeom>
              <a:avLst/>
              <a:gdLst/>
              <a:ahLst/>
              <a:cxnLst/>
              <a:rect r="r" b="b" t="t" l="l"/>
              <a:pathLst>
                <a:path h="585216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-19050"/>
              <a:ext cx="658368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UN Data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2205990" y="7584948"/>
            <a:ext cx="4937760" cy="384048"/>
            <a:chOff x="0" y="0"/>
            <a:chExt cx="6583680" cy="51206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6583680" cy="512064"/>
            </a:xfrm>
            <a:custGeom>
              <a:avLst/>
              <a:gdLst/>
              <a:ahLst/>
              <a:cxnLst/>
              <a:rect r="r" b="b" t="t" l="l"/>
              <a:pathLst>
                <a:path h="512064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0"/>
              <a:ext cx="658368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87F7F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data.un.org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7486650" y="7063740"/>
            <a:ext cx="8092440" cy="987552"/>
            <a:chOff x="0" y="0"/>
            <a:chExt cx="10789920" cy="1316736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078992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0789920">
                  <a:moveTo>
                    <a:pt x="0" y="0"/>
                  </a:moveTo>
                  <a:lnTo>
                    <a:pt x="10789920" y="0"/>
                  </a:lnTo>
                  <a:lnTo>
                    <a:pt x="1078992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09669" r="0" b="-109669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47625"/>
              <a:ext cx="10789920" cy="13643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6"/>
                </a:lnSpc>
              </a:pPr>
              <a:r>
                <a:rPr lang="en-US" sz="1650">
                  <a:solidFill>
                    <a:srgbClr val="64748B"/>
                  </a:solidFill>
                  <a:latin typeface="Poppins"/>
                  <a:ea typeface="Poppins"/>
                  <a:cs typeface="Poppins"/>
                  <a:sym typeface="Poppins"/>
                </a:rPr>
                <a:t>International statistics.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971550" y="8366760"/>
            <a:ext cx="14744700" cy="1028700"/>
            <a:chOff x="0" y="0"/>
            <a:chExt cx="19659600" cy="137160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96596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96596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9495008" y="0"/>
                  </a:lnTo>
                  <a:cubicBezTo>
                    <a:pt x="19585939" y="0"/>
                    <a:pt x="19659600" y="73660"/>
                    <a:pt x="19659600" y="164592"/>
                  </a:cubicBezTo>
                  <a:lnTo>
                    <a:pt x="19659600" y="1207008"/>
                  </a:lnTo>
                  <a:cubicBezTo>
                    <a:pt x="19659600" y="1297940"/>
                    <a:pt x="19585939" y="1371600"/>
                    <a:pt x="19495008" y="1371600"/>
                  </a:cubicBezTo>
                  <a:lnTo>
                    <a:pt x="164592" y="1371600"/>
                  </a:lnTo>
                  <a:cubicBezTo>
                    <a:pt x="73660" y="1371600"/>
                    <a:pt x="0" y="1297940"/>
                    <a:pt x="0" y="1207008"/>
                  </a:cubicBezTo>
                  <a:close/>
                </a:path>
              </a:pathLst>
            </a:custGeom>
            <a:solidFill>
              <a:srgbClr val="EEF4F4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971550" y="8366760"/>
            <a:ext cx="102870" cy="1028700"/>
            <a:chOff x="0" y="0"/>
            <a:chExt cx="137160" cy="137160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13716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37160">
                  <a:moveTo>
                    <a:pt x="0" y="0"/>
                  </a:moveTo>
                  <a:lnTo>
                    <a:pt x="137160" y="0"/>
                  </a:lnTo>
                  <a:lnTo>
                    <a:pt x="13716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95" id="95"/>
          <p:cNvGrpSpPr/>
          <p:nvPr/>
        </p:nvGrpSpPr>
        <p:grpSpPr>
          <a:xfrm rot="0">
            <a:off x="1520190" y="8366760"/>
            <a:ext cx="13853160" cy="1028700"/>
            <a:chOff x="0" y="0"/>
            <a:chExt cx="18470880" cy="137160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847088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8470880">
                  <a:moveTo>
                    <a:pt x="0" y="0"/>
                  </a:moveTo>
                  <a:lnTo>
                    <a:pt x="18470880" y="0"/>
                  </a:lnTo>
                  <a:lnTo>
                    <a:pt x="18470880" y="1371600"/>
                  </a:lnTo>
                  <a:lnTo>
                    <a:pt x="0" y="13716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12398" r="0" b="-212398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66675"/>
              <a:ext cx="18470880" cy="14382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00"/>
                </a:lnSpc>
              </a:pPr>
              <a:r>
                <a:rPr lang="en-US" sz="1875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Preference, not a rule: a Nigerian dataset gives a stronger story in front of a Nigerian panel, and you will know whether the numbers are plausible.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  <p:txBody>
          <a:bodyPr/>
          <a:p/>
        </p:txBody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8" id="8"/>
          <p:cNvSpPr txBox="true"/>
          <p:nvPr/>
        </p:nvSpPr>
        <p:spPr>
          <a:xfrm rot="0">
            <a:off x="1143000" y="781050"/>
            <a:ext cx="17145000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60"/>
              </a:lnSpc>
            </a:pPr>
            <a:r>
              <a:rPr lang="en-US" sz="43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Three dataset choices that go wrong every cohort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04875" y="2769870"/>
            <a:ext cx="4594860" cy="4937760"/>
            <a:chOff x="0" y="0"/>
            <a:chExt cx="6126480" cy="65836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126480" cy="6583680"/>
            </a:xfrm>
            <a:custGeom>
              <a:avLst/>
              <a:gdLst/>
              <a:ahLst/>
              <a:cxnLst/>
              <a:rect r="r" b="b" t="t" l="l"/>
              <a:pathLst>
                <a:path h="6583680" w="61264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943600" y="0"/>
                  </a:lnTo>
                  <a:cubicBezTo>
                    <a:pt x="6044565" y="0"/>
                    <a:pt x="6126480" y="81915"/>
                    <a:pt x="6126480" y="182880"/>
                  </a:cubicBezTo>
                  <a:lnTo>
                    <a:pt x="6126480" y="6400800"/>
                  </a:lnTo>
                  <a:cubicBezTo>
                    <a:pt x="6126480" y="6501765"/>
                    <a:pt x="6044565" y="6583680"/>
                    <a:pt x="5943600" y="6583680"/>
                  </a:cubicBezTo>
                  <a:lnTo>
                    <a:pt x="182880" y="6583680"/>
                  </a:lnTo>
                  <a:cubicBezTo>
                    <a:pt x="81915" y="6583680"/>
                    <a:pt x="0" y="6501765"/>
                    <a:pt x="0" y="64008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04875" y="2769870"/>
            <a:ext cx="4594860" cy="123444"/>
            <a:chOff x="0" y="0"/>
            <a:chExt cx="6126480" cy="1645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126480" cy="164592"/>
            </a:xfrm>
            <a:custGeom>
              <a:avLst/>
              <a:gdLst/>
              <a:ahLst/>
              <a:cxnLst/>
              <a:rect r="r" b="b" t="t" l="l"/>
              <a:pathLst>
                <a:path h="164592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C9821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790825" y="3345942"/>
            <a:ext cx="822960" cy="822960"/>
            <a:chOff x="0" y="0"/>
            <a:chExt cx="1097280" cy="10972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C9821F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2790825" y="3345942"/>
            <a:ext cx="822960" cy="822960"/>
            <a:chOff x="0" y="0"/>
            <a:chExt cx="1097280" cy="10972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109728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!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04875" y="4415790"/>
            <a:ext cx="4594860" cy="617220"/>
            <a:chOff x="0" y="0"/>
            <a:chExt cx="6126480" cy="8229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126480" cy="822960"/>
            </a:xfrm>
            <a:custGeom>
              <a:avLst/>
              <a:gdLst/>
              <a:ahLst/>
              <a:cxnLst/>
              <a:rect r="r" b="b" t="t" l="l"/>
              <a:pathLst>
                <a:path h="82296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95055" r="0" b="-95055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6126480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0"/>
                </a:lnSpc>
              </a:pPr>
              <a:r>
                <a:rPr lang="en-US" sz="2325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Too clean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316355" y="5172075"/>
            <a:ext cx="3771900" cy="239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9"/>
              </a:lnSpc>
            </a:pPr>
            <a:r>
              <a:rPr lang="en-US" sz="1725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A tidy, pre-analysed competition file leaves you nothing to demonstrate. Half your marks come from cleaning and verification, and a spotless file gives you no evidence to present.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5883783" y="2769870"/>
            <a:ext cx="4594860" cy="4937760"/>
            <a:chOff x="0" y="0"/>
            <a:chExt cx="6126480" cy="658368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126480" cy="6583680"/>
            </a:xfrm>
            <a:custGeom>
              <a:avLst/>
              <a:gdLst/>
              <a:ahLst/>
              <a:cxnLst/>
              <a:rect r="r" b="b" t="t" l="l"/>
              <a:pathLst>
                <a:path h="6583680" w="61264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943600" y="0"/>
                  </a:lnTo>
                  <a:cubicBezTo>
                    <a:pt x="6044565" y="0"/>
                    <a:pt x="6126480" y="81915"/>
                    <a:pt x="6126480" y="182880"/>
                  </a:cubicBezTo>
                  <a:lnTo>
                    <a:pt x="6126480" y="6400800"/>
                  </a:lnTo>
                  <a:cubicBezTo>
                    <a:pt x="6126480" y="6501765"/>
                    <a:pt x="6044565" y="6583680"/>
                    <a:pt x="5943600" y="6583680"/>
                  </a:cubicBezTo>
                  <a:lnTo>
                    <a:pt x="182880" y="6583680"/>
                  </a:lnTo>
                  <a:cubicBezTo>
                    <a:pt x="81915" y="6583680"/>
                    <a:pt x="0" y="6501765"/>
                    <a:pt x="0" y="64008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883783" y="2769870"/>
            <a:ext cx="4594860" cy="123444"/>
            <a:chOff x="0" y="0"/>
            <a:chExt cx="6126480" cy="16459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126480" cy="164592"/>
            </a:xfrm>
            <a:custGeom>
              <a:avLst/>
              <a:gdLst/>
              <a:ahLst/>
              <a:cxnLst/>
              <a:rect r="r" b="b" t="t" l="l"/>
              <a:pathLst>
                <a:path h="164592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C9821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7769733" y="3345942"/>
            <a:ext cx="822960" cy="822960"/>
            <a:chOff x="0" y="0"/>
            <a:chExt cx="1097280" cy="109728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C9821F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7769733" y="3345942"/>
            <a:ext cx="822960" cy="822960"/>
            <a:chOff x="0" y="0"/>
            <a:chExt cx="1097280" cy="109728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28575"/>
              <a:ext cx="109728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!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5883783" y="4415790"/>
            <a:ext cx="4594860" cy="617220"/>
            <a:chOff x="0" y="0"/>
            <a:chExt cx="6126480" cy="8229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126480" cy="822960"/>
            </a:xfrm>
            <a:custGeom>
              <a:avLst/>
              <a:gdLst/>
              <a:ahLst/>
              <a:cxnLst/>
              <a:rect r="r" b="b" t="t" l="l"/>
              <a:pathLst>
                <a:path h="82296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95055" r="0" b="-9505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6126480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0"/>
                </a:lnSpc>
              </a:pPr>
              <a:r>
                <a:rPr lang="en-US" sz="2325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Too big or complex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6295263" y="5172075"/>
            <a:ext cx="3771900" cy="239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9"/>
              </a:lnSpc>
            </a:pPr>
            <a:r>
              <a:rPr lang="en-US" sz="1725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Twelve million rows and forty columns is not ambition, it is time spent loading files that Module 9 cannot spare. Some of that time has to go to presentation preparation, not data wrangling.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0862691" y="2769870"/>
            <a:ext cx="4594860" cy="4937760"/>
            <a:chOff x="0" y="0"/>
            <a:chExt cx="6126480" cy="658368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126480" cy="6583680"/>
            </a:xfrm>
            <a:custGeom>
              <a:avLst/>
              <a:gdLst/>
              <a:ahLst/>
              <a:cxnLst/>
              <a:rect r="r" b="b" t="t" l="l"/>
              <a:pathLst>
                <a:path h="6583680" w="61264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943600" y="0"/>
                  </a:lnTo>
                  <a:cubicBezTo>
                    <a:pt x="6044565" y="0"/>
                    <a:pt x="6126480" y="81915"/>
                    <a:pt x="6126480" y="182880"/>
                  </a:cubicBezTo>
                  <a:lnTo>
                    <a:pt x="6126480" y="6400800"/>
                  </a:lnTo>
                  <a:cubicBezTo>
                    <a:pt x="6126480" y="6501765"/>
                    <a:pt x="6044565" y="6583680"/>
                    <a:pt x="5943600" y="6583680"/>
                  </a:cubicBezTo>
                  <a:lnTo>
                    <a:pt x="182880" y="6583680"/>
                  </a:lnTo>
                  <a:cubicBezTo>
                    <a:pt x="81915" y="6583680"/>
                    <a:pt x="0" y="6501765"/>
                    <a:pt x="0" y="64008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0862691" y="2769870"/>
            <a:ext cx="4594860" cy="123444"/>
            <a:chOff x="0" y="0"/>
            <a:chExt cx="6126480" cy="16459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126480" cy="164592"/>
            </a:xfrm>
            <a:custGeom>
              <a:avLst/>
              <a:gdLst/>
              <a:ahLst/>
              <a:cxnLst/>
              <a:rect r="r" b="b" t="t" l="l"/>
              <a:pathLst>
                <a:path h="164592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164592"/>
                  </a:lnTo>
                  <a:lnTo>
                    <a:pt x="0" y="164592"/>
                  </a:lnTo>
                  <a:close/>
                </a:path>
              </a:pathLst>
            </a:custGeom>
            <a:solidFill>
              <a:srgbClr val="C9821F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2748641" y="3345942"/>
            <a:ext cx="822960" cy="822960"/>
            <a:chOff x="0" y="0"/>
            <a:chExt cx="1097280" cy="109728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C9821F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2748641" y="3345942"/>
            <a:ext cx="822960" cy="822960"/>
            <a:chOff x="0" y="0"/>
            <a:chExt cx="1097280" cy="10972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972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8575"/>
              <a:ext cx="1097280" cy="1125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960"/>
                </a:lnSpc>
              </a:pPr>
              <a:r>
                <a:rPr lang="en-US" sz="33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!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0862691" y="4415790"/>
            <a:ext cx="4594860" cy="617220"/>
            <a:chOff x="0" y="0"/>
            <a:chExt cx="6126480" cy="8229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126480" cy="822960"/>
            </a:xfrm>
            <a:custGeom>
              <a:avLst/>
              <a:gdLst/>
              <a:ahLst/>
              <a:cxnLst/>
              <a:rect r="r" b="b" t="t" l="l"/>
              <a:pathLst>
                <a:path h="822960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95055" r="0" b="-9505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6126480" cy="8324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0"/>
                </a:lnSpc>
              </a:pPr>
              <a:r>
                <a:rPr lang="en-US" sz="2325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No real question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1274171" y="5172075"/>
            <a:ext cx="3771900" cy="2398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9"/>
              </a:lnSpc>
            </a:pPr>
            <a:r>
              <a:rPr lang="en-US" sz="1725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The most common failure. The dataset is fascinating, the trainee cannot say what decision it informs, and the panel becomes a description of columns.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13361095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Decide what never enters an AI tool,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 today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23925" y="2468880"/>
            <a:ext cx="14744700" cy="3291840"/>
            <a:chOff x="0" y="0"/>
            <a:chExt cx="19659600" cy="43891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659600" cy="4389120"/>
            </a:xfrm>
            <a:custGeom>
              <a:avLst/>
              <a:gdLst/>
              <a:ahLst/>
              <a:cxnLst/>
              <a:rect r="r" b="b" t="t" l="l"/>
              <a:pathLst>
                <a:path h="4389120" w="196596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9476720" y="0"/>
                  </a:lnTo>
                  <a:cubicBezTo>
                    <a:pt x="19577684" y="0"/>
                    <a:pt x="19659600" y="81915"/>
                    <a:pt x="19659600" y="182880"/>
                  </a:cubicBezTo>
                  <a:lnTo>
                    <a:pt x="19659600" y="4206240"/>
                  </a:lnTo>
                  <a:cubicBezTo>
                    <a:pt x="19659600" y="4307205"/>
                    <a:pt x="19577684" y="4389120"/>
                    <a:pt x="19476720" y="4389120"/>
                  </a:cubicBezTo>
                  <a:lnTo>
                    <a:pt x="182880" y="4389120"/>
                  </a:lnTo>
                  <a:cubicBezTo>
                    <a:pt x="81915" y="4389120"/>
                    <a:pt x="0" y="4307205"/>
                    <a:pt x="0" y="42062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403985" y="2628900"/>
            <a:ext cx="13853160" cy="285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5"/>
              </a:lnSpc>
            </a:pPr>
            <a:r>
              <a:rPr lang="en-US" sz="225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Milestone three requires a responsible data and AI record: what you handled, what did and did not go into AI tools, and how every AI-assisted output was verified. That record is assessed.</a:t>
            </a:r>
          </a:p>
          <a:p>
            <a:pPr algn="l">
              <a:lnSpc>
                <a:spcPts val="3645"/>
              </a:lnSpc>
            </a:pPr>
          </a:p>
          <a:p>
            <a:pPr algn="l">
              <a:lnSpc>
                <a:spcPts val="3645"/>
              </a:lnSpc>
            </a:pPr>
            <a:r>
              <a:rPr lang="en-US" sz="225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Start it now, on day one. Reconstructing it later from memory produces a document that is fiction.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3925" y="6035040"/>
            <a:ext cx="14744700" cy="1577340"/>
            <a:chOff x="0" y="0"/>
            <a:chExt cx="19659600" cy="21031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9659600" cy="2103120"/>
            </a:xfrm>
            <a:custGeom>
              <a:avLst/>
              <a:gdLst/>
              <a:ahLst/>
              <a:cxnLst/>
              <a:rect r="r" b="b" t="t" l="l"/>
              <a:pathLst>
                <a:path h="2103120" w="196596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9495008" y="0"/>
                  </a:lnTo>
                  <a:cubicBezTo>
                    <a:pt x="19585939" y="0"/>
                    <a:pt x="19659600" y="73660"/>
                    <a:pt x="19659600" y="164592"/>
                  </a:cubicBezTo>
                  <a:lnTo>
                    <a:pt x="19659600" y="1938528"/>
                  </a:lnTo>
                  <a:cubicBezTo>
                    <a:pt x="19659600" y="2029460"/>
                    <a:pt x="19585939" y="2103120"/>
                    <a:pt x="19495008" y="2103120"/>
                  </a:cubicBezTo>
                  <a:lnTo>
                    <a:pt x="164592" y="2103120"/>
                  </a:lnTo>
                  <a:cubicBezTo>
                    <a:pt x="73660" y="2103120"/>
                    <a:pt x="0" y="2029460"/>
                    <a:pt x="0" y="1938528"/>
                  </a:cubicBezTo>
                  <a:close/>
                </a:path>
              </a:pathLst>
            </a:custGeom>
            <a:solidFill>
              <a:srgbClr val="EEF4F4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403985" y="6205728"/>
            <a:ext cx="13853160" cy="487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3"/>
              </a:lnSpc>
            </a:pPr>
            <a:r>
              <a:rPr lang="en-US" sz="1650" b="true">
                <a:solidFill>
                  <a:srgbClr val="387F7F"/>
                </a:solidFill>
                <a:latin typeface="Poppins Bold"/>
                <a:ea typeface="Poppins Bold"/>
                <a:cs typeface="Poppins Bold"/>
                <a:sym typeface="Poppins Bold"/>
              </a:rPr>
              <a:t>OPEN A FILE TODAY WITH THREE HEADINGS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03985" y="6672072"/>
            <a:ext cx="13853160" cy="89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1875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What personal data was in the source, and what I did about it.  ·  What I have uploaded to which AI tool.  ·  How I verified each AI-assisted output.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23925" y="7886700"/>
            <a:ext cx="14744700" cy="1165860"/>
            <a:chOff x="0" y="0"/>
            <a:chExt cx="19659600" cy="155448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65960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96596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9495008" y="0"/>
                  </a:lnTo>
                  <a:cubicBezTo>
                    <a:pt x="19585939" y="0"/>
                    <a:pt x="19659600" y="73660"/>
                    <a:pt x="19659600" y="164592"/>
                  </a:cubicBezTo>
                  <a:lnTo>
                    <a:pt x="19659600" y="1389888"/>
                  </a:lnTo>
                  <a:cubicBezTo>
                    <a:pt x="19659600" y="1480820"/>
                    <a:pt x="19585939" y="1554480"/>
                    <a:pt x="19495008" y="1554480"/>
                  </a:cubicBezTo>
                  <a:lnTo>
                    <a:pt x="164592" y="1554480"/>
                  </a:lnTo>
                  <a:cubicBezTo>
                    <a:pt x="73660" y="1554480"/>
                    <a:pt x="0" y="1480820"/>
                    <a:pt x="0" y="1389888"/>
                  </a:cubicBezTo>
                  <a:close/>
                </a:path>
              </a:pathLst>
            </a:custGeom>
            <a:solidFill>
              <a:srgbClr val="FBF3E6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23925" y="7886700"/>
            <a:ext cx="102870" cy="1165860"/>
            <a:chOff x="0" y="0"/>
            <a:chExt cx="137160" cy="155448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716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37160">
                  <a:moveTo>
                    <a:pt x="0" y="0"/>
                  </a:moveTo>
                  <a:lnTo>
                    <a:pt x="137160" y="0"/>
                  </a:lnTo>
                  <a:lnTo>
                    <a:pt x="137160" y="1554480"/>
                  </a:lnTo>
                  <a:lnTo>
                    <a:pt x="0" y="1554480"/>
                  </a:lnTo>
                  <a:close/>
                </a:path>
              </a:pathLst>
            </a:custGeom>
            <a:solidFill>
              <a:srgbClr val="C9821F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472565" y="7886700"/>
            <a:ext cx="13853160" cy="1165860"/>
            <a:chOff x="0" y="0"/>
            <a:chExt cx="18470880" cy="15544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84708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8470880">
                  <a:moveTo>
                    <a:pt x="0" y="0"/>
                  </a:moveTo>
                  <a:lnTo>
                    <a:pt x="18470880" y="0"/>
                  </a:lnTo>
                  <a:lnTo>
                    <a:pt x="184708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81528" r="0" b="-181528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66675"/>
              <a:ext cx="18470880" cy="16211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08"/>
                </a:lnSpc>
              </a:pPr>
              <a:r>
                <a:rPr lang="en-US" sz="1950" b="true">
                  <a:solidFill>
                    <a:srgbClr val="8A5A12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If your dataset contains personal data, strip it before you upload anything anywhere. Not after you have explored it. Before.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20494A"/>
            </a:solid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16689057" y="30904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850392" y="480060"/>
            <a:ext cx="4389120" cy="2880360"/>
            <a:chOff x="0" y="0"/>
            <a:chExt cx="5852160" cy="38404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852160" cy="3840480"/>
            </a:xfrm>
            <a:custGeom>
              <a:avLst/>
              <a:gdLst/>
              <a:ahLst/>
              <a:cxnLst/>
              <a:rect r="r" b="b" t="t" l="l"/>
              <a:pathLst>
                <a:path h="38404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840480"/>
                  </a:lnTo>
                  <a:lnTo>
                    <a:pt x="0" y="38404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34199" t="0" r="-34199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0"/>
              <a:ext cx="5852160" cy="4030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0"/>
                </a:lnSpc>
              </a:pPr>
              <a:r>
                <a:rPr lang="en-US" sz="19500" b="true">
                  <a:solidFill>
                    <a:srgbClr val="2F6364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02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69848" y="3730752"/>
            <a:ext cx="10149840" cy="466344"/>
            <a:chOff x="0" y="0"/>
            <a:chExt cx="13533120" cy="62179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533120" cy="621792"/>
            </a:xfrm>
            <a:custGeom>
              <a:avLst/>
              <a:gdLst/>
              <a:ahLst/>
              <a:cxnLst/>
              <a:rect r="r" b="b" t="t" l="l"/>
              <a:pathLst>
                <a:path h="621792" w="13533120">
                  <a:moveTo>
                    <a:pt x="0" y="0"/>
                  </a:moveTo>
                  <a:lnTo>
                    <a:pt x="13533120" y="0"/>
                  </a:lnTo>
                  <a:lnTo>
                    <a:pt x="13533120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74086" r="0" b="-37408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9050"/>
              <a:ext cx="1353312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b="true" sz="1950" spc="375">
                  <a:solidFill>
                    <a:srgbClr val="8FBEB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PART TWO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69848" y="4361688"/>
            <a:ext cx="1851660" cy="116586"/>
            <a:chOff x="0" y="0"/>
            <a:chExt cx="2468880" cy="1554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68880" cy="155448"/>
            </a:xfrm>
            <a:custGeom>
              <a:avLst/>
              <a:gdLst/>
              <a:ahLst/>
              <a:cxnLst/>
              <a:rect r="r" b="b" t="t" l="l"/>
              <a:pathLst>
                <a:path h="155448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155448"/>
                  </a:lnTo>
                  <a:lnTo>
                    <a:pt x="0" y="155448"/>
                  </a:ln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1069848" y="4732020"/>
            <a:ext cx="11109960" cy="2194560"/>
            <a:chOff x="0" y="0"/>
            <a:chExt cx="14813280" cy="29260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8132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4813280">
                  <a:moveTo>
                    <a:pt x="0" y="0"/>
                  </a:moveTo>
                  <a:lnTo>
                    <a:pt x="14813280" y="0"/>
                  </a:lnTo>
                  <a:lnTo>
                    <a:pt x="1481328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8643" r="0" b="-4864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04775"/>
              <a:ext cx="14813280" cy="30308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998"/>
                </a:lnSpc>
              </a:pPr>
              <a:r>
                <a:rPr lang="en-US" sz="54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The hour itself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645920" y="7283196"/>
            <a:ext cx="9875520" cy="466344"/>
            <a:chOff x="0" y="0"/>
            <a:chExt cx="13167360" cy="62179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167361" cy="621792"/>
            </a:xfrm>
            <a:custGeom>
              <a:avLst/>
              <a:gdLst/>
              <a:ahLst/>
              <a:cxnLst/>
              <a:rect r="r" b="b" t="t" l="l"/>
              <a:pathLst>
                <a:path h="621792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62624" r="0" b="-36262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1316736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C3DAD9"/>
                  </a:solidFill>
                  <a:latin typeface="Poppins"/>
                  <a:ea typeface="Poppins"/>
                  <a:cs typeface="Poppins"/>
                  <a:sym typeface="Poppins"/>
                </a:rPr>
                <a:t>Twenty minutes to draft your proposal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645920" y="7859268"/>
            <a:ext cx="9875520" cy="466344"/>
            <a:chOff x="0" y="0"/>
            <a:chExt cx="13167360" cy="62179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167361" cy="621792"/>
            </a:xfrm>
            <a:custGeom>
              <a:avLst/>
              <a:gdLst/>
              <a:ahLst/>
              <a:cxnLst/>
              <a:rect r="r" b="b" t="t" l="l"/>
              <a:pathLst>
                <a:path h="621792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62624" r="0" b="-362624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1316736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C3DAD9"/>
                  </a:solidFill>
                  <a:latin typeface="Poppins"/>
                  <a:ea typeface="Poppins"/>
                  <a:cs typeface="Poppins"/>
                  <a:sym typeface="Poppins"/>
                </a:rPr>
                <a:t>Meet your mentor and agree a plan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645920" y="8435340"/>
            <a:ext cx="9875520" cy="466344"/>
            <a:chOff x="0" y="0"/>
            <a:chExt cx="13167360" cy="62179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167361" cy="621792"/>
            </a:xfrm>
            <a:custGeom>
              <a:avLst/>
              <a:gdLst/>
              <a:ahLst/>
              <a:cxnLst/>
              <a:rect r="r" b="b" t="t" l="l"/>
              <a:pathLst>
                <a:path h="621792" w="13167361">
                  <a:moveTo>
                    <a:pt x="0" y="0"/>
                  </a:moveTo>
                  <a:lnTo>
                    <a:pt x="13167361" y="0"/>
                  </a:lnTo>
                  <a:lnTo>
                    <a:pt x="13167361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62624" r="0" b="-362624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13167360" cy="6408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>
                  <a:solidFill>
                    <a:srgbClr val="C3DAD9"/>
                  </a:solidFill>
                  <a:latin typeface="Poppins"/>
                  <a:ea typeface="Poppins"/>
                  <a:cs typeface="Poppins"/>
                  <a:sym typeface="Poppins"/>
                </a:rPr>
                <a:t>Sign off, or a considered not yet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612656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Draft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 your proposal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143000" y="1571625"/>
            <a:ext cx="8229600" cy="438912"/>
            <a:chOff x="0" y="0"/>
            <a:chExt cx="10972800" cy="58521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72800" cy="585216"/>
            </a:xfrm>
            <a:custGeom>
              <a:avLst/>
              <a:gdLst/>
              <a:ahLst/>
              <a:cxnLst/>
              <a:rect r="r" b="b" t="t" l="l"/>
              <a:pathLst>
                <a:path h="585216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15344" r="0" b="-31534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10972800" cy="6042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8FBEBE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YOUR TURN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087600" y="1303020"/>
            <a:ext cx="1851660" cy="754380"/>
            <a:chOff x="0" y="0"/>
            <a:chExt cx="2468880" cy="10058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688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68880">
                  <a:moveTo>
                    <a:pt x="0" y="493776"/>
                  </a:moveTo>
                  <a:cubicBezTo>
                    <a:pt x="0" y="221107"/>
                    <a:pt x="221107" y="0"/>
                    <a:pt x="493776" y="0"/>
                  </a:cubicBezTo>
                  <a:lnTo>
                    <a:pt x="1975104" y="0"/>
                  </a:lnTo>
                  <a:cubicBezTo>
                    <a:pt x="2247773" y="0"/>
                    <a:pt x="2468880" y="221107"/>
                    <a:pt x="2468880" y="493776"/>
                  </a:cubicBezTo>
                  <a:lnTo>
                    <a:pt x="2468880" y="512064"/>
                  </a:lnTo>
                  <a:cubicBezTo>
                    <a:pt x="2468880" y="784733"/>
                    <a:pt x="2247773" y="1005840"/>
                    <a:pt x="1975104" y="1005840"/>
                  </a:cubicBezTo>
                  <a:lnTo>
                    <a:pt x="493776" y="1005840"/>
                  </a:lnTo>
                  <a:cubicBezTo>
                    <a:pt x="221107" y="1005840"/>
                    <a:pt x="0" y="784733"/>
                    <a:pt x="0" y="512064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5087600" y="1303020"/>
            <a:ext cx="1851660" cy="754380"/>
            <a:chOff x="0" y="0"/>
            <a:chExt cx="2468880" cy="10058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6888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271" t="0" r="-2271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246888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20 min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52059" y="3017520"/>
            <a:ext cx="15636240" cy="3703320"/>
            <a:chOff x="0" y="0"/>
            <a:chExt cx="20848320" cy="49377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0848320" cy="4937760"/>
            </a:xfrm>
            <a:custGeom>
              <a:avLst/>
              <a:gdLst/>
              <a:ahLst/>
              <a:cxnLst/>
              <a:rect r="r" b="b" t="t" l="l"/>
              <a:pathLst>
                <a:path h="4937760" w="208483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20665439" y="0"/>
                  </a:lnTo>
                  <a:cubicBezTo>
                    <a:pt x="20766404" y="0"/>
                    <a:pt x="20848320" y="81915"/>
                    <a:pt x="20848320" y="182880"/>
                  </a:cubicBezTo>
                  <a:lnTo>
                    <a:pt x="20848320" y="4754880"/>
                  </a:lnTo>
                  <a:cubicBezTo>
                    <a:pt x="20848320" y="4855845"/>
                    <a:pt x="20766404" y="4937760"/>
                    <a:pt x="20665439" y="4937760"/>
                  </a:cubicBezTo>
                  <a:lnTo>
                    <a:pt x="182880" y="4937760"/>
                  </a:lnTo>
                  <a:cubicBezTo>
                    <a:pt x="81915" y="4937760"/>
                    <a:pt x="0" y="4855845"/>
                    <a:pt x="0" y="47548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52059" y="3017520"/>
            <a:ext cx="123444" cy="3703320"/>
            <a:chOff x="0" y="0"/>
            <a:chExt cx="164592" cy="493776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64592" cy="4937760"/>
            </a:xfrm>
            <a:custGeom>
              <a:avLst/>
              <a:gdLst/>
              <a:ahLst/>
              <a:cxnLst/>
              <a:rect r="r" b="b" t="t" l="l"/>
              <a:pathLst>
                <a:path h="4937760" w="164592">
                  <a:moveTo>
                    <a:pt x="0" y="0"/>
                  </a:moveTo>
                  <a:lnTo>
                    <a:pt x="164592" y="0"/>
                  </a:lnTo>
                  <a:lnTo>
                    <a:pt x="164592" y="4937760"/>
                  </a:lnTo>
                  <a:lnTo>
                    <a:pt x="0" y="4937760"/>
                  </a:ln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32119" y="3291840"/>
            <a:ext cx="14401800" cy="411480"/>
            <a:chOff x="0" y="0"/>
            <a:chExt cx="19202400" cy="548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202400" cy="548640"/>
            </a:xfrm>
            <a:custGeom>
              <a:avLst/>
              <a:gdLst/>
              <a:ahLst/>
              <a:cxnLst/>
              <a:rect r="r" b="b" t="t" l="l"/>
              <a:pathLst>
                <a:path h="548640" w="19202400">
                  <a:moveTo>
                    <a:pt x="0" y="0"/>
                  </a:moveTo>
                  <a:lnTo>
                    <a:pt x="19202400" y="0"/>
                  </a:lnTo>
                  <a:lnTo>
                    <a:pt x="192024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631976" r="0" b="-63197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19202400" cy="558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80"/>
                </a:lnSpc>
              </a:pPr>
              <a:r>
                <a:rPr lang="en-US" sz="1650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ON THE SIGN-OFF FORM, COMPLETE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332119" y="3840480"/>
            <a:ext cx="548640" cy="576072"/>
            <a:chOff x="0" y="0"/>
            <a:chExt cx="731520" cy="76809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31520" cy="768096"/>
            </a:xfrm>
            <a:custGeom>
              <a:avLst/>
              <a:gdLst/>
              <a:ahLst/>
              <a:cxnLst/>
              <a:rect r="r" b="b" t="t" l="l"/>
              <a:pathLst>
                <a:path h="76809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84718" t="0" r="-84718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73152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880759" y="3840480"/>
            <a:ext cx="14264640" cy="576072"/>
            <a:chOff x="0" y="0"/>
            <a:chExt cx="19019520" cy="76809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9019520" cy="768096"/>
            </a:xfrm>
            <a:custGeom>
              <a:avLst/>
              <a:gdLst/>
              <a:ahLst/>
              <a:cxnLst/>
              <a:rect r="r" b="b" t="t" l="l"/>
              <a:pathLst>
                <a:path h="768096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32486" r="0" b="-43248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0"/>
              <a:ext cx="19019520" cy="8633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1950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Your business question, in one sentence, using the template if it helps.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332119" y="4443984"/>
            <a:ext cx="548640" cy="576072"/>
            <a:chOff x="0" y="0"/>
            <a:chExt cx="731520" cy="76809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31520" cy="768096"/>
            </a:xfrm>
            <a:custGeom>
              <a:avLst/>
              <a:gdLst/>
              <a:ahLst/>
              <a:cxnLst/>
              <a:rect r="r" b="b" t="t" l="l"/>
              <a:pathLst>
                <a:path h="76809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84718" t="0" r="-84718" b="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73152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880759" y="4443984"/>
            <a:ext cx="14264640" cy="576072"/>
            <a:chOff x="0" y="0"/>
            <a:chExt cx="19019520" cy="76809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019520" cy="768096"/>
            </a:xfrm>
            <a:custGeom>
              <a:avLst/>
              <a:gdLst/>
              <a:ahLst/>
              <a:cxnLst/>
              <a:rect r="r" b="b" t="t" l="l"/>
              <a:pathLst>
                <a:path h="768096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32486" r="0" b="-432486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95250"/>
              <a:ext cx="19019520" cy="8633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1950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Your named decision maker and what they would do differently depending on the answer.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332119" y="5047488"/>
            <a:ext cx="548640" cy="576072"/>
            <a:chOff x="0" y="0"/>
            <a:chExt cx="731520" cy="76809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31520" cy="768096"/>
            </a:xfrm>
            <a:custGeom>
              <a:avLst/>
              <a:gdLst/>
              <a:ahLst/>
              <a:cxnLst/>
              <a:rect r="r" b="b" t="t" l="l"/>
              <a:pathLst>
                <a:path h="76809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84718" t="0" r="-84718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73152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880759" y="5047488"/>
            <a:ext cx="14264640" cy="576072"/>
            <a:chOff x="0" y="0"/>
            <a:chExt cx="19019520" cy="76809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9019520" cy="768096"/>
            </a:xfrm>
            <a:custGeom>
              <a:avLst/>
              <a:gdLst/>
              <a:ahLst/>
              <a:cxnLst/>
              <a:rect r="r" b="b" t="t" l="l"/>
              <a:pathLst>
                <a:path h="768096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32486" r="0" b="-432486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0"/>
              <a:ext cx="19019520" cy="8633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1950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Your dataset: source, link, licence, row count, column count.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32119" y="5650992"/>
            <a:ext cx="548640" cy="576072"/>
            <a:chOff x="0" y="0"/>
            <a:chExt cx="731520" cy="76809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31520" cy="768096"/>
            </a:xfrm>
            <a:custGeom>
              <a:avLst/>
              <a:gdLst/>
              <a:ahLst/>
              <a:cxnLst/>
              <a:rect r="r" b="b" t="t" l="l"/>
              <a:pathLst>
                <a:path h="768096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84718" t="0" r="-84718" b="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731520" cy="7871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4.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880759" y="5650992"/>
            <a:ext cx="14264640" cy="576072"/>
            <a:chOff x="0" y="0"/>
            <a:chExt cx="19019520" cy="76809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9019520" cy="768096"/>
            </a:xfrm>
            <a:custGeom>
              <a:avLst/>
              <a:gdLst/>
              <a:ahLst/>
              <a:cxnLst/>
              <a:rect r="r" b="b" t="t" l="l"/>
              <a:pathLst>
                <a:path h="768096" w="19019520">
                  <a:moveTo>
                    <a:pt x="0" y="0"/>
                  </a:moveTo>
                  <a:lnTo>
                    <a:pt x="19019520" y="0"/>
                  </a:lnTo>
                  <a:lnTo>
                    <a:pt x="1901952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32486" r="0" b="-432486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95250"/>
              <a:ext cx="19019520" cy="8633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59"/>
                </a:lnSpc>
              </a:pPr>
              <a:r>
                <a:rPr lang="en-US" sz="1950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Your answer to each of the four checklist criteria, in one line each.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852059" y="6995160"/>
            <a:ext cx="15636240" cy="1165860"/>
            <a:chOff x="0" y="0"/>
            <a:chExt cx="20848320" cy="155448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0848320" cy="1554480"/>
            </a:xfrm>
            <a:custGeom>
              <a:avLst/>
              <a:gdLst/>
              <a:ahLst/>
              <a:cxnLst/>
              <a:rect r="r" b="b" t="t" l="l"/>
              <a:pathLst>
                <a:path h="1554480" w="2084832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20683728" y="0"/>
                  </a:lnTo>
                  <a:cubicBezTo>
                    <a:pt x="20774661" y="0"/>
                    <a:pt x="20848320" y="73660"/>
                    <a:pt x="20848320" y="164592"/>
                  </a:cubicBezTo>
                  <a:lnTo>
                    <a:pt x="20848320" y="1389888"/>
                  </a:lnTo>
                  <a:cubicBezTo>
                    <a:pt x="20848320" y="1480820"/>
                    <a:pt x="20774661" y="1554480"/>
                    <a:pt x="20683728" y="1554480"/>
                  </a:cubicBezTo>
                  <a:lnTo>
                    <a:pt x="164592" y="1554480"/>
                  </a:lnTo>
                  <a:cubicBezTo>
                    <a:pt x="73660" y="1554480"/>
                    <a:pt x="0" y="1480820"/>
                    <a:pt x="0" y="1389888"/>
                  </a:cubicBezTo>
                  <a:close/>
                </a:path>
              </a:pathLst>
            </a:custGeom>
            <a:solidFill>
              <a:srgbClr val="EEF4F4"/>
            </a:solid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1332119" y="7184898"/>
            <a:ext cx="14813280" cy="811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1800" i="true">
                <a:solidFill>
                  <a:srgbClr val="64748B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Blank fields are not acceptable. “I do not have a dataset yet” is acceptable only in the source field, and it means your form is marked not yet.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883543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Your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 mentor is not a marker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04875" y="2537460"/>
            <a:ext cx="14744700" cy="1920240"/>
            <a:chOff x="0" y="0"/>
            <a:chExt cx="19659600" cy="25603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659600" cy="2560320"/>
            </a:xfrm>
            <a:custGeom>
              <a:avLst/>
              <a:gdLst/>
              <a:ahLst/>
              <a:cxnLst/>
              <a:rect r="r" b="b" t="t" l="l"/>
              <a:pathLst>
                <a:path h="2560320" w="196596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9476720" y="0"/>
                  </a:lnTo>
                  <a:cubicBezTo>
                    <a:pt x="19577684" y="0"/>
                    <a:pt x="19659600" y="81915"/>
                    <a:pt x="19659600" y="182880"/>
                  </a:cubicBezTo>
                  <a:lnTo>
                    <a:pt x="19659600" y="2377440"/>
                  </a:lnTo>
                  <a:cubicBezTo>
                    <a:pt x="19659600" y="2478405"/>
                    <a:pt x="19577684" y="2560320"/>
                    <a:pt x="19476720" y="2560320"/>
                  </a:cubicBezTo>
                  <a:lnTo>
                    <a:pt x="182880" y="2560320"/>
                  </a:lnTo>
                  <a:cubicBezTo>
                    <a:pt x="81915" y="2560320"/>
                    <a:pt x="0" y="2478405"/>
                    <a:pt x="0" y="23774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47775" y="2976372"/>
            <a:ext cx="754380" cy="754380"/>
            <a:chOff x="0" y="0"/>
            <a:chExt cx="1005840" cy="10058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47775" y="2976372"/>
            <a:ext cx="754380" cy="754380"/>
            <a:chOff x="0" y="0"/>
            <a:chExt cx="1005840" cy="10058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100584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1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413635" y="2743200"/>
            <a:ext cx="12893040" cy="548640"/>
            <a:chOff x="0" y="0"/>
            <a:chExt cx="17190720" cy="7315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190720" cy="731520"/>
            </a:xfrm>
            <a:custGeom>
              <a:avLst/>
              <a:gdLst/>
              <a:ahLst/>
              <a:cxnLst/>
              <a:rect r="r" b="b" t="t" l="l"/>
              <a:pathLst>
                <a:path h="731520" w="17190720">
                  <a:moveTo>
                    <a:pt x="0" y="0"/>
                  </a:moveTo>
                  <a:lnTo>
                    <a:pt x="17190720" y="0"/>
                  </a:lnTo>
                  <a:lnTo>
                    <a:pt x="17190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07898" r="0" b="-40789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71907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What they are for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2413635" y="3256788"/>
            <a:ext cx="12893040" cy="1063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Structured checkpoints against the capstone rubric, unsticking you when the analysis stalls, telling you early when something is not working.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04875" y="4732020"/>
            <a:ext cx="14744700" cy="1920240"/>
            <a:chOff x="0" y="0"/>
            <a:chExt cx="19659600" cy="25603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9659600" cy="2560320"/>
            </a:xfrm>
            <a:custGeom>
              <a:avLst/>
              <a:gdLst/>
              <a:ahLst/>
              <a:cxnLst/>
              <a:rect r="r" b="b" t="t" l="l"/>
              <a:pathLst>
                <a:path h="2560320" w="196596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9476720" y="0"/>
                  </a:lnTo>
                  <a:cubicBezTo>
                    <a:pt x="19577684" y="0"/>
                    <a:pt x="19659600" y="81915"/>
                    <a:pt x="19659600" y="182880"/>
                  </a:cubicBezTo>
                  <a:lnTo>
                    <a:pt x="19659600" y="2377440"/>
                  </a:lnTo>
                  <a:cubicBezTo>
                    <a:pt x="19659600" y="2478405"/>
                    <a:pt x="19577684" y="2560320"/>
                    <a:pt x="19476720" y="2560320"/>
                  </a:cubicBezTo>
                  <a:lnTo>
                    <a:pt x="182880" y="2560320"/>
                  </a:lnTo>
                  <a:cubicBezTo>
                    <a:pt x="81915" y="2560320"/>
                    <a:pt x="0" y="2478405"/>
                    <a:pt x="0" y="23774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247775" y="5170932"/>
            <a:ext cx="754380" cy="754380"/>
            <a:chOff x="0" y="0"/>
            <a:chExt cx="1005840" cy="10058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47775" y="5170932"/>
            <a:ext cx="754380" cy="754380"/>
            <a:chOff x="0" y="0"/>
            <a:chExt cx="1005840" cy="10058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100584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413635" y="4937760"/>
            <a:ext cx="12893040" cy="548640"/>
            <a:chOff x="0" y="0"/>
            <a:chExt cx="1719072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7190720" cy="731520"/>
            </a:xfrm>
            <a:custGeom>
              <a:avLst/>
              <a:gdLst/>
              <a:ahLst/>
              <a:cxnLst/>
              <a:rect r="r" b="b" t="t" l="l"/>
              <a:pathLst>
                <a:path h="731520" w="17190720">
                  <a:moveTo>
                    <a:pt x="0" y="0"/>
                  </a:moveTo>
                  <a:lnTo>
                    <a:pt x="17190720" y="0"/>
                  </a:lnTo>
                  <a:lnTo>
                    <a:pt x="17190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07898" r="0" b="-40789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171907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What they are not for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2413635" y="5451348"/>
            <a:ext cx="12893040" cy="1063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Doing the analysis, choosing your question, or approving work they have not seen. Arriving with nothing to show wastes your only guaranteed feedback.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04875" y="6926580"/>
            <a:ext cx="14744700" cy="1920240"/>
            <a:chOff x="0" y="0"/>
            <a:chExt cx="19659600" cy="25603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9659600" cy="2560320"/>
            </a:xfrm>
            <a:custGeom>
              <a:avLst/>
              <a:gdLst/>
              <a:ahLst/>
              <a:cxnLst/>
              <a:rect r="r" b="b" t="t" l="l"/>
              <a:pathLst>
                <a:path h="2560320" w="196596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9476720" y="0"/>
                  </a:lnTo>
                  <a:cubicBezTo>
                    <a:pt x="19577684" y="0"/>
                    <a:pt x="19659600" y="81915"/>
                    <a:pt x="19659600" y="182880"/>
                  </a:cubicBezTo>
                  <a:lnTo>
                    <a:pt x="19659600" y="2377440"/>
                  </a:lnTo>
                  <a:cubicBezTo>
                    <a:pt x="19659600" y="2478405"/>
                    <a:pt x="19577684" y="2560320"/>
                    <a:pt x="19476720" y="2560320"/>
                  </a:cubicBezTo>
                  <a:lnTo>
                    <a:pt x="182880" y="2560320"/>
                  </a:lnTo>
                  <a:cubicBezTo>
                    <a:pt x="81915" y="2560320"/>
                    <a:pt x="0" y="2478405"/>
                    <a:pt x="0" y="23774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247775" y="7365492"/>
            <a:ext cx="754380" cy="754380"/>
            <a:chOff x="0" y="0"/>
            <a:chExt cx="1005840" cy="10058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502920"/>
                  </a:moveTo>
                  <a:cubicBezTo>
                    <a:pt x="0" y="225171"/>
                    <a:pt x="225171" y="0"/>
                    <a:pt x="502920" y="0"/>
                  </a:cubicBezTo>
                  <a:cubicBezTo>
                    <a:pt x="780669" y="0"/>
                    <a:pt x="1005840" y="225171"/>
                    <a:pt x="1005840" y="502920"/>
                  </a:cubicBezTo>
                  <a:cubicBezTo>
                    <a:pt x="1005840" y="780669"/>
                    <a:pt x="780669" y="1005840"/>
                    <a:pt x="502920" y="1005840"/>
                  </a:cubicBezTo>
                  <a:cubicBezTo>
                    <a:pt x="225171" y="1005840"/>
                    <a:pt x="0" y="780669"/>
                    <a:pt x="0" y="502920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47775" y="7365492"/>
            <a:ext cx="754380" cy="754380"/>
            <a:chOff x="0" y="0"/>
            <a:chExt cx="1005840" cy="10058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05840" cy="1005840"/>
            </a:xfrm>
            <a:custGeom>
              <a:avLst/>
              <a:gdLst/>
              <a:ahLst/>
              <a:cxnLst/>
              <a:rect r="r" b="b" t="t" l="l"/>
              <a:pathLst>
                <a:path h="1005840" w="1005840">
                  <a:moveTo>
                    <a:pt x="0" y="0"/>
                  </a:moveTo>
                  <a:lnTo>
                    <a:pt x="1005840" y="0"/>
                  </a:lnTo>
                  <a:lnTo>
                    <a:pt x="100584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1005840" cy="10344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3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2413635" y="7132320"/>
            <a:ext cx="12893040" cy="548640"/>
            <a:chOff x="0" y="0"/>
            <a:chExt cx="17190720" cy="7315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7190720" cy="731520"/>
            </a:xfrm>
            <a:custGeom>
              <a:avLst/>
              <a:gdLst/>
              <a:ahLst/>
              <a:cxnLst/>
              <a:rect r="r" b="b" t="t" l="l"/>
              <a:pathLst>
                <a:path h="731520" w="17190720">
                  <a:moveTo>
                    <a:pt x="0" y="0"/>
                  </a:moveTo>
                  <a:lnTo>
                    <a:pt x="17190720" y="0"/>
                  </a:lnTo>
                  <a:lnTo>
                    <a:pt x="171907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07898" r="0" b="-407898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19050"/>
              <a:ext cx="1719072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A1A23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Agree today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2413635" y="7645908"/>
            <a:ext cx="12893040" cy="10637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64748B"/>
                </a:solidFill>
                <a:latin typeface="Poppins"/>
                <a:ea typeface="Poppins"/>
                <a:cs typeface="Poppins"/>
                <a:sym typeface="Poppins"/>
              </a:rPr>
              <a:t>Meeting times, the channel you will use, and what you bring to each one. Write it on the form.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874147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What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 happens to your form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76300" y="2537460"/>
            <a:ext cx="7063740" cy="3977640"/>
            <a:chOff x="0" y="0"/>
            <a:chExt cx="9418320" cy="5303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418320" cy="5303520"/>
            </a:xfrm>
            <a:custGeom>
              <a:avLst/>
              <a:gdLst/>
              <a:ahLst/>
              <a:cxnLst/>
              <a:rect r="r" b="b" t="t" l="l"/>
              <a:pathLst>
                <a:path h="5303520" w="94183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9235440" y="0"/>
                  </a:lnTo>
                  <a:cubicBezTo>
                    <a:pt x="9336405" y="0"/>
                    <a:pt x="9418320" y="81915"/>
                    <a:pt x="9418320" y="182880"/>
                  </a:cubicBezTo>
                  <a:lnTo>
                    <a:pt x="9418320" y="5120640"/>
                  </a:lnTo>
                  <a:cubicBezTo>
                    <a:pt x="9418320" y="5221605"/>
                    <a:pt x="9336405" y="5303520"/>
                    <a:pt x="9235440" y="5303520"/>
                  </a:cubicBezTo>
                  <a:lnTo>
                    <a:pt x="182880" y="5303520"/>
                  </a:lnTo>
                  <a:cubicBezTo>
                    <a:pt x="81915" y="5303520"/>
                    <a:pt x="0" y="5221605"/>
                    <a:pt x="0" y="51206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76300" y="2537460"/>
            <a:ext cx="7063740" cy="754380"/>
            <a:chOff x="0" y="0"/>
            <a:chExt cx="9418320" cy="10058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4183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76300" y="2537460"/>
            <a:ext cx="7063740" cy="754380"/>
            <a:chOff x="0" y="0"/>
            <a:chExt cx="9418320" cy="10058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4183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32450" r="0" b="-13245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941832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b="true" sz="2100" spc="1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SIGNED OFF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356360" y="3549015"/>
            <a:ext cx="6103620" cy="2691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8"/>
              </a:lnSpc>
            </a:pPr>
            <a:r>
              <a:rPr lang="en-US" sz="195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I countersign it today. You proceed to Milestone 1 and present your proposal to a small group for five minutes.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557260" y="2537460"/>
            <a:ext cx="7063740" cy="3977640"/>
            <a:chOff x="0" y="0"/>
            <a:chExt cx="9418320" cy="53035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418320" cy="5303520"/>
            </a:xfrm>
            <a:custGeom>
              <a:avLst/>
              <a:gdLst/>
              <a:ahLst/>
              <a:cxnLst/>
              <a:rect r="r" b="b" t="t" l="l"/>
              <a:pathLst>
                <a:path h="5303520" w="941832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9235440" y="0"/>
                  </a:lnTo>
                  <a:cubicBezTo>
                    <a:pt x="9336405" y="0"/>
                    <a:pt x="9418320" y="81915"/>
                    <a:pt x="9418320" y="182880"/>
                  </a:cubicBezTo>
                  <a:lnTo>
                    <a:pt x="9418320" y="5120640"/>
                  </a:lnTo>
                  <a:cubicBezTo>
                    <a:pt x="9418320" y="5221605"/>
                    <a:pt x="9336405" y="5303520"/>
                    <a:pt x="9235440" y="5303520"/>
                  </a:cubicBezTo>
                  <a:lnTo>
                    <a:pt x="182880" y="5303520"/>
                  </a:lnTo>
                  <a:cubicBezTo>
                    <a:pt x="81915" y="5303520"/>
                    <a:pt x="0" y="5221605"/>
                    <a:pt x="0" y="512064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557260" y="2537460"/>
            <a:ext cx="7063740" cy="754380"/>
            <a:chOff x="0" y="0"/>
            <a:chExt cx="9418320" cy="10058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4183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1005840"/>
                  </a:lnTo>
                  <a:lnTo>
                    <a:pt x="0" y="1005840"/>
                  </a:lnTo>
                  <a:close/>
                </a:path>
              </a:pathLst>
            </a:custGeom>
            <a:solidFill>
              <a:srgbClr val="C9821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557260" y="2537460"/>
            <a:ext cx="7063740" cy="754380"/>
            <a:chOff x="0" y="0"/>
            <a:chExt cx="9418320" cy="10058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418320" cy="1005840"/>
            </a:xfrm>
            <a:custGeom>
              <a:avLst/>
              <a:gdLst/>
              <a:ahLst/>
              <a:cxnLst/>
              <a:rect r="r" b="b" t="t" l="l"/>
              <a:pathLst>
                <a:path h="1005840" w="9418320">
                  <a:moveTo>
                    <a:pt x="0" y="0"/>
                  </a:moveTo>
                  <a:lnTo>
                    <a:pt x="9418320" y="0"/>
                  </a:lnTo>
                  <a:lnTo>
                    <a:pt x="9418320" y="1005840"/>
                  </a:lnTo>
                  <a:lnTo>
                    <a:pt x="0" y="10058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32450" r="0" b="-13245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9418320" cy="1024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b="true" sz="2100" spc="1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NOT YET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9037320" y="3549015"/>
            <a:ext cx="6103620" cy="2691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8"/>
              </a:lnSpc>
            </a:pPr>
            <a:r>
              <a:rPr lang="en-US" sz="195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I tell you which criterion failed and what would fix it. You resubmit before the proposal panel. This is common and not a judgement on you.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76300" y="6858000"/>
            <a:ext cx="14744700" cy="1783080"/>
            <a:chOff x="0" y="0"/>
            <a:chExt cx="19659600" cy="23774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659600" cy="2377440"/>
            </a:xfrm>
            <a:custGeom>
              <a:avLst/>
              <a:gdLst/>
              <a:ahLst/>
              <a:cxnLst/>
              <a:rect r="r" b="b" t="t" l="l"/>
              <a:pathLst>
                <a:path h="2377440" w="196596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9495008" y="0"/>
                  </a:lnTo>
                  <a:cubicBezTo>
                    <a:pt x="19585939" y="0"/>
                    <a:pt x="19659600" y="73660"/>
                    <a:pt x="19659600" y="164592"/>
                  </a:cubicBezTo>
                  <a:lnTo>
                    <a:pt x="19659600" y="2212848"/>
                  </a:lnTo>
                  <a:cubicBezTo>
                    <a:pt x="19659600" y="2303780"/>
                    <a:pt x="19585939" y="2377440"/>
                    <a:pt x="19495008" y="2377440"/>
                  </a:cubicBezTo>
                  <a:lnTo>
                    <a:pt x="164592" y="2377440"/>
                  </a:lnTo>
                  <a:cubicBezTo>
                    <a:pt x="73660" y="2377440"/>
                    <a:pt x="0" y="2303780"/>
                    <a:pt x="0" y="2212848"/>
                  </a:cubicBezTo>
                  <a:close/>
                </a:path>
              </a:pathLst>
            </a:custGeom>
            <a:solidFill>
              <a:srgbClr val="EEF4F4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76300" y="6858000"/>
            <a:ext cx="102870" cy="1783080"/>
            <a:chOff x="0" y="0"/>
            <a:chExt cx="137160" cy="23774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7160" cy="2377440"/>
            </a:xfrm>
            <a:custGeom>
              <a:avLst/>
              <a:gdLst/>
              <a:ahLst/>
              <a:cxnLst/>
              <a:rect r="r" b="b" t="t" l="l"/>
              <a:pathLst>
                <a:path h="2377440" w="137160">
                  <a:moveTo>
                    <a:pt x="0" y="0"/>
                  </a:moveTo>
                  <a:lnTo>
                    <a:pt x="137160" y="0"/>
                  </a:lnTo>
                  <a:lnTo>
                    <a:pt x="137160" y="2377440"/>
                  </a:lnTo>
                  <a:lnTo>
                    <a:pt x="0" y="2377440"/>
                  </a:lnTo>
                  <a:close/>
                </a:path>
              </a:pathLst>
            </a:custGeom>
            <a:solidFill>
              <a:srgbClr val="387F7F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424940" y="6978015"/>
            <a:ext cx="13853160" cy="1594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10"/>
              </a:lnSpc>
            </a:pPr>
            <a:r>
              <a:rPr lang="en-US" sz="2025" b="true">
                <a:solidFill>
                  <a:srgbClr val="387F7F"/>
                </a:solidFill>
                <a:latin typeface="Poppins Bold"/>
                <a:ea typeface="Poppins Bold"/>
                <a:cs typeface="Poppins Bold"/>
                <a:sym typeface="Poppins Bold"/>
              </a:rPr>
              <a:t>Every decision, both kinds, is recorded in the content tracker with the reason. Whoever runs the capstone in Module 9 inherits these datasets and needs to know what was approved and why.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3914180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Topic Recap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28700" y="2537460"/>
            <a:ext cx="14744700" cy="1069848"/>
            <a:chOff x="0" y="0"/>
            <a:chExt cx="19659600" cy="14264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659600" cy="1426464"/>
            </a:xfrm>
            <a:custGeom>
              <a:avLst/>
              <a:gdLst/>
              <a:ahLst/>
              <a:cxnLst/>
              <a:rect r="r" b="b" t="t" l="l"/>
              <a:pathLst>
                <a:path h="1426464" w="196596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9476720" y="0"/>
                  </a:lnTo>
                  <a:cubicBezTo>
                    <a:pt x="19577684" y="0"/>
                    <a:pt x="19659600" y="81915"/>
                    <a:pt x="19659600" y="182880"/>
                  </a:cubicBezTo>
                  <a:lnTo>
                    <a:pt x="19659600" y="1243584"/>
                  </a:lnTo>
                  <a:cubicBezTo>
                    <a:pt x="19659600" y="1344549"/>
                    <a:pt x="19577684" y="1426464"/>
                    <a:pt x="19476720" y="1426464"/>
                  </a:cubicBezTo>
                  <a:lnTo>
                    <a:pt x="182880" y="1426464"/>
                  </a:lnTo>
                  <a:cubicBezTo>
                    <a:pt x="81915" y="1426464"/>
                    <a:pt x="0" y="1344549"/>
                    <a:pt x="0" y="124358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99032" y="2756916"/>
            <a:ext cx="617220" cy="617220"/>
            <a:chOff x="0" y="0"/>
            <a:chExt cx="822960" cy="82296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99032" y="2756916"/>
            <a:ext cx="617220" cy="617220"/>
            <a:chOff x="0" y="0"/>
            <a:chExt cx="822960" cy="8229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822960" cy="851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✓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304288" y="2564892"/>
            <a:ext cx="13167360" cy="987552"/>
            <a:chOff x="0" y="0"/>
            <a:chExt cx="17556480" cy="13167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55648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17556480" cy="13738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1"/>
                </a:lnSpc>
              </a:pPr>
              <a:r>
                <a:rPr lang="en-US" sz="1950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State a capstone business question that names a decision maker and a decision.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28700" y="3799332"/>
            <a:ext cx="14744700" cy="1069848"/>
            <a:chOff x="0" y="0"/>
            <a:chExt cx="19659600" cy="142646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659600" cy="1426464"/>
            </a:xfrm>
            <a:custGeom>
              <a:avLst/>
              <a:gdLst/>
              <a:ahLst/>
              <a:cxnLst/>
              <a:rect r="r" b="b" t="t" l="l"/>
              <a:pathLst>
                <a:path h="1426464" w="196596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9476720" y="0"/>
                  </a:lnTo>
                  <a:cubicBezTo>
                    <a:pt x="19577684" y="0"/>
                    <a:pt x="19659600" y="81915"/>
                    <a:pt x="19659600" y="182880"/>
                  </a:cubicBezTo>
                  <a:lnTo>
                    <a:pt x="19659600" y="1243584"/>
                  </a:lnTo>
                  <a:cubicBezTo>
                    <a:pt x="19659600" y="1344549"/>
                    <a:pt x="19577684" y="1426464"/>
                    <a:pt x="19476720" y="1426464"/>
                  </a:cubicBezTo>
                  <a:lnTo>
                    <a:pt x="182880" y="1426464"/>
                  </a:lnTo>
                  <a:cubicBezTo>
                    <a:pt x="81915" y="1426464"/>
                    <a:pt x="0" y="1344549"/>
                    <a:pt x="0" y="124358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399032" y="4018788"/>
            <a:ext cx="617220" cy="617220"/>
            <a:chOff x="0" y="0"/>
            <a:chExt cx="822960" cy="8229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399032" y="4018788"/>
            <a:ext cx="617220" cy="617220"/>
            <a:chOff x="0" y="0"/>
            <a:chExt cx="822960" cy="8229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822960" cy="851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✓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304288" y="3826764"/>
            <a:ext cx="13167360" cy="987552"/>
            <a:chOff x="0" y="0"/>
            <a:chExt cx="17556480" cy="131673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755648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17556480" cy="13738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1"/>
                </a:lnSpc>
              </a:pPr>
              <a:r>
                <a:rPr lang="en-US" sz="1950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Justify a dataset against four criteria: real, sufficient, no personal data, genuine question.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28700" y="5061204"/>
            <a:ext cx="14744700" cy="1069848"/>
            <a:chOff x="0" y="0"/>
            <a:chExt cx="19659600" cy="142646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9659600" cy="1426464"/>
            </a:xfrm>
            <a:custGeom>
              <a:avLst/>
              <a:gdLst/>
              <a:ahLst/>
              <a:cxnLst/>
              <a:rect r="r" b="b" t="t" l="l"/>
              <a:pathLst>
                <a:path h="1426464" w="196596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9476720" y="0"/>
                  </a:lnTo>
                  <a:cubicBezTo>
                    <a:pt x="19577684" y="0"/>
                    <a:pt x="19659600" y="81915"/>
                    <a:pt x="19659600" y="182880"/>
                  </a:cubicBezTo>
                  <a:lnTo>
                    <a:pt x="19659600" y="1243584"/>
                  </a:lnTo>
                  <a:cubicBezTo>
                    <a:pt x="19659600" y="1344549"/>
                    <a:pt x="19577684" y="1426464"/>
                    <a:pt x="19476720" y="1426464"/>
                  </a:cubicBezTo>
                  <a:lnTo>
                    <a:pt x="182880" y="1426464"/>
                  </a:lnTo>
                  <a:cubicBezTo>
                    <a:pt x="81915" y="1426464"/>
                    <a:pt x="0" y="1344549"/>
                    <a:pt x="0" y="124358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399032" y="5280660"/>
            <a:ext cx="617220" cy="617220"/>
            <a:chOff x="0" y="0"/>
            <a:chExt cx="822960" cy="82296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399032" y="5280660"/>
            <a:ext cx="617220" cy="617220"/>
            <a:chOff x="0" y="0"/>
            <a:chExt cx="822960" cy="8229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8575"/>
              <a:ext cx="822960" cy="851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✓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304288" y="5088636"/>
            <a:ext cx="13167360" cy="987552"/>
            <a:chOff x="0" y="0"/>
            <a:chExt cx="17556480" cy="131673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755648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57150"/>
              <a:ext cx="17556480" cy="13738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1"/>
                </a:lnSpc>
              </a:pPr>
              <a:r>
                <a:rPr lang="en-US" sz="1950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Name the three dataset traps and say why each one costs marks.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28700" y="6323076"/>
            <a:ext cx="14744700" cy="1069848"/>
            <a:chOff x="0" y="0"/>
            <a:chExt cx="19659600" cy="142646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9659600" cy="1426464"/>
            </a:xfrm>
            <a:custGeom>
              <a:avLst/>
              <a:gdLst/>
              <a:ahLst/>
              <a:cxnLst/>
              <a:rect r="r" b="b" t="t" l="l"/>
              <a:pathLst>
                <a:path h="1426464" w="1965960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19476720" y="0"/>
                  </a:lnTo>
                  <a:cubicBezTo>
                    <a:pt x="19577684" y="0"/>
                    <a:pt x="19659600" y="81915"/>
                    <a:pt x="19659600" y="182880"/>
                  </a:cubicBezTo>
                  <a:lnTo>
                    <a:pt x="19659600" y="1243584"/>
                  </a:lnTo>
                  <a:cubicBezTo>
                    <a:pt x="19659600" y="1344549"/>
                    <a:pt x="19577684" y="1426464"/>
                    <a:pt x="19476720" y="1426464"/>
                  </a:cubicBezTo>
                  <a:lnTo>
                    <a:pt x="182880" y="1426464"/>
                  </a:lnTo>
                  <a:cubicBezTo>
                    <a:pt x="81915" y="1426464"/>
                    <a:pt x="0" y="1344549"/>
                    <a:pt x="0" y="124358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399032" y="6542532"/>
            <a:ext cx="617220" cy="617220"/>
            <a:chOff x="0" y="0"/>
            <a:chExt cx="822960" cy="82296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411480"/>
                  </a:moveTo>
                  <a:cubicBezTo>
                    <a:pt x="0" y="184277"/>
                    <a:pt x="184277" y="0"/>
                    <a:pt x="411480" y="0"/>
                  </a:cubicBezTo>
                  <a:cubicBezTo>
                    <a:pt x="638683" y="0"/>
                    <a:pt x="822960" y="184277"/>
                    <a:pt x="822960" y="411480"/>
                  </a:cubicBezTo>
                  <a:cubicBezTo>
                    <a:pt x="822960" y="638683"/>
                    <a:pt x="638683" y="822960"/>
                    <a:pt x="411480" y="822960"/>
                  </a:cubicBezTo>
                  <a:cubicBezTo>
                    <a:pt x="184277" y="822960"/>
                    <a:pt x="0" y="638683"/>
                    <a:pt x="0" y="411480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399032" y="6542532"/>
            <a:ext cx="617220" cy="617220"/>
            <a:chOff x="0" y="0"/>
            <a:chExt cx="822960" cy="822960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822960" cy="822960"/>
            </a:xfrm>
            <a:custGeom>
              <a:avLst/>
              <a:gdLst/>
              <a:ahLst/>
              <a:cxnLst/>
              <a:rect r="r" b="b" t="t" l="l"/>
              <a:pathLst>
                <a:path h="822960" w="822960">
                  <a:moveTo>
                    <a:pt x="0" y="0"/>
                  </a:moveTo>
                  <a:lnTo>
                    <a:pt x="822960" y="0"/>
                  </a:lnTo>
                  <a:lnTo>
                    <a:pt x="822960" y="822960"/>
                  </a:lnTo>
                  <a:lnTo>
                    <a:pt x="0" y="82296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28575"/>
              <a:ext cx="822960" cy="8515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✓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2304288" y="6350508"/>
            <a:ext cx="13167360" cy="987552"/>
            <a:chOff x="0" y="0"/>
            <a:chExt cx="17556480" cy="131673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7556480" cy="1316736"/>
            </a:xfrm>
            <a:custGeom>
              <a:avLst/>
              <a:gdLst/>
              <a:ahLst/>
              <a:cxnLst/>
              <a:rect r="r" b="b" t="t" l="l"/>
              <a:pathLst>
                <a:path h="1316736" w="17556480">
                  <a:moveTo>
                    <a:pt x="0" y="0"/>
                  </a:moveTo>
                  <a:lnTo>
                    <a:pt x="17556480" y="0"/>
                  </a:lnTo>
                  <a:lnTo>
                    <a:pt x="175564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57150"/>
              <a:ext cx="17556480" cy="13738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61"/>
                </a:lnSpc>
              </a:pPr>
              <a:r>
                <a:rPr lang="en-US" sz="1950">
                  <a:solidFill>
                    <a:srgbClr val="475569"/>
                  </a:solidFill>
                  <a:latin typeface="Poppins"/>
                  <a:ea typeface="Poppins"/>
                  <a:cs typeface="Poppins"/>
                  <a:sym typeface="Poppins"/>
                </a:rPr>
                <a:t>Agree a milestone plan and meeting schedule with your assigned mentor.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028700" y="7749540"/>
            <a:ext cx="14744700" cy="1371600"/>
            <a:chOff x="0" y="0"/>
            <a:chExt cx="19659600" cy="182880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9659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9659600">
                  <a:moveTo>
                    <a:pt x="0" y="164592"/>
                  </a:moveTo>
                  <a:cubicBezTo>
                    <a:pt x="0" y="73660"/>
                    <a:pt x="73660" y="0"/>
                    <a:pt x="164592" y="0"/>
                  </a:cubicBezTo>
                  <a:lnTo>
                    <a:pt x="19495008" y="0"/>
                  </a:lnTo>
                  <a:cubicBezTo>
                    <a:pt x="19585939" y="0"/>
                    <a:pt x="19659600" y="73660"/>
                    <a:pt x="19659600" y="164592"/>
                  </a:cubicBezTo>
                  <a:lnTo>
                    <a:pt x="19659600" y="1664208"/>
                  </a:lnTo>
                  <a:cubicBezTo>
                    <a:pt x="19659600" y="1755140"/>
                    <a:pt x="19585939" y="1828800"/>
                    <a:pt x="19495008" y="1828800"/>
                  </a:cubicBezTo>
                  <a:lnTo>
                    <a:pt x="164592" y="1828800"/>
                  </a:lnTo>
                  <a:cubicBezTo>
                    <a:pt x="73660" y="1828800"/>
                    <a:pt x="0" y="1755140"/>
                    <a:pt x="0" y="1664208"/>
                  </a:cubicBezTo>
                  <a:close/>
                </a:path>
              </a:pathLst>
            </a:custGeom>
            <a:solidFill>
              <a:srgbClr val="EEF4F4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028700" y="7749540"/>
            <a:ext cx="102870" cy="1371600"/>
            <a:chOff x="0" y="0"/>
            <a:chExt cx="137160" cy="182880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3716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37160">
                  <a:moveTo>
                    <a:pt x="0" y="0"/>
                  </a:moveTo>
                  <a:lnTo>
                    <a:pt x="137160" y="0"/>
                  </a:lnTo>
                  <a:lnTo>
                    <a:pt x="137160" y="1828800"/>
                  </a:lnTo>
                  <a:lnTo>
                    <a:pt x="0" y="1828800"/>
                  </a:ln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1577340" y="7749540"/>
            <a:ext cx="13853160" cy="1371600"/>
            <a:chOff x="0" y="0"/>
            <a:chExt cx="18470880" cy="18288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84708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8470880">
                  <a:moveTo>
                    <a:pt x="0" y="0"/>
                  </a:moveTo>
                  <a:lnTo>
                    <a:pt x="18470880" y="0"/>
                  </a:lnTo>
                  <a:lnTo>
                    <a:pt x="184708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46798" r="0" b="-146798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76200"/>
              <a:ext cx="18470880" cy="19050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32"/>
                </a:lnSpc>
              </a:pPr>
              <a:r>
                <a:rPr lang="en-US" sz="2175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You have built a model, written measures you can defend, and audited an AI that was confidently wrong. You are ready for this.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57250" y="857250"/>
            <a:ext cx="114300" cy="1028700"/>
            <a:chOff x="0" y="0"/>
            <a:chExt cx="152400" cy="1371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1371600"/>
            </a:xfrm>
            <a:custGeom>
              <a:avLst/>
              <a:gdLst/>
              <a:ahLst/>
              <a:cxnLst/>
              <a:rect r="r" b="b" t="t" l="l"/>
              <a:pathLst>
                <a:path h="1371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1371600"/>
                  </a:lnTo>
                  <a:lnTo>
                    <a:pt x="0" y="1371600"/>
                  </a:lnTo>
                  <a:close/>
                </a:path>
              </a:pathLst>
            </a:custGeom>
            <a:solidFill>
              <a:srgbClr val="38808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1655820">
            <a:off x="16974979" y="4013225"/>
            <a:ext cx="1577149" cy="3243520"/>
          </a:xfrm>
          <a:custGeom>
            <a:avLst/>
            <a:gdLst/>
            <a:ahLst/>
            <a:cxnLst/>
            <a:rect r="r" b="b" t="t" l="l"/>
            <a:pathLst>
              <a:path h="3243520" w="1577149">
                <a:moveTo>
                  <a:pt x="0" y="0"/>
                </a:moveTo>
                <a:lnTo>
                  <a:pt x="1577149" y="0"/>
                </a:lnTo>
                <a:lnTo>
                  <a:pt x="1577149" y="3243520"/>
                </a:lnTo>
                <a:lnTo>
                  <a:pt x="0" y="32435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01378" t="0" r="-101378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536657" y="2938091"/>
            <a:ext cx="6200137" cy="6058462"/>
          </a:xfrm>
          <a:custGeom>
            <a:avLst/>
            <a:gdLst/>
            <a:ahLst/>
            <a:cxnLst/>
            <a:rect r="r" b="b" t="t" l="l"/>
            <a:pathLst>
              <a:path h="6058462" w="6200137">
                <a:moveTo>
                  <a:pt x="0" y="0"/>
                </a:moveTo>
                <a:lnTo>
                  <a:pt x="6200137" y="0"/>
                </a:lnTo>
                <a:lnTo>
                  <a:pt x="6200137" y="6058462"/>
                </a:lnTo>
                <a:lnTo>
                  <a:pt x="0" y="60584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43000" y="762000"/>
            <a:ext cx="3888879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00"/>
              </a:lnSpc>
            </a:pP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What is</a:t>
            </a:r>
            <a:r>
              <a:rPr lang="en-US" sz="5000">
                <a:solidFill>
                  <a:srgbClr val="388080"/>
                </a:solidFill>
                <a:latin typeface="Poppins"/>
                <a:ea typeface="Poppins"/>
                <a:cs typeface="Poppins"/>
                <a:sym typeface="Poppins"/>
              </a:rPr>
              <a:t> Next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6497824" y="8924125"/>
            <a:ext cx="647224" cy="571500"/>
            <a:chOff x="0" y="0"/>
            <a:chExt cx="862965" cy="762000"/>
          </a:xfrm>
        </p:grpSpPr>
        <p:sp>
          <p:nvSpPr>
            <p:cNvPr name="Freeform 10" id="10" descr="image.png"/>
            <p:cNvSpPr/>
            <p:nvPr/>
          </p:nvSpPr>
          <p:spPr>
            <a:xfrm flipH="false" flipV="false" rot="0">
              <a:off x="0" y="0"/>
              <a:ext cx="862965" cy="762000"/>
            </a:xfrm>
            <a:custGeom>
              <a:avLst/>
              <a:gdLst/>
              <a:ahLst/>
              <a:cxnLst/>
              <a:rect r="r" b="b" t="t" l="l"/>
              <a:pathLst>
                <a:path h="762000" w="862965">
                  <a:moveTo>
                    <a:pt x="0" y="0"/>
                  </a:moveTo>
                  <a:lnTo>
                    <a:pt x="862965" y="0"/>
                  </a:lnTo>
                  <a:lnTo>
                    <a:pt x="862965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772" t="0" r="-772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85825" y="2703616"/>
            <a:ext cx="4594860" cy="4800600"/>
            <a:chOff x="0" y="0"/>
            <a:chExt cx="6126480" cy="6400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126480" cy="6400800"/>
            </a:xfrm>
            <a:custGeom>
              <a:avLst/>
              <a:gdLst/>
              <a:ahLst/>
              <a:cxnLst/>
              <a:rect r="r" b="b" t="t" l="l"/>
              <a:pathLst>
                <a:path h="6400800" w="61264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943600" y="0"/>
                  </a:lnTo>
                  <a:cubicBezTo>
                    <a:pt x="6044565" y="0"/>
                    <a:pt x="6126480" y="81915"/>
                    <a:pt x="6126480" y="182880"/>
                  </a:cubicBezTo>
                  <a:lnTo>
                    <a:pt x="6126480" y="6217920"/>
                  </a:lnTo>
                  <a:cubicBezTo>
                    <a:pt x="6126480" y="6318885"/>
                    <a:pt x="6044565" y="6400800"/>
                    <a:pt x="5943600" y="6400800"/>
                  </a:cubicBezTo>
                  <a:lnTo>
                    <a:pt x="182880" y="6400800"/>
                  </a:lnTo>
                  <a:cubicBezTo>
                    <a:pt x="81915" y="6400800"/>
                    <a:pt x="0" y="6318885"/>
                    <a:pt x="0" y="62179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85825" y="2703616"/>
            <a:ext cx="4594860" cy="713232"/>
            <a:chOff x="0" y="0"/>
            <a:chExt cx="6126480" cy="95097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126480" cy="950976"/>
            </a:xfrm>
            <a:custGeom>
              <a:avLst/>
              <a:gdLst/>
              <a:ahLst/>
              <a:cxnLst/>
              <a:rect r="r" b="b" t="t" l="l"/>
              <a:pathLst>
                <a:path h="950976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85825" y="2703616"/>
            <a:ext cx="4594860" cy="713232"/>
            <a:chOff x="0" y="0"/>
            <a:chExt cx="6126480" cy="95097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126480" cy="950976"/>
            </a:xfrm>
            <a:custGeom>
              <a:avLst/>
              <a:gdLst/>
              <a:ahLst/>
              <a:cxnLst/>
              <a:rect r="r" b="b" t="t" l="l"/>
              <a:pathLst>
                <a:path h="950976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75528" r="0" b="-75528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6126480" cy="9605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1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THIS MODULE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2672810" y="3852807"/>
            <a:ext cx="1020890" cy="1020890"/>
            <a:chOff x="0" y="0"/>
            <a:chExt cx="1361186" cy="136118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61186" cy="1361186"/>
            </a:xfrm>
            <a:custGeom>
              <a:avLst/>
              <a:gdLst/>
              <a:ahLst/>
              <a:cxnLst/>
              <a:rect r="r" b="b" t="t" l="l"/>
              <a:pathLst>
                <a:path h="1361186" w="1361186">
                  <a:moveTo>
                    <a:pt x="0" y="680593"/>
                  </a:moveTo>
                  <a:cubicBezTo>
                    <a:pt x="0" y="304673"/>
                    <a:pt x="304673" y="0"/>
                    <a:pt x="680593" y="0"/>
                  </a:cubicBezTo>
                  <a:cubicBezTo>
                    <a:pt x="1056513" y="0"/>
                    <a:pt x="1361186" y="304673"/>
                    <a:pt x="1361186" y="680593"/>
                  </a:cubicBezTo>
                  <a:cubicBezTo>
                    <a:pt x="1361186" y="1056513"/>
                    <a:pt x="1056513" y="1361186"/>
                    <a:pt x="680593" y="1361186"/>
                  </a:cubicBezTo>
                  <a:cubicBezTo>
                    <a:pt x="304673" y="1361186"/>
                    <a:pt x="0" y="1056513"/>
                    <a:pt x="0" y="680593"/>
                  </a:cubicBezTo>
                  <a:close/>
                </a:path>
              </a:pathLst>
            </a:custGeom>
            <a:solidFill>
              <a:srgbClr val="FFFFFF"/>
            </a:solidFill>
            <a:ln w="33338" cap="sq">
              <a:solidFill>
                <a:srgbClr val="387F7F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2689479" y="3869476"/>
            <a:ext cx="987552" cy="987552"/>
            <a:chOff x="0" y="0"/>
            <a:chExt cx="1316736" cy="131673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316736" cy="1354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✓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297305" y="5096296"/>
            <a:ext cx="3771900" cy="213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4"/>
              </a:lnSpc>
            </a:pPr>
            <a:r>
              <a:rPr lang="en-US" sz="180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Submit your dashboard build and your DAX audit sheet. Both close Module 7.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5864733" y="2703616"/>
            <a:ext cx="4594860" cy="4800600"/>
            <a:chOff x="0" y="0"/>
            <a:chExt cx="6126480" cy="6400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126480" cy="6400800"/>
            </a:xfrm>
            <a:custGeom>
              <a:avLst/>
              <a:gdLst/>
              <a:ahLst/>
              <a:cxnLst/>
              <a:rect r="r" b="b" t="t" l="l"/>
              <a:pathLst>
                <a:path h="6400800" w="61264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943600" y="0"/>
                  </a:lnTo>
                  <a:cubicBezTo>
                    <a:pt x="6044565" y="0"/>
                    <a:pt x="6126480" y="81915"/>
                    <a:pt x="6126480" y="182880"/>
                  </a:cubicBezTo>
                  <a:lnTo>
                    <a:pt x="6126480" y="6217920"/>
                  </a:lnTo>
                  <a:cubicBezTo>
                    <a:pt x="6126480" y="6318885"/>
                    <a:pt x="6044565" y="6400800"/>
                    <a:pt x="5943600" y="6400800"/>
                  </a:cubicBezTo>
                  <a:lnTo>
                    <a:pt x="182880" y="6400800"/>
                  </a:lnTo>
                  <a:cubicBezTo>
                    <a:pt x="81915" y="6400800"/>
                    <a:pt x="0" y="6318885"/>
                    <a:pt x="0" y="621792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5864733" y="2703616"/>
            <a:ext cx="4594860" cy="713232"/>
            <a:chOff x="0" y="0"/>
            <a:chExt cx="6126480" cy="95097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126480" cy="950976"/>
            </a:xfrm>
            <a:custGeom>
              <a:avLst/>
              <a:gdLst/>
              <a:ahLst/>
              <a:cxnLst/>
              <a:rect r="r" b="b" t="t" l="l"/>
              <a:pathLst>
                <a:path h="950976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5864733" y="2703616"/>
            <a:ext cx="4594860" cy="713232"/>
            <a:chOff x="0" y="0"/>
            <a:chExt cx="6126480" cy="950976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126480" cy="950976"/>
            </a:xfrm>
            <a:custGeom>
              <a:avLst/>
              <a:gdLst/>
              <a:ahLst/>
              <a:cxnLst/>
              <a:rect r="r" b="b" t="t" l="l"/>
              <a:pathLst>
                <a:path h="950976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75528" r="0" b="-7552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6126480" cy="9605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1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BEFORE MODULE 8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7651718" y="3852807"/>
            <a:ext cx="1020890" cy="1020890"/>
            <a:chOff x="0" y="0"/>
            <a:chExt cx="1361186" cy="136118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361186" cy="1361186"/>
            </a:xfrm>
            <a:custGeom>
              <a:avLst/>
              <a:gdLst/>
              <a:ahLst/>
              <a:cxnLst/>
              <a:rect r="r" b="b" t="t" l="l"/>
              <a:pathLst>
                <a:path h="1361186" w="1361186">
                  <a:moveTo>
                    <a:pt x="0" y="680593"/>
                  </a:moveTo>
                  <a:cubicBezTo>
                    <a:pt x="0" y="304673"/>
                    <a:pt x="304673" y="0"/>
                    <a:pt x="680593" y="0"/>
                  </a:cubicBezTo>
                  <a:cubicBezTo>
                    <a:pt x="1056513" y="0"/>
                    <a:pt x="1361186" y="304673"/>
                    <a:pt x="1361186" y="680593"/>
                  </a:cubicBezTo>
                  <a:cubicBezTo>
                    <a:pt x="1361186" y="1056513"/>
                    <a:pt x="1056513" y="1361186"/>
                    <a:pt x="680593" y="1361186"/>
                  </a:cubicBezTo>
                  <a:cubicBezTo>
                    <a:pt x="304673" y="1361186"/>
                    <a:pt x="0" y="1056513"/>
                    <a:pt x="0" y="680593"/>
                  </a:cubicBezTo>
                  <a:close/>
                </a:path>
              </a:pathLst>
            </a:custGeom>
            <a:solidFill>
              <a:srgbClr val="FFFFFF"/>
            </a:solidFill>
            <a:ln w="33338" cap="sq">
              <a:solidFill>
                <a:srgbClr val="387F7F"/>
              </a:solidFill>
              <a:prstDash val="solid"/>
              <a:miter/>
            </a:ln>
          </p:spPr>
        </p:sp>
      </p:grpSp>
      <p:grpSp>
        <p:nvGrpSpPr>
          <p:cNvPr name="Group 33" id="33"/>
          <p:cNvGrpSpPr/>
          <p:nvPr/>
        </p:nvGrpSpPr>
        <p:grpSpPr>
          <a:xfrm rot="0">
            <a:off x="7668387" y="3869476"/>
            <a:ext cx="987552" cy="987552"/>
            <a:chOff x="0" y="0"/>
            <a:chExt cx="1316736" cy="131673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316736" cy="1354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387F7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▣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6276213" y="5096296"/>
            <a:ext cx="3771900" cy="213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4"/>
              </a:lnSpc>
            </a:pPr>
            <a:r>
              <a:rPr lang="en-US" sz="1800">
                <a:solidFill>
                  <a:srgbClr val="475569"/>
                </a:solidFill>
                <a:latin typeface="Poppins"/>
                <a:ea typeface="Poppins"/>
                <a:cs typeface="Poppins"/>
                <a:sym typeface="Poppins"/>
              </a:rPr>
              <a:t>Resubmit your sign-off form if marked not yet. Bring your dataset, loaded and inspected.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0843641" y="2703616"/>
            <a:ext cx="4594860" cy="4800600"/>
            <a:chOff x="0" y="0"/>
            <a:chExt cx="6126480" cy="6400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126480" cy="6400800"/>
            </a:xfrm>
            <a:custGeom>
              <a:avLst/>
              <a:gdLst/>
              <a:ahLst/>
              <a:cxnLst/>
              <a:rect r="r" b="b" t="t" l="l"/>
              <a:pathLst>
                <a:path h="6400800" w="6126480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943600" y="0"/>
                  </a:lnTo>
                  <a:cubicBezTo>
                    <a:pt x="6044565" y="0"/>
                    <a:pt x="6126480" y="81915"/>
                    <a:pt x="6126480" y="182880"/>
                  </a:cubicBezTo>
                  <a:lnTo>
                    <a:pt x="6126480" y="6217920"/>
                  </a:lnTo>
                  <a:cubicBezTo>
                    <a:pt x="6126480" y="6318885"/>
                    <a:pt x="6044565" y="6400800"/>
                    <a:pt x="5943600" y="6400800"/>
                  </a:cubicBezTo>
                  <a:lnTo>
                    <a:pt x="182880" y="6400800"/>
                  </a:lnTo>
                  <a:cubicBezTo>
                    <a:pt x="81915" y="6400800"/>
                    <a:pt x="0" y="6318885"/>
                    <a:pt x="0" y="6217920"/>
                  </a:cubicBezTo>
                  <a:close/>
                </a:path>
              </a:pathLst>
            </a:custGeom>
            <a:solidFill>
              <a:srgbClr val="387F7F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0843641" y="2703616"/>
            <a:ext cx="4594860" cy="713232"/>
            <a:chOff x="0" y="0"/>
            <a:chExt cx="6126480" cy="95097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126480" cy="950976"/>
            </a:xfrm>
            <a:custGeom>
              <a:avLst/>
              <a:gdLst/>
              <a:ahLst/>
              <a:cxnLst/>
              <a:rect r="r" b="b" t="t" l="l"/>
              <a:pathLst>
                <a:path h="950976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950976"/>
                  </a:lnTo>
                  <a:lnTo>
                    <a:pt x="0" y="950976"/>
                  </a:lnTo>
                  <a:close/>
                </a:path>
              </a:pathLst>
            </a:custGeom>
            <a:solidFill>
              <a:srgbClr val="20494A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0843641" y="2703616"/>
            <a:ext cx="4594860" cy="713232"/>
            <a:chOff x="0" y="0"/>
            <a:chExt cx="6126480" cy="95097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126480" cy="950976"/>
            </a:xfrm>
            <a:custGeom>
              <a:avLst/>
              <a:gdLst/>
              <a:ahLst/>
              <a:cxnLst/>
              <a:rect r="r" b="b" t="t" l="l"/>
              <a:pathLst>
                <a:path h="950976" w="6126480">
                  <a:moveTo>
                    <a:pt x="0" y="0"/>
                  </a:moveTo>
                  <a:lnTo>
                    <a:pt x="6126480" y="0"/>
                  </a:lnTo>
                  <a:lnTo>
                    <a:pt x="612648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75528" r="0" b="-7552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9525"/>
              <a:ext cx="6126480" cy="9605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80"/>
                </a:lnSpc>
              </a:pPr>
              <a:r>
                <a:rPr lang="en-US" b="true" sz="1650" spc="150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MODULE 8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2630626" y="3852807"/>
            <a:ext cx="1020890" cy="1020890"/>
            <a:chOff x="0" y="0"/>
            <a:chExt cx="1361186" cy="136118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361186" cy="1361186"/>
            </a:xfrm>
            <a:custGeom>
              <a:avLst/>
              <a:gdLst/>
              <a:ahLst/>
              <a:cxnLst/>
              <a:rect r="r" b="b" t="t" l="l"/>
              <a:pathLst>
                <a:path h="1361186" w="1361186">
                  <a:moveTo>
                    <a:pt x="0" y="680593"/>
                  </a:moveTo>
                  <a:cubicBezTo>
                    <a:pt x="0" y="304673"/>
                    <a:pt x="304673" y="0"/>
                    <a:pt x="680593" y="0"/>
                  </a:cubicBezTo>
                  <a:cubicBezTo>
                    <a:pt x="1056513" y="0"/>
                    <a:pt x="1361186" y="304673"/>
                    <a:pt x="1361186" y="680593"/>
                  </a:cubicBezTo>
                  <a:cubicBezTo>
                    <a:pt x="1361186" y="1056513"/>
                    <a:pt x="1056513" y="1361186"/>
                    <a:pt x="680593" y="1361186"/>
                  </a:cubicBezTo>
                  <a:cubicBezTo>
                    <a:pt x="304673" y="1361186"/>
                    <a:pt x="0" y="1056513"/>
                    <a:pt x="0" y="680593"/>
                  </a:cubicBezTo>
                  <a:close/>
                </a:path>
              </a:pathLst>
            </a:custGeom>
            <a:solidFill>
              <a:srgbClr val="1B4041"/>
            </a:solidFill>
            <a:ln w="33338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2647295" y="3869476"/>
            <a:ext cx="987552" cy="987552"/>
            <a:chOff x="0" y="0"/>
            <a:chExt cx="1316736" cy="131673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316736" cy="1316736"/>
            </a:xfrm>
            <a:custGeom>
              <a:avLst/>
              <a:gdLst/>
              <a:ahLst/>
              <a:cxnLst/>
              <a:rect r="r" b="b" t="t" l="l"/>
              <a:pathLst>
                <a:path h="1316736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1316736" cy="1354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ƒ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11255121" y="5096296"/>
            <a:ext cx="3771900" cy="213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4"/>
              </a:lnSpc>
            </a:pPr>
            <a:r>
              <a:rPr lang="en-US" sz="18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Practical AI for Analytics. A full pipeline in one session, AI-assisted throughout, plus your five-minute proposal panel.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DAHUDuksrVs</dc:identifier>
  <dcterms:modified xsi:type="dcterms:W3CDTF">2011-08-01T06:04:30Z</dcterms:modified>
  <cp:revision>1</cp:revision>
  <dc:title>7.6_Capstone Kick-off</dc:title>
</cp:coreProperties>
</file>