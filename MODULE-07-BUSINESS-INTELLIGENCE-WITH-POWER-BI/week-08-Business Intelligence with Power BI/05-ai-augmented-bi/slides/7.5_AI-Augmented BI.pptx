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Inter" charset="1" panose="02000503000000020004"/>
      <p:regular r:id="rId29"/>
    </p:embeddedFont>
    <p:embeddedFont>
      <p:font typeface="Inter Medium" charset="1" panose="02000503000000020004"/>
      <p:regular r:id="rId30"/>
    </p:embeddedFont>
    <p:embeddedFont>
      <p:font typeface="Poppins Bold" charset="1" panose="00000800000000000000"/>
      <p:regular r:id="rId31"/>
    </p:embeddedFont>
    <p:embeddedFont>
      <p:font typeface="Poppins" charset="1" panose="00000500000000000000"/>
      <p:regular r:id="rId33"/>
    </p:embeddedFont>
    <p:embeddedFont>
      <p:font typeface="Poppins Italics" charset="1" panose="00000500000000000000"/>
      <p:regular r:id="rId36"/>
    </p:embeddedFont>
    <p:embeddedFont>
      <p:font typeface="Roboto Mono Italics" charset="1" panose="00000000000000000000"/>
      <p:regular r:id="rId39"/>
    </p:embeddedFont>
    <p:embeddedFont>
      <p:font typeface="Roboto Mono" charset="1" panose="00000000000000000000"/>
      <p:regular r:id="rId41"/>
    </p:embeddedFont>
    <p:embeddedFont>
      <p:font typeface="Poppins Bold Italics" charset="1" panose="00000800000000000000"/>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notesMasters/notesMaster1.xml" Type="http://schemas.openxmlformats.org/officeDocument/2006/relationships/notesMaster"/><Relationship Id="rId27" Target="theme/theme2.xml" Type="http://schemas.openxmlformats.org/officeDocument/2006/relationships/theme"/><Relationship Id="rId28" Target="notesSlides/notesSlide1.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notesSlides/notesSlide2.xml" Type="http://schemas.openxmlformats.org/officeDocument/2006/relationships/notesSlide"/><Relationship Id="rId33" Target="fonts/font33.fntdata" Type="http://schemas.openxmlformats.org/officeDocument/2006/relationships/font"/><Relationship Id="rId34" Target="notesSlides/notesSlide3.xml" Type="http://schemas.openxmlformats.org/officeDocument/2006/relationships/notesSlide"/><Relationship Id="rId35" Target="notesSlides/notesSlide4.xml" Type="http://schemas.openxmlformats.org/officeDocument/2006/relationships/notesSlide"/><Relationship Id="rId36" Target="fonts/font36.fntdata" Type="http://schemas.openxmlformats.org/officeDocument/2006/relationships/font"/><Relationship Id="rId37" Target="notesSlides/notesSlide5.xml" Type="http://schemas.openxmlformats.org/officeDocument/2006/relationships/notesSlide"/><Relationship Id="rId38" Target="notesSlides/notesSlide6.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40" Target="notesSlides/notesSlide7.xml" Type="http://schemas.openxmlformats.org/officeDocument/2006/relationships/notesSlide"/><Relationship Id="rId41" Target="fonts/font41.fntdata" Type="http://schemas.openxmlformats.org/officeDocument/2006/relationships/font"/><Relationship Id="rId42" Target="notesSlides/notesSlide8.xml" Type="http://schemas.openxmlformats.org/officeDocument/2006/relationships/notesSlide"/><Relationship Id="rId43" Target="fonts/font43.fntdata" Type="http://schemas.openxmlformats.org/officeDocument/2006/relationships/font"/><Relationship Id="rId44" Target="notesSlides/notesSlide9.xml" Type="http://schemas.openxmlformats.org/officeDocument/2006/relationships/notesSlide"/><Relationship Id="rId45" Target="notesSlides/notesSlide10.xml" Type="http://schemas.openxmlformats.org/officeDocument/2006/relationships/notesSlide"/><Relationship Id="rId46" Target="notesSlides/notesSlide11.xml" Type="http://schemas.openxmlformats.org/officeDocument/2006/relationships/notesSlide"/><Relationship Id="rId47" Target="notesSlides/notesSlide12.xml" Type="http://schemas.openxmlformats.org/officeDocument/2006/relationships/notesSlide"/><Relationship Id="rId48" Target="notesSlides/notesSlide13.xml" Type="http://schemas.openxmlformats.org/officeDocument/2006/relationships/notesSlide"/><Relationship Id="rId49" Target="notesSlides/notesSlide14.xml" Type="http://schemas.openxmlformats.org/officeDocument/2006/relationships/notesSlide"/><Relationship Id="rId5" Target="tableStyles.xml" Type="http://schemas.openxmlformats.org/officeDocument/2006/relationships/tableStyles"/><Relationship Id="rId50" Target="notesSlides/notesSlide15.xml" Type="http://schemas.openxmlformats.org/officeDocument/2006/relationships/notesSlide"/><Relationship Id="rId51" Target="notesSlides/notesSlide16.xml" Type="http://schemas.openxmlformats.org/officeDocument/2006/relationships/notesSlide"/><Relationship Id="rId52" Target="notesSlides/notesSlide17.xml" Type="http://schemas.openxmlformats.org/officeDocument/2006/relationships/notesSlide"/><Relationship Id="rId53" Target="notesSlides/notesSlide18.xml" Type="http://schemas.openxmlformats.org/officeDocument/2006/relationships/notesSlide"/><Relationship Id="rId54" Target="notesSlides/notesSlide19.xml" Type="http://schemas.openxmlformats.org/officeDocument/2006/relationships/notesSlide"/><Relationship Id="rId55" Target="notesSlides/notesSlide20.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IDEA THIS SLIDE DELIVERS: there is a difference between producing an analysis and producing a product, and this module is about the second one.</a:t>
            </a:r>
          </a:p>
          <a:p>
            <a:r>
              <a:rPr lang="en-US"/>
              <a:t/>
            </a:r>
          </a:p>
          <a:p>
            <a:r>
              <a:rPr lang="en-US"/>
              <a:t>Everything trainees have built so far has been an analysis: a one-off answer to a one-off question. Business intelligence produces something different. Adaeze opens it herself, filters it herself, drills in herself. You are not in the room and it keeps working.</a:t>
            </a:r>
          </a:p>
          <a:p>
            <a:r>
              <a:rPr lang="en-US"/>
              <a:t/>
            </a:r>
          </a:p>
          <a:p>
            <a:r>
              <a:rPr lang="en-US"/>
              <a:t>WHAT TO SAY (about three minutes):</a:t>
            </a:r>
          </a:p>
          <a:p>
            <a:r>
              <a:rPr lang="en-US"/>
              <a:t>"I want to introduce you to someone you are going to spend two modules with. Adaeze Nwosu is the operations manager at SwiftRoute Logistics, a last-mile delivery company running out of Lagos into Ogun and Oyo.</a:t>
            </a:r>
          </a:p>
          <a:p>
            <a:r>
              <a:rPr lang="en-US"/>
              <a:t/>
            </a:r>
          </a:p>
          <a:p>
            <a:r>
              <a:rPr lang="en-US"/>
              <a:t>Every morning, before her riders dispatch, she opens one screen and answers three questions. Which routes slipped yesterday. Which riders are carrying the load. And whether the month is still on track against the promise she made her clients, which is that ninety percent of deliveries arrive inside the window.</a:t>
            </a:r>
          </a:p>
          <a:p>
            <a:r>
              <a:rPr lang="en-US"/>
              <a:t/>
            </a:r>
          </a:p>
          <a:p>
            <a:r>
              <a:rPr lang="en-US"/>
              <a:t>Notice what she does not do. She does not open Excel. She does not write SQL. She does not ring an analyst. Somebody built her a product, and it refreshes itself overnight."</a:t>
            </a:r>
          </a:p>
          <a:p>
            <a:r>
              <a:rPr lang="en-US"/>
              <a:t/>
            </a:r>
          </a:p>
          <a:p>
            <a:r>
              <a:rPr lang="en-US"/>
              <a:t>THE QUESTION TO ASK: "Has anyone here ever been asked the same question three weeks in a row?" Most hands go up. Take one story briefly. It makes the problem personal before you offer the solution.</a:t>
            </a:r>
          </a:p>
          <a:p>
            <a:r>
              <a:rPr lang="en-US"/>
              <a:t/>
            </a:r>
          </a:p>
          <a:p>
            <a:r>
              <a:rPr lang="en-US"/>
              <a:t>ON THE DISCLAIMER: read it aloud. It models the programme's responsible-data standard and sets up Topic 7.6, where trainees apply the same rule to their own capstone dataset.</a:t>
            </a:r>
          </a:p>
          <a:p>
            <a:r>
              <a:rPr lang="en-US"/>
              <a:t/>
            </a:r>
          </a:p>
          <a:p>
            <a:r>
              <a:rPr lang="en-US"/>
              <a:t>TIMING: 3 minutes.</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jpe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2" Target="../notesSlides/notesSlide19.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1430000" y="0"/>
            <a:ext cx="2286000" cy="1907553"/>
            <a:chOff x="0" y="0"/>
            <a:chExt cx="3048000" cy="2543404"/>
          </a:xfrm>
        </p:grpSpPr>
        <p:sp>
          <p:nvSpPr>
            <p:cNvPr name="Freeform 4" id="4"/>
            <p:cNvSpPr/>
            <p:nvPr/>
          </p:nvSpPr>
          <p:spPr>
            <a:xfrm flipH="false" flipV="false" rot="0">
              <a:off x="0" y="0"/>
              <a:ext cx="3048000" cy="2543429"/>
            </a:xfrm>
            <a:custGeom>
              <a:avLst/>
              <a:gdLst/>
              <a:ahLst/>
              <a:cxnLst/>
              <a:rect r="r" b="b" t="t" l="l"/>
              <a:pathLst>
                <a:path h="2543429" w="3048000">
                  <a:moveTo>
                    <a:pt x="0" y="0"/>
                  </a:moveTo>
                  <a:lnTo>
                    <a:pt x="3048000" y="0"/>
                  </a:lnTo>
                  <a:lnTo>
                    <a:pt x="3048000" y="2543429"/>
                  </a:lnTo>
                  <a:lnTo>
                    <a:pt x="0" y="2543429"/>
                  </a:lnTo>
                  <a:lnTo>
                    <a:pt x="0" y="0"/>
                  </a:lnTo>
                  <a:close/>
                </a:path>
              </a:pathLst>
            </a:custGeom>
            <a:blipFill>
              <a:blip r:embed="rId4"/>
              <a:stretch>
                <a:fillRect l="0" t="0" r="-8" b="1"/>
              </a:stretch>
            </a:blipFill>
          </p:spPr>
        </p:sp>
      </p:grpSp>
      <p:grpSp>
        <p:nvGrpSpPr>
          <p:cNvPr name="Group 5" id="5"/>
          <p:cNvGrpSpPr/>
          <p:nvPr/>
        </p:nvGrpSpPr>
        <p:grpSpPr>
          <a:xfrm rot="0">
            <a:off x="15001875" y="714375"/>
            <a:ext cx="2857500" cy="2857500"/>
            <a:chOff x="0" y="0"/>
            <a:chExt cx="3810000" cy="3810000"/>
          </a:xfrm>
        </p:grpSpPr>
        <p:sp>
          <p:nvSpPr>
            <p:cNvPr name="Freeform 6" id="6"/>
            <p:cNvSpPr/>
            <p:nvPr/>
          </p:nvSpPr>
          <p:spPr>
            <a:xfrm flipH="false" flipV="false" rot="0">
              <a:off x="0" y="0"/>
              <a:ext cx="3810000" cy="3810000"/>
            </a:xfrm>
            <a:custGeom>
              <a:avLst/>
              <a:gdLst/>
              <a:ahLst/>
              <a:cxnLst/>
              <a:rect r="r" b="b" t="t" l="l"/>
              <a:pathLst>
                <a:path h="3810000" w="3810000">
                  <a:moveTo>
                    <a:pt x="0" y="1905000"/>
                  </a:moveTo>
                  <a:cubicBezTo>
                    <a:pt x="0" y="852932"/>
                    <a:pt x="852932" y="0"/>
                    <a:pt x="1905000" y="0"/>
                  </a:cubicBezTo>
                  <a:cubicBezTo>
                    <a:pt x="2957068" y="0"/>
                    <a:pt x="3810000" y="852932"/>
                    <a:pt x="3810000" y="1905000"/>
                  </a:cubicBezTo>
                  <a:cubicBezTo>
                    <a:pt x="3810000" y="2957068"/>
                    <a:pt x="2957068" y="3810000"/>
                    <a:pt x="1905000" y="3810000"/>
                  </a:cubicBezTo>
                  <a:cubicBezTo>
                    <a:pt x="852932" y="3810000"/>
                    <a:pt x="0" y="2957068"/>
                    <a:pt x="0" y="1905000"/>
                  </a:cubicBezTo>
                  <a:close/>
                </a:path>
              </a:pathLst>
            </a:custGeom>
            <a:solidFill>
              <a:srgbClr val="387F7F">
                <a:alpha val="0"/>
              </a:srgbClr>
            </a:solidFill>
          </p:spPr>
        </p:sp>
      </p:grpSp>
      <p:grpSp>
        <p:nvGrpSpPr>
          <p:cNvPr name="Group 7" id="7"/>
          <p:cNvGrpSpPr/>
          <p:nvPr/>
        </p:nvGrpSpPr>
        <p:grpSpPr>
          <a:xfrm rot="0">
            <a:off x="0" y="6429375"/>
            <a:ext cx="1907553" cy="1286104"/>
            <a:chOff x="0" y="0"/>
            <a:chExt cx="2543404" cy="1714805"/>
          </a:xfrm>
        </p:grpSpPr>
        <p:sp>
          <p:nvSpPr>
            <p:cNvPr name="Freeform 8" id="8"/>
            <p:cNvSpPr/>
            <p:nvPr/>
          </p:nvSpPr>
          <p:spPr>
            <a:xfrm flipH="false" flipV="false" rot="0">
              <a:off x="0" y="0"/>
              <a:ext cx="2543429" cy="1714754"/>
            </a:xfrm>
            <a:custGeom>
              <a:avLst/>
              <a:gdLst/>
              <a:ahLst/>
              <a:cxnLst/>
              <a:rect r="r" b="b" t="t" l="l"/>
              <a:pathLst>
                <a:path h="1714754" w="2543429">
                  <a:moveTo>
                    <a:pt x="0" y="0"/>
                  </a:moveTo>
                  <a:lnTo>
                    <a:pt x="2543429" y="0"/>
                  </a:lnTo>
                  <a:lnTo>
                    <a:pt x="2543429" y="1714754"/>
                  </a:lnTo>
                  <a:lnTo>
                    <a:pt x="0" y="1714754"/>
                  </a:lnTo>
                  <a:lnTo>
                    <a:pt x="0" y="0"/>
                  </a:lnTo>
                  <a:close/>
                </a:path>
              </a:pathLst>
            </a:custGeom>
            <a:blipFill>
              <a:blip r:embed="rId5"/>
              <a:stretch>
                <a:fillRect l="0" t="0" r="-7" b="-2"/>
              </a:stretch>
            </a:blipFill>
          </p:spPr>
        </p:sp>
      </p:grpSp>
      <p:grpSp>
        <p:nvGrpSpPr>
          <p:cNvPr name="Group 9" id="9"/>
          <p:cNvGrpSpPr/>
          <p:nvPr/>
        </p:nvGrpSpPr>
        <p:grpSpPr>
          <a:xfrm rot="0">
            <a:off x="1143000" y="2828906"/>
            <a:ext cx="16002000" cy="438950"/>
            <a:chOff x="0" y="0"/>
            <a:chExt cx="21336000" cy="585267"/>
          </a:xfrm>
        </p:grpSpPr>
        <p:sp>
          <p:nvSpPr>
            <p:cNvPr name="Freeform 10" id="10"/>
            <p:cNvSpPr/>
            <p:nvPr/>
          </p:nvSpPr>
          <p:spPr>
            <a:xfrm flipH="false" flipV="false" rot="0">
              <a:off x="0" y="0"/>
              <a:ext cx="21336000" cy="585270"/>
            </a:xfrm>
            <a:custGeom>
              <a:avLst/>
              <a:gdLst/>
              <a:ahLst/>
              <a:cxnLst/>
              <a:rect r="r" b="b" t="t" l="l"/>
              <a:pathLst>
                <a:path h="585270" w="21336000">
                  <a:moveTo>
                    <a:pt x="0" y="0"/>
                  </a:moveTo>
                  <a:lnTo>
                    <a:pt x="21336000" y="0"/>
                  </a:lnTo>
                  <a:lnTo>
                    <a:pt x="21336000" y="585270"/>
                  </a:lnTo>
                  <a:lnTo>
                    <a:pt x="0" y="585270"/>
                  </a:lnTo>
                  <a:close/>
                </a:path>
              </a:pathLst>
            </a:custGeom>
            <a:blipFill>
              <a:blip r:embed="rId6">
                <a:alphaModFix amt="0"/>
              </a:blip>
              <a:stretch>
                <a:fillRect l="0" t="-673523" r="0" b="-647129"/>
              </a:stretch>
            </a:blipFill>
          </p:spPr>
        </p:sp>
        <p:sp>
          <p:nvSpPr>
            <p:cNvPr name="TextBox 11" id="11"/>
            <p:cNvSpPr txBox="true"/>
            <p:nvPr/>
          </p:nvSpPr>
          <p:spPr>
            <a:xfrm>
              <a:off x="0" y="0"/>
              <a:ext cx="21336000" cy="585267"/>
            </a:xfrm>
            <a:prstGeom prst="rect">
              <a:avLst/>
            </a:prstGeom>
          </p:spPr>
          <p:txBody>
            <a:bodyPr anchor="ctr" rtlCol="false" tIns="0" lIns="0" bIns="0" rIns="0"/>
            <a:lstStyle/>
            <a:p>
              <a:pPr algn="l">
                <a:lnSpc>
                  <a:spcPts val="2520"/>
                </a:lnSpc>
              </a:pPr>
              <a:r>
                <a:rPr lang="en-US" sz="2100">
                  <a:solidFill>
                    <a:srgbClr val="387F7F"/>
                  </a:solidFill>
                  <a:latin typeface="Inter"/>
                  <a:ea typeface="Inter"/>
                  <a:cs typeface="Inter"/>
                  <a:sym typeface="Inter"/>
                </a:rPr>
                <a:t>BU</a:t>
              </a:r>
              <a:r>
                <a:rPr lang="en-US" sz="2100">
                  <a:solidFill>
                    <a:srgbClr val="387F7F"/>
                  </a:solidFill>
                  <a:latin typeface="Inter"/>
                  <a:ea typeface="Inter"/>
                  <a:cs typeface="Inter"/>
                  <a:sym typeface="Inter"/>
                </a:rPr>
                <a:t>SINESS INTELLIGENCE WITH POWER BI</a:t>
              </a:r>
            </a:p>
          </p:txBody>
        </p:sp>
      </p:grpSp>
      <p:grpSp>
        <p:nvGrpSpPr>
          <p:cNvPr name="Group 12" id="12"/>
          <p:cNvGrpSpPr/>
          <p:nvPr/>
        </p:nvGrpSpPr>
        <p:grpSpPr>
          <a:xfrm rot="0">
            <a:off x="1143000" y="3267856"/>
            <a:ext cx="16002000" cy="772854"/>
            <a:chOff x="0" y="0"/>
            <a:chExt cx="21336000" cy="1030472"/>
          </a:xfrm>
        </p:grpSpPr>
        <p:sp>
          <p:nvSpPr>
            <p:cNvPr name="Freeform 13" id="13"/>
            <p:cNvSpPr/>
            <p:nvPr/>
          </p:nvSpPr>
          <p:spPr>
            <a:xfrm flipH="false" flipV="false" rot="0">
              <a:off x="0" y="0"/>
              <a:ext cx="21336000" cy="1030464"/>
            </a:xfrm>
            <a:custGeom>
              <a:avLst/>
              <a:gdLst/>
              <a:ahLst/>
              <a:cxnLst/>
              <a:rect r="r" b="b" t="t" l="l"/>
              <a:pathLst>
                <a:path h="1030464" w="21336000">
                  <a:moveTo>
                    <a:pt x="0" y="0"/>
                  </a:moveTo>
                  <a:lnTo>
                    <a:pt x="21336000" y="0"/>
                  </a:lnTo>
                  <a:lnTo>
                    <a:pt x="21336000" y="1030464"/>
                  </a:lnTo>
                  <a:lnTo>
                    <a:pt x="0" y="1030464"/>
                  </a:lnTo>
                  <a:close/>
                </a:path>
              </a:pathLst>
            </a:custGeom>
            <a:blipFill>
              <a:blip r:embed="rId6">
                <a:alphaModFix amt="0"/>
              </a:blip>
              <a:stretch>
                <a:fillRect l="0" t="-370573" r="0" b="-336311"/>
              </a:stretch>
            </a:blipFill>
          </p:spPr>
        </p:sp>
        <p:sp>
          <p:nvSpPr>
            <p:cNvPr name="TextBox 14" id="14"/>
            <p:cNvSpPr txBox="true"/>
            <p:nvPr/>
          </p:nvSpPr>
          <p:spPr>
            <a:xfrm>
              <a:off x="0" y="-9525"/>
              <a:ext cx="21336000" cy="1039997"/>
            </a:xfrm>
            <a:prstGeom prst="rect">
              <a:avLst/>
            </a:prstGeom>
          </p:spPr>
          <p:txBody>
            <a:bodyPr anchor="ctr" rtlCol="false" tIns="0" lIns="0" bIns="0" rIns="0"/>
            <a:lstStyle/>
            <a:p>
              <a:pPr algn="l">
                <a:lnSpc>
                  <a:spcPts val="3960"/>
                </a:lnSpc>
              </a:pPr>
              <a:r>
                <a:rPr lang="en-US" b="true" sz="3300">
                  <a:solidFill>
                    <a:srgbClr val="64748B"/>
                  </a:solidFill>
                  <a:latin typeface="Inter Medium"/>
                  <a:ea typeface="Inter Medium"/>
                  <a:cs typeface="Inter Medium"/>
                  <a:sym typeface="Inter Medium"/>
                </a:rPr>
                <a:t>Module 7: Loading, Modelling and Dashboards</a:t>
              </a:r>
            </a:p>
          </p:txBody>
        </p:sp>
      </p:grpSp>
      <p:grpSp>
        <p:nvGrpSpPr>
          <p:cNvPr name="Group 15" id="15"/>
          <p:cNvGrpSpPr/>
          <p:nvPr/>
        </p:nvGrpSpPr>
        <p:grpSpPr>
          <a:xfrm rot="0">
            <a:off x="1143000" y="8572500"/>
            <a:ext cx="16002000" cy="28804"/>
            <a:chOff x="0" y="0"/>
            <a:chExt cx="21336000" cy="38405"/>
          </a:xfrm>
        </p:grpSpPr>
        <p:sp>
          <p:nvSpPr>
            <p:cNvPr name="Freeform 16" id="16"/>
            <p:cNvSpPr/>
            <p:nvPr/>
          </p:nvSpPr>
          <p:spPr>
            <a:xfrm flipH="false" flipV="false" rot="0">
              <a:off x="0" y="0"/>
              <a:ext cx="21336000" cy="38354"/>
            </a:xfrm>
            <a:custGeom>
              <a:avLst/>
              <a:gdLst/>
              <a:ahLst/>
              <a:cxnLst/>
              <a:rect r="r" b="b" t="t" l="l"/>
              <a:pathLst>
                <a:path h="38354" w="21336000">
                  <a:moveTo>
                    <a:pt x="0" y="0"/>
                  </a:moveTo>
                  <a:lnTo>
                    <a:pt x="21336000" y="0"/>
                  </a:lnTo>
                  <a:lnTo>
                    <a:pt x="21336000" y="38354"/>
                  </a:lnTo>
                  <a:lnTo>
                    <a:pt x="0" y="38354"/>
                  </a:lnTo>
                  <a:close/>
                </a:path>
              </a:pathLst>
            </a:custGeom>
            <a:solidFill>
              <a:srgbClr val="E2E8F0"/>
            </a:solidFill>
          </p:spPr>
        </p:sp>
      </p:grpSp>
      <p:grpSp>
        <p:nvGrpSpPr>
          <p:cNvPr name="Group 17" id="17"/>
          <p:cNvGrpSpPr/>
          <p:nvPr/>
        </p:nvGrpSpPr>
        <p:grpSpPr>
          <a:xfrm rot="0">
            <a:off x="1143000" y="9001125"/>
            <a:ext cx="385648" cy="342900"/>
            <a:chOff x="0" y="0"/>
            <a:chExt cx="514198" cy="457200"/>
          </a:xfrm>
        </p:grpSpPr>
        <p:sp>
          <p:nvSpPr>
            <p:cNvPr name="Freeform 18" id="18"/>
            <p:cNvSpPr/>
            <p:nvPr/>
          </p:nvSpPr>
          <p:spPr>
            <a:xfrm flipH="false" flipV="false" rot="0">
              <a:off x="0" y="0"/>
              <a:ext cx="514223" cy="457200"/>
            </a:xfrm>
            <a:custGeom>
              <a:avLst/>
              <a:gdLst/>
              <a:ahLst/>
              <a:cxnLst/>
              <a:rect r="r" b="b" t="t" l="l"/>
              <a:pathLst>
                <a:path h="457200" w="514223">
                  <a:moveTo>
                    <a:pt x="0" y="0"/>
                  </a:moveTo>
                  <a:lnTo>
                    <a:pt x="514223" y="0"/>
                  </a:lnTo>
                  <a:lnTo>
                    <a:pt x="514223" y="457200"/>
                  </a:lnTo>
                  <a:lnTo>
                    <a:pt x="0" y="457200"/>
                  </a:lnTo>
                  <a:lnTo>
                    <a:pt x="0" y="0"/>
                  </a:lnTo>
                  <a:close/>
                </a:path>
              </a:pathLst>
            </a:custGeom>
            <a:blipFill>
              <a:blip r:embed="rId7"/>
              <a:stretch>
                <a:fillRect l="0" t="0" r="-24" b="0"/>
              </a:stretch>
            </a:blipFill>
          </p:spPr>
        </p:sp>
      </p:grpSp>
      <p:grpSp>
        <p:nvGrpSpPr>
          <p:cNvPr name="Group 19" id="19"/>
          <p:cNvGrpSpPr/>
          <p:nvPr/>
        </p:nvGrpSpPr>
        <p:grpSpPr>
          <a:xfrm rot="0">
            <a:off x="1643062" y="9001125"/>
            <a:ext cx="2143354" cy="438950"/>
            <a:chOff x="0" y="0"/>
            <a:chExt cx="2857805" cy="585267"/>
          </a:xfrm>
        </p:grpSpPr>
        <p:sp>
          <p:nvSpPr>
            <p:cNvPr name="Freeform 20" id="20"/>
            <p:cNvSpPr/>
            <p:nvPr/>
          </p:nvSpPr>
          <p:spPr>
            <a:xfrm flipH="false" flipV="false" rot="0">
              <a:off x="0" y="0"/>
              <a:ext cx="2857800" cy="585270"/>
            </a:xfrm>
            <a:custGeom>
              <a:avLst/>
              <a:gdLst/>
              <a:ahLst/>
              <a:cxnLst/>
              <a:rect r="r" b="b" t="t" l="l"/>
              <a:pathLst>
                <a:path h="585270" w="2857800">
                  <a:moveTo>
                    <a:pt x="0" y="0"/>
                  </a:moveTo>
                  <a:lnTo>
                    <a:pt x="2857800" y="0"/>
                  </a:lnTo>
                  <a:lnTo>
                    <a:pt x="2857800" y="585270"/>
                  </a:lnTo>
                  <a:lnTo>
                    <a:pt x="0" y="585270"/>
                  </a:lnTo>
                  <a:close/>
                </a:path>
              </a:pathLst>
            </a:custGeom>
            <a:blipFill>
              <a:blip r:embed="rId6">
                <a:alphaModFix amt="0"/>
              </a:blip>
              <a:stretch>
                <a:fillRect l="0" t="-58339" r="0" b="-31946"/>
              </a:stretch>
            </a:blipFill>
          </p:spPr>
        </p:sp>
        <p:sp>
          <p:nvSpPr>
            <p:cNvPr name="TextBox 21" id="21"/>
            <p:cNvSpPr txBox="true"/>
            <p:nvPr/>
          </p:nvSpPr>
          <p:spPr>
            <a:xfrm>
              <a:off x="0" y="0"/>
              <a:ext cx="2857805" cy="585267"/>
            </a:xfrm>
            <a:prstGeom prst="rect">
              <a:avLst/>
            </a:prstGeom>
          </p:spPr>
          <p:txBody>
            <a:bodyPr anchor="ctr" rtlCol="false" tIns="0" lIns="0" bIns="0" rIns="0"/>
            <a:lstStyle/>
            <a:p>
              <a:pPr algn="l">
                <a:lnSpc>
                  <a:spcPts val="2520"/>
                </a:lnSpc>
              </a:pPr>
              <a:r>
                <a:rPr lang="en-US" sz="2100">
                  <a:solidFill>
                    <a:srgbClr val="64748B"/>
                  </a:solidFill>
                  <a:latin typeface="Inter"/>
                  <a:ea typeface="Inter"/>
                  <a:cs typeface="Inter"/>
                  <a:sym typeface="Inter"/>
                </a:rPr>
                <a:t>Topic 5 of 6</a:t>
              </a:r>
            </a:p>
          </p:txBody>
        </p:sp>
      </p:grpSp>
      <p:sp>
        <p:nvSpPr>
          <p:cNvPr name="Freeform 22" id="22"/>
          <p:cNvSpPr/>
          <p:nvPr/>
        </p:nvSpPr>
        <p:spPr>
          <a:xfrm flipH="false" flipV="false" rot="0">
            <a:off x="1143000" y="552450"/>
            <a:ext cx="2124669" cy="1845806"/>
          </a:xfrm>
          <a:custGeom>
            <a:avLst/>
            <a:gdLst/>
            <a:ahLst/>
            <a:cxnLst/>
            <a:rect r="r" b="b" t="t" l="l"/>
            <a:pathLst>
              <a:path h="1845806" w="2124669">
                <a:moveTo>
                  <a:pt x="0" y="0"/>
                </a:moveTo>
                <a:lnTo>
                  <a:pt x="2124669" y="0"/>
                </a:lnTo>
                <a:lnTo>
                  <a:pt x="2124669" y="1845806"/>
                </a:lnTo>
                <a:lnTo>
                  <a:pt x="0" y="1845806"/>
                </a:lnTo>
                <a:lnTo>
                  <a:pt x="0" y="0"/>
                </a:lnTo>
                <a:close/>
              </a:path>
            </a:pathLst>
          </a:custGeom>
          <a:blipFill>
            <a:blip r:embed="rId8"/>
            <a:stretch>
              <a:fillRect l="0" t="0" r="0" b="0"/>
            </a:stretch>
          </a:blipFill>
        </p:spPr>
      </p:sp>
      <p:sp>
        <p:nvSpPr>
          <p:cNvPr name="TextBox 23" id="23"/>
          <p:cNvSpPr txBox="true"/>
          <p:nvPr/>
        </p:nvSpPr>
        <p:spPr>
          <a:xfrm rot="0">
            <a:off x="1143000" y="4116229"/>
            <a:ext cx="8368407" cy="2755899"/>
          </a:xfrm>
          <a:prstGeom prst="rect">
            <a:avLst/>
          </a:prstGeom>
        </p:spPr>
        <p:txBody>
          <a:bodyPr anchor="t" rtlCol="false" tIns="0" lIns="0" bIns="0" rIns="0">
            <a:spAutoFit/>
          </a:bodyPr>
          <a:lstStyle/>
          <a:p>
            <a:pPr algn="l">
              <a:lnSpc>
                <a:spcPts val="10625"/>
              </a:lnSpc>
            </a:pPr>
            <a:r>
              <a:rPr lang="en-US" sz="8500" b="true">
                <a:solidFill>
                  <a:srgbClr val="000000"/>
                </a:solidFill>
                <a:latin typeface="Poppins Bold"/>
                <a:ea typeface="Poppins Bold"/>
                <a:cs typeface="Poppins Bold"/>
                <a:sym typeface="Poppins Bold"/>
              </a:rPr>
              <a:t>AI-Augment</a:t>
            </a:r>
            <a:r>
              <a:rPr lang="en-US" b="true" sz="8500">
                <a:solidFill>
                  <a:srgbClr val="000000"/>
                </a:solidFill>
                <a:latin typeface="Poppins Bold"/>
                <a:ea typeface="Poppins Bold"/>
                <a:cs typeface="Poppins Bold"/>
                <a:sym typeface="Poppins Bold"/>
              </a:rPr>
              <a:t>ed</a:t>
            </a:r>
          </a:p>
          <a:p>
            <a:pPr algn="l">
              <a:lnSpc>
                <a:spcPts val="10625"/>
              </a:lnSpc>
            </a:pPr>
            <a:r>
              <a:rPr lang="en-US" b="true" sz="8500">
                <a:solidFill>
                  <a:srgbClr val="387F7F"/>
                </a:solidFill>
                <a:latin typeface="Poppins Bold"/>
                <a:ea typeface="Poppins Bold"/>
                <a:cs typeface="Poppins Bold"/>
                <a:sym typeface="Poppins Bold"/>
              </a:rPr>
              <a:t>BI</a:t>
            </a:r>
          </a:p>
        </p:txBody>
      </p:sp>
      <p:grpSp>
        <p:nvGrpSpPr>
          <p:cNvPr name="Group 24" id="24"/>
          <p:cNvGrpSpPr/>
          <p:nvPr/>
        </p:nvGrpSpPr>
        <p:grpSpPr>
          <a:xfrm rot="0">
            <a:off x="11001070" y="1733550"/>
            <a:ext cx="6258230" cy="6258230"/>
            <a:chOff x="0" y="0"/>
            <a:chExt cx="8890000" cy="8890000"/>
          </a:xfrm>
        </p:grpSpPr>
        <p:sp>
          <p:nvSpPr>
            <p:cNvPr name="Freeform 25" id="25"/>
            <p:cNvSpPr/>
            <p:nvPr/>
          </p:nvSpPr>
          <p:spPr>
            <a:xfrm flipH="false" flipV="false" rot="0">
              <a:off x="0" y="0"/>
              <a:ext cx="8890000" cy="8890000"/>
            </a:xfrm>
            <a:custGeom>
              <a:avLst/>
              <a:gdLst/>
              <a:ahLst/>
              <a:cxnLst/>
              <a:rect r="r" b="b" t="t" l="l"/>
              <a:pathLst>
                <a:path h="8890000" w="8890000">
                  <a:moveTo>
                    <a:pt x="270611" y="0"/>
                  </a:moveTo>
                  <a:lnTo>
                    <a:pt x="8619389" y="0"/>
                  </a:lnTo>
                  <a:cubicBezTo>
                    <a:pt x="8768843" y="0"/>
                    <a:pt x="8890000" y="121157"/>
                    <a:pt x="8890000" y="270611"/>
                  </a:cubicBezTo>
                  <a:lnTo>
                    <a:pt x="8890000" y="8619389"/>
                  </a:lnTo>
                  <a:cubicBezTo>
                    <a:pt x="8890000" y="8768843"/>
                    <a:pt x="8768843" y="8890000"/>
                    <a:pt x="8619389" y="8890000"/>
                  </a:cubicBezTo>
                  <a:lnTo>
                    <a:pt x="270611" y="8890000"/>
                  </a:lnTo>
                  <a:cubicBezTo>
                    <a:pt x="121157" y="8890000"/>
                    <a:pt x="0" y="8768843"/>
                    <a:pt x="0" y="8619389"/>
                  </a:cubicBezTo>
                  <a:lnTo>
                    <a:pt x="0" y="270611"/>
                  </a:lnTo>
                  <a:cubicBezTo>
                    <a:pt x="0" y="121157"/>
                    <a:pt x="121157" y="0"/>
                    <a:pt x="270611" y="0"/>
                  </a:cubicBezTo>
                  <a:close/>
                </a:path>
              </a:pathLst>
            </a:custGeom>
            <a:blipFill>
              <a:blip r:embed="rId9"/>
              <a:stretch>
                <a:fillRect l="-13835" t="0" r="-35143" b="0"/>
              </a:stretch>
            </a:blipFill>
          </p:spPr>
        </p:sp>
      </p:grpSp>
      <p:grpSp>
        <p:nvGrpSpPr>
          <p:cNvPr name="Group 26" id="26"/>
          <p:cNvGrpSpPr/>
          <p:nvPr/>
        </p:nvGrpSpPr>
        <p:grpSpPr>
          <a:xfrm rot="0">
            <a:off x="16497824" y="8924125"/>
            <a:ext cx="647224" cy="571500"/>
            <a:chOff x="0" y="0"/>
            <a:chExt cx="862965" cy="762000"/>
          </a:xfrm>
        </p:grpSpPr>
        <p:sp>
          <p:nvSpPr>
            <p:cNvPr name="Freeform 27" id="27"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10"/>
              <a:stretch>
                <a:fillRect l="-772" t="0" r="-772"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2973050"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By the end of this topic, the trainee</a:t>
            </a:r>
            <a:r>
              <a:rPr lang="en-US" sz="5000">
                <a:solidFill>
                  <a:srgbClr val="388080"/>
                </a:solidFill>
                <a:latin typeface="Poppins"/>
                <a:ea typeface="Poppins"/>
                <a:cs typeface="Poppins"/>
                <a:sym typeface="Poppins"/>
              </a:rPr>
              <a:t> can…</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904875" y="2828925"/>
            <a:ext cx="4869180" cy="4800600"/>
            <a:chOff x="0" y="0"/>
            <a:chExt cx="6492240" cy="6400800"/>
          </a:xfrm>
        </p:grpSpPr>
        <p:sp>
          <p:nvSpPr>
            <p:cNvPr name="Freeform 12" id="12"/>
            <p:cNvSpPr/>
            <p:nvPr/>
          </p:nvSpPr>
          <p:spPr>
            <a:xfrm flipH="false" flipV="false" rot="0">
              <a:off x="0" y="0"/>
              <a:ext cx="6492240" cy="6400800"/>
            </a:xfrm>
            <a:custGeom>
              <a:avLst/>
              <a:gdLst/>
              <a:ahLst/>
              <a:cxnLst/>
              <a:rect r="r" b="b" t="t" l="l"/>
              <a:pathLst>
                <a:path h="6400800" w="6492240">
                  <a:moveTo>
                    <a:pt x="0" y="182880"/>
                  </a:moveTo>
                  <a:cubicBezTo>
                    <a:pt x="0" y="81915"/>
                    <a:pt x="81915" y="0"/>
                    <a:pt x="182880" y="0"/>
                  </a:cubicBezTo>
                  <a:lnTo>
                    <a:pt x="6309360" y="0"/>
                  </a:lnTo>
                  <a:cubicBezTo>
                    <a:pt x="6410325" y="0"/>
                    <a:pt x="6492240" y="81915"/>
                    <a:pt x="6492240" y="182880"/>
                  </a:cubicBezTo>
                  <a:lnTo>
                    <a:pt x="6492240" y="6217920"/>
                  </a:lnTo>
                  <a:cubicBezTo>
                    <a:pt x="6492240" y="6318885"/>
                    <a:pt x="6410325" y="6400800"/>
                    <a:pt x="6309360" y="6400800"/>
                  </a:cubicBezTo>
                  <a:lnTo>
                    <a:pt x="182880" y="6400800"/>
                  </a:lnTo>
                  <a:cubicBezTo>
                    <a:pt x="81915" y="6400800"/>
                    <a:pt x="0" y="6318885"/>
                    <a:pt x="0" y="6217920"/>
                  </a:cubicBezTo>
                  <a:close/>
                </a:path>
              </a:pathLst>
            </a:custGeom>
            <a:solidFill>
              <a:srgbClr val="FFFFFF"/>
            </a:solidFill>
          </p:spPr>
        </p:sp>
      </p:grpSp>
      <p:grpSp>
        <p:nvGrpSpPr>
          <p:cNvPr name="Group 13" id="13"/>
          <p:cNvGrpSpPr/>
          <p:nvPr/>
        </p:nvGrpSpPr>
        <p:grpSpPr>
          <a:xfrm rot="0">
            <a:off x="904875" y="2828925"/>
            <a:ext cx="4869180" cy="123444"/>
            <a:chOff x="0" y="0"/>
            <a:chExt cx="6492240" cy="164592"/>
          </a:xfrm>
        </p:grpSpPr>
        <p:sp>
          <p:nvSpPr>
            <p:cNvPr name="Freeform 14" id="14"/>
            <p:cNvSpPr/>
            <p:nvPr/>
          </p:nvSpPr>
          <p:spPr>
            <a:xfrm flipH="false" flipV="false" rot="0">
              <a:off x="0" y="0"/>
              <a:ext cx="6492240" cy="164592"/>
            </a:xfrm>
            <a:custGeom>
              <a:avLst/>
              <a:gdLst/>
              <a:ahLst/>
              <a:cxnLst/>
              <a:rect r="r" b="b" t="t" l="l"/>
              <a:pathLst>
                <a:path h="164592" w="6492240">
                  <a:moveTo>
                    <a:pt x="0" y="0"/>
                  </a:moveTo>
                  <a:lnTo>
                    <a:pt x="6492240" y="0"/>
                  </a:lnTo>
                  <a:lnTo>
                    <a:pt x="6492240" y="164592"/>
                  </a:lnTo>
                  <a:lnTo>
                    <a:pt x="0" y="164592"/>
                  </a:lnTo>
                  <a:close/>
                </a:path>
              </a:pathLst>
            </a:custGeom>
            <a:solidFill>
              <a:srgbClr val="387F7F"/>
            </a:solidFill>
          </p:spPr>
        </p:sp>
      </p:grpSp>
      <p:grpSp>
        <p:nvGrpSpPr>
          <p:cNvPr name="Group 15" id="15"/>
          <p:cNvGrpSpPr/>
          <p:nvPr/>
        </p:nvGrpSpPr>
        <p:grpSpPr>
          <a:xfrm rot="0">
            <a:off x="2829020" y="3498056"/>
            <a:ext cx="1020890" cy="1020890"/>
            <a:chOff x="0" y="0"/>
            <a:chExt cx="1361186" cy="1361186"/>
          </a:xfrm>
        </p:grpSpPr>
        <p:sp>
          <p:nvSpPr>
            <p:cNvPr name="Freeform 16" id="16"/>
            <p:cNvSpPr/>
            <p:nvPr/>
          </p:nvSpPr>
          <p:spPr>
            <a:xfrm flipH="false" flipV="false" rot="0">
              <a:off x="0" y="0"/>
              <a:ext cx="1361186" cy="1361186"/>
            </a:xfrm>
            <a:custGeom>
              <a:avLst/>
              <a:gdLst/>
              <a:ahLst/>
              <a:cxnLst/>
              <a:rect r="r" b="b" t="t" l="l"/>
              <a:pathLst>
                <a:path h="1361186" w="1361186">
                  <a:moveTo>
                    <a:pt x="0" y="680593"/>
                  </a:moveTo>
                  <a:cubicBezTo>
                    <a:pt x="0" y="304673"/>
                    <a:pt x="304673" y="0"/>
                    <a:pt x="680593" y="0"/>
                  </a:cubicBezTo>
                  <a:cubicBezTo>
                    <a:pt x="1056513" y="0"/>
                    <a:pt x="1361186" y="304673"/>
                    <a:pt x="1361186" y="680593"/>
                  </a:cubicBezTo>
                  <a:cubicBezTo>
                    <a:pt x="1361186" y="1056513"/>
                    <a:pt x="1056513" y="1361186"/>
                    <a:pt x="680593" y="1361186"/>
                  </a:cubicBezTo>
                  <a:cubicBezTo>
                    <a:pt x="304673" y="1361186"/>
                    <a:pt x="0" y="1056513"/>
                    <a:pt x="0" y="680593"/>
                  </a:cubicBezTo>
                  <a:close/>
                </a:path>
              </a:pathLst>
            </a:custGeom>
            <a:solidFill>
              <a:srgbClr val="FFFFFF"/>
            </a:solidFill>
            <a:ln w="33338" cap="sq">
              <a:solidFill>
                <a:srgbClr val="387F7F"/>
              </a:solidFill>
              <a:prstDash val="solid"/>
              <a:miter/>
            </a:ln>
          </p:spPr>
        </p:sp>
      </p:grpSp>
      <p:grpSp>
        <p:nvGrpSpPr>
          <p:cNvPr name="Group 17" id="17"/>
          <p:cNvGrpSpPr/>
          <p:nvPr/>
        </p:nvGrpSpPr>
        <p:grpSpPr>
          <a:xfrm rot="0">
            <a:off x="2845689" y="3514725"/>
            <a:ext cx="987552" cy="987552"/>
            <a:chOff x="0" y="0"/>
            <a:chExt cx="1316736" cy="1316736"/>
          </a:xfrm>
        </p:grpSpPr>
        <p:sp>
          <p:nvSpPr>
            <p:cNvPr name="Freeform 18" id="18"/>
            <p:cNvSpPr/>
            <p:nvPr/>
          </p:nvSpPr>
          <p:spPr>
            <a:xfrm flipH="false" flipV="false" rot="0">
              <a:off x="0" y="0"/>
              <a:ext cx="1316736" cy="1316736"/>
            </a:xfrm>
            <a:custGeom>
              <a:avLst/>
              <a:gdLst/>
              <a:ahLst/>
              <a:cxnLst/>
              <a:rect r="r" b="b" t="t" l="l"/>
              <a:pathLst>
                <a:path h="1316736" w="1316736">
                  <a:moveTo>
                    <a:pt x="0" y="0"/>
                  </a:moveTo>
                  <a:lnTo>
                    <a:pt x="1316736" y="0"/>
                  </a:lnTo>
                  <a:lnTo>
                    <a:pt x="1316736" y="1316736"/>
                  </a:lnTo>
                  <a:lnTo>
                    <a:pt x="0" y="1316736"/>
                  </a:lnTo>
                  <a:close/>
                </a:path>
              </a:pathLst>
            </a:custGeom>
            <a:blipFill>
              <a:blip r:embed="rId9">
                <a:alphaModFix amt="0"/>
              </a:blip>
              <a:stretch>
                <a:fillRect l="-78303" t="0" r="-78303" b="0"/>
              </a:stretch>
            </a:blipFill>
          </p:spPr>
        </p:sp>
        <p:sp>
          <p:nvSpPr>
            <p:cNvPr name="TextBox 19" id="19"/>
            <p:cNvSpPr txBox="true"/>
            <p:nvPr/>
          </p:nvSpPr>
          <p:spPr>
            <a:xfrm>
              <a:off x="0" y="-38100"/>
              <a:ext cx="1316736" cy="1354836"/>
            </a:xfrm>
            <a:prstGeom prst="rect">
              <a:avLst/>
            </a:prstGeom>
          </p:spPr>
          <p:txBody>
            <a:bodyPr anchor="ctr" rtlCol="false" tIns="0" lIns="0" bIns="0" rIns="0"/>
            <a:lstStyle/>
            <a:p>
              <a:pPr algn="ctr">
                <a:lnSpc>
                  <a:spcPts val="4320"/>
                </a:lnSpc>
              </a:pPr>
              <a:r>
                <a:rPr lang="en-US" sz="3600" b="true">
                  <a:solidFill>
                    <a:srgbClr val="387F7F"/>
                  </a:solidFill>
                  <a:latin typeface="Poppins Bold"/>
                  <a:ea typeface="Poppins Bold"/>
                  <a:cs typeface="Poppins Bold"/>
                  <a:sym typeface="Poppins Bold"/>
                </a:rPr>
                <a:t>ƒ</a:t>
              </a:r>
            </a:p>
          </p:txBody>
        </p:sp>
      </p:grpSp>
      <p:grpSp>
        <p:nvGrpSpPr>
          <p:cNvPr name="Group 20" id="20"/>
          <p:cNvGrpSpPr/>
          <p:nvPr/>
        </p:nvGrpSpPr>
        <p:grpSpPr>
          <a:xfrm rot="0">
            <a:off x="904875" y="4817745"/>
            <a:ext cx="4869180" cy="685800"/>
            <a:chOff x="0" y="0"/>
            <a:chExt cx="6492240" cy="914400"/>
          </a:xfrm>
        </p:grpSpPr>
        <p:sp>
          <p:nvSpPr>
            <p:cNvPr name="Freeform 21" id="21"/>
            <p:cNvSpPr/>
            <p:nvPr/>
          </p:nvSpPr>
          <p:spPr>
            <a:xfrm flipH="false" flipV="false" rot="0">
              <a:off x="0" y="0"/>
              <a:ext cx="6492240" cy="914400"/>
            </a:xfrm>
            <a:custGeom>
              <a:avLst/>
              <a:gdLst/>
              <a:ahLst/>
              <a:cxnLst/>
              <a:rect r="r" b="b" t="t" l="l"/>
              <a:pathLst>
                <a:path h="914400" w="6492240">
                  <a:moveTo>
                    <a:pt x="0" y="0"/>
                  </a:moveTo>
                  <a:lnTo>
                    <a:pt x="6492240" y="0"/>
                  </a:lnTo>
                  <a:lnTo>
                    <a:pt x="6492240" y="914400"/>
                  </a:lnTo>
                  <a:lnTo>
                    <a:pt x="0" y="914400"/>
                  </a:lnTo>
                  <a:close/>
                </a:path>
              </a:pathLst>
            </a:custGeom>
            <a:blipFill>
              <a:blip r:embed="rId9">
                <a:alphaModFix amt="0"/>
              </a:blip>
              <a:stretch>
                <a:fillRect l="0" t="-88343" r="0" b="-88343"/>
              </a:stretch>
            </a:blipFill>
          </p:spPr>
        </p:sp>
        <p:sp>
          <p:nvSpPr>
            <p:cNvPr name="TextBox 22" id="22"/>
            <p:cNvSpPr txBox="true"/>
            <p:nvPr/>
          </p:nvSpPr>
          <p:spPr>
            <a:xfrm>
              <a:off x="0" y="-19050"/>
              <a:ext cx="6492240" cy="933450"/>
            </a:xfrm>
            <a:prstGeom prst="rect">
              <a:avLst/>
            </a:prstGeom>
          </p:spPr>
          <p:txBody>
            <a:bodyPr anchor="ctr" rtlCol="false" tIns="0" lIns="0" bIns="0" rIns="0"/>
            <a:lstStyle/>
            <a:p>
              <a:pPr algn="ctr">
                <a:lnSpc>
                  <a:spcPts val="3779"/>
                </a:lnSpc>
              </a:pPr>
              <a:r>
                <a:rPr lang="en-US" sz="3150" b="true">
                  <a:solidFill>
                    <a:srgbClr val="387F7F"/>
                  </a:solidFill>
                  <a:latin typeface="Poppins Bold"/>
                  <a:ea typeface="Poppins Bold"/>
                  <a:cs typeface="Poppins Bold"/>
                  <a:sym typeface="Poppins Bold"/>
                </a:rPr>
                <a:t>Use</a:t>
              </a:r>
            </a:p>
          </p:txBody>
        </p:sp>
      </p:grpSp>
      <p:sp>
        <p:nvSpPr>
          <p:cNvPr name="TextBox 23" id="23"/>
          <p:cNvSpPr txBox="true"/>
          <p:nvPr/>
        </p:nvSpPr>
        <p:spPr>
          <a:xfrm rot="0">
            <a:off x="1316355" y="5554980"/>
            <a:ext cx="4046220" cy="1868805"/>
          </a:xfrm>
          <a:prstGeom prst="rect">
            <a:avLst/>
          </a:prstGeom>
        </p:spPr>
        <p:txBody>
          <a:bodyPr anchor="t" rtlCol="false" tIns="0" lIns="0" bIns="0" rIns="0">
            <a:spAutoFit/>
          </a:bodyPr>
          <a:lstStyle/>
          <a:p>
            <a:pPr algn="ctr">
              <a:lnSpc>
                <a:spcPts val="3042"/>
              </a:lnSpc>
            </a:pPr>
            <a:r>
              <a:rPr lang="en-US" sz="1950">
                <a:solidFill>
                  <a:srgbClr val="475569"/>
                </a:solidFill>
                <a:latin typeface="Poppins"/>
                <a:ea typeface="Poppins"/>
                <a:cs typeface="Poppins"/>
                <a:sym typeface="Poppins"/>
              </a:rPr>
              <a:t>an AI assistant to draft and debug DAX and to advise on data-model design.</a:t>
            </a:r>
          </a:p>
        </p:txBody>
      </p:sp>
      <p:grpSp>
        <p:nvGrpSpPr>
          <p:cNvPr name="Group 24" id="24"/>
          <p:cNvGrpSpPr/>
          <p:nvPr/>
        </p:nvGrpSpPr>
        <p:grpSpPr>
          <a:xfrm rot="0">
            <a:off x="6185535" y="2828925"/>
            <a:ext cx="4869180" cy="4800600"/>
            <a:chOff x="0" y="0"/>
            <a:chExt cx="6492240" cy="6400800"/>
          </a:xfrm>
        </p:grpSpPr>
        <p:sp>
          <p:nvSpPr>
            <p:cNvPr name="Freeform 25" id="25"/>
            <p:cNvSpPr/>
            <p:nvPr/>
          </p:nvSpPr>
          <p:spPr>
            <a:xfrm flipH="false" flipV="false" rot="0">
              <a:off x="0" y="0"/>
              <a:ext cx="6492240" cy="6400800"/>
            </a:xfrm>
            <a:custGeom>
              <a:avLst/>
              <a:gdLst/>
              <a:ahLst/>
              <a:cxnLst/>
              <a:rect r="r" b="b" t="t" l="l"/>
              <a:pathLst>
                <a:path h="6400800" w="6492240">
                  <a:moveTo>
                    <a:pt x="0" y="182880"/>
                  </a:moveTo>
                  <a:cubicBezTo>
                    <a:pt x="0" y="81915"/>
                    <a:pt x="81915" y="0"/>
                    <a:pt x="182880" y="0"/>
                  </a:cubicBezTo>
                  <a:lnTo>
                    <a:pt x="6309360" y="0"/>
                  </a:lnTo>
                  <a:cubicBezTo>
                    <a:pt x="6410325" y="0"/>
                    <a:pt x="6492240" y="81915"/>
                    <a:pt x="6492240" y="182880"/>
                  </a:cubicBezTo>
                  <a:lnTo>
                    <a:pt x="6492240" y="6217920"/>
                  </a:lnTo>
                  <a:cubicBezTo>
                    <a:pt x="6492240" y="6318885"/>
                    <a:pt x="6410325" y="6400800"/>
                    <a:pt x="6309360" y="6400800"/>
                  </a:cubicBezTo>
                  <a:lnTo>
                    <a:pt x="182880" y="6400800"/>
                  </a:lnTo>
                  <a:cubicBezTo>
                    <a:pt x="81915" y="6400800"/>
                    <a:pt x="0" y="6318885"/>
                    <a:pt x="0" y="6217920"/>
                  </a:cubicBezTo>
                  <a:close/>
                </a:path>
              </a:pathLst>
            </a:custGeom>
            <a:solidFill>
              <a:srgbClr val="FFFFFF"/>
            </a:solidFill>
          </p:spPr>
        </p:sp>
      </p:grpSp>
      <p:grpSp>
        <p:nvGrpSpPr>
          <p:cNvPr name="Group 26" id="26"/>
          <p:cNvGrpSpPr/>
          <p:nvPr/>
        </p:nvGrpSpPr>
        <p:grpSpPr>
          <a:xfrm rot="0">
            <a:off x="6185535" y="2828925"/>
            <a:ext cx="4869180" cy="123444"/>
            <a:chOff x="0" y="0"/>
            <a:chExt cx="6492240" cy="164592"/>
          </a:xfrm>
        </p:grpSpPr>
        <p:sp>
          <p:nvSpPr>
            <p:cNvPr name="Freeform 27" id="27"/>
            <p:cNvSpPr/>
            <p:nvPr/>
          </p:nvSpPr>
          <p:spPr>
            <a:xfrm flipH="false" flipV="false" rot="0">
              <a:off x="0" y="0"/>
              <a:ext cx="6492240" cy="164592"/>
            </a:xfrm>
            <a:custGeom>
              <a:avLst/>
              <a:gdLst/>
              <a:ahLst/>
              <a:cxnLst/>
              <a:rect r="r" b="b" t="t" l="l"/>
              <a:pathLst>
                <a:path h="164592" w="6492240">
                  <a:moveTo>
                    <a:pt x="0" y="0"/>
                  </a:moveTo>
                  <a:lnTo>
                    <a:pt x="6492240" y="0"/>
                  </a:lnTo>
                  <a:lnTo>
                    <a:pt x="6492240" y="164592"/>
                  </a:lnTo>
                  <a:lnTo>
                    <a:pt x="0" y="164592"/>
                  </a:lnTo>
                  <a:close/>
                </a:path>
              </a:pathLst>
            </a:custGeom>
            <a:solidFill>
              <a:srgbClr val="387F7F"/>
            </a:solidFill>
          </p:spPr>
        </p:sp>
      </p:grpSp>
      <p:grpSp>
        <p:nvGrpSpPr>
          <p:cNvPr name="Group 28" id="28"/>
          <p:cNvGrpSpPr/>
          <p:nvPr/>
        </p:nvGrpSpPr>
        <p:grpSpPr>
          <a:xfrm rot="0">
            <a:off x="8109680" y="3498056"/>
            <a:ext cx="1020890" cy="1020890"/>
            <a:chOff x="0" y="0"/>
            <a:chExt cx="1361186" cy="1361186"/>
          </a:xfrm>
        </p:grpSpPr>
        <p:sp>
          <p:nvSpPr>
            <p:cNvPr name="Freeform 29" id="29"/>
            <p:cNvSpPr/>
            <p:nvPr/>
          </p:nvSpPr>
          <p:spPr>
            <a:xfrm flipH="false" flipV="false" rot="0">
              <a:off x="0" y="0"/>
              <a:ext cx="1361186" cy="1361186"/>
            </a:xfrm>
            <a:custGeom>
              <a:avLst/>
              <a:gdLst/>
              <a:ahLst/>
              <a:cxnLst/>
              <a:rect r="r" b="b" t="t" l="l"/>
              <a:pathLst>
                <a:path h="1361186" w="1361186">
                  <a:moveTo>
                    <a:pt x="0" y="680593"/>
                  </a:moveTo>
                  <a:cubicBezTo>
                    <a:pt x="0" y="304673"/>
                    <a:pt x="304673" y="0"/>
                    <a:pt x="680593" y="0"/>
                  </a:cubicBezTo>
                  <a:cubicBezTo>
                    <a:pt x="1056513" y="0"/>
                    <a:pt x="1361186" y="304673"/>
                    <a:pt x="1361186" y="680593"/>
                  </a:cubicBezTo>
                  <a:cubicBezTo>
                    <a:pt x="1361186" y="1056513"/>
                    <a:pt x="1056513" y="1361186"/>
                    <a:pt x="680593" y="1361186"/>
                  </a:cubicBezTo>
                  <a:cubicBezTo>
                    <a:pt x="304673" y="1361186"/>
                    <a:pt x="0" y="1056513"/>
                    <a:pt x="0" y="680593"/>
                  </a:cubicBezTo>
                  <a:close/>
                </a:path>
              </a:pathLst>
            </a:custGeom>
            <a:solidFill>
              <a:srgbClr val="FFFFFF"/>
            </a:solidFill>
            <a:ln w="33338" cap="sq">
              <a:solidFill>
                <a:srgbClr val="387F7F"/>
              </a:solidFill>
              <a:prstDash val="solid"/>
              <a:miter/>
            </a:ln>
          </p:spPr>
        </p:sp>
      </p:grpSp>
      <p:grpSp>
        <p:nvGrpSpPr>
          <p:cNvPr name="Group 30" id="30"/>
          <p:cNvGrpSpPr/>
          <p:nvPr/>
        </p:nvGrpSpPr>
        <p:grpSpPr>
          <a:xfrm rot="0">
            <a:off x="8126349" y="3514725"/>
            <a:ext cx="987552" cy="987552"/>
            <a:chOff x="0" y="0"/>
            <a:chExt cx="1316736" cy="1316736"/>
          </a:xfrm>
        </p:grpSpPr>
        <p:sp>
          <p:nvSpPr>
            <p:cNvPr name="Freeform 31" id="31"/>
            <p:cNvSpPr/>
            <p:nvPr/>
          </p:nvSpPr>
          <p:spPr>
            <a:xfrm flipH="false" flipV="false" rot="0">
              <a:off x="0" y="0"/>
              <a:ext cx="1316736" cy="1316736"/>
            </a:xfrm>
            <a:custGeom>
              <a:avLst/>
              <a:gdLst/>
              <a:ahLst/>
              <a:cxnLst/>
              <a:rect r="r" b="b" t="t" l="l"/>
              <a:pathLst>
                <a:path h="1316736" w="1316736">
                  <a:moveTo>
                    <a:pt x="0" y="0"/>
                  </a:moveTo>
                  <a:lnTo>
                    <a:pt x="1316736" y="0"/>
                  </a:lnTo>
                  <a:lnTo>
                    <a:pt x="1316736" y="1316736"/>
                  </a:lnTo>
                  <a:lnTo>
                    <a:pt x="0" y="1316736"/>
                  </a:lnTo>
                  <a:close/>
                </a:path>
              </a:pathLst>
            </a:custGeom>
            <a:blipFill>
              <a:blip r:embed="rId9">
                <a:alphaModFix amt="0"/>
              </a:blip>
              <a:stretch>
                <a:fillRect l="-78303" t="0" r="-78303" b="0"/>
              </a:stretch>
            </a:blipFill>
          </p:spPr>
        </p:sp>
        <p:sp>
          <p:nvSpPr>
            <p:cNvPr name="TextBox 32" id="32"/>
            <p:cNvSpPr txBox="true"/>
            <p:nvPr/>
          </p:nvSpPr>
          <p:spPr>
            <a:xfrm>
              <a:off x="0" y="-38100"/>
              <a:ext cx="1316736" cy="1354836"/>
            </a:xfrm>
            <a:prstGeom prst="rect">
              <a:avLst/>
            </a:prstGeom>
          </p:spPr>
          <p:txBody>
            <a:bodyPr anchor="ctr" rtlCol="false" tIns="0" lIns="0" bIns="0" rIns="0"/>
            <a:lstStyle/>
            <a:p>
              <a:pPr algn="ctr">
                <a:lnSpc>
                  <a:spcPts val="4320"/>
                </a:lnSpc>
              </a:pPr>
              <a:r>
                <a:rPr lang="en-US" sz="3600" b="true">
                  <a:solidFill>
                    <a:srgbClr val="387F7F"/>
                  </a:solidFill>
                  <a:latin typeface="Poppins Bold"/>
                  <a:ea typeface="Poppins Bold"/>
                  <a:cs typeface="Poppins Bold"/>
                  <a:sym typeface="Poppins Bold"/>
                </a:rPr>
                <a:t>✓</a:t>
              </a:r>
            </a:p>
          </p:txBody>
        </p:sp>
      </p:grpSp>
      <p:grpSp>
        <p:nvGrpSpPr>
          <p:cNvPr name="Group 33" id="33"/>
          <p:cNvGrpSpPr/>
          <p:nvPr/>
        </p:nvGrpSpPr>
        <p:grpSpPr>
          <a:xfrm rot="0">
            <a:off x="6185535" y="4817745"/>
            <a:ext cx="4869180" cy="685800"/>
            <a:chOff x="0" y="0"/>
            <a:chExt cx="6492240" cy="914400"/>
          </a:xfrm>
        </p:grpSpPr>
        <p:sp>
          <p:nvSpPr>
            <p:cNvPr name="Freeform 34" id="34"/>
            <p:cNvSpPr/>
            <p:nvPr/>
          </p:nvSpPr>
          <p:spPr>
            <a:xfrm flipH="false" flipV="false" rot="0">
              <a:off x="0" y="0"/>
              <a:ext cx="6492240" cy="914400"/>
            </a:xfrm>
            <a:custGeom>
              <a:avLst/>
              <a:gdLst/>
              <a:ahLst/>
              <a:cxnLst/>
              <a:rect r="r" b="b" t="t" l="l"/>
              <a:pathLst>
                <a:path h="914400" w="6492240">
                  <a:moveTo>
                    <a:pt x="0" y="0"/>
                  </a:moveTo>
                  <a:lnTo>
                    <a:pt x="6492240" y="0"/>
                  </a:lnTo>
                  <a:lnTo>
                    <a:pt x="6492240" y="914400"/>
                  </a:lnTo>
                  <a:lnTo>
                    <a:pt x="0" y="914400"/>
                  </a:lnTo>
                  <a:close/>
                </a:path>
              </a:pathLst>
            </a:custGeom>
            <a:blipFill>
              <a:blip r:embed="rId9">
                <a:alphaModFix amt="0"/>
              </a:blip>
              <a:stretch>
                <a:fillRect l="0" t="-88343" r="0" b="-88343"/>
              </a:stretch>
            </a:blipFill>
          </p:spPr>
        </p:sp>
        <p:sp>
          <p:nvSpPr>
            <p:cNvPr name="TextBox 35" id="35"/>
            <p:cNvSpPr txBox="true"/>
            <p:nvPr/>
          </p:nvSpPr>
          <p:spPr>
            <a:xfrm>
              <a:off x="0" y="-19050"/>
              <a:ext cx="6492240" cy="933450"/>
            </a:xfrm>
            <a:prstGeom prst="rect">
              <a:avLst/>
            </a:prstGeom>
          </p:spPr>
          <p:txBody>
            <a:bodyPr anchor="ctr" rtlCol="false" tIns="0" lIns="0" bIns="0" rIns="0"/>
            <a:lstStyle/>
            <a:p>
              <a:pPr algn="ctr">
                <a:lnSpc>
                  <a:spcPts val="3779"/>
                </a:lnSpc>
              </a:pPr>
              <a:r>
                <a:rPr lang="en-US" sz="3150" b="true">
                  <a:solidFill>
                    <a:srgbClr val="387F7F"/>
                  </a:solidFill>
                  <a:latin typeface="Poppins Bold"/>
                  <a:ea typeface="Poppins Bold"/>
                  <a:cs typeface="Poppins Bold"/>
                  <a:sym typeface="Poppins Bold"/>
                </a:rPr>
                <a:t>Verify</a:t>
              </a:r>
            </a:p>
          </p:txBody>
        </p:sp>
      </p:grpSp>
      <p:sp>
        <p:nvSpPr>
          <p:cNvPr name="TextBox 36" id="36"/>
          <p:cNvSpPr txBox="true"/>
          <p:nvPr/>
        </p:nvSpPr>
        <p:spPr>
          <a:xfrm rot="0">
            <a:off x="6597015" y="5554980"/>
            <a:ext cx="4046220" cy="1868805"/>
          </a:xfrm>
          <a:prstGeom prst="rect">
            <a:avLst/>
          </a:prstGeom>
        </p:spPr>
        <p:txBody>
          <a:bodyPr anchor="t" rtlCol="false" tIns="0" lIns="0" bIns="0" rIns="0">
            <a:spAutoFit/>
          </a:bodyPr>
          <a:lstStyle/>
          <a:p>
            <a:pPr algn="ctr">
              <a:lnSpc>
                <a:spcPts val="3042"/>
              </a:lnSpc>
            </a:pPr>
            <a:r>
              <a:rPr lang="en-US" sz="1950">
                <a:solidFill>
                  <a:srgbClr val="475569"/>
                </a:solidFill>
                <a:latin typeface="Poppins"/>
                <a:ea typeface="Poppins"/>
                <a:cs typeface="Poppins"/>
                <a:sym typeface="Poppins"/>
              </a:rPr>
              <a:t>AI suggestions in Power BI against source data.</a:t>
            </a:r>
          </a:p>
        </p:txBody>
      </p:sp>
      <p:grpSp>
        <p:nvGrpSpPr>
          <p:cNvPr name="Group 37" id="37"/>
          <p:cNvGrpSpPr/>
          <p:nvPr/>
        </p:nvGrpSpPr>
        <p:grpSpPr>
          <a:xfrm rot="0">
            <a:off x="11466195" y="2828925"/>
            <a:ext cx="4869180" cy="4800600"/>
            <a:chOff x="0" y="0"/>
            <a:chExt cx="6492240" cy="6400800"/>
          </a:xfrm>
        </p:grpSpPr>
        <p:sp>
          <p:nvSpPr>
            <p:cNvPr name="Freeform 38" id="38"/>
            <p:cNvSpPr/>
            <p:nvPr/>
          </p:nvSpPr>
          <p:spPr>
            <a:xfrm flipH="false" flipV="false" rot="0">
              <a:off x="0" y="0"/>
              <a:ext cx="6492240" cy="6400800"/>
            </a:xfrm>
            <a:custGeom>
              <a:avLst/>
              <a:gdLst/>
              <a:ahLst/>
              <a:cxnLst/>
              <a:rect r="r" b="b" t="t" l="l"/>
              <a:pathLst>
                <a:path h="6400800" w="6492240">
                  <a:moveTo>
                    <a:pt x="0" y="182880"/>
                  </a:moveTo>
                  <a:cubicBezTo>
                    <a:pt x="0" y="81915"/>
                    <a:pt x="81915" y="0"/>
                    <a:pt x="182880" y="0"/>
                  </a:cubicBezTo>
                  <a:lnTo>
                    <a:pt x="6309360" y="0"/>
                  </a:lnTo>
                  <a:cubicBezTo>
                    <a:pt x="6410325" y="0"/>
                    <a:pt x="6492240" y="81915"/>
                    <a:pt x="6492240" y="182880"/>
                  </a:cubicBezTo>
                  <a:lnTo>
                    <a:pt x="6492240" y="6217920"/>
                  </a:lnTo>
                  <a:cubicBezTo>
                    <a:pt x="6492240" y="6318885"/>
                    <a:pt x="6410325" y="6400800"/>
                    <a:pt x="6309360" y="6400800"/>
                  </a:cubicBezTo>
                  <a:lnTo>
                    <a:pt x="182880" y="6400800"/>
                  </a:lnTo>
                  <a:cubicBezTo>
                    <a:pt x="81915" y="6400800"/>
                    <a:pt x="0" y="6318885"/>
                    <a:pt x="0" y="6217920"/>
                  </a:cubicBezTo>
                  <a:close/>
                </a:path>
              </a:pathLst>
            </a:custGeom>
            <a:solidFill>
              <a:srgbClr val="FFFFFF"/>
            </a:solidFill>
          </p:spPr>
        </p:sp>
      </p:grpSp>
      <p:grpSp>
        <p:nvGrpSpPr>
          <p:cNvPr name="Group 39" id="39"/>
          <p:cNvGrpSpPr/>
          <p:nvPr/>
        </p:nvGrpSpPr>
        <p:grpSpPr>
          <a:xfrm rot="0">
            <a:off x="11466195" y="2828925"/>
            <a:ext cx="4869180" cy="123444"/>
            <a:chOff x="0" y="0"/>
            <a:chExt cx="6492240" cy="164592"/>
          </a:xfrm>
        </p:grpSpPr>
        <p:sp>
          <p:nvSpPr>
            <p:cNvPr name="Freeform 40" id="40"/>
            <p:cNvSpPr/>
            <p:nvPr/>
          </p:nvSpPr>
          <p:spPr>
            <a:xfrm flipH="false" flipV="false" rot="0">
              <a:off x="0" y="0"/>
              <a:ext cx="6492240" cy="164592"/>
            </a:xfrm>
            <a:custGeom>
              <a:avLst/>
              <a:gdLst/>
              <a:ahLst/>
              <a:cxnLst/>
              <a:rect r="r" b="b" t="t" l="l"/>
              <a:pathLst>
                <a:path h="164592" w="6492240">
                  <a:moveTo>
                    <a:pt x="0" y="0"/>
                  </a:moveTo>
                  <a:lnTo>
                    <a:pt x="6492240" y="0"/>
                  </a:lnTo>
                  <a:lnTo>
                    <a:pt x="6492240" y="164592"/>
                  </a:lnTo>
                  <a:lnTo>
                    <a:pt x="0" y="164592"/>
                  </a:lnTo>
                  <a:close/>
                </a:path>
              </a:pathLst>
            </a:custGeom>
            <a:solidFill>
              <a:srgbClr val="387F7F"/>
            </a:solidFill>
          </p:spPr>
        </p:sp>
      </p:grpSp>
      <p:grpSp>
        <p:nvGrpSpPr>
          <p:cNvPr name="Group 41" id="41"/>
          <p:cNvGrpSpPr/>
          <p:nvPr/>
        </p:nvGrpSpPr>
        <p:grpSpPr>
          <a:xfrm rot="0">
            <a:off x="13390340" y="3498056"/>
            <a:ext cx="1020890" cy="1020890"/>
            <a:chOff x="0" y="0"/>
            <a:chExt cx="1361186" cy="1361186"/>
          </a:xfrm>
        </p:grpSpPr>
        <p:sp>
          <p:nvSpPr>
            <p:cNvPr name="Freeform 42" id="42"/>
            <p:cNvSpPr/>
            <p:nvPr/>
          </p:nvSpPr>
          <p:spPr>
            <a:xfrm flipH="false" flipV="false" rot="0">
              <a:off x="0" y="0"/>
              <a:ext cx="1361186" cy="1361186"/>
            </a:xfrm>
            <a:custGeom>
              <a:avLst/>
              <a:gdLst/>
              <a:ahLst/>
              <a:cxnLst/>
              <a:rect r="r" b="b" t="t" l="l"/>
              <a:pathLst>
                <a:path h="1361186" w="1361186">
                  <a:moveTo>
                    <a:pt x="0" y="680593"/>
                  </a:moveTo>
                  <a:cubicBezTo>
                    <a:pt x="0" y="304673"/>
                    <a:pt x="304673" y="0"/>
                    <a:pt x="680593" y="0"/>
                  </a:cubicBezTo>
                  <a:cubicBezTo>
                    <a:pt x="1056513" y="0"/>
                    <a:pt x="1361186" y="304673"/>
                    <a:pt x="1361186" y="680593"/>
                  </a:cubicBezTo>
                  <a:cubicBezTo>
                    <a:pt x="1361186" y="1056513"/>
                    <a:pt x="1056513" y="1361186"/>
                    <a:pt x="680593" y="1361186"/>
                  </a:cubicBezTo>
                  <a:cubicBezTo>
                    <a:pt x="304673" y="1361186"/>
                    <a:pt x="0" y="1056513"/>
                    <a:pt x="0" y="680593"/>
                  </a:cubicBezTo>
                  <a:close/>
                </a:path>
              </a:pathLst>
            </a:custGeom>
            <a:solidFill>
              <a:srgbClr val="FFFFFF"/>
            </a:solidFill>
            <a:ln w="33338" cap="sq">
              <a:solidFill>
                <a:srgbClr val="387F7F"/>
              </a:solidFill>
              <a:prstDash val="solid"/>
              <a:miter/>
            </a:ln>
          </p:spPr>
        </p:sp>
      </p:grpSp>
      <p:grpSp>
        <p:nvGrpSpPr>
          <p:cNvPr name="Group 43" id="43"/>
          <p:cNvGrpSpPr/>
          <p:nvPr/>
        </p:nvGrpSpPr>
        <p:grpSpPr>
          <a:xfrm rot="0">
            <a:off x="13407009" y="3514725"/>
            <a:ext cx="987552" cy="987552"/>
            <a:chOff x="0" y="0"/>
            <a:chExt cx="1316736" cy="1316736"/>
          </a:xfrm>
        </p:grpSpPr>
        <p:sp>
          <p:nvSpPr>
            <p:cNvPr name="Freeform 44" id="44"/>
            <p:cNvSpPr/>
            <p:nvPr/>
          </p:nvSpPr>
          <p:spPr>
            <a:xfrm flipH="false" flipV="false" rot="0">
              <a:off x="0" y="0"/>
              <a:ext cx="1316736" cy="1316736"/>
            </a:xfrm>
            <a:custGeom>
              <a:avLst/>
              <a:gdLst/>
              <a:ahLst/>
              <a:cxnLst/>
              <a:rect r="r" b="b" t="t" l="l"/>
              <a:pathLst>
                <a:path h="1316736" w="1316736">
                  <a:moveTo>
                    <a:pt x="0" y="0"/>
                  </a:moveTo>
                  <a:lnTo>
                    <a:pt x="1316736" y="0"/>
                  </a:lnTo>
                  <a:lnTo>
                    <a:pt x="1316736" y="1316736"/>
                  </a:lnTo>
                  <a:lnTo>
                    <a:pt x="0" y="1316736"/>
                  </a:lnTo>
                  <a:close/>
                </a:path>
              </a:pathLst>
            </a:custGeom>
            <a:blipFill>
              <a:blip r:embed="rId9">
                <a:alphaModFix amt="0"/>
              </a:blip>
              <a:stretch>
                <a:fillRect l="-78303" t="0" r="-78303" b="0"/>
              </a:stretch>
            </a:blipFill>
          </p:spPr>
        </p:sp>
        <p:sp>
          <p:nvSpPr>
            <p:cNvPr name="TextBox 45" id="45"/>
            <p:cNvSpPr txBox="true"/>
            <p:nvPr/>
          </p:nvSpPr>
          <p:spPr>
            <a:xfrm>
              <a:off x="0" y="-38100"/>
              <a:ext cx="1316736" cy="1354836"/>
            </a:xfrm>
            <a:prstGeom prst="rect">
              <a:avLst/>
            </a:prstGeom>
          </p:spPr>
          <p:txBody>
            <a:bodyPr anchor="ctr" rtlCol="false" tIns="0" lIns="0" bIns="0" rIns="0"/>
            <a:lstStyle/>
            <a:p>
              <a:pPr algn="ctr">
                <a:lnSpc>
                  <a:spcPts val="4320"/>
                </a:lnSpc>
              </a:pPr>
              <a:r>
                <a:rPr lang="en-US" sz="3600" b="true">
                  <a:solidFill>
                    <a:srgbClr val="387F7F"/>
                  </a:solidFill>
                  <a:latin typeface="Poppins Bold"/>
                  <a:ea typeface="Poppins Bold"/>
                  <a:cs typeface="Poppins Bold"/>
                  <a:sym typeface="Poppins Bold"/>
                </a:rPr>
                <a:t>→</a:t>
              </a:r>
            </a:p>
          </p:txBody>
        </p:sp>
      </p:grpSp>
      <p:grpSp>
        <p:nvGrpSpPr>
          <p:cNvPr name="Group 46" id="46"/>
          <p:cNvGrpSpPr/>
          <p:nvPr/>
        </p:nvGrpSpPr>
        <p:grpSpPr>
          <a:xfrm rot="0">
            <a:off x="11466195" y="4817745"/>
            <a:ext cx="4869180" cy="685800"/>
            <a:chOff x="0" y="0"/>
            <a:chExt cx="6492240" cy="914400"/>
          </a:xfrm>
        </p:grpSpPr>
        <p:sp>
          <p:nvSpPr>
            <p:cNvPr name="Freeform 47" id="47"/>
            <p:cNvSpPr/>
            <p:nvPr/>
          </p:nvSpPr>
          <p:spPr>
            <a:xfrm flipH="false" flipV="false" rot="0">
              <a:off x="0" y="0"/>
              <a:ext cx="6492240" cy="914400"/>
            </a:xfrm>
            <a:custGeom>
              <a:avLst/>
              <a:gdLst/>
              <a:ahLst/>
              <a:cxnLst/>
              <a:rect r="r" b="b" t="t" l="l"/>
              <a:pathLst>
                <a:path h="914400" w="6492240">
                  <a:moveTo>
                    <a:pt x="0" y="0"/>
                  </a:moveTo>
                  <a:lnTo>
                    <a:pt x="6492240" y="0"/>
                  </a:lnTo>
                  <a:lnTo>
                    <a:pt x="6492240" y="914400"/>
                  </a:lnTo>
                  <a:lnTo>
                    <a:pt x="0" y="914400"/>
                  </a:lnTo>
                  <a:close/>
                </a:path>
              </a:pathLst>
            </a:custGeom>
            <a:blipFill>
              <a:blip r:embed="rId9">
                <a:alphaModFix amt="0"/>
              </a:blip>
              <a:stretch>
                <a:fillRect l="0" t="-88343" r="0" b="-88343"/>
              </a:stretch>
            </a:blipFill>
          </p:spPr>
        </p:sp>
        <p:sp>
          <p:nvSpPr>
            <p:cNvPr name="TextBox 48" id="48"/>
            <p:cNvSpPr txBox="true"/>
            <p:nvPr/>
          </p:nvSpPr>
          <p:spPr>
            <a:xfrm>
              <a:off x="0" y="-19050"/>
              <a:ext cx="6492240" cy="933450"/>
            </a:xfrm>
            <a:prstGeom prst="rect">
              <a:avLst/>
            </a:prstGeom>
          </p:spPr>
          <p:txBody>
            <a:bodyPr anchor="ctr" rtlCol="false" tIns="0" lIns="0" bIns="0" rIns="0"/>
            <a:lstStyle/>
            <a:p>
              <a:pPr algn="ctr">
                <a:lnSpc>
                  <a:spcPts val="3779"/>
                </a:lnSpc>
              </a:pPr>
              <a:r>
                <a:rPr lang="en-US" sz="3150" b="true">
                  <a:solidFill>
                    <a:srgbClr val="387F7F"/>
                  </a:solidFill>
                  <a:latin typeface="Poppins Bold"/>
                  <a:ea typeface="Poppins Bold"/>
                  <a:cs typeface="Poppins Bold"/>
                  <a:sym typeface="Poppins Bold"/>
                </a:rPr>
                <a:t>Describe</a:t>
              </a:r>
            </a:p>
          </p:txBody>
        </p:sp>
      </p:grpSp>
      <p:sp>
        <p:nvSpPr>
          <p:cNvPr name="TextBox 49" id="49"/>
          <p:cNvSpPr txBox="true"/>
          <p:nvPr/>
        </p:nvSpPr>
        <p:spPr>
          <a:xfrm rot="0">
            <a:off x="11877675" y="5554980"/>
            <a:ext cx="4046220" cy="1868805"/>
          </a:xfrm>
          <a:prstGeom prst="rect">
            <a:avLst/>
          </a:prstGeom>
        </p:spPr>
        <p:txBody>
          <a:bodyPr anchor="t" rtlCol="false" tIns="0" lIns="0" bIns="0" rIns="0">
            <a:spAutoFit/>
          </a:bodyPr>
          <a:lstStyle/>
          <a:p>
            <a:pPr algn="ctr">
              <a:lnSpc>
                <a:spcPts val="3042"/>
              </a:lnSpc>
            </a:pPr>
            <a:r>
              <a:rPr lang="en-US" sz="1950">
                <a:solidFill>
                  <a:srgbClr val="475569"/>
                </a:solidFill>
                <a:latin typeface="Poppins"/>
                <a:ea typeface="Poppins"/>
                <a:cs typeface="Poppins"/>
                <a:sym typeface="Poppins"/>
              </a:rPr>
              <a:t>what Copilot in Power BI adds in licensed environments.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2284770"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Where you are on the </a:t>
            </a:r>
            <a:r>
              <a:rPr lang="en-US" sz="5000">
                <a:solidFill>
                  <a:srgbClr val="388080"/>
                </a:solidFill>
                <a:latin typeface="Poppins"/>
                <a:ea typeface="Poppins"/>
                <a:cs typeface="Poppins"/>
                <a:sym typeface="Poppins"/>
              </a:rPr>
              <a:t>AI fluency ladder</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904875" y="2644516"/>
            <a:ext cx="14744700" cy="1344168"/>
            <a:chOff x="0" y="0"/>
            <a:chExt cx="19659600" cy="1792224"/>
          </a:xfrm>
        </p:grpSpPr>
        <p:sp>
          <p:nvSpPr>
            <p:cNvPr name="Freeform 12" id="12"/>
            <p:cNvSpPr/>
            <p:nvPr/>
          </p:nvSpPr>
          <p:spPr>
            <a:xfrm flipH="false" flipV="false" rot="0">
              <a:off x="0" y="0"/>
              <a:ext cx="19659600" cy="1792224"/>
            </a:xfrm>
            <a:custGeom>
              <a:avLst/>
              <a:gdLst/>
              <a:ahLst/>
              <a:cxnLst/>
              <a:rect r="r" b="b" t="t" l="l"/>
              <a:pathLst>
                <a:path h="1792224" w="19659600">
                  <a:moveTo>
                    <a:pt x="0" y="182880"/>
                  </a:moveTo>
                  <a:cubicBezTo>
                    <a:pt x="0" y="81915"/>
                    <a:pt x="81915" y="0"/>
                    <a:pt x="182880" y="0"/>
                  </a:cubicBezTo>
                  <a:lnTo>
                    <a:pt x="19476720" y="0"/>
                  </a:lnTo>
                  <a:cubicBezTo>
                    <a:pt x="19577684" y="0"/>
                    <a:pt x="19659600" y="81915"/>
                    <a:pt x="19659600" y="182880"/>
                  </a:cubicBezTo>
                  <a:lnTo>
                    <a:pt x="19659600" y="1609344"/>
                  </a:lnTo>
                  <a:cubicBezTo>
                    <a:pt x="19659600" y="1710309"/>
                    <a:pt x="19577684" y="1792224"/>
                    <a:pt x="19476720" y="1792224"/>
                  </a:cubicBezTo>
                  <a:lnTo>
                    <a:pt x="182880" y="1792224"/>
                  </a:lnTo>
                  <a:cubicBezTo>
                    <a:pt x="81915" y="1792224"/>
                    <a:pt x="0" y="1710309"/>
                    <a:pt x="0" y="1609344"/>
                  </a:cubicBezTo>
                  <a:close/>
                </a:path>
              </a:pathLst>
            </a:custGeom>
            <a:solidFill>
              <a:srgbClr val="FFFFFF"/>
            </a:solidFill>
          </p:spPr>
        </p:sp>
      </p:grpSp>
      <p:grpSp>
        <p:nvGrpSpPr>
          <p:cNvPr name="Group 13" id="13"/>
          <p:cNvGrpSpPr/>
          <p:nvPr/>
        </p:nvGrpSpPr>
        <p:grpSpPr>
          <a:xfrm rot="0">
            <a:off x="1247775" y="2905120"/>
            <a:ext cx="822960" cy="822960"/>
            <a:chOff x="0" y="0"/>
            <a:chExt cx="1097280" cy="1097280"/>
          </a:xfrm>
        </p:grpSpPr>
        <p:sp>
          <p:nvSpPr>
            <p:cNvPr name="Freeform 14" id="14"/>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87F7F"/>
            </a:solidFill>
          </p:spPr>
        </p:sp>
      </p:grpSp>
      <p:grpSp>
        <p:nvGrpSpPr>
          <p:cNvPr name="Group 15" id="15"/>
          <p:cNvGrpSpPr/>
          <p:nvPr/>
        </p:nvGrpSpPr>
        <p:grpSpPr>
          <a:xfrm rot="0">
            <a:off x="1247775" y="2905120"/>
            <a:ext cx="822960" cy="822960"/>
            <a:chOff x="0" y="0"/>
            <a:chExt cx="1097280" cy="1097280"/>
          </a:xfrm>
        </p:grpSpPr>
        <p:sp>
          <p:nvSpPr>
            <p:cNvPr name="Freeform 16" id="16"/>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9">
                <a:alphaModFix amt="0"/>
              </a:blip>
              <a:stretch>
                <a:fillRect l="-78303" t="0" r="-78303" b="0"/>
              </a:stretch>
            </a:blipFill>
          </p:spPr>
        </p:sp>
        <p:sp>
          <p:nvSpPr>
            <p:cNvPr name="TextBox 17" id="17"/>
            <p:cNvSpPr txBox="true"/>
            <p:nvPr/>
          </p:nvSpPr>
          <p:spPr>
            <a:xfrm>
              <a:off x="0" y="-28575"/>
              <a:ext cx="1097280" cy="1125855"/>
            </a:xfrm>
            <a:prstGeom prst="rect">
              <a:avLst/>
            </a:prstGeom>
          </p:spPr>
          <p:txBody>
            <a:bodyPr anchor="ctr" rtlCol="false" tIns="0" lIns="0" bIns="0" rIns="0"/>
            <a:lstStyle/>
            <a:p>
              <a:pPr algn="ctr">
                <a:lnSpc>
                  <a:spcPts val="3960"/>
                </a:lnSpc>
              </a:pPr>
              <a:r>
                <a:rPr lang="en-US" sz="3300" b="true">
                  <a:solidFill>
                    <a:srgbClr val="FFFFFF"/>
                  </a:solidFill>
                  <a:latin typeface="Poppins Bold"/>
                  <a:ea typeface="Poppins Bold"/>
                  <a:cs typeface="Poppins Bold"/>
                  <a:sym typeface="Poppins Bold"/>
                </a:rPr>
                <a:t>1</a:t>
              </a:r>
            </a:p>
          </p:txBody>
        </p:sp>
      </p:grpSp>
      <p:grpSp>
        <p:nvGrpSpPr>
          <p:cNvPr name="Group 18" id="18"/>
          <p:cNvGrpSpPr/>
          <p:nvPr/>
        </p:nvGrpSpPr>
        <p:grpSpPr>
          <a:xfrm rot="0">
            <a:off x="2413635" y="2781676"/>
            <a:ext cx="4663440" cy="548640"/>
            <a:chOff x="0" y="0"/>
            <a:chExt cx="6217920" cy="731520"/>
          </a:xfrm>
        </p:grpSpPr>
        <p:sp>
          <p:nvSpPr>
            <p:cNvPr name="Freeform 19" id="19"/>
            <p:cNvSpPr/>
            <p:nvPr/>
          </p:nvSpPr>
          <p:spPr>
            <a:xfrm flipH="false" flipV="false" rot="0">
              <a:off x="0" y="0"/>
              <a:ext cx="6217920" cy="731520"/>
            </a:xfrm>
            <a:custGeom>
              <a:avLst/>
              <a:gdLst/>
              <a:ahLst/>
              <a:cxnLst/>
              <a:rect r="r" b="b" t="t" l="l"/>
              <a:pathLst>
                <a:path h="731520" w="6217920">
                  <a:moveTo>
                    <a:pt x="0" y="0"/>
                  </a:moveTo>
                  <a:lnTo>
                    <a:pt x="6217920" y="0"/>
                  </a:lnTo>
                  <a:lnTo>
                    <a:pt x="6217920" y="731520"/>
                  </a:lnTo>
                  <a:lnTo>
                    <a:pt x="0" y="731520"/>
                  </a:lnTo>
                  <a:close/>
                </a:path>
              </a:pathLst>
            </a:custGeom>
            <a:blipFill>
              <a:blip r:embed="rId9">
                <a:alphaModFix amt="0"/>
              </a:blip>
              <a:stretch>
                <a:fillRect l="0" t="-115622" r="0" b="-115622"/>
              </a:stretch>
            </a:blipFill>
          </p:spPr>
        </p:sp>
        <p:sp>
          <p:nvSpPr>
            <p:cNvPr name="TextBox 20" id="20"/>
            <p:cNvSpPr txBox="true"/>
            <p:nvPr/>
          </p:nvSpPr>
          <p:spPr>
            <a:xfrm>
              <a:off x="0" y="-19050"/>
              <a:ext cx="6217920" cy="750570"/>
            </a:xfrm>
            <a:prstGeom prst="rect">
              <a:avLst/>
            </a:prstGeom>
          </p:spPr>
          <p:txBody>
            <a:bodyPr anchor="ctr" rtlCol="false" tIns="0" lIns="0" bIns="0" rIns="0"/>
            <a:lstStyle/>
            <a:p>
              <a:pPr algn="l">
                <a:lnSpc>
                  <a:spcPts val="2520"/>
                </a:lnSpc>
              </a:pPr>
              <a:r>
                <a:rPr lang="en-US" sz="2100" b="true">
                  <a:solidFill>
                    <a:srgbClr val="0A1A23"/>
                  </a:solidFill>
                  <a:latin typeface="Poppins Bold"/>
                  <a:ea typeface="Poppins Bold"/>
                  <a:cs typeface="Poppins Bold"/>
                  <a:sym typeface="Poppins Bold"/>
                </a:rPr>
                <a:t>Clear single tasks</a:t>
              </a:r>
            </a:p>
          </p:txBody>
        </p:sp>
      </p:grpSp>
      <p:grpSp>
        <p:nvGrpSpPr>
          <p:cNvPr name="Group 21" id="21"/>
          <p:cNvGrpSpPr/>
          <p:nvPr/>
        </p:nvGrpSpPr>
        <p:grpSpPr>
          <a:xfrm rot="0">
            <a:off x="7145655" y="2754244"/>
            <a:ext cx="8229600" cy="1124712"/>
            <a:chOff x="0" y="0"/>
            <a:chExt cx="10972800" cy="1499616"/>
          </a:xfrm>
        </p:grpSpPr>
        <p:sp>
          <p:nvSpPr>
            <p:cNvPr name="Freeform 22" id="22"/>
            <p:cNvSpPr/>
            <p:nvPr/>
          </p:nvSpPr>
          <p:spPr>
            <a:xfrm flipH="false" flipV="false" rot="0">
              <a:off x="0" y="0"/>
              <a:ext cx="10972800" cy="1499616"/>
            </a:xfrm>
            <a:custGeom>
              <a:avLst/>
              <a:gdLst/>
              <a:ahLst/>
              <a:cxnLst/>
              <a:rect r="r" b="b" t="t" l="l"/>
              <a:pathLst>
                <a:path h="1499616" w="10972800">
                  <a:moveTo>
                    <a:pt x="0" y="0"/>
                  </a:moveTo>
                  <a:lnTo>
                    <a:pt x="10972800" y="0"/>
                  </a:lnTo>
                  <a:lnTo>
                    <a:pt x="10972800" y="1499616"/>
                  </a:lnTo>
                  <a:lnTo>
                    <a:pt x="0" y="1499616"/>
                  </a:lnTo>
                  <a:close/>
                </a:path>
              </a:pathLst>
            </a:custGeom>
            <a:blipFill>
              <a:blip r:embed="rId9">
                <a:alphaModFix amt="0"/>
              </a:blip>
              <a:stretch>
                <a:fillRect l="0" t="-92573" r="0" b="-92573"/>
              </a:stretch>
            </a:blipFill>
          </p:spPr>
        </p:sp>
        <p:sp>
          <p:nvSpPr>
            <p:cNvPr name="TextBox 23" id="23"/>
            <p:cNvSpPr txBox="true"/>
            <p:nvPr/>
          </p:nvSpPr>
          <p:spPr>
            <a:xfrm>
              <a:off x="0" y="-47625"/>
              <a:ext cx="10972800" cy="1547241"/>
            </a:xfrm>
            <a:prstGeom prst="rect">
              <a:avLst/>
            </a:prstGeom>
          </p:spPr>
          <p:txBody>
            <a:bodyPr anchor="ctr" rtlCol="false" tIns="0" lIns="0" bIns="0" rIns="0"/>
            <a:lstStyle/>
            <a:p>
              <a:pPr algn="l">
                <a:lnSpc>
                  <a:spcPts val="2376"/>
                </a:lnSpc>
              </a:pPr>
              <a:r>
                <a:rPr lang="en-US" sz="1650">
                  <a:solidFill>
                    <a:srgbClr val="64748B"/>
                  </a:solidFill>
                  <a:latin typeface="Poppins"/>
                  <a:ea typeface="Poppins"/>
                  <a:cs typeface="Poppins"/>
                  <a:sym typeface="Poppins"/>
                </a:rPr>
                <a:t>Write one-task prompts with full context. Iterate when the first answer is poor.</a:t>
              </a:r>
            </a:p>
          </p:txBody>
        </p:sp>
      </p:grpSp>
      <p:grpSp>
        <p:nvGrpSpPr>
          <p:cNvPr name="Group 24" id="24"/>
          <p:cNvGrpSpPr/>
          <p:nvPr/>
        </p:nvGrpSpPr>
        <p:grpSpPr>
          <a:xfrm rot="0">
            <a:off x="904875" y="4221856"/>
            <a:ext cx="14744700" cy="1344168"/>
            <a:chOff x="0" y="0"/>
            <a:chExt cx="19659600" cy="1792224"/>
          </a:xfrm>
        </p:grpSpPr>
        <p:sp>
          <p:nvSpPr>
            <p:cNvPr name="Freeform 25" id="25"/>
            <p:cNvSpPr/>
            <p:nvPr/>
          </p:nvSpPr>
          <p:spPr>
            <a:xfrm flipH="false" flipV="false" rot="0">
              <a:off x="0" y="0"/>
              <a:ext cx="19659600" cy="1792224"/>
            </a:xfrm>
            <a:custGeom>
              <a:avLst/>
              <a:gdLst/>
              <a:ahLst/>
              <a:cxnLst/>
              <a:rect r="r" b="b" t="t" l="l"/>
              <a:pathLst>
                <a:path h="1792224" w="19659600">
                  <a:moveTo>
                    <a:pt x="0" y="182880"/>
                  </a:moveTo>
                  <a:cubicBezTo>
                    <a:pt x="0" y="81915"/>
                    <a:pt x="81915" y="0"/>
                    <a:pt x="182880" y="0"/>
                  </a:cubicBezTo>
                  <a:lnTo>
                    <a:pt x="19476720" y="0"/>
                  </a:lnTo>
                  <a:cubicBezTo>
                    <a:pt x="19577684" y="0"/>
                    <a:pt x="19659600" y="81915"/>
                    <a:pt x="19659600" y="182880"/>
                  </a:cubicBezTo>
                  <a:lnTo>
                    <a:pt x="19659600" y="1609344"/>
                  </a:lnTo>
                  <a:cubicBezTo>
                    <a:pt x="19659600" y="1710309"/>
                    <a:pt x="19577684" y="1792224"/>
                    <a:pt x="19476720" y="1792224"/>
                  </a:cubicBezTo>
                  <a:lnTo>
                    <a:pt x="182880" y="1792224"/>
                  </a:lnTo>
                  <a:cubicBezTo>
                    <a:pt x="81915" y="1792224"/>
                    <a:pt x="0" y="1710309"/>
                    <a:pt x="0" y="1609344"/>
                  </a:cubicBezTo>
                  <a:close/>
                </a:path>
              </a:pathLst>
            </a:custGeom>
            <a:solidFill>
              <a:srgbClr val="FFFFFF"/>
            </a:solidFill>
          </p:spPr>
        </p:sp>
      </p:grpSp>
      <p:grpSp>
        <p:nvGrpSpPr>
          <p:cNvPr name="Group 26" id="26"/>
          <p:cNvGrpSpPr/>
          <p:nvPr/>
        </p:nvGrpSpPr>
        <p:grpSpPr>
          <a:xfrm rot="0">
            <a:off x="1247775" y="4482460"/>
            <a:ext cx="822960" cy="822960"/>
            <a:chOff x="0" y="0"/>
            <a:chExt cx="1097280" cy="1097280"/>
          </a:xfrm>
        </p:grpSpPr>
        <p:sp>
          <p:nvSpPr>
            <p:cNvPr name="Freeform 27" id="27"/>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87F7F"/>
            </a:solidFill>
          </p:spPr>
        </p:sp>
      </p:grpSp>
      <p:grpSp>
        <p:nvGrpSpPr>
          <p:cNvPr name="Group 28" id="28"/>
          <p:cNvGrpSpPr/>
          <p:nvPr/>
        </p:nvGrpSpPr>
        <p:grpSpPr>
          <a:xfrm rot="0">
            <a:off x="1247775" y="4482460"/>
            <a:ext cx="822960" cy="822960"/>
            <a:chOff x="0" y="0"/>
            <a:chExt cx="1097280" cy="1097280"/>
          </a:xfrm>
        </p:grpSpPr>
        <p:sp>
          <p:nvSpPr>
            <p:cNvPr name="Freeform 29" id="29"/>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9">
                <a:alphaModFix amt="0"/>
              </a:blip>
              <a:stretch>
                <a:fillRect l="-78303" t="0" r="-78303" b="0"/>
              </a:stretch>
            </a:blipFill>
          </p:spPr>
        </p:sp>
        <p:sp>
          <p:nvSpPr>
            <p:cNvPr name="TextBox 30" id="30"/>
            <p:cNvSpPr txBox="true"/>
            <p:nvPr/>
          </p:nvSpPr>
          <p:spPr>
            <a:xfrm>
              <a:off x="0" y="-28575"/>
              <a:ext cx="1097280" cy="1125855"/>
            </a:xfrm>
            <a:prstGeom prst="rect">
              <a:avLst/>
            </a:prstGeom>
          </p:spPr>
          <p:txBody>
            <a:bodyPr anchor="ctr" rtlCol="false" tIns="0" lIns="0" bIns="0" rIns="0"/>
            <a:lstStyle/>
            <a:p>
              <a:pPr algn="ctr">
                <a:lnSpc>
                  <a:spcPts val="3960"/>
                </a:lnSpc>
              </a:pPr>
              <a:r>
                <a:rPr lang="en-US" sz="3300" b="true">
                  <a:solidFill>
                    <a:srgbClr val="FFFFFF"/>
                  </a:solidFill>
                  <a:latin typeface="Poppins Bold"/>
                  <a:ea typeface="Poppins Bold"/>
                  <a:cs typeface="Poppins Bold"/>
                  <a:sym typeface="Poppins Bold"/>
                </a:rPr>
                <a:t>2</a:t>
              </a:r>
            </a:p>
          </p:txBody>
        </p:sp>
      </p:grpSp>
      <p:grpSp>
        <p:nvGrpSpPr>
          <p:cNvPr name="Group 31" id="31"/>
          <p:cNvGrpSpPr/>
          <p:nvPr/>
        </p:nvGrpSpPr>
        <p:grpSpPr>
          <a:xfrm rot="0">
            <a:off x="2413635" y="4359016"/>
            <a:ext cx="4663440" cy="548640"/>
            <a:chOff x="0" y="0"/>
            <a:chExt cx="6217920" cy="731520"/>
          </a:xfrm>
        </p:grpSpPr>
        <p:sp>
          <p:nvSpPr>
            <p:cNvPr name="Freeform 32" id="32"/>
            <p:cNvSpPr/>
            <p:nvPr/>
          </p:nvSpPr>
          <p:spPr>
            <a:xfrm flipH="false" flipV="false" rot="0">
              <a:off x="0" y="0"/>
              <a:ext cx="6217920" cy="731520"/>
            </a:xfrm>
            <a:custGeom>
              <a:avLst/>
              <a:gdLst/>
              <a:ahLst/>
              <a:cxnLst/>
              <a:rect r="r" b="b" t="t" l="l"/>
              <a:pathLst>
                <a:path h="731520" w="6217920">
                  <a:moveTo>
                    <a:pt x="0" y="0"/>
                  </a:moveTo>
                  <a:lnTo>
                    <a:pt x="6217920" y="0"/>
                  </a:lnTo>
                  <a:lnTo>
                    <a:pt x="6217920" y="731520"/>
                  </a:lnTo>
                  <a:lnTo>
                    <a:pt x="0" y="731520"/>
                  </a:lnTo>
                  <a:close/>
                </a:path>
              </a:pathLst>
            </a:custGeom>
            <a:blipFill>
              <a:blip r:embed="rId9">
                <a:alphaModFix amt="0"/>
              </a:blip>
              <a:stretch>
                <a:fillRect l="0" t="-115622" r="0" b="-115622"/>
              </a:stretch>
            </a:blipFill>
          </p:spPr>
        </p:sp>
        <p:sp>
          <p:nvSpPr>
            <p:cNvPr name="TextBox 33" id="33"/>
            <p:cNvSpPr txBox="true"/>
            <p:nvPr/>
          </p:nvSpPr>
          <p:spPr>
            <a:xfrm>
              <a:off x="0" y="-19050"/>
              <a:ext cx="6217920" cy="750570"/>
            </a:xfrm>
            <a:prstGeom prst="rect">
              <a:avLst/>
            </a:prstGeom>
          </p:spPr>
          <p:txBody>
            <a:bodyPr anchor="ctr" rtlCol="false" tIns="0" lIns="0" bIns="0" rIns="0"/>
            <a:lstStyle/>
            <a:p>
              <a:pPr algn="l">
                <a:lnSpc>
                  <a:spcPts val="2520"/>
                </a:lnSpc>
              </a:pPr>
              <a:r>
                <a:rPr lang="en-US" sz="2100" b="true">
                  <a:solidFill>
                    <a:srgbClr val="0A1A23"/>
                  </a:solidFill>
                  <a:latin typeface="Poppins Bold"/>
                  <a:ea typeface="Poppins Bold"/>
                  <a:cs typeface="Poppins Bold"/>
                  <a:sym typeface="Poppins Bold"/>
                </a:rPr>
                <a:t>Role, constraints, decomposition</a:t>
              </a:r>
            </a:p>
          </p:txBody>
        </p:sp>
      </p:grpSp>
      <p:grpSp>
        <p:nvGrpSpPr>
          <p:cNvPr name="Group 34" id="34"/>
          <p:cNvGrpSpPr/>
          <p:nvPr/>
        </p:nvGrpSpPr>
        <p:grpSpPr>
          <a:xfrm rot="0">
            <a:off x="7145655" y="4331584"/>
            <a:ext cx="8229600" cy="1124712"/>
            <a:chOff x="0" y="0"/>
            <a:chExt cx="10972800" cy="1499616"/>
          </a:xfrm>
        </p:grpSpPr>
        <p:sp>
          <p:nvSpPr>
            <p:cNvPr name="Freeform 35" id="35"/>
            <p:cNvSpPr/>
            <p:nvPr/>
          </p:nvSpPr>
          <p:spPr>
            <a:xfrm flipH="false" flipV="false" rot="0">
              <a:off x="0" y="0"/>
              <a:ext cx="10972800" cy="1499616"/>
            </a:xfrm>
            <a:custGeom>
              <a:avLst/>
              <a:gdLst/>
              <a:ahLst/>
              <a:cxnLst/>
              <a:rect r="r" b="b" t="t" l="l"/>
              <a:pathLst>
                <a:path h="1499616" w="10972800">
                  <a:moveTo>
                    <a:pt x="0" y="0"/>
                  </a:moveTo>
                  <a:lnTo>
                    <a:pt x="10972800" y="0"/>
                  </a:lnTo>
                  <a:lnTo>
                    <a:pt x="10972800" y="1499616"/>
                  </a:lnTo>
                  <a:lnTo>
                    <a:pt x="0" y="1499616"/>
                  </a:lnTo>
                  <a:close/>
                </a:path>
              </a:pathLst>
            </a:custGeom>
            <a:blipFill>
              <a:blip r:embed="rId9">
                <a:alphaModFix amt="0"/>
              </a:blip>
              <a:stretch>
                <a:fillRect l="0" t="-92573" r="0" b="-92573"/>
              </a:stretch>
            </a:blipFill>
          </p:spPr>
        </p:sp>
        <p:sp>
          <p:nvSpPr>
            <p:cNvPr name="TextBox 36" id="36"/>
            <p:cNvSpPr txBox="true"/>
            <p:nvPr/>
          </p:nvSpPr>
          <p:spPr>
            <a:xfrm>
              <a:off x="0" y="-47625"/>
              <a:ext cx="10972800" cy="1547241"/>
            </a:xfrm>
            <a:prstGeom prst="rect">
              <a:avLst/>
            </a:prstGeom>
          </p:spPr>
          <p:txBody>
            <a:bodyPr anchor="ctr" rtlCol="false" tIns="0" lIns="0" bIns="0" rIns="0"/>
            <a:lstStyle/>
            <a:p>
              <a:pPr algn="l">
                <a:lnSpc>
                  <a:spcPts val="2376"/>
                </a:lnSpc>
              </a:pPr>
              <a:r>
                <a:rPr lang="en-US" sz="1650">
                  <a:solidFill>
                    <a:srgbClr val="64748B"/>
                  </a:solidFill>
                  <a:latin typeface="Poppins"/>
                  <a:ea typeface="Poppins"/>
                  <a:cs typeface="Poppins"/>
                  <a:sym typeface="Poppins"/>
                </a:rPr>
                <a:t>Set a role and constraints, break a multi-step problem into a prompt sequence.</a:t>
              </a:r>
            </a:p>
          </p:txBody>
        </p:sp>
      </p:grpSp>
      <p:grpSp>
        <p:nvGrpSpPr>
          <p:cNvPr name="Group 37" id="37"/>
          <p:cNvGrpSpPr/>
          <p:nvPr/>
        </p:nvGrpSpPr>
        <p:grpSpPr>
          <a:xfrm rot="0">
            <a:off x="904875" y="5799196"/>
            <a:ext cx="14744700" cy="1344168"/>
            <a:chOff x="0" y="0"/>
            <a:chExt cx="19659600" cy="1792224"/>
          </a:xfrm>
        </p:grpSpPr>
        <p:sp>
          <p:nvSpPr>
            <p:cNvPr name="Freeform 38" id="38"/>
            <p:cNvSpPr/>
            <p:nvPr/>
          </p:nvSpPr>
          <p:spPr>
            <a:xfrm flipH="false" flipV="false" rot="0">
              <a:off x="0" y="0"/>
              <a:ext cx="19659600" cy="1792224"/>
            </a:xfrm>
            <a:custGeom>
              <a:avLst/>
              <a:gdLst/>
              <a:ahLst/>
              <a:cxnLst/>
              <a:rect r="r" b="b" t="t" l="l"/>
              <a:pathLst>
                <a:path h="1792224" w="19659600">
                  <a:moveTo>
                    <a:pt x="0" y="182880"/>
                  </a:moveTo>
                  <a:cubicBezTo>
                    <a:pt x="0" y="81915"/>
                    <a:pt x="81915" y="0"/>
                    <a:pt x="182880" y="0"/>
                  </a:cubicBezTo>
                  <a:lnTo>
                    <a:pt x="19476720" y="0"/>
                  </a:lnTo>
                  <a:cubicBezTo>
                    <a:pt x="19577684" y="0"/>
                    <a:pt x="19659600" y="81915"/>
                    <a:pt x="19659600" y="182880"/>
                  </a:cubicBezTo>
                  <a:lnTo>
                    <a:pt x="19659600" y="1609344"/>
                  </a:lnTo>
                  <a:cubicBezTo>
                    <a:pt x="19659600" y="1710309"/>
                    <a:pt x="19577684" y="1792224"/>
                    <a:pt x="19476720" y="1792224"/>
                  </a:cubicBezTo>
                  <a:lnTo>
                    <a:pt x="182880" y="1792224"/>
                  </a:lnTo>
                  <a:cubicBezTo>
                    <a:pt x="81915" y="1792224"/>
                    <a:pt x="0" y="1710309"/>
                    <a:pt x="0" y="1609344"/>
                  </a:cubicBezTo>
                  <a:close/>
                </a:path>
              </a:pathLst>
            </a:custGeom>
            <a:solidFill>
              <a:srgbClr val="387F7F"/>
            </a:solidFill>
          </p:spPr>
        </p:sp>
      </p:grpSp>
      <p:grpSp>
        <p:nvGrpSpPr>
          <p:cNvPr name="Group 39" id="39"/>
          <p:cNvGrpSpPr/>
          <p:nvPr/>
        </p:nvGrpSpPr>
        <p:grpSpPr>
          <a:xfrm rot="0">
            <a:off x="1247775" y="6059800"/>
            <a:ext cx="822960" cy="822960"/>
            <a:chOff x="0" y="0"/>
            <a:chExt cx="1097280" cy="1097280"/>
          </a:xfrm>
        </p:grpSpPr>
        <p:sp>
          <p:nvSpPr>
            <p:cNvPr name="Freeform 40" id="40"/>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FFFFFF"/>
            </a:solidFill>
          </p:spPr>
        </p:sp>
      </p:grpSp>
      <p:grpSp>
        <p:nvGrpSpPr>
          <p:cNvPr name="Group 41" id="41"/>
          <p:cNvGrpSpPr/>
          <p:nvPr/>
        </p:nvGrpSpPr>
        <p:grpSpPr>
          <a:xfrm rot="0">
            <a:off x="1247775" y="6059800"/>
            <a:ext cx="822960" cy="822960"/>
            <a:chOff x="0" y="0"/>
            <a:chExt cx="1097280" cy="1097280"/>
          </a:xfrm>
        </p:grpSpPr>
        <p:sp>
          <p:nvSpPr>
            <p:cNvPr name="Freeform 42" id="42"/>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9">
                <a:alphaModFix amt="0"/>
              </a:blip>
              <a:stretch>
                <a:fillRect l="-78303" t="0" r="-78303" b="0"/>
              </a:stretch>
            </a:blipFill>
          </p:spPr>
        </p:sp>
        <p:sp>
          <p:nvSpPr>
            <p:cNvPr name="TextBox 43" id="43"/>
            <p:cNvSpPr txBox="true"/>
            <p:nvPr/>
          </p:nvSpPr>
          <p:spPr>
            <a:xfrm>
              <a:off x="0" y="-28575"/>
              <a:ext cx="1097280" cy="1125855"/>
            </a:xfrm>
            <a:prstGeom prst="rect">
              <a:avLst/>
            </a:prstGeom>
          </p:spPr>
          <p:txBody>
            <a:bodyPr anchor="ctr" rtlCol="false" tIns="0" lIns="0" bIns="0" rIns="0"/>
            <a:lstStyle/>
            <a:p>
              <a:pPr algn="ctr">
                <a:lnSpc>
                  <a:spcPts val="3960"/>
                </a:lnSpc>
              </a:pPr>
              <a:r>
                <a:rPr lang="en-US" sz="3300" b="true">
                  <a:solidFill>
                    <a:srgbClr val="387F7F"/>
                  </a:solidFill>
                  <a:latin typeface="Poppins Bold"/>
                  <a:ea typeface="Poppins Bold"/>
                  <a:cs typeface="Poppins Bold"/>
                  <a:sym typeface="Poppins Bold"/>
                </a:rPr>
                <a:t>3</a:t>
              </a:r>
            </a:p>
          </p:txBody>
        </p:sp>
      </p:grpSp>
      <p:grpSp>
        <p:nvGrpSpPr>
          <p:cNvPr name="Group 44" id="44"/>
          <p:cNvGrpSpPr/>
          <p:nvPr/>
        </p:nvGrpSpPr>
        <p:grpSpPr>
          <a:xfrm rot="0">
            <a:off x="2413635" y="5936356"/>
            <a:ext cx="4663440" cy="548640"/>
            <a:chOff x="0" y="0"/>
            <a:chExt cx="6217920" cy="731520"/>
          </a:xfrm>
        </p:grpSpPr>
        <p:sp>
          <p:nvSpPr>
            <p:cNvPr name="Freeform 45" id="45"/>
            <p:cNvSpPr/>
            <p:nvPr/>
          </p:nvSpPr>
          <p:spPr>
            <a:xfrm flipH="false" flipV="false" rot="0">
              <a:off x="0" y="0"/>
              <a:ext cx="6217920" cy="731520"/>
            </a:xfrm>
            <a:custGeom>
              <a:avLst/>
              <a:gdLst/>
              <a:ahLst/>
              <a:cxnLst/>
              <a:rect r="r" b="b" t="t" l="l"/>
              <a:pathLst>
                <a:path h="731520" w="6217920">
                  <a:moveTo>
                    <a:pt x="0" y="0"/>
                  </a:moveTo>
                  <a:lnTo>
                    <a:pt x="6217920" y="0"/>
                  </a:lnTo>
                  <a:lnTo>
                    <a:pt x="6217920" y="731520"/>
                  </a:lnTo>
                  <a:lnTo>
                    <a:pt x="0" y="731520"/>
                  </a:lnTo>
                  <a:close/>
                </a:path>
              </a:pathLst>
            </a:custGeom>
            <a:blipFill>
              <a:blip r:embed="rId9">
                <a:alphaModFix amt="0"/>
              </a:blip>
              <a:stretch>
                <a:fillRect l="0" t="-115622" r="0" b="-115622"/>
              </a:stretch>
            </a:blipFill>
          </p:spPr>
        </p:sp>
        <p:sp>
          <p:nvSpPr>
            <p:cNvPr name="TextBox 46" id="46"/>
            <p:cNvSpPr txBox="true"/>
            <p:nvPr/>
          </p:nvSpPr>
          <p:spPr>
            <a:xfrm>
              <a:off x="0" y="-19050"/>
              <a:ext cx="6217920" cy="750570"/>
            </a:xfrm>
            <a:prstGeom prst="rect">
              <a:avLst/>
            </a:prstGeom>
          </p:spPr>
          <p:txBody>
            <a:bodyPr anchor="ctr" rtlCol="false" tIns="0" lIns="0" bIns="0" rIns="0"/>
            <a:lstStyle/>
            <a:p>
              <a:pPr algn="l">
                <a:lnSpc>
                  <a:spcPts val="2520"/>
                </a:lnSpc>
              </a:pPr>
              <a:r>
                <a:rPr lang="en-US" sz="2100" b="true">
                  <a:solidFill>
                    <a:srgbClr val="FFFFFF"/>
                  </a:solidFill>
                  <a:latin typeface="Poppins Bold"/>
                  <a:ea typeface="Poppins Bold"/>
                  <a:cs typeface="Poppins Bold"/>
                  <a:sym typeface="Poppins Bold"/>
                </a:rPr>
                <a:t>Critical dialogue</a:t>
              </a:r>
            </a:p>
          </p:txBody>
        </p:sp>
      </p:grpSp>
      <p:grpSp>
        <p:nvGrpSpPr>
          <p:cNvPr name="Group 47" id="47"/>
          <p:cNvGrpSpPr/>
          <p:nvPr/>
        </p:nvGrpSpPr>
        <p:grpSpPr>
          <a:xfrm rot="0">
            <a:off x="7145655" y="5908924"/>
            <a:ext cx="8229600" cy="1124712"/>
            <a:chOff x="0" y="0"/>
            <a:chExt cx="10972800" cy="1499616"/>
          </a:xfrm>
        </p:grpSpPr>
        <p:sp>
          <p:nvSpPr>
            <p:cNvPr name="Freeform 48" id="48"/>
            <p:cNvSpPr/>
            <p:nvPr/>
          </p:nvSpPr>
          <p:spPr>
            <a:xfrm flipH="false" flipV="false" rot="0">
              <a:off x="0" y="0"/>
              <a:ext cx="10972800" cy="1499616"/>
            </a:xfrm>
            <a:custGeom>
              <a:avLst/>
              <a:gdLst/>
              <a:ahLst/>
              <a:cxnLst/>
              <a:rect r="r" b="b" t="t" l="l"/>
              <a:pathLst>
                <a:path h="1499616" w="10972800">
                  <a:moveTo>
                    <a:pt x="0" y="0"/>
                  </a:moveTo>
                  <a:lnTo>
                    <a:pt x="10972800" y="0"/>
                  </a:lnTo>
                  <a:lnTo>
                    <a:pt x="10972800" y="1499616"/>
                  </a:lnTo>
                  <a:lnTo>
                    <a:pt x="0" y="1499616"/>
                  </a:lnTo>
                  <a:close/>
                </a:path>
              </a:pathLst>
            </a:custGeom>
            <a:blipFill>
              <a:blip r:embed="rId9">
                <a:alphaModFix amt="0"/>
              </a:blip>
              <a:stretch>
                <a:fillRect l="0" t="-92573" r="0" b="-92573"/>
              </a:stretch>
            </a:blipFill>
          </p:spPr>
        </p:sp>
        <p:sp>
          <p:nvSpPr>
            <p:cNvPr name="TextBox 49" id="49"/>
            <p:cNvSpPr txBox="true"/>
            <p:nvPr/>
          </p:nvSpPr>
          <p:spPr>
            <a:xfrm>
              <a:off x="0" y="-47625"/>
              <a:ext cx="10972800" cy="1547241"/>
            </a:xfrm>
            <a:prstGeom prst="rect">
              <a:avLst/>
            </a:prstGeom>
          </p:spPr>
          <p:txBody>
            <a:bodyPr anchor="ctr" rtlCol="false" tIns="0" lIns="0" bIns="0" rIns="0"/>
            <a:lstStyle/>
            <a:p>
              <a:pPr algn="l">
                <a:lnSpc>
                  <a:spcPts val="2376"/>
                </a:lnSpc>
              </a:pPr>
              <a:r>
                <a:rPr lang="en-US" sz="1650">
                  <a:solidFill>
                    <a:srgbClr val="D8EBEA"/>
                  </a:solidFill>
                  <a:latin typeface="Poppins"/>
                  <a:ea typeface="Poppins"/>
                  <a:cs typeface="Poppins"/>
                  <a:sym typeface="Poppins"/>
                </a:rPr>
                <a:t>Interrogate AI output, ask for alternatives and justifications, detect and challenge wrong or overconfident answers.</a:t>
              </a:r>
            </a:p>
          </p:txBody>
        </p:sp>
      </p:grpSp>
      <p:grpSp>
        <p:nvGrpSpPr>
          <p:cNvPr name="Group 50" id="50"/>
          <p:cNvGrpSpPr/>
          <p:nvPr/>
        </p:nvGrpSpPr>
        <p:grpSpPr>
          <a:xfrm rot="0">
            <a:off x="904875" y="7376536"/>
            <a:ext cx="14744700" cy="1344168"/>
            <a:chOff x="0" y="0"/>
            <a:chExt cx="19659600" cy="1792224"/>
          </a:xfrm>
        </p:grpSpPr>
        <p:sp>
          <p:nvSpPr>
            <p:cNvPr name="Freeform 51" id="51"/>
            <p:cNvSpPr/>
            <p:nvPr/>
          </p:nvSpPr>
          <p:spPr>
            <a:xfrm flipH="false" flipV="false" rot="0">
              <a:off x="0" y="0"/>
              <a:ext cx="19659600" cy="1792224"/>
            </a:xfrm>
            <a:custGeom>
              <a:avLst/>
              <a:gdLst/>
              <a:ahLst/>
              <a:cxnLst/>
              <a:rect r="r" b="b" t="t" l="l"/>
              <a:pathLst>
                <a:path h="1792224" w="19659600">
                  <a:moveTo>
                    <a:pt x="0" y="182880"/>
                  </a:moveTo>
                  <a:cubicBezTo>
                    <a:pt x="0" y="81915"/>
                    <a:pt x="81915" y="0"/>
                    <a:pt x="182880" y="0"/>
                  </a:cubicBezTo>
                  <a:lnTo>
                    <a:pt x="19476720" y="0"/>
                  </a:lnTo>
                  <a:cubicBezTo>
                    <a:pt x="19577684" y="0"/>
                    <a:pt x="19659600" y="81915"/>
                    <a:pt x="19659600" y="182880"/>
                  </a:cubicBezTo>
                  <a:lnTo>
                    <a:pt x="19659600" y="1609344"/>
                  </a:lnTo>
                  <a:cubicBezTo>
                    <a:pt x="19659600" y="1710309"/>
                    <a:pt x="19577684" y="1792224"/>
                    <a:pt x="19476720" y="1792224"/>
                  </a:cubicBezTo>
                  <a:lnTo>
                    <a:pt x="182880" y="1792224"/>
                  </a:lnTo>
                  <a:cubicBezTo>
                    <a:pt x="81915" y="1792224"/>
                    <a:pt x="0" y="1710309"/>
                    <a:pt x="0" y="1609344"/>
                  </a:cubicBezTo>
                  <a:close/>
                </a:path>
              </a:pathLst>
            </a:custGeom>
            <a:solidFill>
              <a:srgbClr val="FFFFFF"/>
            </a:solidFill>
          </p:spPr>
        </p:sp>
      </p:grpSp>
      <p:grpSp>
        <p:nvGrpSpPr>
          <p:cNvPr name="Group 52" id="52"/>
          <p:cNvGrpSpPr/>
          <p:nvPr/>
        </p:nvGrpSpPr>
        <p:grpSpPr>
          <a:xfrm rot="0">
            <a:off x="1247775" y="7637140"/>
            <a:ext cx="822960" cy="822960"/>
            <a:chOff x="0" y="0"/>
            <a:chExt cx="1097280" cy="1097280"/>
          </a:xfrm>
        </p:grpSpPr>
        <p:sp>
          <p:nvSpPr>
            <p:cNvPr name="Freeform 53" id="53"/>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87F7F"/>
            </a:solidFill>
          </p:spPr>
        </p:sp>
      </p:grpSp>
      <p:grpSp>
        <p:nvGrpSpPr>
          <p:cNvPr name="Group 54" id="54"/>
          <p:cNvGrpSpPr/>
          <p:nvPr/>
        </p:nvGrpSpPr>
        <p:grpSpPr>
          <a:xfrm rot="0">
            <a:off x="1247775" y="7637140"/>
            <a:ext cx="822960" cy="822960"/>
            <a:chOff x="0" y="0"/>
            <a:chExt cx="1097280" cy="1097280"/>
          </a:xfrm>
        </p:grpSpPr>
        <p:sp>
          <p:nvSpPr>
            <p:cNvPr name="Freeform 55" id="5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9">
                <a:alphaModFix amt="0"/>
              </a:blip>
              <a:stretch>
                <a:fillRect l="-78303" t="0" r="-78303" b="0"/>
              </a:stretch>
            </a:blipFill>
          </p:spPr>
        </p:sp>
        <p:sp>
          <p:nvSpPr>
            <p:cNvPr name="TextBox 56" id="56"/>
            <p:cNvSpPr txBox="true"/>
            <p:nvPr/>
          </p:nvSpPr>
          <p:spPr>
            <a:xfrm>
              <a:off x="0" y="-28575"/>
              <a:ext cx="1097280" cy="1125855"/>
            </a:xfrm>
            <a:prstGeom prst="rect">
              <a:avLst/>
            </a:prstGeom>
          </p:spPr>
          <p:txBody>
            <a:bodyPr anchor="ctr" rtlCol="false" tIns="0" lIns="0" bIns="0" rIns="0"/>
            <a:lstStyle/>
            <a:p>
              <a:pPr algn="ctr">
                <a:lnSpc>
                  <a:spcPts val="3960"/>
                </a:lnSpc>
              </a:pPr>
              <a:r>
                <a:rPr lang="en-US" sz="3300" b="true">
                  <a:solidFill>
                    <a:srgbClr val="FFFFFF"/>
                  </a:solidFill>
                  <a:latin typeface="Poppins Bold"/>
                  <a:ea typeface="Poppins Bold"/>
                  <a:cs typeface="Poppins Bold"/>
                  <a:sym typeface="Poppins Bold"/>
                </a:rPr>
                <a:t>4</a:t>
              </a:r>
            </a:p>
          </p:txBody>
        </p:sp>
      </p:grpSp>
      <p:grpSp>
        <p:nvGrpSpPr>
          <p:cNvPr name="Group 57" id="57"/>
          <p:cNvGrpSpPr/>
          <p:nvPr/>
        </p:nvGrpSpPr>
        <p:grpSpPr>
          <a:xfrm rot="0">
            <a:off x="2413635" y="7513696"/>
            <a:ext cx="4663440" cy="548640"/>
            <a:chOff x="0" y="0"/>
            <a:chExt cx="6217920" cy="731520"/>
          </a:xfrm>
        </p:grpSpPr>
        <p:sp>
          <p:nvSpPr>
            <p:cNvPr name="Freeform 58" id="58"/>
            <p:cNvSpPr/>
            <p:nvPr/>
          </p:nvSpPr>
          <p:spPr>
            <a:xfrm flipH="false" flipV="false" rot="0">
              <a:off x="0" y="0"/>
              <a:ext cx="6217920" cy="731520"/>
            </a:xfrm>
            <a:custGeom>
              <a:avLst/>
              <a:gdLst/>
              <a:ahLst/>
              <a:cxnLst/>
              <a:rect r="r" b="b" t="t" l="l"/>
              <a:pathLst>
                <a:path h="731520" w="6217920">
                  <a:moveTo>
                    <a:pt x="0" y="0"/>
                  </a:moveTo>
                  <a:lnTo>
                    <a:pt x="6217920" y="0"/>
                  </a:lnTo>
                  <a:lnTo>
                    <a:pt x="6217920" y="731520"/>
                  </a:lnTo>
                  <a:lnTo>
                    <a:pt x="0" y="731520"/>
                  </a:lnTo>
                  <a:close/>
                </a:path>
              </a:pathLst>
            </a:custGeom>
            <a:blipFill>
              <a:blip r:embed="rId9">
                <a:alphaModFix amt="0"/>
              </a:blip>
              <a:stretch>
                <a:fillRect l="0" t="-115622" r="0" b="-115622"/>
              </a:stretch>
            </a:blipFill>
          </p:spPr>
        </p:sp>
        <p:sp>
          <p:nvSpPr>
            <p:cNvPr name="TextBox 59" id="59"/>
            <p:cNvSpPr txBox="true"/>
            <p:nvPr/>
          </p:nvSpPr>
          <p:spPr>
            <a:xfrm>
              <a:off x="0" y="-19050"/>
              <a:ext cx="6217920" cy="750570"/>
            </a:xfrm>
            <a:prstGeom prst="rect">
              <a:avLst/>
            </a:prstGeom>
          </p:spPr>
          <p:txBody>
            <a:bodyPr anchor="ctr" rtlCol="false" tIns="0" lIns="0" bIns="0" rIns="0"/>
            <a:lstStyle/>
            <a:p>
              <a:pPr algn="l">
                <a:lnSpc>
                  <a:spcPts val="2520"/>
                </a:lnSpc>
              </a:pPr>
              <a:r>
                <a:rPr lang="en-US" sz="2100" b="true">
                  <a:solidFill>
                    <a:srgbClr val="0A1A23"/>
                  </a:solidFill>
                  <a:latin typeface="Poppins Bold"/>
                  <a:ea typeface="Poppins Bold"/>
                  <a:cs typeface="Poppins Bold"/>
                  <a:sym typeface="Poppins Bold"/>
                </a:rPr>
                <a:t>Pipeline fluency</a:t>
              </a:r>
            </a:p>
          </p:txBody>
        </p:sp>
      </p:grpSp>
      <p:grpSp>
        <p:nvGrpSpPr>
          <p:cNvPr name="Group 60" id="60"/>
          <p:cNvGrpSpPr/>
          <p:nvPr/>
        </p:nvGrpSpPr>
        <p:grpSpPr>
          <a:xfrm rot="0">
            <a:off x="7145655" y="7486264"/>
            <a:ext cx="8229600" cy="1124712"/>
            <a:chOff x="0" y="0"/>
            <a:chExt cx="10972800" cy="1499616"/>
          </a:xfrm>
        </p:grpSpPr>
        <p:sp>
          <p:nvSpPr>
            <p:cNvPr name="Freeform 61" id="61"/>
            <p:cNvSpPr/>
            <p:nvPr/>
          </p:nvSpPr>
          <p:spPr>
            <a:xfrm flipH="false" flipV="false" rot="0">
              <a:off x="0" y="0"/>
              <a:ext cx="10972800" cy="1499616"/>
            </a:xfrm>
            <a:custGeom>
              <a:avLst/>
              <a:gdLst/>
              <a:ahLst/>
              <a:cxnLst/>
              <a:rect r="r" b="b" t="t" l="l"/>
              <a:pathLst>
                <a:path h="1499616" w="10972800">
                  <a:moveTo>
                    <a:pt x="0" y="0"/>
                  </a:moveTo>
                  <a:lnTo>
                    <a:pt x="10972800" y="0"/>
                  </a:lnTo>
                  <a:lnTo>
                    <a:pt x="10972800" y="1499616"/>
                  </a:lnTo>
                  <a:lnTo>
                    <a:pt x="0" y="1499616"/>
                  </a:lnTo>
                  <a:close/>
                </a:path>
              </a:pathLst>
            </a:custGeom>
            <a:blipFill>
              <a:blip r:embed="rId9">
                <a:alphaModFix amt="0"/>
              </a:blip>
              <a:stretch>
                <a:fillRect l="0" t="-92573" r="0" b="-92573"/>
              </a:stretch>
            </a:blipFill>
          </p:spPr>
        </p:sp>
        <p:sp>
          <p:nvSpPr>
            <p:cNvPr name="TextBox 62" id="62"/>
            <p:cNvSpPr txBox="true"/>
            <p:nvPr/>
          </p:nvSpPr>
          <p:spPr>
            <a:xfrm>
              <a:off x="0" y="-47625"/>
              <a:ext cx="10972800" cy="1547241"/>
            </a:xfrm>
            <a:prstGeom prst="rect">
              <a:avLst/>
            </a:prstGeom>
          </p:spPr>
          <p:txBody>
            <a:bodyPr anchor="ctr" rtlCol="false" tIns="0" lIns="0" bIns="0" rIns="0"/>
            <a:lstStyle/>
            <a:p>
              <a:pPr algn="l">
                <a:lnSpc>
                  <a:spcPts val="2376"/>
                </a:lnSpc>
              </a:pPr>
              <a:r>
                <a:rPr lang="en-US" sz="1650">
                  <a:solidFill>
                    <a:srgbClr val="64748B"/>
                  </a:solidFill>
                  <a:latin typeface="Poppins"/>
                  <a:ea typeface="Poppins"/>
                  <a:cs typeface="Poppins"/>
                  <a:sym typeface="Poppins"/>
                </a:rPr>
                <a:t>Sustain a long working session, maintain context, build reusable prompt templates.</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25599" y="714375"/>
            <a:ext cx="10516112" cy="1266825"/>
          </a:xfrm>
          <a:prstGeom prst="rect">
            <a:avLst/>
          </a:prstGeom>
        </p:spPr>
        <p:txBody>
          <a:bodyPr anchor="t" rtlCol="false" tIns="0" lIns="0" bIns="0" rIns="0">
            <a:spAutoFit/>
          </a:bodyPr>
          <a:lstStyle/>
          <a:p>
            <a:pPr algn="l">
              <a:lnSpc>
                <a:spcPts val="4800"/>
              </a:lnSpc>
            </a:pPr>
            <a:r>
              <a:rPr lang="en-US" sz="4000">
                <a:solidFill>
                  <a:srgbClr val="388080"/>
                </a:solidFill>
                <a:latin typeface="Poppins"/>
                <a:ea typeface="Poppins"/>
                <a:cs typeface="Poppins"/>
                <a:sym typeface="Poppins"/>
              </a:rPr>
              <a:t>”Here is a DAX</a:t>
            </a:r>
            <a:r>
              <a:rPr lang="en-US" sz="4000">
                <a:solidFill>
                  <a:srgbClr val="388080"/>
                </a:solidFill>
                <a:latin typeface="Poppins"/>
                <a:ea typeface="Poppins"/>
                <a:cs typeface="Poppins"/>
                <a:sym typeface="Poppins"/>
              </a:rPr>
              <a:t> m</a:t>
            </a:r>
            <a:r>
              <a:rPr lang="en-US" sz="4000">
                <a:solidFill>
                  <a:srgbClr val="388080"/>
                </a:solidFill>
                <a:latin typeface="Poppins"/>
                <a:ea typeface="Poppins"/>
                <a:cs typeface="Poppins"/>
                <a:sym typeface="Poppins"/>
              </a:rPr>
              <a:t>easure for your on-time rate.”</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1795760" y="0"/>
            <a:ext cx="6487668" cy="10287000"/>
            <a:chOff x="0" y="0"/>
            <a:chExt cx="8650224" cy="13716000"/>
          </a:xfrm>
        </p:grpSpPr>
        <p:sp>
          <p:nvSpPr>
            <p:cNvPr name="Freeform 12" id="12"/>
            <p:cNvSpPr/>
            <p:nvPr/>
          </p:nvSpPr>
          <p:spPr>
            <a:xfrm flipH="false" flipV="false" rot="0">
              <a:off x="0" y="0"/>
              <a:ext cx="8650224" cy="13716000"/>
            </a:xfrm>
            <a:custGeom>
              <a:avLst/>
              <a:gdLst/>
              <a:ahLst/>
              <a:cxnLst/>
              <a:rect r="r" b="b" t="t" l="l"/>
              <a:pathLst>
                <a:path h="13716000" w="8650224">
                  <a:moveTo>
                    <a:pt x="0" y="0"/>
                  </a:moveTo>
                  <a:lnTo>
                    <a:pt x="8650224" y="0"/>
                  </a:lnTo>
                  <a:lnTo>
                    <a:pt x="8650224" y="13716000"/>
                  </a:lnTo>
                  <a:lnTo>
                    <a:pt x="0" y="13716000"/>
                  </a:lnTo>
                  <a:close/>
                </a:path>
              </a:pathLst>
            </a:custGeom>
            <a:solidFill>
              <a:srgbClr val="20494A">
                <a:alpha val="14902"/>
              </a:srgbClr>
            </a:solidFill>
          </p:spPr>
        </p:sp>
      </p:grpSp>
      <p:sp>
        <p:nvSpPr>
          <p:cNvPr name="TextBox 13" id="13"/>
          <p:cNvSpPr txBox="true"/>
          <p:nvPr/>
        </p:nvSpPr>
        <p:spPr>
          <a:xfrm rot="0">
            <a:off x="1244727" y="3324225"/>
            <a:ext cx="9875520" cy="927735"/>
          </a:xfrm>
          <a:prstGeom prst="rect">
            <a:avLst/>
          </a:prstGeom>
        </p:spPr>
        <p:txBody>
          <a:bodyPr anchor="t" rtlCol="false" tIns="0" lIns="0" bIns="0" rIns="0">
            <a:spAutoFit/>
          </a:bodyPr>
          <a:lstStyle/>
          <a:p>
            <a:pPr algn="l">
              <a:lnSpc>
                <a:spcPts val="3402"/>
              </a:lnSpc>
            </a:pPr>
            <a:r>
              <a:rPr lang="en-US" sz="2100" i="true">
                <a:solidFill>
                  <a:srgbClr val="387F7F"/>
                </a:solidFill>
                <a:latin typeface="Poppins Italics"/>
                <a:ea typeface="Poppins Italics"/>
                <a:cs typeface="Poppins Italics"/>
                <a:sym typeface="Poppins Italics"/>
              </a:rPr>
              <a:t>An AI assistant, with complete confidence, about a measure that runs without a single error.</a:t>
            </a:r>
          </a:p>
        </p:txBody>
      </p:sp>
      <p:grpSp>
        <p:nvGrpSpPr>
          <p:cNvPr name="Group 14" id="14"/>
          <p:cNvGrpSpPr/>
          <p:nvPr/>
        </p:nvGrpSpPr>
        <p:grpSpPr>
          <a:xfrm rot="0">
            <a:off x="942975" y="4526280"/>
            <a:ext cx="10149840" cy="3291840"/>
            <a:chOff x="0" y="0"/>
            <a:chExt cx="13533120" cy="4389120"/>
          </a:xfrm>
        </p:grpSpPr>
        <p:sp>
          <p:nvSpPr>
            <p:cNvPr name="Freeform 15" id="15"/>
            <p:cNvSpPr/>
            <p:nvPr/>
          </p:nvSpPr>
          <p:spPr>
            <a:xfrm flipH="false" flipV="false" rot="0">
              <a:off x="0" y="0"/>
              <a:ext cx="13533120" cy="4389120"/>
            </a:xfrm>
            <a:custGeom>
              <a:avLst/>
              <a:gdLst/>
              <a:ahLst/>
              <a:cxnLst/>
              <a:rect r="r" b="b" t="t" l="l"/>
              <a:pathLst>
                <a:path h="4389120" w="13533120">
                  <a:moveTo>
                    <a:pt x="0" y="182880"/>
                  </a:moveTo>
                  <a:cubicBezTo>
                    <a:pt x="0" y="81915"/>
                    <a:pt x="81915" y="0"/>
                    <a:pt x="182880" y="0"/>
                  </a:cubicBezTo>
                  <a:lnTo>
                    <a:pt x="13350239" y="0"/>
                  </a:lnTo>
                  <a:cubicBezTo>
                    <a:pt x="13451204" y="0"/>
                    <a:pt x="13533120" y="81915"/>
                    <a:pt x="13533120" y="182880"/>
                  </a:cubicBezTo>
                  <a:lnTo>
                    <a:pt x="13533120" y="4206240"/>
                  </a:lnTo>
                  <a:cubicBezTo>
                    <a:pt x="13533120" y="4307205"/>
                    <a:pt x="13451204" y="4389120"/>
                    <a:pt x="13350239" y="4389120"/>
                  </a:cubicBezTo>
                  <a:lnTo>
                    <a:pt x="182880" y="4389120"/>
                  </a:lnTo>
                  <a:cubicBezTo>
                    <a:pt x="81915" y="4389120"/>
                    <a:pt x="0" y="4307205"/>
                    <a:pt x="0" y="4206240"/>
                  </a:cubicBezTo>
                  <a:close/>
                </a:path>
              </a:pathLst>
            </a:custGeom>
            <a:solidFill>
              <a:srgbClr val="FFFFFF"/>
            </a:solidFill>
          </p:spPr>
        </p:sp>
      </p:grpSp>
      <p:sp>
        <p:nvSpPr>
          <p:cNvPr name="TextBox 16" id="16"/>
          <p:cNvSpPr txBox="true"/>
          <p:nvPr/>
        </p:nvSpPr>
        <p:spPr>
          <a:xfrm rot="0">
            <a:off x="1450467" y="4783455"/>
            <a:ext cx="9189720" cy="2897505"/>
          </a:xfrm>
          <a:prstGeom prst="rect">
            <a:avLst/>
          </a:prstGeom>
        </p:spPr>
        <p:txBody>
          <a:bodyPr anchor="t" rtlCol="false" tIns="0" lIns="0" bIns="0" rIns="0">
            <a:spAutoFit/>
          </a:bodyPr>
          <a:lstStyle/>
          <a:p>
            <a:pPr algn="l">
              <a:lnSpc>
                <a:spcPts val="3276"/>
              </a:lnSpc>
            </a:pPr>
            <a:r>
              <a:rPr lang="en-US" sz="2100">
                <a:solidFill>
                  <a:srgbClr val="475569"/>
                </a:solidFill>
                <a:latin typeface="Poppins"/>
                <a:ea typeface="Poppins"/>
                <a:cs typeface="Poppins"/>
                <a:sym typeface="Poppins"/>
              </a:rPr>
              <a:t>The measure filters correctly, formats correctly, and returns a number for every route on the chart. Nothing about it looks broken.</a:t>
            </a:r>
          </a:p>
          <a:p>
            <a:pPr algn="l">
              <a:lnSpc>
                <a:spcPts val="3276"/>
              </a:lnSpc>
            </a:pPr>
          </a:p>
          <a:p>
            <a:pPr algn="l">
              <a:lnSpc>
                <a:spcPts val="3276"/>
              </a:lnSpc>
            </a:pPr>
            <a:r>
              <a:rPr lang="en-US" sz="2100">
                <a:solidFill>
                  <a:srgbClr val="475569"/>
                </a:solidFill>
                <a:latin typeface="Poppins"/>
                <a:ea typeface="Poppins"/>
                <a:cs typeface="Poppins"/>
                <a:sym typeface="Poppins"/>
              </a:rPr>
              <a:t>But it was written blind, against a table it never saw, and one small assumption inside it is wrong. The result is not an error message. It is a chart that looks completely normal and is quietly lying about the worst route in the business.</a:t>
            </a:r>
          </a:p>
        </p:txBody>
      </p:sp>
      <p:grpSp>
        <p:nvGrpSpPr>
          <p:cNvPr name="Group 17" id="17"/>
          <p:cNvGrpSpPr/>
          <p:nvPr/>
        </p:nvGrpSpPr>
        <p:grpSpPr>
          <a:xfrm rot="0">
            <a:off x="942975" y="8092440"/>
            <a:ext cx="10149840" cy="1097280"/>
            <a:chOff x="0" y="0"/>
            <a:chExt cx="13533120" cy="1463040"/>
          </a:xfrm>
        </p:grpSpPr>
        <p:sp>
          <p:nvSpPr>
            <p:cNvPr name="Freeform 18" id="18"/>
            <p:cNvSpPr/>
            <p:nvPr/>
          </p:nvSpPr>
          <p:spPr>
            <a:xfrm flipH="false" flipV="false" rot="0">
              <a:off x="0" y="0"/>
              <a:ext cx="13533120" cy="1463040"/>
            </a:xfrm>
            <a:custGeom>
              <a:avLst/>
              <a:gdLst/>
              <a:ahLst/>
              <a:cxnLst/>
              <a:rect r="r" b="b" t="t" l="l"/>
              <a:pathLst>
                <a:path h="1463040" w="13533120">
                  <a:moveTo>
                    <a:pt x="0" y="164592"/>
                  </a:moveTo>
                  <a:cubicBezTo>
                    <a:pt x="0" y="73660"/>
                    <a:pt x="73660" y="0"/>
                    <a:pt x="164592" y="0"/>
                  </a:cubicBezTo>
                  <a:lnTo>
                    <a:pt x="13368528" y="0"/>
                  </a:lnTo>
                  <a:cubicBezTo>
                    <a:pt x="13459461" y="0"/>
                    <a:pt x="13533120" y="73660"/>
                    <a:pt x="13533120" y="164592"/>
                  </a:cubicBezTo>
                  <a:lnTo>
                    <a:pt x="13533120" y="1298448"/>
                  </a:lnTo>
                  <a:cubicBezTo>
                    <a:pt x="13533120" y="1389380"/>
                    <a:pt x="13459461" y="1463040"/>
                    <a:pt x="13368528" y="1463040"/>
                  </a:cubicBezTo>
                  <a:lnTo>
                    <a:pt x="164592" y="1463040"/>
                  </a:lnTo>
                  <a:cubicBezTo>
                    <a:pt x="73660" y="1463040"/>
                    <a:pt x="0" y="1389380"/>
                    <a:pt x="0" y="1298448"/>
                  </a:cubicBezTo>
                  <a:close/>
                </a:path>
              </a:pathLst>
            </a:custGeom>
            <a:solidFill>
              <a:srgbClr val="FBF3E6"/>
            </a:solidFill>
          </p:spPr>
        </p:sp>
      </p:grpSp>
      <p:grpSp>
        <p:nvGrpSpPr>
          <p:cNvPr name="Group 19" id="19"/>
          <p:cNvGrpSpPr/>
          <p:nvPr/>
        </p:nvGrpSpPr>
        <p:grpSpPr>
          <a:xfrm rot="0">
            <a:off x="942975" y="8092440"/>
            <a:ext cx="102870" cy="1097280"/>
            <a:chOff x="0" y="0"/>
            <a:chExt cx="137160" cy="1463040"/>
          </a:xfrm>
        </p:grpSpPr>
        <p:sp>
          <p:nvSpPr>
            <p:cNvPr name="Freeform 20" id="20"/>
            <p:cNvSpPr/>
            <p:nvPr/>
          </p:nvSpPr>
          <p:spPr>
            <a:xfrm flipH="false" flipV="false" rot="0">
              <a:off x="0" y="0"/>
              <a:ext cx="137160" cy="1463040"/>
            </a:xfrm>
            <a:custGeom>
              <a:avLst/>
              <a:gdLst/>
              <a:ahLst/>
              <a:cxnLst/>
              <a:rect r="r" b="b" t="t" l="l"/>
              <a:pathLst>
                <a:path h="1463040" w="137160">
                  <a:moveTo>
                    <a:pt x="0" y="0"/>
                  </a:moveTo>
                  <a:lnTo>
                    <a:pt x="137160" y="0"/>
                  </a:lnTo>
                  <a:lnTo>
                    <a:pt x="137160" y="1463040"/>
                  </a:lnTo>
                  <a:lnTo>
                    <a:pt x="0" y="1463040"/>
                  </a:lnTo>
                  <a:close/>
                </a:path>
              </a:pathLst>
            </a:custGeom>
            <a:solidFill>
              <a:srgbClr val="C9821F"/>
            </a:solidFill>
          </p:spPr>
        </p:sp>
      </p:grpSp>
      <p:grpSp>
        <p:nvGrpSpPr>
          <p:cNvPr name="Group 21" id="21"/>
          <p:cNvGrpSpPr/>
          <p:nvPr/>
        </p:nvGrpSpPr>
        <p:grpSpPr>
          <a:xfrm rot="0">
            <a:off x="1450467" y="8092440"/>
            <a:ext cx="9601200" cy="1097280"/>
            <a:chOff x="0" y="0"/>
            <a:chExt cx="12801600" cy="1463040"/>
          </a:xfrm>
        </p:grpSpPr>
        <p:sp>
          <p:nvSpPr>
            <p:cNvPr name="Freeform 22" id="22"/>
            <p:cNvSpPr/>
            <p:nvPr/>
          </p:nvSpPr>
          <p:spPr>
            <a:xfrm flipH="false" flipV="false" rot="0">
              <a:off x="0" y="0"/>
              <a:ext cx="12801600" cy="1463040"/>
            </a:xfrm>
            <a:custGeom>
              <a:avLst/>
              <a:gdLst/>
              <a:ahLst/>
              <a:cxnLst/>
              <a:rect r="r" b="b" t="t" l="l"/>
              <a:pathLst>
                <a:path h="1463040" w="12801600">
                  <a:moveTo>
                    <a:pt x="0" y="0"/>
                  </a:moveTo>
                  <a:lnTo>
                    <a:pt x="12801600" y="0"/>
                  </a:lnTo>
                  <a:lnTo>
                    <a:pt x="12801600" y="1463040"/>
                  </a:lnTo>
                  <a:lnTo>
                    <a:pt x="0" y="1463040"/>
                  </a:lnTo>
                  <a:close/>
                </a:path>
              </a:pathLst>
            </a:custGeom>
            <a:blipFill>
              <a:blip r:embed="rId9">
                <a:alphaModFix amt="0"/>
              </a:blip>
              <a:stretch>
                <a:fillRect l="0" t="-120494" r="0" b="-120494"/>
              </a:stretch>
            </a:blipFill>
          </p:spPr>
        </p:sp>
        <p:sp>
          <p:nvSpPr>
            <p:cNvPr name="TextBox 23" id="23"/>
            <p:cNvSpPr txBox="true"/>
            <p:nvPr/>
          </p:nvSpPr>
          <p:spPr>
            <a:xfrm>
              <a:off x="0" y="-66675"/>
              <a:ext cx="12801600" cy="1529715"/>
            </a:xfrm>
            <a:prstGeom prst="rect">
              <a:avLst/>
            </a:prstGeom>
          </p:spPr>
          <p:txBody>
            <a:bodyPr anchor="ctr" rtlCol="false" tIns="0" lIns="0" bIns="0" rIns="0"/>
            <a:lstStyle/>
            <a:p>
              <a:pPr algn="l">
                <a:lnSpc>
                  <a:spcPts val="2916"/>
                </a:lnSpc>
              </a:pPr>
              <a:r>
                <a:rPr lang="en-US" sz="2025" b="true">
                  <a:solidFill>
                    <a:srgbClr val="8A5A12"/>
                  </a:solidFill>
                  <a:latin typeface="Poppins Bold"/>
                  <a:ea typeface="Poppins Bold"/>
                  <a:cs typeface="Poppins Bold"/>
                  <a:sym typeface="Poppins Bold"/>
                </a:rPr>
                <a:t>This is not a bad prompt. It is a good answer to a question you did not know you were asking.</a:t>
              </a:r>
            </a:p>
          </p:txBody>
        </p:sp>
      </p:grpSp>
      <p:grpSp>
        <p:nvGrpSpPr>
          <p:cNvPr name="Group 24" id="24"/>
          <p:cNvGrpSpPr/>
          <p:nvPr/>
        </p:nvGrpSpPr>
        <p:grpSpPr>
          <a:xfrm rot="0">
            <a:off x="11795760" y="3223260"/>
            <a:ext cx="6309360" cy="1508760"/>
            <a:chOff x="0" y="0"/>
            <a:chExt cx="8412480" cy="2011680"/>
          </a:xfrm>
        </p:grpSpPr>
        <p:sp>
          <p:nvSpPr>
            <p:cNvPr name="Freeform 25" id="25"/>
            <p:cNvSpPr/>
            <p:nvPr/>
          </p:nvSpPr>
          <p:spPr>
            <a:xfrm flipH="false" flipV="false" rot="0">
              <a:off x="0" y="0"/>
              <a:ext cx="8412480" cy="2011680"/>
            </a:xfrm>
            <a:custGeom>
              <a:avLst/>
              <a:gdLst/>
              <a:ahLst/>
              <a:cxnLst/>
              <a:rect r="r" b="b" t="t" l="l"/>
              <a:pathLst>
                <a:path h="2011680" w="8412480">
                  <a:moveTo>
                    <a:pt x="0" y="0"/>
                  </a:moveTo>
                  <a:lnTo>
                    <a:pt x="8412480" y="0"/>
                  </a:lnTo>
                  <a:lnTo>
                    <a:pt x="8412480" y="2011680"/>
                  </a:lnTo>
                  <a:lnTo>
                    <a:pt x="0" y="2011680"/>
                  </a:lnTo>
                  <a:close/>
                </a:path>
              </a:pathLst>
            </a:custGeom>
            <a:blipFill>
              <a:blip r:embed="rId9">
                <a:alphaModFix amt="0"/>
              </a:blip>
              <a:stretch>
                <a:fillRect l="0" t="-31482" r="0" b="-31482"/>
              </a:stretch>
            </a:blipFill>
          </p:spPr>
        </p:sp>
        <p:sp>
          <p:nvSpPr>
            <p:cNvPr name="TextBox 26" id="26"/>
            <p:cNvSpPr txBox="true"/>
            <p:nvPr/>
          </p:nvSpPr>
          <p:spPr>
            <a:xfrm>
              <a:off x="0" y="-85725"/>
              <a:ext cx="8412480" cy="2097405"/>
            </a:xfrm>
            <a:prstGeom prst="rect">
              <a:avLst/>
            </a:prstGeom>
          </p:spPr>
          <p:txBody>
            <a:bodyPr anchor="ctr" rtlCol="false" tIns="0" lIns="0" bIns="0" rIns="0"/>
            <a:lstStyle/>
            <a:p>
              <a:pPr algn="ctr">
                <a:lnSpc>
                  <a:spcPts val="10440"/>
                </a:lnSpc>
              </a:pPr>
              <a:r>
                <a:rPr lang="en-US" b="true" sz="8700">
                  <a:solidFill>
                    <a:srgbClr val="8A5A12"/>
                  </a:solidFill>
                  <a:latin typeface="Poppins Bold"/>
                  <a:ea typeface="Poppins Bold"/>
                  <a:cs typeface="Poppins Bold"/>
                  <a:sym typeface="Poppins Bold"/>
                </a:rPr>
                <a:t>5.1%</a:t>
              </a:r>
            </a:p>
          </p:txBody>
        </p:sp>
      </p:grpSp>
      <p:grpSp>
        <p:nvGrpSpPr>
          <p:cNvPr name="Group 27" id="27"/>
          <p:cNvGrpSpPr/>
          <p:nvPr/>
        </p:nvGrpSpPr>
        <p:grpSpPr>
          <a:xfrm rot="0">
            <a:off x="11795760" y="4800600"/>
            <a:ext cx="6309360" cy="1165860"/>
            <a:chOff x="0" y="0"/>
            <a:chExt cx="8412480" cy="1554480"/>
          </a:xfrm>
        </p:grpSpPr>
        <p:sp>
          <p:nvSpPr>
            <p:cNvPr name="Freeform 28" id="28"/>
            <p:cNvSpPr/>
            <p:nvPr/>
          </p:nvSpPr>
          <p:spPr>
            <a:xfrm flipH="false" flipV="false" rot="0">
              <a:off x="0" y="0"/>
              <a:ext cx="8412480" cy="1554480"/>
            </a:xfrm>
            <a:custGeom>
              <a:avLst/>
              <a:gdLst/>
              <a:ahLst/>
              <a:cxnLst/>
              <a:rect r="r" b="b" t="t" l="l"/>
              <a:pathLst>
                <a:path h="1554480" w="8412480">
                  <a:moveTo>
                    <a:pt x="0" y="0"/>
                  </a:moveTo>
                  <a:lnTo>
                    <a:pt x="8412480" y="0"/>
                  </a:lnTo>
                  <a:lnTo>
                    <a:pt x="8412480" y="1554480"/>
                  </a:lnTo>
                  <a:lnTo>
                    <a:pt x="0" y="1554480"/>
                  </a:lnTo>
                  <a:close/>
                </a:path>
              </a:pathLst>
            </a:custGeom>
            <a:blipFill>
              <a:blip r:embed="rId9">
                <a:alphaModFix amt="0"/>
              </a:blip>
              <a:stretch>
                <a:fillRect l="0" t="-55448" r="0" b="-55448"/>
              </a:stretch>
            </a:blipFill>
          </p:spPr>
        </p:sp>
        <p:sp>
          <p:nvSpPr>
            <p:cNvPr name="TextBox 29" id="29"/>
            <p:cNvSpPr txBox="true"/>
            <p:nvPr/>
          </p:nvSpPr>
          <p:spPr>
            <a:xfrm>
              <a:off x="0" y="-85725"/>
              <a:ext cx="8412480" cy="1640205"/>
            </a:xfrm>
            <a:prstGeom prst="rect">
              <a:avLst/>
            </a:prstGeom>
          </p:spPr>
          <p:txBody>
            <a:bodyPr anchor="ctr" rtlCol="false" tIns="0" lIns="0" bIns="0" rIns="0"/>
            <a:lstStyle/>
            <a:p>
              <a:pPr algn="ctr">
                <a:lnSpc>
                  <a:spcPts val="3042"/>
                </a:lnSpc>
              </a:pPr>
              <a:r>
                <a:rPr lang="en-US" sz="1950">
                  <a:solidFill>
                    <a:srgbClr val="388080"/>
                  </a:solidFill>
                  <a:latin typeface="Poppins"/>
                  <a:ea typeface="Poppins"/>
                  <a:cs typeface="Poppins"/>
                  <a:sym typeface="Poppins"/>
                </a:rPr>
                <a:t>what the AI's measure said</a:t>
              </a:r>
            </a:p>
            <a:p>
              <a:pPr algn="ctr">
                <a:lnSpc>
                  <a:spcPts val="3042"/>
                </a:lnSpc>
              </a:pPr>
              <a:r>
                <a:rPr lang="en-US" sz="1950">
                  <a:solidFill>
                    <a:srgbClr val="388080"/>
                  </a:solidFill>
                  <a:latin typeface="Poppins"/>
                  <a:ea typeface="Poppins"/>
                  <a:cs typeface="Poppins"/>
                  <a:sym typeface="Poppins"/>
                </a:rPr>
                <a:t>for LAG-07</a:t>
              </a:r>
            </a:p>
          </p:txBody>
        </p:sp>
      </p:grpSp>
      <p:sp>
        <p:nvSpPr>
          <p:cNvPr name="AutoShape 30" id="30"/>
          <p:cNvSpPr/>
          <p:nvPr/>
        </p:nvSpPr>
        <p:spPr>
          <a:xfrm rot="15840">
            <a:off x="12883496" y="6167438"/>
            <a:ext cx="4133898" cy="0"/>
          </a:xfrm>
          <a:prstGeom prst="line">
            <a:avLst/>
          </a:prstGeom>
          <a:ln cap="rnd" w="9525">
            <a:solidFill>
              <a:srgbClr val="20494A"/>
            </a:solidFill>
            <a:prstDash val="solid"/>
            <a:headEnd type="none" len="sm" w="sm"/>
            <a:tailEnd type="none" len="sm" w="sm"/>
          </a:ln>
        </p:spPr>
      </p:sp>
      <p:grpSp>
        <p:nvGrpSpPr>
          <p:cNvPr name="Group 31" id="31"/>
          <p:cNvGrpSpPr/>
          <p:nvPr/>
        </p:nvGrpSpPr>
        <p:grpSpPr>
          <a:xfrm rot="0">
            <a:off x="11795760" y="6446520"/>
            <a:ext cx="6309360" cy="1165860"/>
            <a:chOff x="0" y="0"/>
            <a:chExt cx="8412480" cy="1554480"/>
          </a:xfrm>
        </p:grpSpPr>
        <p:sp>
          <p:nvSpPr>
            <p:cNvPr name="Freeform 32" id="32"/>
            <p:cNvSpPr/>
            <p:nvPr/>
          </p:nvSpPr>
          <p:spPr>
            <a:xfrm flipH="false" flipV="false" rot="0">
              <a:off x="0" y="0"/>
              <a:ext cx="8412480" cy="1554480"/>
            </a:xfrm>
            <a:custGeom>
              <a:avLst/>
              <a:gdLst/>
              <a:ahLst/>
              <a:cxnLst/>
              <a:rect r="r" b="b" t="t" l="l"/>
              <a:pathLst>
                <a:path h="1554480" w="8412480">
                  <a:moveTo>
                    <a:pt x="0" y="0"/>
                  </a:moveTo>
                  <a:lnTo>
                    <a:pt x="8412480" y="0"/>
                  </a:lnTo>
                  <a:lnTo>
                    <a:pt x="8412480" y="1554480"/>
                  </a:lnTo>
                  <a:lnTo>
                    <a:pt x="0" y="1554480"/>
                  </a:lnTo>
                  <a:close/>
                </a:path>
              </a:pathLst>
            </a:custGeom>
            <a:blipFill>
              <a:blip r:embed="rId9">
                <a:alphaModFix amt="0"/>
              </a:blip>
              <a:stretch>
                <a:fillRect l="0" t="-55448" r="0" b="-55448"/>
              </a:stretch>
            </a:blipFill>
          </p:spPr>
        </p:sp>
        <p:sp>
          <p:nvSpPr>
            <p:cNvPr name="TextBox 33" id="33"/>
            <p:cNvSpPr txBox="true"/>
            <p:nvPr/>
          </p:nvSpPr>
          <p:spPr>
            <a:xfrm>
              <a:off x="0" y="-47625"/>
              <a:ext cx="8412480" cy="1602105"/>
            </a:xfrm>
            <a:prstGeom prst="rect">
              <a:avLst/>
            </a:prstGeom>
          </p:spPr>
          <p:txBody>
            <a:bodyPr anchor="ctr" rtlCol="false" tIns="0" lIns="0" bIns="0" rIns="0"/>
            <a:lstStyle/>
            <a:p>
              <a:pPr algn="ctr">
                <a:lnSpc>
                  <a:spcPts val="7559"/>
                </a:lnSpc>
              </a:pPr>
              <a:r>
                <a:rPr lang="en-US" b="true" sz="6300">
                  <a:solidFill>
                    <a:srgbClr val="20494A"/>
                  </a:solidFill>
                  <a:latin typeface="Poppins Bold"/>
                  <a:ea typeface="Poppins Bold"/>
                  <a:cs typeface="Poppins Bold"/>
                  <a:sym typeface="Poppins Bold"/>
                </a:rPr>
                <a:t>61.4%</a:t>
              </a:r>
            </a:p>
          </p:txBody>
        </p:sp>
      </p:grpSp>
      <p:grpSp>
        <p:nvGrpSpPr>
          <p:cNvPr name="Group 34" id="34"/>
          <p:cNvGrpSpPr/>
          <p:nvPr/>
        </p:nvGrpSpPr>
        <p:grpSpPr>
          <a:xfrm rot="0">
            <a:off x="11795760" y="7612380"/>
            <a:ext cx="6309360" cy="548640"/>
            <a:chOff x="0" y="0"/>
            <a:chExt cx="8412480" cy="731520"/>
          </a:xfrm>
        </p:grpSpPr>
        <p:sp>
          <p:nvSpPr>
            <p:cNvPr name="Freeform 35" id="35"/>
            <p:cNvSpPr/>
            <p:nvPr/>
          </p:nvSpPr>
          <p:spPr>
            <a:xfrm flipH="false" flipV="false" rot="0">
              <a:off x="0" y="0"/>
              <a:ext cx="8412480" cy="731520"/>
            </a:xfrm>
            <a:custGeom>
              <a:avLst/>
              <a:gdLst/>
              <a:ahLst/>
              <a:cxnLst/>
              <a:rect r="r" b="b" t="t" l="l"/>
              <a:pathLst>
                <a:path h="731520" w="8412480">
                  <a:moveTo>
                    <a:pt x="0" y="0"/>
                  </a:moveTo>
                  <a:lnTo>
                    <a:pt x="8412480" y="0"/>
                  </a:lnTo>
                  <a:lnTo>
                    <a:pt x="8412480" y="731520"/>
                  </a:lnTo>
                  <a:lnTo>
                    <a:pt x="0" y="731520"/>
                  </a:lnTo>
                  <a:close/>
                </a:path>
              </a:pathLst>
            </a:custGeom>
            <a:blipFill>
              <a:blip r:embed="rId9">
                <a:alphaModFix amt="0"/>
              </a:blip>
              <a:stretch>
                <a:fillRect l="0" t="-174077" r="0" b="-174077"/>
              </a:stretch>
            </a:blipFill>
          </p:spPr>
        </p:sp>
        <p:sp>
          <p:nvSpPr>
            <p:cNvPr name="TextBox 36" id="36"/>
            <p:cNvSpPr txBox="true"/>
            <p:nvPr/>
          </p:nvSpPr>
          <p:spPr>
            <a:xfrm>
              <a:off x="0" y="-9525"/>
              <a:ext cx="8412480" cy="741045"/>
            </a:xfrm>
            <a:prstGeom prst="rect">
              <a:avLst/>
            </a:prstGeom>
          </p:spPr>
          <p:txBody>
            <a:bodyPr anchor="ctr" rtlCol="false" tIns="0" lIns="0" bIns="0" rIns="0"/>
            <a:lstStyle/>
            <a:p>
              <a:pPr algn="ctr">
                <a:lnSpc>
                  <a:spcPts val="1980"/>
                </a:lnSpc>
              </a:pPr>
              <a:r>
                <a:rPr lang="en-US" sz="1650" i="true">
                  <a:solidFill>
                    <a:srgbClr val="388080"/>
                  </a:solidFill>
                  <a:latin typeface="Poppins Italics"/>
                  <a:ea typeface="Poppins Italics"/>
                  <a:cs typeface="Poppins Italics"/>
                  <a:sym typeface="Poppins Italics"/>
                </a:rPr>
                <a:t>the true figure, from Topic 7.2</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4295834"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Be accurate about the tool, in both</a:t>
            </a:r>
            <a:r>
              <a:rPr lang="en-US" sz="5000">
                <a:solidFill>
                  <a:srgbClr val="388080"/>
                </a:solidFill>
                <a:latin typeface="Poppins"/>
                <a:ea typeface="Poppins"/>
                <a:cs typeface="Poppins"/>
                <a:sym typeface="Poppins"/>
              </a:rPr>
              <a:t> directions</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914400" y="2527135"/>
            <a:ext cx="7063740" cy="5280660"/>
            <a:chOff x="0" y="0"/>
            <a:chExt cx="9418320" cy="7040880"/>
          </a:xfrm>
        </p:grpSpPr>
        <p:sp>
          <p:nvSpPr>
            <p:cNvPr name="Freeform 12" id="12"/>
            <p:cNvSpPr/>
            <p:nvPr/>
          </p:nvSpPr>
          <p:spPr>
            <a:xfrm flipH="false" flipV="false" rot="0">
              <a:off x="0" y="0"/>
              <a:ext cx="9418320" cy="7040880"/>
            </a:xfrm>
            <a:custGeom>
              <a:avLst/>
              <a:gdLst/>
              <a:ahLst/>
              <a:cxnLst/>
              <a:rect r="r" b="b" t="t" l="l"/>
              <a:pathLst>
                <a:path h="7040880" w="9418320">
                  <a:moveTo>
                    <a:pt x="0" y="182880"/>
                  </a:moveTo>
                  <a:cubicBezTo>
                    <a:pt x="0" y="81915"/>
                    <a:pt x="81915" y="0"/>
                    <a:pt x="182880" y="0"/>
                  </a:cubicBezTo>
                  <a:lnTo>
                    <a:pt x="9235440" y="0"/>
                  </a:lnTo>
                  <a:cubicBezTo>
                    <a:pt x="9336405" y="0"/>
                    <a:pt x="9418320" y="81915"/>
                    <a:pt x="9418320" y="182880"/>
                  </a:cubicBezTo>
                  <a:lnTo>
                    <a:pt x="9418320" y="6858000"/>
                  </a:lnTo>
                  <a:cubicBezTo>
                    <a:pt x="9418320" y="6958965"/>
                    <a:pt x="9336405" y="7040880"/>
                    <a:pt x="9235440" y="7040880"/>
                  </a:cubicBezTo>
                  <a:lnTo>
                    <a:pt x="182880" y="7040880"/>
                  </a:lnTo>
                  <a:cubicBezTo>
                    <a:pt x="81915" y="7040880"/>
                    <a:pt x="0" y="6958965"/>
                    <a:pt x="0" y="6858000"/>
                  </a:cubicBezTo>
                  <a:close/>
                </a:path>
              </a:pathLst>
            </a:custGeom>
            <a:solidFill>
              <a:srgbClr val="FFFFFF"/>
            </a:solidFill>
          </p:spPr>
        </p:sp>
      </p:grpSp>
      <p:grpSp>
        <p:nvGrpSpPr>
          <p:cNvPr name="Group 13" id="13"/>
          <p:cNvGrpSpPr/>
          <p:nvPr/>
        </p:nvGrpSpPr>
        <p:grpSpPr>
          <a:xfrm rot="0">
            <a:off x="914400" y="2527135"/>
            <a:ext cx="7063740" cy="685800"/>
            <a:chOff x="0" y="0"/>
            <a:chExt cx="9418320" cy="914400"/>
          </a:xfrm>
        </p:grpSpPr>
        <p:sp>
          <p:nvSpPr>
            <p:cNvPr name="Freeform 14" id="14"/>
            <p:cNvSpPr/>
            <p:nvPr/>
          </p:nvSpPr>
          <p:spPr>
            <a:xfrm flipH="false" flipV="false" rot="0">
              <a:off x="0" y="0"/>
              <a:ext cx="9418320" cy="914400"/>
            </a:xfrm>
            <a:custGeom>
              <a:avLst/>
              <a:gdLst/>
              <a:ahLst/>
              <a:cxnLst/>
              <a:rect r="r" b="b" t="t" l="l"/>
              <a:pathLst>
                <a:path h="914400" w="9418320">
                  <a:moveTo>
                    <a:pt x="0" y="0"/>
                  </a:moveTo>
                  <a:lnTo>
                    <a:pt x="9418320" y="0"/>
                  </a:lnTo>
                  <a:lnTo>
                    <a:pt x="9418320" y="914400"/>
                  </a:lnTo>
                  <a:lnTo>
                    <a:pt x="0" y="914400"/>
                  </a:lnTo>
                  <a:close/>
                </a:path>
              </a:pathLst>
            </a:custGeom>
            <a:solidFill>
              <a:srgbClr val="387F7F"/>
            </a:solidFill>
          </p:spPr>
        </p:sp>
      </p:grpSp>
      <p:grpSp>
        <p:nvGrpSpPr>
          <p:cNvPr name="Group 15" id="15"/>
          <p:cNvGrpSpPr/>
          <p:nvPr/>
        </p:nvGrpSpPr>
        <p:grpSpPr>
          <a:xfrm rot="0">
            <a:off x="914400" y="2527135"/>
            <a:ext cx="7063740" cy="685800"/>
            <a:chOff x="0" y="0"/>
            <a:chExt cx="9418320" cy="914400"/>
          </a:xfrm>
        </p:grpSpPr>
        <p:sp>
          <p:nvSpPr>
            <p:cNvPr name="Freeform 16" id="16"/>
            <p:cNvSpPr/>
            <p:nvPr/>
          </p:nvSpPr>
          <p:spPr>
            <a:xfrm flipH="false" flipV="false" rot="0">
              <a:off x="0" y="0"/>
              <a:ext cx="9418320" cy="914400"/>
            </a:xfrm>
            <a:custGeom>
              <a:avLst/>
              <a:gdLst/>
              <a:ahLst/>
              <a:cxnLst/>
              <a:rect r="r" b="b" t="t" l="l"/>
              <a:pathLst>
                <a:path h="914400" w="9418320">
                  <a:moveTo>
                    <a:pt x="0" y="0"/>
                  </a:moveTo>
                  <a:lnTo>
                    <a:pt x="9418320" y="0"/>
                  </a:lnTo>
                  <a:lnTo>
                    <a:pt x="9418320" y="914400"/>
                  </a:lnTo>
                  <a:lnTo>
                    <a:pt x="0" y="914400"/>
                  </a:lnTo>
                  <a:close/>
                </a:path>
              </a:pathLst>
            </a:custGeom>
            <a:blipFill>
              <a:blip r:embed="rId9">
                <a:alphaModFix amt="0"/>
              </a:blip>
              <a:stretch>
                <a:fillRect l="0" t="-150695" r="0" b="-150695"/>
              </a:stretch>
            </a:blipFill>
          </p:spPr>
        </p:sp>
        <p:sp>
          <p:nvSpPr>
            <p:cNvPr name="TextBox 17" id="17"/>
            <p:cNvSpPr txBox="true"/>
            <p:nvPr/>
          </p:nvSpPr>
          <p:spPr>
            <a:xfrm>
              <a:off x="0" y="-19050"/>
              <a:ext cx="9418320" cy="933450"/>
            </a:xfrm>
            <a:prstGeom prst="rect">
              <a:avLst/>
            </a:prstGeom>
          </p:spPr>
          <p:txBody>
            <a:bodyPr anchor="ctr" rtlCol="false" tIns="0" lIns="0" bIns="0" rIns="0"/>
            <a:lstStyle/>
            <a:p>
              <a:pPr algn="ctr">
                <a:lnSpc>
                  <a:spcPts val="2340"/>
                </a:lnSpc>
              </a:pPr>
              <a:r>
                <a:rPr lang="en-US" b="true" sz="1950" spc="299">
                  <a:solidFill>
                    <a:srgbClr val="FFFFFF"/>
                  </a:solidFill>
                  <a:latin typeface="Poppins Bold"/>
                  <a:ea typeface="Poppins Bold"/>
                  <a:cs typeface="Poppins Bold"/>
                  <a:sym typeface="Poppins Bold"/>
                </a:rPr>
                <a:t>STRONG</a:t>
              </a:r>
            </a:p>
          </p:txBody>
        </p:sp>
      </p:grpSp>
      <p:grpSp>
        <p:nvGrpSpPr>
          <p:cNvPr name="Group 18" id="18"/>
          <p:cNvGrpSpPr/>
          <p:nvPr/>
        </p:nvGrpSpPr>
        <p:grpSpPr>
          <a:xfrm rot="0">
            <a:off x="1325880" y="3487255"/>
            <a:ext cx="6240780" cy="987552"/>
            <a:chOff x="0" y="0"/>
            <a:chExt cx="8321040" cy="1316736"/>
          </a:xfrm>
        </p:grpSpPr>
        <p:sp>
          <p:nvSpPr>
            <p:cNvPr name="Freeform 19" id="19"/>
            <p:cNvSpPr/>
            <p:nvPr/>
          </p:nvSpPr>
          <p:spPr>
            <a:xfrm flipH="false" flipV="false" rot="0">
              <a:off x="0" y="0"/>
              <a:ext cx="8321040" cy="1316736"/>
            </a:xfrm>
            <a:custGeom>
              <a:avLst/>
              <a:gdLst/>
              <a:ahLst/>
              <a:cxnLst/>
              <a:rect r="r" b="b" t="t" l="l"/>
              <a:pathLst>
                <a:path h="1316736" w="8321040">
                  <a:moveTo>
                    <a:pt x="0" y="0"/>
                  </a:moveTo>
                  <a:lnTo>
                    <a:pt x="8321040" y="0"/>
                  </a:lnTo>
                  <a:lnTo>
                    <a:pt x="8321040" y="1316736"/>
                  </a:lnTo>
                  <a:lnTo>
                    <a:pt x="0" y="1316736"/>
                  </a:lnTo>
                  <a:close/>
                </a:path>
              </a:pathLst>
            </a:custGeom>
            <a:blipFill>
              <a:blip r:embed="rId9">
                <a:alphaModFix amt="0"/>
              </a:blip>
              <a:stretch>
                <a:fillRect l="0" t="-73134" r="0" b="-73134"/>
              </a:stretch>
            </a:blipFill>
          </p:spPr>
        </p:sp>
        <p:sp>
          <p:nvSpPr>
            <p:cNvPr name="TextBox 20" id="20"/>
            <p:cNvSpPr txBox="true"/>
            <p:nvPr/>
          </p:nvSpPr>
          <p:spPr>
            <a:xfrm>
              <a:off x="0" y="-57150"/>
              <a:ext cx="8321040" cy="1373886"/>
            </a:xfrm>
            <a:prstGeom prst="rect">
              <a:avLst/>
            </a:prstGeom>
          </p:spPr>
          <p:txBody>
            <a:bodyPr anchor="ctr" rtlCol="false" tIns="0" lIns="0" bIns="0" rIns="0"/>
            <a:lstStyle/>
            <a:p>
              <a:pPr algn="l">
                <a:lnSpc>
                  <a:spcPts val="2592"/>
                </a:lnSpc>
              </a:pPr>
              <a:r>
                <a:rPr lang="en-US" sz="1800">
                  <a:solidFill>
                    <a:srgbClr val="475569"/>
                  </a:solidFill>
                  <a:latin typeface="Poppins"/>
                  <a:ea typeface="Poppins"/>
                  <a:cs typeface="Poppins"/>
                  <a:sym typeface="Poppins"/>
                </a:rPr>
                <a:t>✓  Recalling syntax you half remember</a:t>
              </a:r>
            </a:p>
          </p:txBody>
        </p:sp>
      </p:grpSp>
      <p:grpSp>
        <p:nvGrpSpPr>
          <p:cNvPr name="Group 21" id="21"/>
          <p:cNvGrpSpPr/>
          <p:nvPr/>
        </p:nvGrpSpPr>
        <p:grpSpPr>
          <a:xfrm rot="0">
            <a:off x="1325880" y="4557103"/>
            <a:ext cx="6240780" cy="987552"/>
            <a:chOff x="0" y="0"/>
            <a:chExt cx="8321040" cy="1316736"/>
          </a:xfrm>
        </p:grpSpPr>
        <p:sp>
          <p:nvSpPr>
            <p:cNvPr name="Freeform 22" id="22"/>
            <p:cNvSpPr/>
            <p:nvPr/>
          </p:nvSpPr>
          <p:spPr>
            <a:xfrm flipH="false" flipV="false" rot="0">
              <a:off x="0" y="0"/>
              <a:ext cx="8321040" cy="1316736"/>
            </a:xfrm>
            <a:custGeom>
              <a:avLst/>
              <a:gdLst/>
              <a:ahLst/>
              <a:cxnLst/>
              <a:rect r="r" b="b" t="t" l="l"/>
              <a:pathLst>
                <a:path h="1316736" w="8321040">
                  <a:moveTo>
                    <a:pt x="0" y="0"/>
                  </a:moveTo>
                  <a:lnTo>
                    <a:pt x="8321040" y="0"/>
                  </a:lnTo>
                  <a:lnTo>
                    <a:pt x="8321040" y="1316736"/>
                  </a:lnTo>
                  <a:lnTo>
                    <a:pt x="0" y="1316736"/>
                  </a:lnTo>
                  <a:close/>
                </a:path>
              </a:pathLst>
            </a:custGeom>
            <a:blipFill>
              <a:blip r:embed="rId9">
                <a:alphaModFix amt="0"/>
              </a:blip>
              <a:stretch>
                <a:fillRect l="0" t="-73134" r="0" b="-73134"/>
              </a:stretch>
            </a:blipFill>
          </p:spPr>
        </p:sp>
        <p:sp>
          <p:nvSpPr>
            <p:cNvPr name="TextBox 23" id="23"/>
            <p:cNvSpPr txBox="true"/>
            <p:nvPr/>
          </p:nvSpPr>
          <p:spPr>
            <a:xfrm>
              <a:off x="0" y="-57150"/>
              <a:ext cx="8321040" cy="1373886"/>
            </a:xfrm>
            <a:prstGeom prst="rect">
              <a:avLst/>
            </a:prstGeom>
          </p:spPr>
          <p:txBody>
            <a:bodyPr anchor="ctr" rtlCol="false" tIns="0" lIns="0" bIns="0" rIns="0"/>
            <a:lstStyle/>
            <a:p>
              <a:pPr algn="l">
                <a:lnSpc>
                  <a:spcPts val="2592"/>
                </a:lnSpc>
              </a:pPr>
              <a:r>
                <a:rPr lang="en-US" sz="1800">
                  <a:solidFill>
                    <a:srgbClr val="475569"/>
                  </a:solidFill>
                  <a:latin typeface="Poppins"/>
                  <a:ea typeface="Poppins"/>
                  <a:cs typeface="Poppins"/>
                  <a:sym typeface="Poppins"/>
                </a:rPr>
                <a:t>✓  Explaining an error message in plain language</a:t>
              </a:r>
            </a:p>
          </p:txBody>
        </p:sp>
      </p:grpSp>
      <p:grpSp>
        <p:nvGrpSpPr>
          <p:cNvPr name="Group 24" id="24"/>
          <p:cNvGrpSpPr/>
          <p:nvPr/>
        </p:nvGrpSpPr>
        <p:grpSpPr>
          <a:xfrm rot="0">
            <a:off x="1325880" y="5626951"/>
            <a:ext cx="6240780" cy="987552"/>
            <a:chOff x="0" y="0"/>
            <a:chExt cx="8321040" cy="1316736"/>
          </a:xfrm>
        </p:grpSpPr>
        <p:sp>
          <p:nvSpPr>
            <p:cNvPr name="Freeform 25" id="25"/>
            <p:cNvSpPr/>
            <p:nvPr/>
          </p:nvSpPr>
          <p:spPr>
            <a:xfrm flipH="false" flipV="false" rot="0">
              <a:off x="0" y="0"/>
              <a:ext cx="8321040" cy="1316736"/>
            </a:xfrm>
            <a:custGeom>
              <a:avLst/>
              <a:gdLst/>
              <a:ahLst/>
              <a:cxnLst/>
              <a:rect r="r" b="b" t="t" l="l"/>
              <a:pathLst>
                <a:path h="1316736" w="8321040">
                  <a:moveTo>
                    <a:pt x="0" y="0"/>
                  </a:moveTo>
                  <a:lnTo>
                    <a:pt x="8321040" y="0"/>
                  </a:lnTo>
                  <a:lnTo>
                    <a:pt x="8321040" y="1316736"/>
                  </a:lnTo>
                  <a:lnTo>
                    <a:pt x="0" y="1316736"/>
                  </a:lnTo>
                  <a:close/>
                </a:path>
              </a:pathLst>
            </a:custGeom>
            <a:blipFill>
              <a:blip r:embed="rId9">
                <a:alphaModFix amt="0"/>
              </a:blip>
              <a:stretch>
                <a:fillRect l="0" t="-73134" r="0" b="-73134"/>
              </a:stretch>
            </a:blipFill>
          </p:spPr>
        </p:sp>
        <p:sp>
          <p:nvSpPr>
            <p:cNvPr name="TextBox 26" id="26"/>
            <p:cNvSpPr txBox="true"/>
            <p:nvPr/>
          </p:nvSpPr>
          <p:spPr>
            <a:xfrm>
              <a:off x="0" y="-57150"/>
              <a:ext cx="8321040" cy="1373886"/>
            </a:xfrm>
            <a:prstGeom prst="rect">
              <a:avLst/>
            </a:prstGeom>
          </p:spPr>
          <p:txBody>
            <a:bodyPr anchor="ctr" rtlCol="false" tIns="0" lIns="0" bIns="0" rIns="0"/>
            <a:lstStyle/>
            <a:p>
              <a:pPr algn="l">
                <a:lnSpc>
                  <a:spcPts val="2592"/>
                </a:lnSpc>
              </a:pPr>
              <a:r>
                <a:rPr lang="en-US" sz="1800">
                  <a:solidFill>
                    <a:srgbClr val="475569"/>
                  </a:solidFill>
                  <a:latin typeface="Poppins"/>
                  <a:ea typeface="Poppins"/>
                  <a:cs typeface="Poppins"/>
                  <a:sym typeface="Poppins"/>
                </a:rPr>
                <a:t>✓  Suggesting model designs from a description</a:t>
              </a:r>
            </a:p>
          </p:txBody>
        </p:sp>
      </p:grpSp>
      <p:grpSp>
        <p:nvGrpSpPr>
          <p:cNvPr name="Group 27" id="27"/>
          <p:cNvGrpSpPr/>
          <p:nvPr/>
        </p:nvGrpSpPr>
        <p:grpSpPr>
          <a:xfrm rot="0">
            <a:off x="1325880" y="6696799"/>
            <a:ext cx="6240780" cy="987552"/>
            <a:chOff x="0" y="0"/>
            <a:chExt cx="8321040" cy="1316736"/>
          </a:xfrm>
        </p:grpSpPr>
        <p:sp>
          <p:nvSpPr>
            <p:cNvPr name="Freeform 28" id="28"/>
            <p:cNvSpPr/>
            <p:nvPr/>
          </p:nvSpPr>
          <p:spPr>
            <a:xfrm flipH="false" flipV="false" rot="0">
              <a:off x="0" y="0"/>
              <a:ext cx="8321040" cy="1316736"/>
            </a:xfrm>
            <a:custGeom>
              <a:avLst/>
              <a:gdLst/>
              <a:ahLst/>
              <a:cxnLst/>
              <a:rect r="r" b="b" t="t" l="l"/>
              <a:pathLst>
                <a:path h="1316736" w="8321040">
                  <a:moveTo>
                    <a:pt x="0" y="0"/>
                  </a:moveTo>
                  <a:lnTo>
                    <a:pt x="8321040" y="0"/>
                  </a:lnTo>
                  <a:lnTo>
                    <a:pt x="8321040" y="1316736"/>
                  </a:lnTo>
                  <a:lnTo>
                    <a:pt x="0" y="1316736"/>
                  </a:lnTo>
                  <a:close/>
                </a:path>
              </a:pathLst>
            </a:custGeom>
            <a:blipFill>
              <a:blip r:embed="rId9">
                <a:alphaModFix amt="0"/>
              </a:blip>
              <a:stretch>
                <a:fillRect l="0" t="-73134" r="0" b="-73134"/>
              </a:stretch>
            </a:blipFill>
          </p:spPr>
        </p:sp>
        <p:sp>
          <p:nvSpPr>
            <p:cNvPr name="TextBox 29" id="29"/>
            <p:cNvSpPr txBox="true"/>
            <p:nvPr/>
          </p:nvSpPr>
          <p:spPr>
            <a:xfrm>
              <a:off x="0" y="-57150"/>
              <a:ext cx="8321040" cy="1373886"/>
            </a:xfrm>
            <a:prstGeom prst="rect">
              <a:avLst/>
            </a:prstGeom>
          </p:spPr>
          <p:txBody>
            <a:bodyPr anchor="ctr" rtlCol="false" tIns="0" lIns="0" bIns="0" rIns="0"/>
            <a:lstStyle/>
            <a:p>
              <a:pPr algn="l">
                <a:lnSpc>
                  <a:spcPts val="2592"/>
                </a:lnSpc>
              </a:pPr>
              <a:r>
                <a:rPr lang="en-US" sz="1800">
                  <a:solidFill>
                    <a:srgbClr val="475569"/>
                  </a:solidFill>
                  <a:latin typeface="Poppins"/>
                  <a:ea typeface="Poppins"/>
                  <a:cs typeface="Poppins"/>
                  <a:sym typeface="Poppins"/>
                </a:rPr>
                <a:t>✓  A first draft you then read and correct</a:t>
              </a:r>
            </a:p>
          </p:txBody>
        </p:sp>
      </p:grpSp>
      <p:grpSp>
        <p:nvGrpSpPr>
          <p:cNvPr name="Group 30" id="30"/>
          <p:cNvGrpSpPr/>
          <p:nvPr/>
        </p:nvGrpSpPr>
        <p:grpSpPr>
          <a:xfrm rot="0">
            <a:off x="8595360" y="2527135"/>
            <a:ext cx="7063740" cy="5280660"/>
            <a:chOff x="0" y="0"/>
            <a:chExt cx="9418320" cy="7040880"/>
          </a:xfrm>
        </p:grpSpPr>
        <p:sp>
          <p:nvSpPr>
            <p:cNvPr name="Freeform 31" id="31"/>
            <p:cNvSpPr/>
            <p:nvPr/>
          </p:nvSpPr>
          <p:spPr>
            <a:xfrm flipH="false" flipV="false" rot="0">
              <a:off x="0" y="0"/>
              <a:ext cx="9418320" cy="7040880"/>
            </a:xfrm>
            <a:custGeom>
              <a:avLst/>
              <a:gdLst/>
              <a:ahLst/>
              <a:cxnLst/>
              <a:rect r="r" b="b" t="t" l="l"/>
              <a:pathLst>
                <a:path h="7040880" w="9418320">
                  <a:moveTo>
                    <a:pt x="0" y="182880"/>
                  </a:moveTo>
                  <a:cubicBezTo>
                    <a:pt x="0" y="81915"/>
                    <a:pt x="81915" y="0"/>
                    <a:pt x="182880" y="0"/>
                  </a:cubicBezTo>
                  <a:lnTo>
                    <a:pt x="9235440" y="0"/>
                  </a:lnTo>
                  <a:cubicBezTo>
                    <a:pt x="9336405" y="0"/>
                    <a:pt x="9418320" y="81915"/>
                    <a:pt x="9418320" y="182880"/>
                  </a:cubicBezTo>
                  <a:lnTo>
                    <a:pt x="9418320" y="6858000"/>
                  </a:lnTo>
                  <a:cubicBezTo>
                    <a:pt x="9418320" y="6958965"/>
                    <a:pt x="9336405" y="7040880"/>
                    <a:pt x="9235440" y="7040880"/>
                  </a:cubicBezTo>
                  <a:lnTo>
                    <a:pt x="182880" y="7040880"/>
                  </a:lnTo>
                  <a:cubicBezTo>
                    <a:pt x="81915" y="7040880"/>
                    <a:pt x="0" y="6958965"/>
                    <a:pt x="0" y="6858000"/>
                  </a:cubicBezTo>
                  <a:close/>
                </a:path>
              </a:pathLst>
            </a:custGeom>
            <a:solidFill>
              <a:srgbClr val="FFFFFF"/>
            </a:solidFill>
          </p:spPr>
        </p:sp>
      </p:grpSp>
      <p:grpSp>
        <p:nvGrpSpPr>
          <p:cNvPr name="Group 32" id="32"/>
          <p:cNvGrpSpPr/>
          <p:nvPr/>
        </p:nvGrpSpPr>
        <p:grpSpPr>
          <a:xfrm rot="0">
            <a:off x="8595360" y="2527135"/>
            <a:ext cx="7063740" cy="685800"/>
            <a:chOff x="0" y="0"/>
            <a:chExt cx="9418320" cy="914400"/>
          </a:xfrm>
        </p:grpSpPr>
        <p:sp>
          <p:nvSpPr>
            <p:cNvPr name="Freeform 33" id="33"/>
            <p:cNvSpPr/>
            <p:nvPr/>
          </p:nvSpPr>
          <p:spPr>
            <a:xfrm flipH="false" flipV="false" rot="0">
              <a:off x="0" y="0"/>
              <a:ext cx="9418320" cy="914400"/>
            </a:xfrm>
            <a:custGeom>
              <a:avLst/>
              <a:gdLst/>
              <a:ahLst/>
              <a:cxnLst/>
              <a:rect r="r" b="b" t="t" l="l"/>
              <a:pathLst>
                <a:path h="914400" w="9418320">
                  <a:moveTo>
                    <a:pt x="0" y="0"/>
                  </a:moveTo>
                  <a:lnTo>
                    <a:pt x="9418320" y="0"/>
                  </a:lnTo>
                  <a:lnTo>
                    <a:pt x="9418320" y="914400"/>
                  </a:lnTo>
                  <a:lnTo>
                    <a:pt x="0" y="914400"/>
                  </a:lnTo>
                  <a:close/>
                </a:path>
              </a:pathLst>
            </a:custGeom>
            <a:solidFill>
              <a:srgbClr val="A8322D"/>
            </a:solidFill>
          </p:spPr>
        </p:sp>
      </p:grpSp>
      <p:grpSp>
        <p:nvGrpSpPr>
          <p:cNvPr name="Group 34" id="34"/>
          <p:cNvGrpSpPr/>
          <p:nvPr/>
        </p:nvGrpSpPr>
        <p:grpSpPr>
          <a:xfrm rot="0">
            <a:off x="8595360" y="2527135"/>
            <a:ext cx="7063740" cy="685800"/>
            <a:chOff x="0" y="0"/>
            <a:chExt cx="9418320" cy="914400"/>
          </a:xfrm>
        </p:grpSpPr>
        <p:sp>
          <p:nvSpPr>
            <p:cNvPr name="Freeform 35" id="35"/>
            <p:cNvSpPr/>
            <p:nvPr/>
          </p:nvSpPr>
          <p:spPr>
            <a:xfrm flipH="false" flipV="false" rot="0">
              <a:off x="0" y="0"/>
              <a:ext cx="9418320" cy="914400"/>
            </a:xfrm>
            <a:custGeom>
              <a:avLst/>
              <a:gdLst/>
              <a:ahLst/>
              <a:cxnLst/>
              <a:rect r="r" b="b" t="t" l="l"/>
              <a:pathLst>
                <a:path h="914400" w="9418320">
                  <a:moveTo>
                    <a:pt x="0" y="0"/>
                  </a:moveTo>
                  <a:lnTo>
                    <a:pt x="9418320" y="0"/>
                  </a:lnTo>
                  <a:lnTo>
                    <a:pt x="9418320" y="914400"/>
                  </a:lnTo>
                  <a:lnTo>
                    <a:pt x="0" y="914400"/>
                  </a:lnTo>
                  <a:close/>
                </a:path>
              </a:pathLst>
            </a:custGeom>
            <a:blipFill>
              <a:blip r:embed="rId9">
                <a:alphaModFix amt="0"/>
              </a:blip>
              <a:stretch>
                <a:fillRect l="0" t="-150695" r="0" b="-150695"/>
              </a:stretch>
            </a:blipFill>
          </p:spPr>
        </p:sp>
        <p:sp>
          <p:nvSpPr>
            <p:cNvPr name="TextBox 36" id="36"/>
            <p:cNvSpPr txBox="true"/>
            <p:nvPr/>
          </p:nvSpPr>
          <p:spPr>
            <a:xfrm>
              <a:off x="0" y="-19050"/>
              <a:ext cx="9418320" cy="933450"/>
            </a:xfrm>
            <a:prstGeom prst="rect">
              <a:avLst/>
            </a:prstGeom>
          </p:spPr>
          <p:txBody>
            <a:bodyPr anchor="ctr" rtlCol="false" tIns="0" lIns="0" bIns="0" rIns="0"/>
            <a:lstStyle/>
            <a:p>
              <a:pPr algn="ctr">
                <a:lnSpc>
                  <a:spcPts val="2340"/>
                </a:lnSpc>
              </a:pPr>
              <a:r>
                <a:rPr lang="en-US" b="true" sz="1950" spc="299">
                  <a:solidFill>
                    <a:srgbClr val="FFFFFF"/>
                  </a:solidFill>
                  <a:latin typeface="Poppins Bold"/>
                  <a:ea typeface="Poppins Bold"/>
                  <a:cs typeface="Poppins Bold"/>
                  <a:sym typeface="Poppins Bold"/>
                </a:rPr>
                <a:t>WEAK</a:t>
              </a:r>
            </a:p>
          </p:txBody>
        </p:sp>
      </p:grpSp>
      <p:grpSp>
        <p:nvGrpSpPr>
          <p:cNvPr name="Group 37" id="37"/>
          <p:cNvGrpSpPr/>
          <p:nvPr/>
        </p:nvGrpSpPr>
        <p:grpSpPr>
          <a:xfrm rot="0">
            <a:off x="9006840" y="3487255"/>
            <a:ext cx="6240780" cy="987552"/>
            <a:chOff x="0" y="0"/>
            <a:chExt cx="8321040" cy="1316736"/>
          </a:xfrm>
        </p:grpSpPr>
        <p:sp>
          <p:nvSpPr>
            <p:cNvPr name="Freeform 38" id="38"/>
            <p:cNvSpPr/>
            <p:nvPr/>
          </p:nvSpPr>
          <p:spPr>
            <a:xfrm flipH="false" flipV="false" rot="0">
              <a:off x="0" y="0"/>
              <a:ext cx="8321040" cy="1316736"/>
            </a:xfrm>
            <a:custGeom>
              <a:avLst/>
              <a:gdLst/>
              <a:ahLst/>
              <a:cxnLst/>
              <a:rect r="r" b="b" t="t" l="l"/>
              <a:pathLst>
                <a:path h="1316736" w="8321040">
                  <a:moveTo>
                    <a:pt x="0" y="0"/>
                  </a:moveTo>
                  <a:lnTo>
                    <a:pt x="8321040" y="0"/>
                  </a:lnTo>
                  <a:lnTo>
                    <a:pt x="8321040" y="1316736"/>
                  </a:lnTo>
                  <a:lnTo>
                    <a:pt x="0" y="1316736"/>
                  </a:lnTo>
                  <a:close/>
                </a:path>
              </a:pathLst>
            </a:custGeom>
            <a:blipFill>
              <a:blip r:embed="rId9">
                <a:alphaModFix amt="0"/>
              </a:blip>
              <a:stretch>
                <a:fillRect l="0" t="-73134" r="0" b="-73134"/>
              </a:stretch>
            </a:blipFill>
          </p:spPr>
        </p:sp>
        <p:sp>
          <p:nvSpPr>
            <p:cNvPr name="TextBox 39" id="39"/>
            <p:cNvSpPr txBox="true"/>
            <p:nvPr/>
          </p:nvSpPr>
          <p:spPr>
            <a:xfrm>
              <a:off x="0" y="-57150"/>
              <a:ext cx="8321040" cy="1373886"/>
            </a:xfrm>
            <a:prstGeom prst="rect">
              <a:avLst/>
            </a:prstGeom>
          </p:spPr>
          <p:txBody>
            <a:bodyPr anchor="ctr" rtlCol="false" tIns="0" lIns="0" bIns="0" rIns="0"/>
            <a:lstStyle/>
            <a:p>
              <a:pPr algn="l">
                <a:lnSpc>
                  <a:spcPts val="2592"/>
                </a:lnSpc>
              </a:pPr>
              <a:r>
                <a:rPr lang="en-US" sz="1800">
                  <a:solidFill>
                    <a:srgbClr val="475569"/>
                  </a:solidFill>
                  <a:latin typeface="Poppins"/>
                  <a:ea typeface="Poppins"/>
                  <a:cs typeface="Poppins"/>
                  <a:sym typeface="Poppins"/>
                </a:rPr>
                <a:t>✕  Knowing your filter context. It cannot see your model or your visual</a:t>
              </a:r>
            </a:p>
          </p:txBody>
        </p:sp>
      </p:grpSp>
      <p:grpSp>
        <p:nvGrpSpPr>
          <p:cNvPr name="Group 40" id="40"/>
          <p:cNvGrpSpPr/>
          <p:nvPr/>
        </p:nvGrpSpPr>
        <p:grpSpPr>
          <a:xfrm rot="0">
            <a:off x="9006840" y="4557103"/>
            <a:ext cx="6240780" cy="987552"/>
            <a:chOff x="0" y="0"/>
            <a:chExt cx="8321040" cy="1316736"/>
          </a:xfrm>
        </p:grpSpPr>
        <p:sp>
          <p:nvSpPr>
            <p:cNvPr name="Freeform 41" id="41"/>
            <p:cNvSpPr/>
            <p:nvPr/>
          </p:nvSpPr>
          <p:spPr>
            <a:xfrm flipH="false" flipV="false" rot="0">
              <a:off x="0" y="0"/>
              <a:ext cx="8321040" cy="1316736"/>
            </a:xfrm>
            <a:custGeom>
              <a:avLst/>
              <a:gdLst/>
              <a:ahLst/>
              <a:cxnLst/>
              <a:rect r="r" b="b" t="t" l="l"/>
              <a:pathLst>
                <a:path h="1316736" w="8321040">
                  <a:moveTo>
                    <a:pt x="0" y="0"/>
                  </a:moveTo>
                  <a:lnTo>
                    <a:pt x="8321040" y="0"/>
                  </a:lnTo>
                  <a:lnTo>
                    <a:pt x="8321040" y="1316736"/>
                  </a:lnTo>
                  <a:lnTo>
                    <a:pt x="0" y="1316736"/>
                  </a:lnTo>
                  <a:close/>
                </a:path>
              </a:pathLst>
            </a:custGeom>
            <a:blipFill>
              <a:blip r:embed="rId9">
                <a:alphaModFix amt="0"/>
              </a:blip>
              <a:stretch>
                <a:fillRect l="0" t="-73134" r="0" b="-73134"/>
              </a:stretch>
            </a:blipFill>
          </p:spPr>
        </p:sp>
        <p:sp>
          <p:nvSpPr>
            <p:cNvPr name="TextBox 42" id="42"/>
            <p:cNvSpPr txBox="true"/>
            <p:nvPr/>
          </p:nvSpPr>
          <p:spPr>
            <a:xfrm>
              <a:off x="0" y="-57150"/>
              <a:ext cx="8321040" cy="1373886"/>
            </a:xfrm>
            <a:prstGeom prst="rect">
              <a:avLst/>
            </a:prstGeom>
          </p:spPr>
          <p:txBody>
            <a:bodyPr anchor="ctr" rtlCol="false" tIns="0" lIns="0" bIns="0" rIns="0"/>
            <a:lstStyle/>
            <a:p>
              <a:pPr algn="l">
                <a:lnSpc>
                  <a:spcPts val="2592"/>
                </a:lnSpc>
              </a:pPr>
              <a:r>
                <a:rPr lang="en-US" sz="1800">
                  <a:solidFill>
                    <a:srgbClr val="475569"/>
                  </a:solidFill>
                  <a:latin typeface="Poppins"/>
                  <a:ea typeface="Poppins"/>
                  <a:cs typeface="Poppins"/>
                  <a:sym typeface="Poppins"/>
                </a:rPr>
                <a:t>✕  Knowing your business definitions</a:t>
              </a:r>
            </a:p>
          </p:txBody>
        </p:sp>
      </p:grpSp>
      <p:grpSp>
        <p:nvGrpSpPr>
          <p:cNvPr name="Group 43" id="43"/>
          <p:cNvGrpSpPr/>
          <p:nvPr/>
        </p:nvGrpSpPr>
        <p:grpSpPr>
          <a:xfrm rot="0">
            <a:off x="9006840" y="5626951"/>
            <a:ext cx="6240780" cy="987552"/>
            <a:chOff x="0" y="0"/>
            <a:chExt cx="8321040" cy="1316736"/>
          </a:xfrm>
        </p:grpSpPr>
        <p:sp>
          <p:nvSpPr>
            <p:cNvPr name="Freeform 44" id="44"/>
            <p:cNvSpPr/>
            <p:nvPr/>
          </p:nvSpPr>
          <p:spPr>
            <a:xfrm flipH="false" flipV="false" rot="0">
              <a:off x="0" y="0"/>
              <a:ext cx="8321040" cy="1316736"/>
            </a:xfrm>
            <a:custGeom>
              <a:avLst/>
              <a:gdLst/>
              <a:ahLst/>
              <a:cxnLst/>
              <a:rect r="r" b="b" t="t" l="l"/>
              <a:pathLst>
                <a:path h="1316736" w="8321040">
                  <a:moveTo>
                    <a:pt x="0" y="0"/>
                  </a:moveTo>
                  <a:lnTo>
                    <a:pt x="8321040" y="0"/>
                  </a:lnTo>
                  <a:lnTo>
                    <a:pt x="8321040" y="1316736"/>
                  </a:lnTo>
                  <a:lnTo>
                    <a:pt x="0" y="1316736"/>
                  </a:lnTo>
                  <a:close/>
                </a:path>
              </a:pathLst>
            </a:custGeom>
            <a:blipFill>
              <a:blip r:embed="rId9">
                <a:alphaModFix amt="0"/>
              </a:blip>
              <a:stretch>
                <a:fillRect l="0" t="-73134" r="0" b="-73134"/>
              </a:stretch>
            </a:blipFill>
          </p:spPr>
        </p:sp>
        <p:sp>
          <p:nvSpPr>
            <p:cNvPr name="TextBox 45" id="45"/>
            <p:cNvSpPr txBox="true"/>
            <p:nvPr/>
          </p:nvSpPr>
          <p:spPr>
            <a:xfrm>
              <a:off x="0" y="-57150"/>
              <a:ext cx="8321040" cy="1373886"/>
            </a:xfrm>
            <a:prstGeom prst="rect">
              <a:avLst/>
            </a:prstGeom>
          </p:spPr>
          <p:txBody>
            <a:bodyPr anchor="ctr" rtlCol="false" tIns="0" lIns="0" bIns="0" rIns="0"/>
            <a:lstStyle/>
            <a:p>
              <a:pPr algn="l">
                <a:lnSpc>
                  <a:spcPts val="2592"/>
                </a:lnSpc>
              </a:pPr>
              <a:r>
                <a:rPr lang="en-US" sz="1800">
                  <a:solidFill>
                    <a:srgbClr val="475569"/>
                  </a:solidFill>
                  <a:latin typeface="Poppins"/>
                  <a:ea typeface="Poppins"/>
                  <a:cs typeface="Poppins"/>
                  <a:sym typeface="Poppins"/>
                </a:rPr>
                <a:t>✕  Knowing when it is wrong. Confidence does not vary with correctness</a:t>
              </a:r>
            </a:p>
          </p:txBody>
        </p:sp>
      </p:grpSp>
      <p:grpSp>
        <p:nvGrpSpPr>
          <p:cNvPr name="Group 46" id="46"/>
          <p:cNvGrpSpPr/>
          <p:nvPr/>
        </p:nvGrpSpPr>
        <p:grpSpPr>
          <a:xfrm rot="0">
            <a:off x="9006840" y="6696799"/>
            <a:ext cx="6240780" cy="987552"/>
            <a:chOff x="0" y="0"/>
            <a:chExt cx="8321040" cy="1316736"/>
          </a:xfrm>
        </p:grpSpPr>
        <p:sp>
          <p:nvSpPr>
            <p:cNvPr name="Freeform 47" id="47"/>
            <p:cNvSpPr/>
            <p:nvPr/>
          </p:nvSpPr>
          <p:spPr>
            <a:xfrm flipH="false" flipV="false" rot="0">
              <a:off x="0" y="0"/>
              <a:ext cx="8321040" cy="1316736"/>
            </a:xfrm>
            <a:custGeom>
              <a:avLst/>
              <a:gdLst/>
              <a:ahLst/>
              <a:cxnLst/>
              <a:rect r="r" b="b" t="t" l="l"/>
              <a:pathLst>
                <a:path h="1316736" w="8321040">
                  <a:moveTo>
                    <a:pt x="0" y="0"/>
                  </a:moveTo>
                  <a:lnTo>
                    <a:pt x="8321040" y="0"/>
                  </a:lnTo>
                  <a:lnTo>
                    <a:pt x="8321040" y="1316736"/>
                  </a:lnTo>
                  <a:lnTo>
                    <a:pt x="0" y="1316736"/>
                  </a:lnTo>
                  <a:close/>
                </a:path>
              </a:pathLst>
            </a:custGeom>
            <a:blipFill>
              <a:blip r:embed="rId9">
                <a:alphaModFix amt="0"/>
              </a:blip>
              <a:stretch>
                <a:fillRect l="0" t="-73134" r="0" b="-73134"/>
              </a:stretch>
            </a:blipFill>
          </p:spPr>
        </p:sp>
        <p:sp>
          <p:nvSpPr>
            <p:cNvPr name="TextBox 48" id="48"/>
            <p:cNvSpPr txBox="true"/>
            <p:nvPr/>
          </p:nvSpPr>
          <p:spPr>
            <a:xfrm>
              <a:off x="0" y="-57150"/>
              <a:ext cx="8321040" cy="1373886"/>
            </a:xfrm>
            <a:prstGeom prst="rect">
              <a:avLst/>
            </a:prstGeom>
          </p:spPr>
          <p:txBody>
            <a:bodyPr anchor="ctr" rtlCol="false" tIns="0" lIns="0" bIns="0" rIns="0"/>
            <a:lstStyle/>
            <a:p>
              <a:pPr algn="l">
                <a:lnSpc>
                  <a:spcPts val="2592"/>
                </a:lnSpc>
              </a:pPr>
              <a:r>
                <a:rPr lang="en-US" sz="1800">
                  <a:solidFill>
                    <a:srgbClr val="475569"/>
                  </a:solidFill>
                  <a:latin typeface="Poppins"/>
                  <a:ea typeface="Poppins"/>
                  <a:cs typeface="Poppins"/>
                  <a:sym typeface="Poppins"/>
                </a:rPr>
                <a:t>✕  Knowing your data. It has never seen one row of SwiftRoute</a:t>
              </a:r>
            </a:p>
          </p:txBody>
        </p:sp>
      </p:grpSp>
      <p:grpSp>
        <p:nvGrpSpPr>
          <p:cNvPr name="Group 49" id="49"/>
          <p:cNvGrpSpPr/>
          <p:nvPr/>
        </p:nvGrpSpPr>
        <p:grpSpPr>
          <a:xfrm rot="0">
            <a:off x="914400" y="8082115"/>
            <a:ext cx="14744700" cy="1165860"/>
            <a:chOff x="0" y="0"/>
            <a:chExt cx="19659600" cy="1554480"/>
          </a:xfrm>
        </p:grpSpPr>
        <p:sp>
          <p:nvSpPr>
            <p:cNvPr name="Freeform 50" id="50"/>
            <p:cNvSpPr/>
            <p:nvPr/>
          </p:nvSpPr>
          <p:spPr>
            <a:xfrm flipH="false" flipV="false" rot="0">
              <a:off x="0" y="0"/>
              <a:ext cx="19659600" cy="1554480"/>
            </a:xfrm>
            <a:custGeom>
              <a:avLst/>
              <a:gdLst/>
              <a:ahLst/>
              <a:cxnLst/>
              <a:rect r="r" b="b" t="t" l="l"/>
              <a:pathLst>
                <a:path h="1554480" w="19659600">
                  <a:moveTo>
                    <a:pt x="0" y="164592"/>
                  </a:moveTo>
                  <a:cubicBezTo>
                    <a:pt x="0" y="73660"/>
                    <a:pt x="73660" y="0"/>
                    <a:pt x="164592" y="0"/>
                  </a:cubicBezTo>
                  <a:lnTo>
                    <a:pt x="19495008" y="0"/>
                  </a:lnTo>
                  <a:cubicBezTo>
                    <a:pt x="19585939" y="0"/>
                    <a:pt x="19659600" y="73660"/>
                    <a:pt x="19659600" y="164592"/>
                  </a:cubicBezTo>
                  <a:lnTo>
                    <a:pt x="19659600" y="1389888"/>
                  </a:lnTo>
                  <a:cubicBezTo>
                    <a:pt x="19659600" y="1480820"/>
                    <a:pt x="19585939" y="1554480"/>
                    <a:pt x="19495008" y="1554480"/>
                  </a:cubicBezTo>
                  <a:lnTo>
                    <a:pt x="164592" y="1554480"/>
                  </a:lnTo>
                  <a:cubicBezTo>
                    <a:pt x="73660" y="1554480"/>
                    <a:pt x="0" y="1480820"/>
                    <a:pt x="0" y="1389888"/>
                  </a:cubicBezTo>
                  <a:close/>
                </a:path>
              </a:pathLst>
            </a:custGeom>
            <a:solidFill>
              <a:srgbClr val="EEF4F4"/>
            </a:solidFill>
          </p:spPr>
        </p:sp>
      </p:grpSp>
      <p:grpSp>
        <p:nvGrpSpPr>
          <p:cNvPr name="Group 51" id="51"/>
          <p:cNvGrpSpPr/>
          <p:nvPr/>
        </p:nvGrpSpPr>
        <p:grpSpPr>
          <a:xfrm rot="0">
            <a:off x="914400" y="8082115"/>
            <a:ext cx="102870" cy="1165860"/>
            <a:chOff x="0" y="0"/>
            <a:chExt cx="137160" cy="1554480"/>
          </a:xfrm>
        </p:grpSpPr>
        <p:sp>
          <p:nvSpPr>
            <p:cNvPr name="Freeform 52" id="52"/>
            <p:cNvSpPr/>
            <p:nvPr/>
          </p:nvSpPr>
          <p:spPr>
            <a:xfrm flipH="false" flipV="false" rot="0">
              <a:off x="0" y="0"/>
              <a:ext cx="137160" cy="1554480"/>
            </a:xfrm>
            <a:custGeom>
              <a:avLst/>
              <a:gdLst/>
              <a:ahLst/>
              <a:cxnLst/>
              <a:rect r="r" b="b" t="t" l="l"/>
              <a:pathLst>
                <a:path h="1554480" w="137160">
                  <a:moveTo>
                    <a:pt x="0" y="0"/>
                  </a:moveTo>
                  <a:lnTo>
                    <a:pt x="137160" y="0"/>
                  </a:lnTo>
                  <a:lnTo>
                    <a:pt x="137160" y="1554480"/>
                  </a:lnTo>
                  <a:lnTo>
                    <a:pt x="0" y="1554480"/>
                  </a:lnTo>
                  <a:close/>
                </a:path>
              </a:pathLst>
            </a:custGeom>
            <a:solidFill>
              <a:srgbClr val="387F7F"/>
            </a:solidFill>
          </p:spPr>
        </p:sp>
      </p:grpSp>
      <p:grpSp>
        <p:nvGrpSpPr>
          <p:cNvPr name="Group 53" id="53"/>
          <p:cNvGrpSpPr/>
          <p:nvPr/>
        </p:nvGrpSpPr>
        <p:grpSpPr>
          <a:xfrm rot="0">
            <a:off x="1463040" y="8082115"/>
            <a:ext cx="13853160" cy="1165860"/>
            <a:chOff x="0" y="0"/>
            <a:chExt cx="18470880" cy="1554480"/>
          </a:xfrm>
        </p:grpSpPr>
        <p:sp>
          <p:nvSpPr>
            <p:cNvPr name="Freeform 54" id="54"/>
            <p:cNvSpPr/>
            <p:nvPr/>
          </p:nvSpPr>
          <p:spPr>
            <a:xfrm flipH="false" flipV="false" rot="0">
              <a:off x="0" y="0"/>
              <a:ext cx="18470880" cy="1554480"/>
            </a:xfrm>
            <a:custGeom>
              <a:avLst/>
              <a:gdLst/>
              <a:ahLst/>
              <a:cxnLst/>
              <a:rect r="r" b="b" t="t" l="l"/>
              <a:pathLst>
                <a:path h="1554480" w="18470880">
                  <a:moveTo>
                    <a:pt x="0" y="0"/>
                  </a:moveTo>
                  <a:lnTo>
                    <a:pt x="18470880" y="0"/>
                  </a:lnTo>
                  <a:lnTo>
                    <a:pt x="18470880" y="1554480"/>
                  </a:lnTo>
                  <a:lnTo>
                    <a:pt x="0" y="1554480"/>
                  </a:lnTo>
                  <a:close/>
                </a:path>
              </a:pathLst>
            </a:custGeom>
            <a:blipFill>
              <a:blip r:embed="rId9">
                <a:alphaModFix amt="0"/>
              </a:blip>
              <a:stretch>
                <a:fillRect l="0" t="-181528" r="0" b="-181528"/>
              </a:stretch>
            </a:blipFill>
          </p:spPr>
        </p:sp>
        <p:sp>
          <p:nvSpPr>
            <p:cNvPr name="TextBox 55" id="55"/>
            <p:cNvSpPr txBox="true"/>
            <p:nvPr/>
          </p:nvSpPr>
          <p:spPr>
            <a:xfrm>
              <a:off x="0" y="-114300"/>
              <a:ext cx="18470880" cy="1668780"/>
            </a:xfrm>
            <a:prstGeom prst="rect">
              <a:avLst/>
            </a:prstGeom>
          </p:spPr>
          <p:txBody>
            <a:bodyPr anchor="ctr" rtlCol="false" tIns="0" lIns="0" bIns="0" rIns="0"/>
            <a:lstStyle/>
            <a:p>
              <a:pPr algn="l">
                <a:lnSpc>
                  <a:spcPts val="3645"/>
                </a:lnSpc>
              </a:pPr>
              <a:r>
                <a:rPr lang="en-US" sz="2250" b="true">
                  <a:solidFill>
                    <a:srgbClr val="387F7F"/>
                  </a:solidFill>
                  <a:latin typeface="Poppins Bold"/>
                  <a:ea typeface="Poppins Bold"/>
                  <a:cs typeface="Poppins Bold"/>
                  <a:sym typeface="Poppins Bold"/>
                </a:rPr>
                <a:t>Every weakness on the right is something only you have. That is the job.</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6271320"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It is answering blind</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028700" y="2468880"/>
            <a:ext cx="7063740" cy="4526280"/>
            <a:chOff x="0" y="0"/>
            <a:chExt cx="9418320" cy="6035040"/>
          </a:xfrm>
        </p:grpSpPr>
        <p:sp>
          <p:nvSpPr>
            <p:cNvPr name="Freeform 12" id="12"/>
            <p:cNvSpPr/>
            <p:nvPr/>
          </p:nvSpPr>
          <p:spPr>
            <a:xfrm flipH="false" flipV="false" rot="0">
              <a:off x="0" y="0"/>
              <a:ext cx="9418320" cy="6035040"/>
            </a:xfrm>
            <a:custGeom>
              <a:avLst/>
              <a:gdLst/>
              <a:ahLst/>
              <a:cxnLst/>
              <a:rect r="r" b="b" t="t" l="l"/>
              <a:pathLst>
                <a:path h="6035040" w="9418320">
                  <a:moveTo>
                    <a:pt x="0" y="182880"/>
                  </a:moveTo>
                  <a:cubicBezTo>
                    <a:pt x="0" y="81915"/>
                    <a:pt x="81915" y="0"/>
                    <a:pt x="182880" y="0"/>
                  </a:cubicBezTo>
                  <a:lnTo>
                    <a:pt x="9235440" y="0"/>
                  </a:lnTo>
                  <a:cubicBezTo>
                    <a:pt x="9336405" y="0"/>
                    <a:pt x="9418320" y="81915"/>
                    <a:pt x="9418320" y="182880"/>
                  </a:cubicBezTo>
                  <a:lnTo>
                    <a:pt x="9418320" y="5852160"/>
                  </a:lnTo>
                  <a:cubicBezTo>
                    <a:pt x="9418320" y="5953125"/>
                    <a:pt x="9336405" y="6035040"/>
                    <a:pt x="9235440" y="6035040"/>
                  </a:cubicBezTo>
                  <a:lnTo>
                    <a:pt x="182880" y="6035040"/>
                  </a:lnTo>
                  <a:cubicBezTo>
                    <a:pt x="81915" y="6035040"/>
                    <a:pt x="0" y="5953125"/>
                    <a:pt x="0" y="5852160"/>
                  </a:cubicBezTo>
                  <a:close/>
                </a:path>
              </a:pathLst>
            </a:custGeom>
            <a:solidFill>
              <a:srgbClr val="FFFFFF"/>
            </a:solidFill>
          </p:spPr>
        </p:sp>
      </p:grpSp>
      <p:grpSp>
        <p:nvGrpSpPr>
          <p:cNvPr name="Group 13" id="13"/>
          <p:cNvGrpSpPr/>
          <p:nvPr/>
        </p:nvGrpSpPr>
        <p:grpSpPr>
          <a:xfrm rot="0">
            <a:off x="1440180" y="2743200"/>
            <a:ext cx="6240780" cy="411480"/>
            <a:chOff x="0" y="0"/>
            <a:chExt cx="8321040" cy="548640"/>
          </a:xfrm>
        </p:grpSpPr>
        <p:sp>
          <p:nvSpPr>
            <p:cNvPr name="Freeform 14" id="14"/>
            <p:cNvSpPr/>
            <p:nvPr/>
          </p:nvSpPr>
          <p:spPr>
            <a:xfrm flipH="false" flipV="false" rot="0">
              <a:off x="0" y="0"/>
              <a:ext cx="8321040" cy="548640"/>
            </a:xfrm>
            <a:custGeom>
              <a:avLst/>
              <a:gdLst/>
              <a:ahLst/>
              <a:cxnLst/>
              <a:rect r="r" b="b" t="t" l="l"/>
              <a:pathLst>
                <a:path h="548640" w="8321040">
                  <a:moveTo>
                    <a:pt x="0" y="0"/>
                  </a:moveTo>
                  <a:lnTo>
                    <a:pt x="8321040" y="0"/>
                  </a:lnTo>
                  <a:lnTo>
                    <a:pt x="8321040" y="548640"/>
                  </a:lnTo>
                  <a:lnTo>
                    <a:pt x="0" y="548640"/>
                  </a:lnTo>
                  <a:close/>
                </a:path>
              </a:pathLst>
            </a:custGeom>
            <a:blipFill>
              <a:blip r:embed="rId9">
                <a:alphaModFix amt="0"/>
              </a:blip>
              <a:stretch>
                <a:fillRect l="0" t="-245523" r="0" b="-245523"/>
              </a:stretch>
            </a:blipFill>
          </p:spPr>
        </p:sp>
        <p:sp>
          <p:nvSpPr>
            <p:cNvPr name="TextBox 15" id="15"/>
            <p:cNvSpPr txBox="true"/>
            <p:nvPr/>
          </p:nvSpPr>
          <p:spPr>
            <a:xfrm>
              <a:off x="0" y="-9525"/>
              <a:ext cx="8321040" cy="558165"/>
            </a:xfrm>
            <a:prstGeom prst="rect">
              <a:avLst/>
            </a:prstGeom>
          </p:spPr>
          <p:txBody>
            <a:bodyPr anchor="ctr" rtlCol="false" tIns="0" lIns="0" bIns="0" rIns="0"/>
            <a:lstStyle/>
            <a:p>
              <a:pPr algn="l">
                <a:lnSpc>
                  <a:spcPts val="1980"/>
                </a:lnSpc>
              </a:pPr>
              <a:r>
                <a:rPr lang="en-US" b="true" sz="1650" spc="150">
                  <a:solidFill>
                    <a:srgbClr val="387F7F"/>
                  </a:solidFill>
                  <a:latin typeface="Poppins Bold"/>
                  <a:ea typeface="Poppins Bold"/>
                  <a:cs typeface="Poppins Bold"/>
                  <a:sym typeface="Poppins Bold"/>
                </a:rPr>
                <a:t>WHAT YOU CAN SEE</a:t>
              </a:r>
            </a:p>
          </p:txBody>
        </p:sp>
      </p:grpSp>
      <p:sp>
        <p:nvSpPr>
          <p:cNvPr name="AutoShape 16" id="16"/>
          <p:cNvSpPr/>
          <p:nvPr/>
        </p:nvSpPr>
        <p:spPr>
          <a:xfrm rot="5252160">
            <a:off x="3930596" y="4345305"/>
            <a:ext cx="1205074" cy="0"/>
          </a:xfrm>
          <a:prstGeom prst="line">
            <a:avLst/>
          </a:prstGeom>
          <a:ln cap="rnd" w="19050">
            <a:solidFill>
              <a:srgbClr val="387F7F"/>
            </a:solidFill>
            <a:prstDash val="solid"/>
            <a:headEnd type="none" len="sm" w="sm"/>
            <a:tailEnd type="none" len="sm" w="sm"/>
          </a:ln>
        </p:spPr>
      </p:sp>
      <p:sp>
        <p:nvSpPr>
          <p:cNvPr name="AutoShape 17" id="17"/>
          <p:cNvSpPr/>
          <p:nvPr/>
        </p:nvSpPr>
        <p:spPr>
          <a:xfrm rot="126299">
            <a:off x="4506754" y="4935093"/>
            <a:ext cx="1410652" cy="0"/>
          </a:xfrm>
          <a:prstGeom prst="line">
            <a:avLst/>
          </a:prstGeom>
          <a:ln cap="rnd" w="19050">
            <a:solidFill>
              <a:srgbClr val="387F7F"/>
            </a:solidFill>
            <a:prstDash val="solid"/>
            <a:headEnd type="none" len="sm" w="sm"/>
            <a:tailEnd type="none" len="sm" w="sm"/>
          </a:ln>
        </p:spPr>
      </p:sp>
      <p:sp>
        <p:nvSpPr>
          <p:cNvPr name="AutoShape 18" id="18"/>
          <p:cNvSpPr/>
          <p:nvPr/>
        </p:nvSpPr>
        <p:spPr>
          <a:xfrm rot="5252159">
            <a:off x="3930596" y="5511165"/>
            <a:ext cx="1205074" cy="0"/>
          </a:xfrm>
          <a:prstGeom prst="line">
            <a:avLst/>
          </a:prstGeom>
          <a:ln cap="rnd" w="19050">
            <a:solidFill>
              <a:srgbClr val="387F7F"/>
            </a:solidFill>
            <a:prstDash val="solid"/>
            <a:headEnd type="none" len="sm" w="sm"/>
            <a:tailEnd type="none" len="sm" w="sm"/>
          </a:ln>
        </p:spPr>
      </p:sp>
      <p:sp>
        <p:nvSpPr>
          <p:cNvPr name="AutoShape 19" id="19"/>
          <p:cNvSpPr/>
          <p:nvPr/>
        </p:nvSpPr>
        <p:spPr>
          <a:xfrm rot="126299">
            <a:off x="3135154" y="4935093"/>
            <a:ext cx="1410653" cy="0"/>
          </a:xfrm>
          <a:prstGeom prst="line">
            <a:avLst/>
          </a:prstGeom>
          <a:ln cap="rnd" w="19050">
            <a:solidFill>
              <a:srgbClr val="387F7F"/>
            </a:solidFill>
            <a:prstDash val="solid"/>
            <a:headEnd type="none" len="sm" w="sm"/>
            <a:tailEnd type="none" len="sm" w="sm"/>
          </a:ln>
        </p:spPr>
      </p:sp>
      <p:grpSp>
        <p:nvGrpSpPr>
          <p:cNvPr name="Group 20" id="20"/>
          <p:cNvGrpSpPr/>
          <p:nvPr/>
        </p:nvGrpSpPr>
        <p:grpSpPr>
          <a:xfrm rot="0">
            <a:off x="4077843" y="3542919"/>
            <a:ext cx="896874" cy="457962"/>
            <a:chOff x="0" y="0"/>
            <a:chExt cx="1195832" cy="610616"/>
          </a:xfrm>
        </p:grpSpPr>
        <p:sp>
          <p:nvSpPr>
            <p:cNvPr name="Freeform 21" id="21"/>
            <p:cNvSpPr/>
            <p:nvPr/>
          </p:nvSpPr>
          <p:spPr>
            <a:xfrm flipH="false" flipV="false" rot="0">
              <a:off x="0" y="0"/>
              <a:ext cx="1195832" cy="610616"/>
            </a:xfrm>
            <a:custGeom>
              <a:avLst/>
              <a:gdLst/>
              <a:ahLst/>
              <a:cxnLst/>
              <a:rect r="r" b="b" t="t" l="l"/>
              <a:pathLst>
                <a:path h="610616" w="1195832">
                  <a:moveTo>
                    <a:pt x="0" y="95377"/>
                  </a:moveTo>
                  <a:cubicBezTo>
                    <a:pt x="0" y="42672"/>
                    <a:pt x="42672" y="0"/>
                    <a:pt x="95377" y="0"/>
                  </a:cubicBezTo>
                  <a:lnTo>
                    <a:pt x="1100455" y="0"/>
                  </a:lnTo>
                  <a:cubicBezTo>
                    <a:pt x="1153160" y="0"/>
                    <a:pt x="1195832" y="42672"/>
                    <a:pt x="1195832" y="95377"/>
                  </a:cubicBezTo>
                  <a:lnTo>
                    <a:pt x="1195832" y="515239"/>
                  </a:lnTo>
                  <a:cubicBezTo>
                    <a:pt x="1195832" y="567944"/>
                    <a:pt x="1153160" y="610616"/>
                    <a:pt x="1100455" y="610616"/>
                  </a:cubicBezTo>
                  <a:lnTo>
                    <a:pt x="95377" y="610616"/>
                  </a:lnTo>
                  <a:cubicBezTo>
                    <a:pt x="42672" y="610616"/>
                    <a:pt x="0" y="567944"/>
                    <a:pt x="0" y="515239"/>
                  </a:cubicBezTo>
                  <a:close/>
                </a:path>
              </a:pathLst>
            </a:custGeom>
            <a:solidFill>
              <a:srgbClr val="EEF4F4"/>
            </a:solidFill>
            <a:ln w="19050" cap="sq">
              <a:solidFill>
                <a:srgbClr val="387F7F"/>
              </a:solidFill>
              <a:prstDash val="solid"/>
              <a:miter/>
            </a:ln>
          </p:spPr>
        </p:sp>
      </p:grpSp>
      <p:grpSp>
        <p:nvGrpSpPr>
          <p:cNvPr name="Group 22" id="22"/>
          <p:cNvGrpSpPr/>
          <p:nvPr/>
        </p:nvGrpSpPr>
        <p:grpSpPr>
          <a:xfrm rot="0">
            <a:off x="5449443" y="4708779"/>
            <a:ext cx="896874" cy="457962"/>
            <a:chOff x="0" y="0"/>
            <a:chExt cx="1195832" cy="610616"/>
          </a:xfrm>
        </p:grpSpPr>
        <p:sp>
          <p:nvSpPr>
            <p:cNvPr name="Freeform 23" id="23"/>
            <p:cNvSpPr/>
            <p:nvPr/>
          </p:nvSpPr>
          <p:spPr>
            <a:xfrm flipH="false" flipV="false" rot="0">
              <a:off x="0" y="0"/>
              <a:ext cx="1195832" cy="610616"/>
            </a:xfrm>
            <a:custGeom>
              <a:avLst/>
              <a:gdLst/>
              <a:ahLst/>
              <a:cxnLst/>
              <a:rect r="r" b="b" t="t" l="l"/>
              <a:pathLst>
                <a:path h="610616" w="1195832">
                  <a:moveTo>
                    <a:pt x="0" y="95377"/>
                  </a:moveTo>
                  <a:cubicBezTo>
                    <a:pt x="0" y="42672"/>
                    <a:pt x="42672" y="0"/>
                    <a:pt x="95377" y="0"/>
                  </a:cubicBezTo>
                  <a:lnTo>
                    <a:pt x="1100455" y="0"/>
                  </a:lnTo>
                  <a:cubicBezTo>
                    <a:pt x="1153160" y="0"/>
                    <a:pt x="1195832" y="42672"/>
                    <a:pt x="1195832" y="95377"/>
                  </a:cubicBezTo>
                  <a:lnTo>
                    <a:pt x="1195832" y="515239"/>
                  </a:lnTo>
                  <a:cubicBezTo>
                    <a:pt x="1195832" y="567944"/>
                    <a:pt x="1153160" y="610616"/>
                    <a:pt x="1100455" y="610616"/>
                  </a:cubicBezTo>
                  <a:lnTo>
                    <a:pt x="95377" y="610616"/>
                  </a:lnTo>
                  <a:cubicBezTo>
                    <a:pt x="42672" y="610616"/>
                    <a:pt x="0" y="567944"/>
                    <a:pt x="0" y="515239"/>
                  </a:cubicBezTo>
                  <a:close/>
                </a:path>
              </a:pathLst>
            </a:custGeom>
            <a:solidFill>
              <a:srgbClr val="EEF4F4"/>
            </a:solidFill>
            <a:ln w="19050" cap="sq">
              <a:solidFill>
                <a:srgbClr val="387F7F"/>
              </a:solidFill>
              <a:prstDash val="solid"/>
              <a:miter/>
            </a:ln>
          </p:spPr>
        </p:sp>
      </p:grpSp>
      <p:grpSp>
        <p:nvGrpSpPr>
          <p:cNvPr name="Group 24" id="24"/>
          <p:cNvGrpSpPr/>
          <p:nvPr/>
        </p:nvGrpSpPr>
        <p:grpSpPr>
          <a:xfrm rot="0">
            <a:off x="4077843" y="5874639"/>
            <a:ext cx="896874" cy="457962"/>
            <a:chOff x="0" y="0"/>
            <a:chExt cx="1195832" cy="610616"/>
          </a:xfrm>
        </p:grpSpPr>
        <p:sp>
          <p:nvSpPr>
            <p:cNvPr name="Freeform 25" id="25"/>
            <p:cNvSpPr/>
            <p:nvPr/>
          </p:nvSpPr>
          <p:spPr>
            <a:xfrm flipH="false" flipV="false" rot="0">
              <a:off x="0" y="0"/>
              <a:ext cx="1195832" cy="610616"/>
            </a:xfrm>
            <a:custGeom>
              <a:avLst/>
              <a:gdLst/>
              <a:ahLst/>
              <a:cxnLst/>
              <a:rect r="r" b="b" t="t" l="l"/>
              <a:pathLst>
                <a:path h="610616" w="1195832">
                  <a:moveTo>
                    <a:pt x="0" y="95377"/>
                  </a:moveTo>
                  <a:cubicBezTo>
                    <a:pt x="0" y="42672"/>
                    <a:pt x="42672" y="0"/>
                    <a:pt x="95377" y="0"/>
                  </a:cubicBezTo>
                  <a:lnTo>
                    <a:pt x="1100455" y="0"/>
                  </a:lnTo>
                  <a:cubicBezTo>
                    <a:pt x="1153160" y="0"/>
                    <a:pt x="1195832" y="42672"/>
                    <a:pt x="1195832" y="95377"/>
                  </a:cubicBezTo>
                  <a:lnTo>
                    <a:pt x="1195832" y="515239"/>
                  </a:lnTo>
                  <a:cubicBezTo>
                    <a:pt x="1195832" y="567944"/>
                    <a:pt x="1153160" y="610616"/>
                    <a:pt x="1100455" y="610616"/>
                  </a:cubicBezTo>
                  <a:lnTo>
                    <a:pt x="95377" y="610616"/>
                  </a:lnTo>
                  <a:cubicBezTo>
                    <a:pt x="42672" y="610616"/>
                    <a:pt x="0" y="567944"/>
                    <a:pt x="0" y="515239"/>
                  </a:cubicBezTo>
                  <a:close/>
                </a:path>
              </a:pathLst>
            </a:custGeom>
            <a:solidFill>
              <a:srgbClr val="EEF4F4"/>
            </a:solidFill>
            <a:ln w="19050" cap="sq">
              <a:solidFill>
                <a:srgbClr val="387F7F"/>
              </a:solidFill>
              <a:prstDash val="solid"/>
              <a:miter/>
            </a:ln>
          </p:spPr>
        </p:sp>
      </p:grpSp>
      <p:grpSp>
        <p:nvGrpSpPr>
          <p:cNvPr name="Group 26" id="26"/>
          <p:cNvGrpSpPr/>
          <p:nvPr/>
        </p:nvGrpSpPr>
        <p:grpSpPr>
          <a:xfrm rot="0">
            <a:off x="2706243" y="4708779"/>
            <a:ext cx="896874" cy="457962"/>
            <a:chOff x="0" y="0"/>
            <a:chExt cx="1195832" cy="610616"/>
          </a:xfrm>
        </p:grpSpPr>
        <p:sp>
          <p:nvSpPr>
            <p:cNvPr name="Freeform 27" id="27"/>
            <p:cNvSpPr/>
            <p:nvPr/>
          </p:nvSpPr>
          <p:spPr>
            <a:xfrm flipH="false" flipV="false" rot="0">
              <a:off x="0" y="0"/>
              <a:ext cx="1195832" cy="610616"/>
            </a:xfrm>
            <a:custGeom>
              <a:avLst/>
              <a:gdLst/>
              <a:ahLst/>
              <a:cxnLst/>
              <a:rect r="r" b="b" t="t" l="l"/>
              <a:pathLst>
                <a:path h="610616" w="1195832">
                  <a:moveTo>
                    <a:pt x="0" y="95377"/>
                  </a:moveTo>
                  <a:cubicBezTo>
                    <a:pt x="0" y="42672"/>
                    <a:pt x="42672" y="0"/>
                    <a:pt x="95377" y="0"/>
                  </a:cubicBezTo>
                  <a:lnTo>
                    <a:pt x="1100455" y="0"/>
                  </a:lnTo>
                  <a:cubicBezTo>
                    <a:pt x="1153160" y="0"/>
                    <a:pt x="1195832" y="42672"/>
                    <a:pt x="1195832" y="95377"/>
                  </a:cubicBezTo>
                  <a:lnTo>
                    <a:pt x="1195832" y="515239"/>
                  </a:lnTo>
                  <a:cubicBezTo>
                    <a:pt x="1195832" y="567944"/>
                    <a:pt x="1153160" y="610616"/>
                    <a:pt x="1100455" y="610616"/>
                  </a:cubicBezTo>
                  <a:lnTo>
                    <a:pt x="95377" y="610616"/>
                  </a:lnTo>
                  <a:cubicBezTo>
                    <a:pt x="42672" y="610616"/>
                    <a:pt x="0" y="567944"/>
                    <a:pt x="0" y="515239"/>
                  </a:cubicBezTo>
                  <a:close/>
                </a:path>
              </a:pathLst>
            </a:custGeom>
            <a:solidFill>
              <a:srgbClr val="EEF4F4"/>
            </a:solidFill>
            <a:ln w="19050" cap="sq">
              <a:solidFill>
                <a:srgbClr val="387F7F"/>
              </a:solidFill>
              <a:prstDash val="solid"/>
              <a:miter/>
            </a:ln>
          </p:spPr>
        </p:sp>
      </p:grpSp>
      <p:grpSp>
        <p:nvGrpSpPr>
          <p:cNvPr name="Group 28" id="28"/>
          <p:cNvGrpSpPr/>
          <p:nvPr/>
        </p:nvGrpSpPr>
        <p:grpSpPr>
          <a:xfrm rot="0">
            <a:off x="3977640" y="4663440"/>
            <a:ext cx="1097280" cy="548640"/>
            <a:chOff x="0" y="0"/>
            <a:chExt cx="1463040" cy="731520"/>
          </a:xfrm>
        </p:grpSpPr>
        <p:sp>
          <p:nvSpPr>
            <p:cNvPr name="Freeform 29" id="29"/>
            <p:cNvSpPr/>
            <p:nvPr/>
          </p:nvSpPr>
          <p:spPr>
            <a:xfrm flipH="false" flipV="false" rot="0">
              <a:off x="0" y="0"/>
              <a:ext cx="1463040" cy="731520"/>
            </a:xfrm>
            <a:custGeom>
              <a:avLst/>
              <a:gdLst/>
              <a:ahLst/>
              <a:cxnLst/>
              <a:rect r="r" b="b" t="t" l="l"/>
              <a:pathLst>
                <a:path h="731520" w="1463040">
                  <a:moveTo>
                    <a:pt x="0" y="109728"/>
                  </a:moveTo>
                  <a:cubicBezTo>
                    <a:pt x="0" y="49149"/>
                    <a:pt x="49149" y="0"/>
                    <a:pt x="109728" y="0"/>
                  </a:cubicBezTo>
                  <a:lnTo>
                    <a:pt x="1353312" y="0"/>
                  </a:lnTo>
                  <a:cubicBezTo>
                    <a:pt x="1413891" y="0"/>
                    <a:pt x="1463040" y="49149"/>
                    <a:pt x="1463040" y="109728"/>
                  </a:cubicBezTo>
                  <a:lnTo>
                    <a:pt x="1463040" y="621792"/>
                  </a:lnTo>
                  <a:cubicBezTo>
                    <a:pt x="1463040" y="682371"/>
                    <a:pt x="1413891" y="731520"/>
                    <a:pt x="1353312" y="731520"/>
                  </a:cubicBezTo>
                  <a:lnTo>
                    <a:pt x="109728" y="731520"/>
                  </a:lnTo>
                  <a:cubicBezTo>
                    <a:pt x="49149" y="731520"/>
                    <a:pt x="0" y="682371"/>
                    <a:pt x="0" y="621792"/>
                  </a:cubicBezTo>
                  <a:close/>
                </a:path>
              </a:pathLst>
            </a:custGeom>
            <a:solidFill>
              <a:srgbClr val="387F7F"/>
            </a:solidFill>
          </p:spPr>
        </p:sp>
      </p:grpSp>
      <p:grpSp>
        <p:nvGrpSpPr>
          <p:cNvPr name="Group 30" id="30"/>
          <p:cNvGrpSpPr/>
          <p:nvPr/>
        </p:nvGrpSpPr>
        <p:grpSpPr>
          <a:xfrm rot="0">
            <a:off x="8709660" y="2468880"/>
            <a:ext cx="7063740" cy="4526280"/>
            <a:chOff x="0" y="0"/>
            <a:chExt cx="9418320" cy="6035040"/>
          </a:xfrm>
        </p:grpSpPr>
        <p:sp>
          <p:nvSpPr>
            <p:cNvPr name="Freeform 31" id="31"/>
            <p:cNvSpPr/>
            <p:nvPr/>
          </p:nvSpPr>
          <p:spPr>
            <a:xfrm flipH="false" flipV="false" rot="0">
              <a:off x="0" y="0"/>
              <a:ext cx="9418320" cy="6035040"/>
            </a:xfrm>
            <a:custGeom>
              <a:avLst/>
              <a:gdLst/>
              <a:ahLst/>
              <a:cxnLst/>
              <a:rect r="r" b="b" t="t" l="l"/>
              <a:pathLst>
                <a:path h="6035040" w="9418320">
                  <a:moveTo>
                    <a:pt x="0" y="182880"/>
                  </a:moveTo>
                  <a:cubicBezTo>
                    <a:pt x="0" y="81915"/>
                    <a:pt x="81915" y="0"/>
                    <a:pt x="182880" y="0"/>
                  </a:cubicBezTo>
                  <a:lnTo>
                    <a:pt x="9235440" y="0"/>
                  </a:lnTo>
                  <a:cubicBezTo>
                    <a:pt x="9336405" y="0"/>
                    <a:pt x="9418320" y="81915"/>
                    <a:pt x="9418320" y="182880"/>
                  </a:cubicBezTo>
                  <a:lnTo>
                    <a:pt x="9418320" y="5852160"/>
                  </a:lnTo>
                  <a:cubicBezTo>
                    <a:pt x="9418320" y="5953125"/>
                    <a:pt x="9336405" y="6035040"/>
                    <a:pt x="9235440" y="6035040"/>
                  </a:cubicBezTo>
                  <a:lnTo>
                    <a:pt x="182880" y="6035040"/>
                  </a:lnTo>
                  <a:cubicBezTo>
                    <a:pt x="81915" y="6035040"/>
                    <a:pt x="0" y="5953125"/>
                    <a:pt x="0" y="5852160"/>
                  </a:cubicBezTo>
                  <a:close/>
                </a:path>
              </a:pathLst>
            </a:custGeom>
            <a:solidFill>
              <a:srgbClr val="EDEDED"/>
            </a:solidFill>
          </p:spPr>
        </p:sp>
      </p:grpSp>
      <p:grpSp>
        <p:nvGrpSpPr>
          <p:cNvPr name="Group 32" id="32"/>
          <p:cNvGrpSpPr/>
          <p:nvPr/>
        </p:nvGrpSpPr>
        <p:grpSpPr>
          <a:xfrm rot="0">
            <a:off x="9121140" y="2743200"/>
            <a:ext cx="6240780" cy="411480"/>
            <a:chOff x="0" y="0"/>
            <a:chExt cx="8321040" cy="548640"/>
          </a:xfrm>
        </p:grpSpPr>
        <p:sp>
          <p:nvSpPr>
            <p:cNvPr name="Freeform 33" id="33"/>
            <p:cNvSpPr/>
            <p:nvPr/>
          </p:nvSpPr>
          <p:spPr>
            <a:xfrm flipH="false" flipV="false" rot="0">
              <a:off x="0" y="0"/>
              <a:ext cx="8321040" cy="548640"/>
            </a:xfrm>
            <a:custGeom>
              <a:avLst/>
              <a:gdLst/>
              <a:ahLst/>
              <a:cxnLst/>
              <a:rect r="r" b="b" t="t" l="l"/>
              <a:pathLst>
                <a:path h="548640" w="8321040">
                  <a:moveTo>
                    <a:pt x="0" y="0"/>
                  </a:moveTo>
                  <a:lnTo>
                    <a:pt x="8321040" y="0"/>
                  </a:lnTo>
                  <a:lnTo>
                    <a:pt x="8321040" y="548640"/>
                  </a:lnTo>
                  <a:lnTo>
                    <a:pt x="0" y="548640"/>
                  </a:lnTo>
                  <a:close/>
                </a:path>
              </a:pathLst>
            </a:custGeom>
            <a:blipFill>
              <a:blip r:embed="rId9">
                <a:alphaModFix amt="0"/>
              </a:blip>
              <a:stretch>
                <a:fillRect l="0" t="-245523" r="0" b="-245523"/>
              </a:stretch>
            </a:blipFill>
          </p:spPr>
        </p:sp>
        <p:sp>
          <p:nvSpPr>
            <p:cNvPr name="TextBox 34" id="34"/>
            <p:cNvSpPr txBox="true"/>
            <p:nvPr/>
          </p:nvSpPr>
          <p:spPr>
            <a:xfrm>
              <a:off x="0" y="-9525"/>
              <a:ext cx="8321040" cy="558165"/>
            </a:xfrm>
            <a:prstGeom prst="rect">
              <a:avLst/>
            </a:prstGeom>
          </p:spPr>
          <p:txBody>
            <a:bodyPr anchor="ctr" rtlCol="false" tIns="0" lIns="0" bIns="0" rIns="0"/>
            <a:lstStyle/>
            <a:p>
              <a:pPr algn="l">
                <a:lnSpc>
                  <a:spcPts val="1980"/>
                </a:lnSpc>
              </a:pPr>
              <a:r>
                <a:rPr lang="en-US" b="true" sz="1650" spc="150">
                  <a:solidFill>
                    <a:srgbClr val="64748B"/>
                  </a:solidFill>
                  <a:latin typeface="Poppins Bold"/>
                  <a:ea typeface="Poppins Bold"/>
                  <a:cs typeface="Poppins Bold"/>
                  <a:sym typeface="Poppins Bold"/>
                </a:rPr>
                <a:t>WHAT IT CAN SEE</a:t>
              </a:r>
            </a:p>
          </p:txBody>
        </p:sp>
      </p:grpSp>
      <p:grpSp>
        <p:nvGrpSpPr>
          <p:cNvPr name="Group 35" id="35"/>
          <p:cNvGrpSpPr/>
          <p:nvPr/>
        </p:nvGrpSpPr>
        <p:grpSpPr>
          <a:xfrm rot="0">
            <a:off x="9797415" y="3762375"/>
            <a:ext cx="4888230" cy="2213610"/>
            <a:chOff x="0" y="0"/>
            <a:chExt cx="6517640" cy="2951480"/>
          </a:xfrm>
        </p:grpSpPr>
        <p:sp>
          <p:nvSpPr>
            <p:cNvPr name="Freeform 36" id="36"/>
            <p:cNvSpPr/>
            <p:nvPr/>
          </p:nvSpPr>
          <p:spPr>
            <a:xfrm flipH="false" flipV="false" rot="0">
              <a:off x="0" y="0"/>
              <a:ext cx="6517640" cy="2951480"/>
            </a:xfrm>
            <a:custGeom>
              <a:avLst/>
              <a:gdLst/>
              <a:ahLst/>
              <a:cxnLst/>
              <a:rect r="r" b="b" t="t" l="l"/>
              <a:pathLst>
                <a:path h="2951480" w="6517640">
                  <a:moveTo>
                    <a:pt x="0" y="147574"/>
                  </a:moveTo>
                  <a:cubicBezTo>
                    <a:pt x="0" y="66040"/>
                    <a:pt x="66040" y="0"/>
                    <a:pt x="147574" y="0"/>
                  </a:cubicBezTo>
                  <a:lnTo>
                    <a:pt x="6370066" y="0"/>
                  </a:lnTo>
                  <a:cubicBezTo>
                    <a:pt x="6451600" y="0"/>
                    <a:pt x="6517640" y="66040"/>
                    <a:pt x="6517640" y="147574"/>
                  </a:cubicBezTo>
                  <a:lnTo>
                    <a:pt x="6517640" y="2803906"/>
                  </a:lnTo>
                  <a:cubicBezTo>
                    <a:pt x="6517640" y="2885440"/>
                    <a:pt x="6451600" y="2951480"/>
                    <a:pt x="6370066" y="2951480"/>
                  </a:cubicBezTo>
                  <a:lnTo>
                    <a:pt x="147574" y="2951480"/>
                  </a:lnTo>
                  <a:cubicBezTo>
                    <a:pt x="66040" y="2951480"/>
                    <a:pt x="0" y="2885440"/>
                    <a:pt x="0" y="2803906"/>
                  </a:cubicBezTo>
                  <a:close/>
                </a:path>
              </a:pathLst>
            </a:custGeom>
            <a:solidFill>
              <a:srgbClr val="FFFFFF"/>
            </a:solidFill>
            <a:ln w="19050" cap="sq">
              <a:solidFill>
                <a:srgbClr val="E2E8F0"/>
              </a:solidFill>
              <a:prstDash val="solid"/>
              <a:miter/>
            </a:ln>
          </p:spPr>
        </p:sp>
      </p:grpSp>
      <p:grpSp>
        <p:nvGrpSpPr>
          <p:cNvPr name="Group 37" id="37"/>
          <p:cNvGrpSpPr/>
          <p:nvPr/>
        </p:nvGrpSpPr>
        <p:grpSpPr>
          <a:xfrm rot="0">
            <a:off x="10149840" y="4320540"/>
            <a:ext cx="4183380" cy="1097280"/>
            <a:chOff x="0" y="0"/>
            <a:chExt cx="5577840" cy="1463040"/>
          </a:xfrm>
        </p:grpSpPr>
        <p:sp>
          <p:nvSpPr>
            <p:cNvPr name="Freeform 38" id="38"/>
            <p:cNvSpPr/>
            <p:nvPr/>
          </p:nvSpPr>
          <p:spPr>
            <a:xfrm flipH="false" flipV="false" rot="0">
              <a:off x="0" y="0"/>
              <a:ext cx="5577840" cy="1463040"/>
            </a:xfrm>
            <a:custGeom>
              <a:avLst/>
              <a:gdLst/>
              <a:ahLst/>
              <a:cxnLst/>
              <a:rect r="r" b="b" t="t" l="l"/>
              <a:pathLst>
                <a:path h="1463040" w="5577840">
                  <a:moveTo>
                    <a:pt x="0" y="0"/>
                  </a:moveTo>
                  <a:lnTo>
                    <a:pt x="5577840" y="0"/>
                  </a:lnTo>
                  <a:lnTo>
                    <a:pt x="5577840" y="1463040"/>
                  </a:lnTo>
                  <a:lnTo>
                    <a:pt x="0" y="1463040"/>
                  </a:lnTo>
                  <a:close/>
                </a:path>
              </a:pathLst>
            </a:custGeom>
            <a:blipFill>
              <a:blip r:embed="rId9">
                <a:alphaModFix amt="0"/>
              </a:blip>
              <a:stretch>
                <a:fillRect l="0" t="-24286" r="0" b="-24286"/>
              </a:stretch>
            </a:blipFill>
          </p:spPr>
        </p:sp>
        <p:sp>
          <p:nvSpPr>
            <p:cNvPr name="TextBox 39" id="39"/>
            <p:cNvSpPr txBox="true"/>
            <p:nvPr/>
          </p:nvSpPr>
          <p:spPr>
            <a:xfrm>
              <a:off x="0" y="9525"/>
              <a:ext cx="5577840" cy="1453515"/>
            </a:xfrm>
            <a:prstGeom prst="rect">
              <a:avLst/>
            </a:prstGeom>
          </p:spPr>
          <p:txBody>
            <a:bodyPr anchor="ctr" rtlCol="false" tIns="0" lIns="0" bIns="0" rIns="0"/>
            <a:lstStyle/>
            <a:p>
              <a:pPr algn="ctr">
                <a:lnSpc>
                  <a:spcPts val="1980"/>
                </a:lnSpc>
              </a:pPr>
              <a:r>
                <a:rPr lang="en-US" sz="1650" i="true">
                  <a:solidFill>
                    <a:srgbClr val="64748B"/>
                  </a:solidFill>
                  <a:latin typeface="Roboto Mono Italics"/>
                  <a:ea typeface="Roboto Mono Italics"/>
                  <a:cs typeface="Roboto Mono Italics"/>
                  <a:sym typeface="Roboto Mono Italics"/>
                </a:rPr>
                <a:t>“write a measure for on time rate”</a:t>
              </a:r>
            </a:p>
          </p:txBody>
        </p:sp>
      </p:grpSp>
      <p:sp>
        <p:nvSpPr>
          <p:cNvPr name="TextBox 40" id="40"/>
          <p:cNvSpPr txBox="true"/>
          <p:nvPr/>
        </p:nvSpPr>
        <p:spPr>
          <a:xfrm rot="0">
            <a:off x="1028700" y="7115175"/>
            <a:ext cx="14744700" cy="1594485"/>
          </a:xfrm>
          <a:prstGeom prst="rect">
            <a:avLst/>
          </a:prstGeom>
        </p:spPr>
        <p:txBody>
          <a:bodyPr anchor="t" rtlCol="false" tIns="0" lIns="0" bIns="0" rIns="0">
            <a:spAutoFit/>
          </a:bodyPr>
          <a:lstStyle/>
          <a:p>
            <a:pPr algn="l">
              <a:lnSpc>
                <a:spcPts val="3159"/>
              </a:lnSpc>
            </a:pPr>
            <a:r>
              <a:rPr lang="en-US" sz="2025">
                <a:solidFill>
                  <a:srgbClr val="475569"/>
                </a:solidFill>
                <a:latin typeface="Poppins"/>
                <a:ea typeface="Poppins"/>
                <a:cs typeface="Poppins"/>
                <a:sym typeface="Poppins"/>
              </a:rPr>
              <a:t>When you ask for a measure, the assistant has your sentence and nothing else. It cannot see that your relationship is inactive, that Status has values you did not mention, or that your date table is not marked. So it writes correct DAX for an imagined model. The syntax will be right. The answer may not be.</a:t>
            </a:r>
          </a:p>
        </p:txBody>
      </p:sp>
      <p:grpSp>
        <p:nvGrpSpPr>
          <p:cNvPr name="Group 41" id="41"/>
          <p:cNvGrpSpPr/>
          <p:nvPr/>
        </p:nvGrpSpPr>
        <p:grpSpPr>
          <a:xfrm rot="0">
            <a:off x="1028700" y="8846820"/>
            <a:ext cx="14744700" cy="960120"/>
            <a:chOff x="0" y="0"/>
            <a:chExt cx="19659600" cy="1280160"/>
          </a:xfrm>
        </p:grpSpPr>
        <p:sp>
          <p:nvSpPr>
            <p:cNvPr name="Freeform 42" id="42"/>
            <p:cNvSpPr/>
            <p:nvPr/>
          </p:nvSpPr>
          <p:spPr>
            <a:xfrm flipH="false" flipV="false" rot="0">
              <a:off x="0" y="0"/>
              <a:ext cx="19659600" cy="1280160"/>
            </a:xfrm>
            <a:custGeom>
              <a:avLst/>
              <a:gdLst/>
              <a:ahLst/>
              <a:cxnLst/>
              <a:rect r="r" b="b" t="t" l="l"/>
              <a:pathLst>
                <a:path h="1280160" w="19659600">
                  <a:moveTo>
                    <a:pt x="0" y="164592"/>
                  </a:moveTo>
                  <a:cubicBezTo>
                    <a:pt x="0" y="73660"/>
                    <a:pt x="73660" y="0"/>
                    <a:pt x="164592" y="0"/>
                  </a:cubicBezTo>
                  <a:lnTo>
                    <a:pt x="19495008" y="0"/>
                  </a:lnTo>
                  <a:cubicBezTo>
                    <a:pt x="19585939" y="0"/>
                    <a:pt x="19659600" y="73660"/>
                    <a:pt x="19659600" y="164592"/>
                  </a:cubicBezTo>
                  <a:lnTo>
                    <a:pt x="19659600" y="1115568"/>
                  </a:lnTo>
                  <a:cubicBezTo>
                    <a:pt x="19659600" y="1206500"/>
                    <a:pt x="19585939" y="1280160"/>
                    <a:pt x="19495008" y="1280160"/>
                  </a:cubicBezTo>
                  <a:lnTo>
                    <a:pt x="164592" y="1280160"/>
                  </a:lnTo>
                  <a:cubicBezTo>
                    <a:pt x="73660" y="1280160"/>
                    <a:pt x="0" y="1206500"/>
                    <a:pt x="0" y="1115568"/>
                  </a:cubicBezTo>
                  <a:close/>
                </a:path>
              </a:pathLst>
            </a:custGeom>
            <a:solidFill>
              <a:srgbClr val="EEF4F4"/>
            </a:solidFill>
          </p:spPr>
        </p:sp>
      </p:grpSp>
      <p:grpSp>
        <p:nvGrpSpPr>
          <p:cNvPr name="Group 43" id="43"/>
          <p:cNvGrpSpPr/>
          <p:nvPr/>
        </p:nvGrpSpPr>
        <p:grpSpPr>
          <a:xfrm rot="0">
            <a:off x="1028700" y="8846820"/>
            <a:ext cx="102870" cy="960120"/>
            <a:chOff x="0" y="0"/>
            <a:chExt cx="137160" cy="1280160"/>
          </a:xfrm>
        </p:grpSpPr>
        <p:sp>
          <p:nvSpPr>
            <p:cNvPr name="Freeform 44" id="44"/>
            <p:cNvSpPr/>
            <p:nvPr/>
          </p:nvSpPr>
          <p:spPr>
            <a:xfrm flipH="false" flipV="false" rot="0">
              <a:off x="0" y="0"/>
              <a:ext cx="137160" cy="1280160"/>
            </a:xfrm>
            <a:custGeom>
              <a:avLst/>
              <a:gdLst/>
              <a:ahLst/>
              <a:cxnLst/>
              <a:rect r="r" b="b" t="t" l="l"/>
              <a:pathLst>
                <a:path h="1280160" w="137160">
                  <a:moveTo>
                    <a:pt x="0" y="0"/>
                  </a:moveTo>
                  <a:lnTo>
                    <a:pt x="137160" y="0"/>
                  </a:lnTo>
                  <a:lnTo>
                    <a:pt x="137160" y="1280160"/>
                  </a:lnTo>
                  <a:lnTo>
                    <a:pt x="0" y="1280160"/>
                  </a:lnTo>
                  <a:close/>
                </a:path>
              </a:pathLst>
            </a:custGeom>
            <a:solidFill>
              <a:srgbClr val="387F7F"/>
            </a:solidFill>
          </p:spPr>
        </p:sp>
      </p:grpSp>
      <p:grpSp>
        <p:nvGrpSpPr>
          <p:cNvPr name="Group 45" id="45"/>
          <p:cNvGrpSpPr/>
          <p:nvPr/>
        </p:nvGrpSpPr>
        <p:grpSpPr>
          <a:xfrm rot="0">
            <a:off x="1577340" y="8846820"/>
            <a:ext cx="13853160" cy="960120"/>
            <a:chOff x="0" y="0"/>
            <a:chExt cx="18470880" cy="1280160"/>
          </a:xfrm>
        </p:grpSpPr>
        <p:sp>
          <p:nvSpPr>
            <p:cNvPr name="Freeform 46" id="46"/>
            <p:cNvSpPr/>
            <p:nvPr/>
          </p:nvSpPr>
          <p:spPr>
            <a:xfrm flipH="false" flipV="false" rot="0">
              <a:off x="0" y="0"/>
              <a:ext cx="18470880" cy="1280160"/>
            </a:xfrm>
            <a:custGeom>
              <a:avLst/>
              <a:gdLst/>
              <a:ahLst/>
              <a:cxnLst/>
              <a:rect r="r" b="b" t="t" l="l"/>
              <a:pathLst>
                <a:path h="1280160" w="18470880">
                  <a:moveTo>
                    <a:pt x="0" y="0"/>
                  </a:moveTo>
                  <a:lnTo>
                    <a:pt x="18470880" y="0"/>
                  </a:lnTo>
                  <a:lnTo>
                    <a:pt x="18470880" y="1280160"/>
                  </a:lnTo>
                  <a:lnTo>
                    <a:pt x="0" y="1280160"/>
                  </a:lnTo>
                  <a:close/>
                </a:path>
              </a:pathLst>
            </a:custGeom>
            <a:blipFill>
              <a:blip r:embed="rId9">
                <a:alphaModFix amt="0"/>
              </a:blip>
              <a:stretch>
                <a:fillRect l="0" t="-231141" r="0" b="-231141"/>
              </a:stretch>
            </a:blipFill>
          </p:spPr>
        </p:sp>
        <p:sp>
          <p:nvSpPr>
            <p:cNvPr name="TextBox 47" id="47"/>
            <p:cNvSpPr txBox="true"/>
            <p:nvPr/>
          </p:nvSpPr>
          <p:spPr>
            <a:xfrm>
              <a:off x="0" y="-104775"/>
              <a:ext cx="18470880" cy="1384935"/>
            </a:xfrm>
            <a:prstGeom prst="rect">
              <a:avLst/>
            </a:prstGeom>
          </p:spPr>
          <p:txBody>
            <a:bodyPr anchor="ctr" rtlCol="false" tIns="0" lIns="0" bIns="0" rIns="0"/>
            <a:lstStyle/>
            <a:p>
              <a:pPr algn="l">
                <a:lnSpc>
                  <a:spcPts val="3402"/>
                </a:lnSpc>
              </a:pPr>
              <a:r>
                <a:rPr lang="en-US" sz="2100" b="true">
                  <a:solidFill>
                    <a:srgbClr val="387F7F"/>
                  </a:solidFill>
                  <a:latin typeface="Poppins Bold"/>
                  <a:ea typeface="Poppins Bold"/>
                  <a:cs typeface="Poppins Bold"/>
                  <a:sym typeface="Poppins Bold"/>
                </a:rPr>
                <a:t>Most wrong AI measures are correct answers to a model that does not exist.</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120844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A </a:t>
            </a:r>
            <a:r>
              <a:rPr lang="en-US" sz="5000">
                <a:solidFill>
                  <a:srgbClr val="388080"/>
                </a:solidFill>
                <a:latin typeface="Poppins"/>
                <a:ea typeface="Poppins"/>
                <a:cs typeface="Poppins"/>
                <a:sym typeface="Poppins"/>
              </a:rPr>
              <a:t>Level 3 prompt for a DAX problem</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904875" y="2661280"/>
            <a:ext cx="14744700" cy="6172200"/>
            <a:chOff x="0" y="0"/>
            <a:chExt cx="19659600" cy="8229600"/>
          </a:xfrm>
        </p:grpSpPr>
        <p:sp>
          <p:nvSpPr>
            <p:cNvPr name="Freeform 12" id="12"/>
            <p:cNvSpPr/>
            <p:nvPr/>
          </p:nvSpPr>
          <p:spPr>
            <a:xfrm flipH="false" flipV="false" rot="0">
              <a:off x="0" y="0"/>
              <a:ext cx="19659600" cy="8229600"/>
            </a:xfrm>
            <a:custGeom>
              <a:avLst/>
              <a:gdLst/>
              <a:ahLst/>
              <a:cxnLst/>
              <a:rect r="r" b="b" t="t" l="l"/>
              <a:pathLst>
                <a:path h="8229600" w="19659600">
                  <a:moveTo>
                    <a:pt x="0" y="164592"/>
                  </a:moveTo>
                  <a:cubicBezTo>
                    <a:pt x="0" y="73660"/>
                    <a:pt x="73660" y="0"/>
                    <a:pt x="164592" y="0"/>
                  </a:cubicBezTo>
                  <a:lnTo>
                    <a:pt x="19495008" y="0"/>
                  </a:lnTo>
                  <a:cubicBezTo>
                    <a:pt x="19585939" y="0"/>
                    <a:pt x="19659600" y="73660"/>
                    <a:pt x="19659600" y="164592"/>
                  </a:cubicBezTo>
                  <a:lnTo>
                    <a:pt x="19659600" y="8065008"/>
                  </a:lnTo>
                  <a:cubicBezTo>
                    <a:pt x="19659600" y="8155939"/>
                    <a:pt x="19585939" y="8229600"/>
                    <a:pt x="19495008" y="8229600"/>
                  </a:cubicBezTo>
                  <a:lnTo>
                    <a:pt x="164592" y="8229600"/>
                  </a:lnTo>
                  <a:cubicBezTo>
                    <a:pt x="73660" y="8229600"/>
                    <a:pt x="0" y="8155940"/>
                    <a:pt x="0" y="8065008"/>
                  </a:cubicBezTo>
                  <a:close/>
                </a:path>
              </a:pathLst>
            </a:custGeom>
            <a:solidFill>
              <a:srgbClr val="10312F"/>
            </a:solidFill>
          </p:spPr>
        </p:sp>
      </p:grpSp>
      <p:grpSp>
        <p:nvGrpSpPr>
          <p:cNvPr name="Group 13" id="13"/>
          <p:cNvGrpSpPr/>
          <p:nvPr/>
        </p:nvGrpSpPr>
        <p:grpSpPr>
          <a:xfrm rot="0">
            <a:off x="1206627" y="2455540"/>
            <a:ext cx="1783080" cy="438912"/>
            <a:chOff x="0" y="0"/>
            <a:chExt cx="2377440" cy="585216"/>
          </a:xfrm>
        </p:grpSpPr>
        <p:sp>
          <p:nvSpPr>
            <p:cNvPr name="Freeform 14" id="14"/>
            <p:cNvSpPr/>
            <p:nvPr/>
          </p:nvSpPr>
          <p:spPr>
            <a:xfrm flipH="false" flipV="false" rot="0">
              <a:off x="0" y="0"/>
              <a:ext cx="2377440" cy="585216"/>
            </a:xfrm>
            <a:custGeom>
              <a:avLst/>
              <a:gdLst/>
              <a:ahLst/>
              <a:cxnLst/>
              <a:rect r="r" b="b" t="t" l="l"/>
              <a:pathLst>
                <a:path h="585216" w="2377440">
                  <a:moveTo>
                    <a:pt x="0" y="292608"/>
                  </a:moveTo>
                  <a:cubicBezTo>
                    <a:pt x="0" y="131064"/>
                    <a:pt x="131064" y="0"/>
                    <a:pt x="292608" y="0"/>
                  </a:cubicBezTo>
                  <a:lnTo>
                    <a:pt x="2084832" y="0"/>
                  </a:lnTo>
                  <a:cubicBezTo>
                    <a:pt x="2246376" y="0"/>
                    <a:pt x="2377440" y="131064"/>
                    <a:pt x="2377440" y="292608"/>
                  </a:cubicBezTo>
                  <a:cubicBezTo>
                    <a:pt x="2377440" y="454152"/>
                    <a:pt x="2246376" y="585216"/>
                    <a:pt x="2084832" y="585216"/>
                  </a:cubicBezTo>
                  <a:lnTo>
                    <a:pt x="292608" y="585216"/>
                  </a:lnTo>
                  <a:cubicBezTo>
                    <a:pt x="131064" y="585216"/>
                    <a:pt x="0" y="454152"/>
                    <a:pt x="0" y="292608"/>
                  </a:cubicBezTo>
                  <a:close/>
                </a:path>
              </a:pathLst>
            </a:custGeom>
            <a:solidFill>
              <a:srgbClr val="387F7F"/>
            </a:solidFill>
          </p:spPr>
        </p:sp>
      </p:grpSp>
      <p:grpSp>
        <p:nvGrpSpPr>
          <p:cNvPr name="Group 15" id="15"/>
          <p:cNvGrpSpPr/>
          <p:nvPr/>
        </p:nvGrpSpPr>
        <p:grpSpPr>
          <a:xfrm rot="0">
            <a:off x="1206627" y="2455540"/>
            <a:ext cx="1783080" cy="438912"/>
            <a:chOff x="0" y="0"/>
            <a:chExt cx="2377440" cy="585216"/>
          </a:xfrm>
        </p:grpSpPr>
        <p:sp>
          <p:nvSpPr>
            <p:cNvPr name="Freeform 16" id="16"/>
            <p:cNvSpPr/>
            <p:nvPr/>
          </p:nvSpPr>
          <p:spPr>
            <a:xfrm flipH="false" flipV="false" rot="0">
              <a:off x="0" y="0"/>
              <a:ext cx="2377440" cy="585216"/>
            </a:xfrm>
            <a:custGeom>
              <a:avLst/>
              <a:gdLst/>
              <a:ahLst/>
              <a:cxnLst/>
              <a:rect r="r" b="b" t="t" l="l"/>
              <a:pathLst>
                <a:path h="585216" w="2377440">
                  <a:moveTo>
                    <a:pt x="0" y="0"/>
                  </a:moveTo>
                  <a:lnTo>
                    <a:pt x="2377440" y="0"/>
                  </a:lnTo>
                  <a:lnTo>
                    <a:pt x="2377440" y="585216"/>
                  </a:lnTo>
                  <a:lnTo>
                    <a:pt x="0" y="585216"/>
                  </a:lnTo>
                  <a:close/>
                </a:path>
              </a:pathLst>
            </a:custGeom>
            <a:blipFill>
              <a:blip r:embed="rId9">
                <a:alphaModFix amt="0"/>
              </a:blip>
              <a:stretch>
                <a:fillRect l="0" t="-29157" r="0" b="-29157"/>
              </a:stretch>
            </a:blipFill>
          </p:spPr>
        </p:sp>
        <p:sp>
          <p:nvSpPr>
            <p:cNvPr name="TextBox 17" id="17"/>
            <p:cNvSpPr txBox="true"/>
            <p:nvPr/>
          </p:nvSpPr>
          <p:spPr>
            <a:xfrm>
              <a:off x="0" y="-19050"/>
              <a:ext cx="2377440" cy="604266"/>
            </a:xfrm>
            <a:prstGeom prst="rect">
              <a:avLst/>
            </a:prstGeom>
          </p:spPr>
          <p:txBody>
            <a:bodyPr anchor="ctr" rtlCol="false" tIns="0" lIns="0" bIns="0" rIns="0"/>
            <a:lstStyle/>
            <a:p>
              <a:pPr algn="ctr">
                <a:lnSpc>
                  <a:spcPts val="1620"/>
                </a:lnSpc>
              </a:pPr>
              <a:r>
                <a:rPr lang="en-US" sz="1350" b="true">
                  <a:solidFill>
                    <a:srgbClr val="FFFFFF"/>
                  </a:solidFill>
                  <a:latin typeface="Poppins Bold"/>
                  <a:ea typeface="Poppins Bold"/>
                  <a:cs typeface="Poppins Bold"/>
                  <a:sym typeface="Poppins Bold"/>
                </a:rPr>
                <a:t>PROMPT</a:t>
              </a:r>
            </a:p>
          </p:txBody>
        </p:sp>
      </p:grpSp>
      <p:grpSp>
        <p:nvGrpSpPr>
          <p:cNvPr name="Group 18" id="18"/>
          <p:cNvGrpSpPr/>
          <p:nvPr/>
        </p:nvGrpSpPr>
        <p:grpSpPr>
          <a:xfrm rot="0">
            <a:off x="1316355" y="3072760"/>
            <a:ext cx="13921740" cy="5513216"/>
            <a:chOff x="0" y="0"/>
            <a:chExt cx="18562320" cy="7350955"/>
          </a:xfrm>
        </p:grpSpPr>
        <p:sp>
          <p:nvSpPr>
            <p:cNvPr name="Freeform 19" id="19"/>
            <p:cNvSpPr/>
            <p:nvPr/>
          </p:nvSpPr>
          <p:spPr>
            <a:xfrm flipH="false" flipV="false" rot="0">
              <a:off x="0" y="0"/>
              <a:ext cx="18562320" cy="7350954"/>
            </a:xfrm>
            <a:custGeom>
              <a:avLst/>
              <a:gdLst/>
              <a:ahLst/>
              <a:cxnLst/>
              <a:rect r="r" b="b" t="t" l="l"/>
              <a:pathLst>
                <a:path h="7350954" w="18562320">
                  <a:moveTo>
                    <a:pt x="0" y="0"/>
                  </a:moveTo>
                  <a:lnTo>
                    <a:pt x="18562320" y="0"/>
                  </a:lnTo>
                  <a:lnTo>
                    <a:pt x="18562320" y="7350954"/>
                  </a:lnTo>
                  <a:lnTo>
                    <a:pt x="0" y="7350954"/>
                  </a:lnTo>
                  <a:close/>
                </a:path>
              </a:pathLst>
            </a:custGeom>
            <a:blipFill>
              <a:blip r:embed="rId9">
                <a:alphaModFix amt="0"/>
              </a:blip>
              <a:stretch>
                <a:fillRect l="-562" t="0" r="-562" b="486"/>
              </a:stretch>
            </a:blipFill>
          </p:spPr>
        </p:sp>
        <p:sp>
          <p:nvSpPr>
            <p:cNvPr name="TextBox 20" id="20"/>
            <p:cNvSpPr txBox="true"/>
            <p:nvPr/>
          </p:nvSpPr>
          <p:spPr>
            <a:xfrm>
              <a:off x="0" y="-47625"/>
              <a:ext cx="18562320" cy="7398580"/>
            </a:xfrm>
            <a:prstGeom prst="rect">
              <a:avLst/>
            </a:prstGeom>
          </p:spPr>
          <p:txBody>
            <a:bodyPr anchor="ctr" rtlCol="false" tIns="0" lIns="0" bIns="0" rIns="0"/>
            <a:lstStyle/>
            <a:p>
              <a:pPr algn="l">
                <a:lnSpc>
                  <a:spcPts val="2587"/>
                </a:lnSpc>
              </a:pPr>
              <a:r>
                <a:rPr lang="en-US" sz="1725">
                  <a:solidFill>
                    <a:srgbClr val="CFE6E3"/>
                  </a:solidFill>
                  <a:latin typeface="Roboto Mono"/>
                  <a:ea typeface="Roboto Mono"/>
                  <a:cs typeface="Roboto Mono"/>
                  <a:sym typeface="Roboto Mono"/>
                </a:rPr>
                <a:t>You are a Power BI developer. I have a star schema:</a:t>
              </a:r>
            </a:p>
            <a:p>
              <a:pPr algn="l">
                <a:lnSpc>
                  <a:spcPts val="2587"/>
                </a:lnSpc>
              </a:pPr>
            </a:p>
            <a:p>
              <a:pPr algn="l">
                <a:lnSpc>
                  <a:spcPts val="2587"/>
                </a:lnSpc>
              </a:pPr>
              <a:r>
                <a:rPr lang="en-US" sz="1725">
                  <a:solidFill>
                    <a:srgbClr val="CFE6E3"/>
                  </a:solidFill>
                  <a:latin typeface="Roboto Mono"/>
                  <a:ea typeface="Roboto Mono"/>
                  <a:cs typeface="Roboto Mono"/>
                  <a:sym typeface="Roboto Mono"/>
                </a:rPr>
                <a:t>Fact: swiftroute_deliveries, 41,280 rows, one row per delivery.</a:t>
              </a:r>
            </a:p>
            <a:p>
              <a:pPr algn="l">
                <a:lnSpc>
                  <a:spcPts val="2587"/>
                </a:lnSpc>
              </a:pPr>
              <a:r>
                <a:rPr lang="en-US" sz="1725">
                  <a:solidFill>
                    <a:srgbClr val="CFE6E3"/>
                  </a:solidFill>
                  <a:latin typeface="Roboto Mono"/>
                  <a:ea typeface="Roboto Mono"/>
                  <a:cs typeface="Roboto Mono"/>
                  <a:sym typeface="Roboto Mono"/>
                </a:rPr>
                <a:t>Columns: DeliveryID, DateKey, RiderID, RouteID, CustomerID,</a:t>
              </a:r>
            </a:p>
            <a:p>
              <a:pPr algn="l">
                <a:lnSpc>
                  <a:spcPts val="2587"/>
                </a:lnSpc>
              </a:pPr>
              <a:r>
                <a:rPr lang="en-US" sz="1725">
                  <a:solidFill>
                    <a:srgbClr val="CFE6E3"/>
                  </a:solidFill>
                  <a:latin typeface="Roboto Mono"/>
                  <a:ea typeface="Roboto Mono"/>
                  <a:cs typeface="Roboto Mono"/>
                  <a:sym typeface="Roboto Mono"/>
                </a:rPr>
                <a:t>PromisedMinutes, ActualMinutes, DeliveryFee, Status.</a:t>
              </a:r>
            </a:p>
            <a:p>
              <a:pPr algn="l">
                <a:lnSpc>
                  <a:spcPts val="2587"/>
                </a:lnSpc>
              </a:pPr>
              <a:r>
                <a:rPr lang="en-US" sz="1725">
                  <a:solidFill>
                    <a:srgbClr val="CFE6E3"/>
                  </a:solidFill>
                  <a:latin typeface="Roboto Mono"/>
                  <a:ea typeface="Roboto Mono"/>
                  <a:cs typeface="Roboto Mono"/>
                  <a:sym typeface="Roboto Mono"/>
                </a:rPr>
                <a:t>Status values are: On time, Late.</a:t>
              </a:r>
            </a:p>
            <a:p>
              <a:pPr algn="l">
                <a:lnSpc>
                  <a:spcPts val="2587"/>
                </a:lnSpc>
              </a:pPr>
            </a:p>
            <a:p>
              <a:pPr algn="l">
                <a:lnSpc>
                  <a:spcPts val="2587"/>
                </a:lnSpc>
              </a:pPr>
              <a:r>
                <a:rPr lang="en-US" sz="1725">
                  <a:solidFill>
                    <a:srgbClr val="CFE6E3"/>
                  </a:solidFill>
                  <a:latin typeface="Roboto Mono"/>
                  <a:ea typeface="Roboto Mono"/>
                  <a:cs typeface="Roboto Mono"/>
                  <a:sym typeface="Roboto Mono"/>
                </a:rPr>
                <a:t>Dimensions: riders (68), routes (24), customers_business (310),</a:t>
              </a:r>
            </a:p>
            <a:p>
              <a:pPr algn="l">
                <a:lnSpc>
                  <a:spcPts val="2587"/>
                </a:lnSpc>
              </a:pPr>
              <a:r>
                <a:rPr lang="en-US" sz="1725">
                  <a:solidFill>
                    <a:srgbClr val="CFE6E3"/>
                  </a:solidFill>
                  <a:latin typeface="Roboto Mono"/>
                  <a:ea typeface="Roboto Mono"/>
                  <a:cs typeface="Roboto Mono"/>
                  <a:sym typeface="Roboto Mono"/>
                </a:rPr>
                <a:t>dates (365, marked as date table).</a:t>
              </a:r>
            </a:p>
            <a:p>
              <a:pPr algn="l">
                <a:lnSpc>
                  <a:spcPts val="2587"/>
                </a:lnSpc>
              </a:pPr>
              <a:r>
                <a:rPr lang="en-US" sz="1725">
                  <a:solidFill>
                    <a:srgbClr val="CFE6E3"/>
                  </a:solidFill>
                  <a:latin typeface="Roboto Mono"/>
                  <a:ea typeface="Roboto Mono"/>
                  <a:cs typeface="Roboto Mono"/>
                  <a:sym typeface="Roboto Mono"/>
                </a:rPr>
                <a:t>All relationships one to many, single direction.</a:t>
              </a:r>
            </a:p>
            <a:p>
              <a:pPr algn="l">
                <a:lnSpc>
                  <a:spcPts val="2587"/>
                </a:lnSpc>
              </a:pPr>
            </a:p>
            <a:p>
              <a:pPr algn="l">
                <a:lnSpc>
                  <a:spcPts val="2587"/>
                </a:lnSpc>
              </a:pPr>
              <a:r>
                <a:rPr lang="en-US" sz="1725">
                  <a:solidFill>
                    <a:srgbClr val="CFE6E3"/>
                  </a:solidFill>
                  <a:latin typeface="Roboto Mono"/>
                  <a:ea typeface="Roboto Mono"/>
                  <a:cs typeface="Roboto Mono"/>
                  <a:sym typeface="Roboto Mono"/>
                </a:rPr>
                <a:t>I need a measure for on-time rate that responds correctly to</a:t>
              </a:r>
            </a:p>
            <a:p>
              <a:pPr algn="l">
                <a:lnSpc>
                  <a:spcPts val="2587"/>
                </a:lnSpc>
              </a:pPr>
              <a:r>
                <a:rPr lang="en-US" sz="1725">
                  <a:solidFill>
                    <a:srgbClr val="CFE6E3"/>
                  </a:solidFill>
                  <a:latin typeface="Roboto Mono"/>
                  <a:ea typeface="Roboto Mono"/>
                  <a:cs typeface="Roboto Mono"/>
                  <a:sym typeface="Roboto Mono"/>
                </a:rPr>
                <a:t>any slicer or filter, including a single route or a single hub.</a:t>
              </a:r>
            </a:p>
            <a:p>
              <a:pPr algn="l">
                <a:lnSpc>
                  <a:spcPts val="2587"/>
                </a:lnSpc>
              </a:pPr>
            </a:p>
            <a:p>
              <a:pPr algn="l">
                <a:lnSpc>
                  <a:spcPts val="2587"/>
                </a:lnSpc>
              </a:pPr>
              <a:r>
                <a:rPr lang="en-US" sz="1725">
                  <a:solidFill>
                    <a:srgbClr val="CFE6E3"/>
                  </a:solidFill>
                  <a:latin typeface="Roboto Mono"/>
                  <a:ea typeface="Roboto Mono"/>
                  <a:cs typeface="Roboto Mono"/>
                  <a:sym typeface="Roboto Mono"/>
                </a:rPr>
                <a:t>Give me the measure, then explain in plain English what filter</a:t>
              </a:r>
            </a:p>
            <a:p>
              <a:pPr algn="l">
                <a:lnSpc>
                  <a:spcPts val="2587"/>
                </a:lnSpc>
              </a:pPr>
              <a:r>
                <a:rPr lang="en-US" sz="1725">
                  <a:solidFill>
                    <a:srgbClr val="CFE6E3"/>
                  </a:solidFill>
                  <a:latin typeface="Roboto Mono"/>
                  <a:ea typeface="Roboto Mono"/>
                  <a:cs typeface="Roboto Mono"/>
                  <a:sym typeface="Roboto Mono"/>
                </a:rPr>
                <a:t>context it assumes. If there is more than one reasonable way to</a:t>
              </a:r>
            </a:p>
            <a:p>
              <a:pPr algn="l">
                <a:lnSpc>
                  <a:spcPts val="2587"/>
                </a:lnSpc>
              </a:pPr>
              <a:r>
                <a:rPr lang="en-US" sz="1725">
                  <a:solidFill>
                    <a:srgbClr val="CFE6E3"/>
                  </a:solidFill>
                  <a:latin typeface="Roboto Mono"/>
                  <a:ea typeface="Roboto Mono"/>
                  <a:cs typeface="Roboto Mono"/>
                  <a:sym typeface="Roboto Mono"/>
                </a:rPr>
                <a:t>write this, show both and tell me the trade-off.</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233745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Four things</a:t>
            </a:r>
            <a:r>
              <a:rPr lang="en-US" sz="5000">
                <a:solidFill>
                  <a:srgbClr val="388080"/>
                </a:solidFill>
                <a:latin typeface="Poppins"/>
                <a:ea typeface="Poppins"/>
                <a:cs typeface="Poppins"/>
                <a:sym typeface="Poppins"/>
              </a:rPr>
              <a:t> to say back to it, every time</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47725" y="2468880"/>
            <a:ext cx="14744700" cy="1344168"/>
            <a:chOff x="0" y="0"/>
            <a:chExt cx="19659600" cy="1792224"/>
          </a:xfrm>
        </p:grpSpPr>
        <p:sp>
          <p:nvSpPr>
            <p:cNvPr name="Freeform 12" id="12"/>
            <p:cNvSpPr/>
            <p:nvPr/>
          </p:nvSpPr>
          <p:spPr>
            <a:xfrm flipH="false" flipV="false" rot="0">
              <a:off x="0" y="0"/>
              <a:ext cx="19659600" cy="1792224"/>
            </a:xfrm>
            <a:custGeom>
              <a:avLst/>
              <a:gdLst/>
              <a:ahLst/>
              <a:cxnLst/>
              <a:rect r="r" b="b" t="t" l="l"/>
              <a:pathLst>
                <a:path h="1792224" w="19659600">
                  <a:moveTo>
                    <a:pt x="0" y="182880"/>
                  </a:moveTo>
                  <a:cubicBezTo>
                    <a:pt x="0" y="81915"/>
                    <a:pt x="81915" y="0"/>
                    <a:pt x="182880" y="0"/>
                  </a:cubicBezTo>
                  <a:lnTo>
                    <a:pt x="19476720" y="0"/>
                  </a:lnTo>
                  <a:cubicBezTo>
                    <a:pt x="19577684" y="0"/>
                    <a:pt x="19659600" y="81915"/>
                    <a:pt x="19659600" y="182880"/>
                  </a:cubicBezTo>
                  <a:lnTo>
                    <a:pt x="19659600" y="1609344"/>
                  </a:lnTo>
                  <a:cubicBezTo>
                    <a:pt x="19659600" y="1710309"/>
                    <a:pt x="19577684" y="1792224"/>
                    <a:pt x="19476720" y="1792224"/>
                  </a:cubicBezTo>
                  <a:lnTo>
                    <a:pt x="182880" y="1792224"/>
                  </a:lnTo>
                  <a:cubicBezTo>
                    <a:pt x="81915" y="1792224"/>
                    <a:pt x="0" y="1710309"/>
                    <a:pt x="0" y="1609344"/>
                  </a:cubicBezTo>
                  <a:close/>
                </a:path>
              </a:pathLst>
            </a:custGeom>
            <a:solidFill>
              <a:srgbClr val="FFFFFF"/>
            </a:solidFill>
          </p:spPr>
        </p:sp>
      </p:grpSp>
      <p:grpSp>
        <p:nvGrpSpPr>
          <p:cNvPr name="Group 13" id="13"/>
          <p:cNvGrpSpPr/>
          <p:nvPr/>
        </p:nvGrpSpPr>
        <p:grpSpPr>
          <a:xfrm rot="0">
            <a:off x="1190625" y="2729484"/>
            <a:ext cx="822960" cy="822960"/>
            <a:chOff x="0" y="0"/>
            <a:chExt cx="1097280" cy="1097280"/>
          </a:xfrm>
        </p:grpSpPr>
        <p:sp>
          <p:nvSpPr>
            <p:cNvPr name="Freeform 14" id="14"/>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87F7F"/>
            </a:solidFill>
          </p:spPr>
        </p:sp>
      </p:grpSp>
      <p:grpSp>
        <p:nvGrpSpPr>
          <p:cNvPr name="Group 15" id="15"/>
          <p:cNvGrpSpPr/>
          <p:nvPr/>
        </p:nvGrpSpPr>
        <p:grpSpPr>
          <a:xfrm rot="0">
            <a:off x="1190625" y="2729484"/>
            <a:ext cx="822960" cy="822960"/>
            <a:chOff x="0" y="0"/>
            <a:chExt cx="1097280" cy="1097280"/>
          </a:xfrm>
        </p:grpSpPr>
        <p:sp>
          <p:nvSpPr>
            <p:cNvPr name="Freeform 16" id="16"/>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9">
                <a:alphaModFix amt="0"/>
              </a:blip>
              <a:stretch>
                <a:fillRect l="-78303" t="0" r="-78303" b="0"/>
              </a:stretch>
            </a:blipFill>
          </p:spPr>
        </p:sp>
        <p:sp>
          <p:nvSpPr>
            <p:cNvPr name="TextBox 17" id="17"/>
            <p:cNvSpPr txBox="true"/>
            <p:nvPr/>
          </p:nvSpPr>
          <p:spPr>
            <a:xfrm>
              <a:off x="0" y="-28575"/>
              <a:ext cx="1097280" cy="1125855"/>
            </a:xfrm>
            <a:prstGeom prst="rect">
              <a:avLst/>
            </a:prstGeom>
          </p:spPr>
          <p:txBody>
            <a:bodyPr anchor="ctr" rtlCol="false" tIns="0" lIns="0" bIns="0" rIns="0"/>
            <a:lstStyle/>
            <a:p>
              <a:pPr algn="ctr">
                <a:lnSpc>
                  <a:spcPts val="3960"/>
                </a:lnSpc>
              </a:pPr>
              <a:r>
                <a:rPr lang="en-US" sz="3300" b="true">
                  <a:solidFill>
                    <a:srgbClr val="FFFFFF"/>
                  </a:solidFill>
                  <a:latin typeface="Poppins Bold"/>
                  <a:ea typeface="Poppins Bold"/>
                  <a:cs typeface="Poppins Bold"/>
                  <a:sym typeface="Poppins Bold"/>
                </a:rPr>
                <a:t>1</a:t>
              </a:r>
            </a:p>
          </p:txBody>
        </p:sp>
      </p:grpSp>
      <p:grpSp>
        <p:nvGrpSpPr>
          <p:cNvPr name="Group 18" id="18"/>
          <p:cNvGrpSpPr/>
          <p:nvPr/>
        </p:nvGrpSpPr>
        <p:grpSpPr>
          <a:xfrm rot="0">
            <a:off x="2356485" y="2606040"/>
            <a:ext cx="6446520" cy="548640"/>
            <a:chOff x="0" y="0"/>
            <a:chExt cx="8595360" cy="731520"/>
          </a:xfrm>
        </p:grpSpPr>
        <p:sp>
          <p:nvSpPr>
            <p:cNvPr name="Freeform 19" id="19"/>
            <p:cNvSpPr/>
            <p:nvPr/>
          </p:nvSpPr>
          <p:spPr>
            <a:xfrm flipH="false" flipV="false" rot="0">
              <a:off x="0" y="0"/>
              <a:ext cx="8595360" cy="731520"/>
            </a:xfrm>
            <a:custGeom>
              <a:avLst/>
              <a:gdLst/>
              <a:ahLst/>
              <a:cxnLst/>
              <a:rect r="r" b="b" t="t" l="l"/>
              <a:pathLst>
                <a:path h="731520" w="8595360">
                  <a:moveTo>
                    <a:pt x="0" y="0"/>
                  </a:moveTo>
                  <a:lnTo>
                    <a:pt x="8595360" y="0"/>
                  </a:lnTo>
                  <a:lnTo>
                    <a:pt x="8595360" y="731520"/>
                  </a:lnTo>
                  <a:lnTo>
                    <a:pt x="0" y="731520"/>
                  </a:lnTo>
                  <a:close/>
                </a:path>
              </a:pathLst>
            </a:custGeom>
            <a:blipFill>
              <a:blip r:embed="rId9">
                <a:alphaModFix amt="0"/>
              </a:blip>
              <a:stretch>
                <a:fillRect l="0" t="-178949" r="0" b="-178949"/>
              </a:stretch>
            </a:blipFill>
          </p:spPr>
        </p:sp>
        <p:sp>
          <p:nvSpPr>
            <p:cNvPr name="TextBox 20" id="20"/>
            <p:cNvSpPr txBox="true"/>
            <p:nvPr/>
          </p:nvSpPr>
          <p:spPr>
            <a:xfrm>
              <a:off x="0" y="-19050"/>
              <a:ext cx="8595360" cy="750570"/>
            </a:xfrm>
            <a:prstGeom prst="rect">
              <a:avLst/>
            </a:prstGeom>
          </p:spPr>
          <p:txBody>
            <a:bodyPr anchor="ctr" rtlCol="false" tIns="0" lIns="0" bIns="0" rIns="0"/>
            <a:lstStyle/>
            <a:p>
              <a:pPr algn="l">
                <a:lnSpc>
                  <a:spcPts val="2250"/>
                </a:lnSpc>
              </a:pPr>
              <a:r>
                <a:rPr lang="en-US" b="true" sz="1875" i="true">
                  <a:solidFill>
                    <a:srgbClr val="0A1A23"/>
                  </a:solidFill>
                  <a:latin typeface="Poppins Bold Italics"/>
                  <a:ea typeface="Poppins Bold Italics"/>
                  <a:cs typeface="Poppins Bold Italics"/>
                  <a:sym typeface="Poppins Bold Italics"/>
                </a:rPr>
                <a:t>“Explain what filter context this assumes.”</a:t>
              </a:r>
            </a:p>
          </p:txBody>
        </p:sp>
      </p:grpSp>
      <p:grpSp>
        <p:nvGrpSpPr>
          <p:cNvPr name="Group 21" id="21"/>
          <p:cNvGrpSpPr/>
          <p:nvPr/>
        </p:nvGrpSpPr>
        <p:grpSpPr>
          <a:xfrm rot="0">
            <a:off x="9008745" y="2578608"/>
            <a:ext cx="6309360" cy="1124712"/>
            <a:chOff x="0" y="0"/>
            <a:chExt cx="8412480" cy="1499616"/>
          </a:xfrm>
        </p:grpSpPr>
        <p:sp>
          <p:nvSpPr>
            <p:cNvPr name="Freeform 22" id="22"/>
            <p:cNvSpPr/>
            <p:nvPr/>
          </p:nvSpPr>
          <p:spPr>
            <a:xfrm flipH="false" flipV="false" rot="0">
              <a:off x="0" y="0"/>
              <a:ext cx="8412480" cy="1499616"/>
            </a:xfrm>
            <a:custGeom>
              <a:avLst/>
              <a:gdLst/>
              <a:ahLst/>
              <a:cxnLst/>
              <a:rect r="r" b="b" t="t" l="l"/>
              <a:pathLst>
                <a:path h="1499616" w="8412480">
                  <a:moveTo>
                    <a:pt x="0" y="0"/>
                  </a:moveTo>
                  <a:lnTo>
                    <a:pt x="8412480" y="0"/>
                  </a:lnTo>
                  <a:lnTo>
                    <a:pt x="8412480" y="1499616"/>
                  </a:lnTo>
                  <a:lnTo>
                    <a:pt x="0" y="1499616"/>
                  </a:lnTo>
                  <a:close/>
                </a:path>
              </a:pathLst>
            </a:custGeom>
            <a:blipFill>
              <a:blip r:embed="rId9">
                <a:alphaModFix amt="0"/>
              </a:blip>
              <a:stretch>
                <a:fillRect l="0" t="-59306" r="0" b="-59306"/>
              </a:stretch>
            </a:blipFill>
          </p:spPr>
        </p:sp>
        <p:sp>
          <p:nvSpPr>
            <p:cNvPr name="TextBox 23" id="23"/>
            <p:cNvSpPr txBox="true"/>
            <p:nvPr/>
          </p:nvSpPr>
          <p:spPr>
            <a:xfrm>
              <a:off x="0" y="-47625"/>
              <a:ext cx="8412480" cy="1547241"/>
            </a:xfrm>
            <a:prstGeom prst="rect">
              <a:avLst/>
            </a:prstGeom>
          </p:spPr>
          <p:txBody>
            <a:bodyPr anchor="ctr" rtlCol="false" tIns="0" lIns="0" bIns="0" rIns="0"/>
            <a:lstStyle/>
            <a:p>
              <a:pPr algn="l">
                <a:lnSpc>
                  <a:spcPts val="2268"/>
                </a:lnSpc>
              </a:pPr>
              <a:r>
                <a:rPr lang="en-US" sz="1575">
                  <a:solidFill>
                    <a:srgbClr val="475569"/>
                  </a:solidFill>
                  <a:latin typeface="Poppins"/>
                  <a:ea typeface="Poppins"/>
                  <a:cs typeface="Poppins"/>
                  <a:sym typeface="Poppins"/>
                </a:rPr>
                <a:t>Forces the hidden assumption into the open, where you can check it against your actual model.</a:t>
              </a:r>
            </a:p>
          </p:txBody>
        </p:sp>
      </p:grpSp>
      <p:grpSp>
        <p:nvGrpSpPr>
          <p:cNvPr name="Group 24" id="24"/>
          <p:cNvGrpSpPr/>
          <p:nvPr/>
        </p:nvGrpSpPr>
        <p:grpSpPr>
          <a:xfrm rot="0">
            <a:off x="847725" y="4046220"/>
            <a:ext cx="14744700" cy="1344168"/>
            <a:chOff x="0" y="0"/>
            <a:chExt cx="19659600" cy="1792224"/>
          </a:xfrm>
        </p:grpSpPr>
        <p:sp>
          <p:nvSpPr>
            <p:cNvPr name="Freeform 25" id="25"/>
            <p:cNvSpPr/>
            <p:nvPr/>
          </p:nvSpPr>
          <p:spPr>
            <a:xfrm flipH="false" flipV="false" rot="0">
              <a:off x="0" y="0"/>
              <a:ext cx="19659600" cy="1792224"/>
            </a:xfrm>
            <a:custGeom>
              <a:avLst/>
              <a:gdLst/>
              <a:ahLst/>
              <a:cxnLst/>
              <a:rect r="r" b="b" t="t" l="l"/>
              <a:pathLst>
                <a:path h="1792224" w="19659600">
                  <a:moveTo>
                    <a:pt x="0" y="182880"/>
                  </a:moveTo>
                  <a:cubicBezTo>
                    <a:pt x="0" y="81915"/>
                    <a:pt x="81915" y="0"/>
                    <a:pt x="182880" y="0"/>
                  </a:cubicBezTo>
                  <a:lnTo>
                    <a:pt x="19476720" y="0"/>
                  </a:lnTo>
                  <a:cubicBezTo>
                    <a:pt x="19577684" y="0"/>
                    <a:pt x="19659600" y="81915"/>
                    <a:pt x="19659600" y="182880"/>
                  </a:cubicBezTo>
                  <a:lnTo>
                    <a:pt x="19659600" y="1609344"/>
                  </a:lnTo>
                  <a:cubicBezTo>
                    <a:pt x="19659600" y="1710309"/>
                    <a:pt x="19577684" y="1792224"/>
                    <a:pt x="19476720" y="1792224"/>
                  </a:cubicBezTo>
                  <a:lnTo>
                    <a:pt x="182880" y="1792224"/>
                  </a:lnTo>
                  <a:cubicBezTo>
                    <a:pt x="81915" y="1792224"/>
                    <a:pt x="0" y="1710309"/>
                    <a:pt x="0" y="1609344"/>
                  </a:cubicBezTo>
                  <a:close/>
                </a:path>
              </a:pathLst>
            </a:custGeom>
            <a:solidFill>
              <a:srgbClr val="FFFFFF"/>
            </a:solidFill>
          </p:spPr>
        </p:sp>
      </p:grpSp>
      <p:grpSp>
        <p:nvGrpSpPr>
          <p:cNvPr name="Group 26" id="26"/>
          <p:cNvGrpSpPr/>
          <p:nvPr/>
        </p:nvGrpSpPr>
        <p:grpSpPr>
          <a:xfrm rot="0">
            <a:off x="1190625" y="4306824"/>
            <a:ext cx="822960" cy="822960"/>
            <a:chOff x="0" y="0"/>
            <a:chExt cx="1097280" cy="1097280"/>
          </a:xfrm>
        </p:grpSpPr>
        <p:sp>
          <p:nvSpPr>
            <p:cNvPr name="Freeform 27" id="27"/>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87F7F"/>
            </a:solidFill>
          </p:spPr>
        </p:sp>
      </p:grpSp>
      <p:grpSp>
        <p:nvGrpSpPr>
          <p:cNvPr name="Group 28" id="28"/>
          <p:cNvGrpSpPr/>
          <p:nvPr/>
        </p:nvGrpSpPr>
        <p:grpSpPr>
          <a:xfrm rot="0">
            <a:off x="1190625" y="4306824"/>
            <a:ext cx="822960" cy="822960"/>
            <a:chOff x="0" y="0"/>
            <a:chExt cx="1097280" cy="1097280"/>
          </a:xfrm>
        </p:grpSpPr>
        <p:sp>
          <p:nvSpPr>
            <p:cNvPr name="Freeform 29" id="29"/>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9">
                <a:alphaModFix amt="0"/>
              </a:blip>
              <a:stretch>
                <a:fillRect l="-78303" t="0" r="-78303" b="0"/>
              </a:stretch>
            </a:blipFill>
          </p:spPr>
        </p:sp>
        <p:sp>
          <p:nvSpPr>
            <p:cNvPr name="TextBox 30" id="30"/>
            <p:cNvSpPr txBox="true"/>
            <p:nvPr/>
          </p:nvSpPr>
          <p:spPr>
            <a:xfrm>
              <a:off x="0" y="-28575"/>
              <a:ext cx="1097280" cy="1125855"/>
            </a:xfrm>
            <a:prstGeom prst="rect">
              <a:avLst/>
            </a:prstGeom>
          </p:spPr>
          <p:txBody>
            <a:bodyPr anchor="ctr" rtlCol="false" tIns="0" lIns="0" bIns="0" rIns="0"/>
            <a:lstStyle/>
            <a:p>
              <a:pPr algn="ctr">
                <a:lnSpc>
                  <a:spcPts val="3960"/>
                </a:lnSpc>
              </a:pPr>
              <a:r>
                <a:rPr lang="en-US" sz="3300" b="true">
                  <a:solidFill>
                    <a:srgbClr val="FFFFFF"/>
                  </a:solidFill>
                  <a:latin typeface="Poppins Bold"/>
                  <a:ea typeface="Poppins Bold"/>
                  <a:cs typeface="Poppins Bold"/>
                  <a:sym typeface="Poppins Bold"/>
                </a:rPr>
                <a:t>2</a:t>
              </a:r>
            </a:p>
          </p:txBody>
        </p:sp>
      </p:grpSp>
      <p:grpSp>
        <p:nvGrpSpPr>
          <p:cNvPr name="Group 31" id="31"/>
          <p:cNvGrpSpPr/>
          <p:nvPr/>
        </p:nvGrpSpPr>
        <p:grpSpPr>
          <a:xfrm rot="0">
            <a:off x="2356485" y="4183380"/>
            <a:ext cx="6446520" cy="548640"/>
            <a:chOff x="0" y="0"/>
            <a:chExt cx="8595360" cy="731520"/>
          </a:xfrm>
        </p:grpSpPr>
        <p:sp>
          <p:nvSpPr>
            <p:cNvPr name="Freeform 32" id="32"/>
            <p:cNvSpPr/>
            <p:nvPr/>
          </p:nvSpPr>
          <p:spPr>
            <a:xfrm flipH="false" flipV="false" rot="0">
              <a:off x="0" y="0"/>
              <a:ext cx="8595360" cy="731520"/>
            </a:xfrm>
            <a:custGeom>
              <a:avLst/>
              <a:gdLst/>
              <a:ahLst/>
              <a:cxnLst/>
              <a:rect r="r" b="b" t="t" l="l"/>
              <a:pathLst>
                <a:path h="731520" w="8595360">
                  <a:moveTo>
                    <a:pt x="0" y="0"/>
                  </a:moveTo>
                  <a:lnTo>
                    <a:pt x="8595360" y="0"/>
                  </a:lnTo>
                  <a:lnTo>
                    <a:pt x="8595360" y="731520"/>
                  </a:lnTo>
                  <a:lnTo>
                    <a:pt x="0" y="731520"/>
                  </a:lnTo>
                  <a:close/>
                </a:path>
              </a:pathLst>
            </a:custGeom>
            <a:blipFill>
              <a:blip r:embed="rId9">
                <a:alphaModFix amt="0"/>
              </a:blip>
              <a:stretch>
                <a:fillRect l="0" t="-178949" r="0" b="-178949"/>
              </a:stretch>
            </a:blipFill>
          </p:spPr>
        </p:sp>
        <p:sp>
          <p:nvSpPr>
            <p:cNvPr name="TextBox 33" id="33"/>
            <p:cNvSpPr txBox="true"/>
            <p:nvPr/>
          </p:nvSpPr>
          <p:spPr>
            <a:xfrm>
              <a:off x="0" y="-19050"/>
              <a:ext cx="8595360" cy="750570"/>
            </a:xfrm>
            <a:prstGeom prst="rect">
              <a:avLst/>
            </a:prstGeom>
          </p:spPr>
          <p:txBody>
            <a:bodyPr anchor="ctr" rtlCol="false" tIns="0" lIns="0" bIns="0" rIns="0"/>
            <a:lstStyle/>
            <a:p>
              <a:pPr algn="l">
                <a:lnSpc>
                  <a:spcPts val="2250"/>
                </a:lnSpc>
              </a:pPr>
              <a:r>
                <a:rPr lang="en-US" b="true" sz="1875" i="true">
                  <a:solidFill>
                    <a:srgbClr val="0A1A23"/>
                  </a:solidFill>
                  <a:latin typeface="Poppins Bold Italics"/>
                  <a:ea typeface="Poppins Bold Italics"/>
                  <a:cs typeface="Poppins Bold Italics"/>
                  <a:sym typeface="Poppins Bold Italics"/>
                </a:rPr>
                <a:t>“Show me a second way to write this, and the trade-off.”</a:t>
              </a:r>
            </a:p>
          </p:txBody>
        </p:sp>
      </p:grpSp>
      <p:grpSp>
        <p:nvGrpSpPr>
          <p:cNvPr name="Group 34" id="34"/>
          <p:cNvGrpSpPr/>
          <p:nvPr/>
        </p:nvGrpSpPr>
        <p:grpSpPr>
          <a:xfrm rot="0">
            <a:off x="9008745" y="4155948"/>
            <a:ext cx="6309360" cy="1124712"/>
            <a:chOff x="0" y="0"/>
            <a:chExt cx="8412480" cy="1499616"/>
          </a:xfrm>
        </p:grpSpPr>
        <p:sp>
          <p:nvSpPr>
            <p:cNvPr name="Freeform 35" id="35"/>
            <p:cNvSpPr/>
            <p:nvPr/>
          </p:nvSpPr>
          <p:spPr>
            <a:xfrm flipH="false" flipV="false" rot="0">
              <a:off x="0" y="0"/>
              <a:ext cx="8412480" cy="1499616"/>
            </a:xfrm>
            <a:custGeom>
              <a:avLst/>
              <a:gdLst/>
              <a:ahLst/>
              <a:cxnLst/>
              <a:rect r="r" b="b" t="t" l="l"/>
              <a:pathLst>
                <a:path h="1499616" w="8412480">
                  <a:moveTo>
                    <a:pt x="0" y="0"/>
                  </a:moveTo>
                  <a:lnTo>
                    <a:pt x="8412480" y="0"/>
                  </a:lnTo>
                  <a:lnTo>
                    <a:pt x="8412480" y="1499616"/>
                  </a:lnTo>
                  <a:lnTo>
                    <a:pt x="0" y="1499616"/>
                  </a:lnTo>
                  <a:close/>
                </a:path>
              </a:pathLst>
            </a:custGeom>
            <a:blipFill>
              <a:blip r:embed="rId9">
                <a:alphaModFix amt="0"/>
              </a:blip>
              <a:stretch>
                <a:fillRect l="0" t="-59306" r="0" b="-59306"/>
              </a:stretch>
            </a:blipFill>
          </p:spPr>
        </p:sp>
        <p:sp>
          <p:nvSpPr>
            <p:cNvPr name="TextBox 36" id="36"/>
            <p:cNvSpPr txBox="true"/>
            <p:nvPr/>
          </p:nvSpPr>
          <p:spPr>
            <a:xfrm>
              <a:off x="0" y="-47625"/>
              <a:ext cx="8412480" cy="1547241"/>
            </a:xfrm>
            <a:prstGeom prst="rect">
              <a:avLst/>
            </a:prstGeom>
          </p:spPr>
          <p:txBody>
            <a:bodyPr anchor="ctr" rtlCol="false" tIns="0" lIns="0" bIns="0" rIns="0"/>
            <a:lstStyle/>
            <a:p>
              <a:pPr algn="l">
                <a:lnSpc>
                  <a:spcPts val="2268"/>
                </a:lnSpc>
              </a:pPr>
              <a:r>
                <a:rPr lang="en-US" sz="1575">
                  <a:solidFill>
                    <a:srgbClr val="475569"/>
                  </a:solidFill>
                  <a:latin typeface="Poppins"/>
                  <a:ea typeface="Poppins"/>
                  <a:cs typeface="Poppins"/>
                  <a:sym typeface="Poppins"/>
                </a:rPr>
                <a:t>A single answer looks authoritative. Two answers reveal that a choice was made.</a:t>
              </a:r>
            </a:p>
          </p:txBody>
        </p:sp>
      </p:grpSp>
      <p:grpSp>
        <p:nvGrpSpPr>
          <p:cNvPr name="Group 37" id="37"/>
          <p:cNvGrpSpPr/>
          <p:nvPr/>
        </p:nvGrpSpPr>
        <p:grpSpPr>
          <a:xfrm rot="0">
            <a:off x="847725" y="5623560"/>
            <a:ext cx="14744700" cy="1344168"/>
            <a:chOff x="0" y="0"/>
            <a:chExt cx="19659600" cy="1792224"/>
          </a:xfrm>
        </p:grpSpPr>
        <p:sp>
          <p:nvSpPr>
            <p:cNvPr name="Freeform 38" id="38"/>
            <p:cNvSpPr/>
            <p:nvPr/>
          </p:nvSpPr>
          <p:spPr>
            <a:xfrm flipH="false" flipV="false" rot="0">
              <a:off x="0" y="0"/>
              <a:ext cx="19659600" cy="1792224"/>
            </a:xfrm>
            <a:custGeom>
              <a:avLst/>
              <a:gdLst/>
              <a:ahLst/>
              <a:cxnLst/>
              <a:rect r="r" b="b" t="t" l="l"/>
              <a:pathLst>
                <a:path h="1792224" w="19659600">
                  <a:moveTo>
                    <a:pt x="0" y="182880"/>
                  </a:moveTo>
                  <a:cubicBezTo>
                    <a:pt x="0" y="81915"/>
                    <a:pt x="81915" y="0"/>
                    <a:pt x="182880" y="0"/>
                  </a:cubicBezTo>
                  <a:lnTo>
                    <a:pt x="19476720" y="0"/>
                  </a:lnTo>
                  <a:cubicBezTo>
                    <a:pt x="19577684" y="0"/>
                    <a:pt x="19659600" y="81915"/>
                    <a:pt x="19659600" y="182880"/>
                  </a:cubicBezTo>
                  <a:lnTo>
                    <a:pt x="19659600" y="1609344"/>
                  </a:lnTo>
                  <a:cubicBezTo>
                    <a:pt x="19659600" y="1710309"/>
                    <a:pt x="19577684" y="1792224"/>
                    <a:pt x="19476720" y="1792224"/>
                  </a:cubicBezTo>
                  <a:lnTo>
                    <a:pt x="182880" y="1792224"/>
                  </a:lnTo>
                  <a:cubicBezTo>
                    <a:pt x="81915" y="1792224"/>
                    <a:pt x="0" y="1710309"/>
                    <a:pt x="0" y="1609344"/>
                  </a:cubicBezTo>
                  <a:close/>
                </a:path>
              </a:pathLst>
            </a:custGeom>
            <a:solidFill>
              <a:srgbClr val="FFFFFF"/>
            </a:solidFill>
          </p:spPr>
        </p:sp>
      </p:grpSp>
      <p:grpSp>
        <p:nvGrpSpPr>
          <p:cNvPr name="Group 39" id="39"/>
          <p:cNvGrpSpPr/>
          <p:nvPr/>
        </p:nvGrpSpPr>
        <p:grpSpPr>
          <a:xfrm rot="0">
            <a:off x="1190625" y="5884164"/>
            <a:ext cx="822960" cy="822960"/>
            <a:chOff x="0" y="0"/>
            <a:chExt cx="1097280" cy="1097280"/>
          </a:xfrm>
        </p:grpSpPr>
        <p:sp>
          <p:nvSpPr>
            <p:cNvPr name="Freeform 40" id="40"/>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87F7F"/>
            </a:solidFill>
          </p:spPr>
        </p:sp>
      </p:grpSp>
      <p:grpSp>
        <p:nvGrpSpPr>
          <p:cNvPr name="Group 41" id="41"/>
          <p:cNvGrpSpPr/>
          <p:nvPr/>
        </p:nvGrpSpPr>
        <p:grpSpPr>
          <a:xfrm rot="0">
            <a:off x="1190625" y="5884164"/>
            <a:ext cx="822960" cy="822960"/>
            <a:chOff x="0" y="0"/>
            <a:chExt cx="1097280" cy="1097280"/>
          </a:xfrm>
        </p:grpSpPr>
        <p:sp>
          <p:nvSpPr>
            <p:cNvPr name="Freeform 42" id="42"/>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9">
                <a:alphaModFix amt="0"/>
              </a:blip>
              <a:stretch>
                <a:fillRect l="-78303" t="0" r="-78303" b="0"/>
              </a:stretch>
            </a:blipFill>
          </p:spPr>
        </p:sp>
        <p:sp>
          <p:nvSpPr>
            <p:cNvPr name="TextBox 43" id="43"/>
            <p:cNvSpPr txBox="true"/>
            <p:nvPr/>
          </p:nvSpPr>
          <p:spPr>
            <a:xfrm>
              <a:off x="0" y="-28575"/>
              <a:ext cx="1097280" cy="1125855"/>
            </a:xfrm>
            <a:prstGeom prst="rect">
              <a:avLst/>
            </a:prstGeom>
          </p:spPr>
          <p:txBody>
            <a:bodyPr anchor="ctr" rtlCol="false" tIns="0" lIns="0" bIns="0" rIns="0"/>
            <a:lstStyle/>
            <a:p>
              <a:pPr algn="ctr">
                <a:lnSpc>
                  <a:spcPts val="3960"/>
                </a:lnSpc>
              </a:pPr>
              <a:r>
                <a:rPr lang="en-US" sz="3300" b="true">
                  <a:solidFill>
                    <a:srgbClr val="FFFFFF"/>
                  </a:solidFill>
                  <a:latin typeface="Poppins Bold"/>
                  <a:ea typeface="Poppins Bold"/>
                  <a:cs typeface="Poppins Bold"/>
                  <a:sym typeface="Poppins Bold"/>
                </a:rPr>
                <a:t>3</a:t>
              </a:r>
            </a:p>
          </p:txBody>
        </p:sp>
      </p:grpSp>
      <p:grpSp>
        <p:nvGrpSpPr>
          <p:cNvPr name="Group 44" id="44"/>
          <p:cNvGrpSpPr/>
          <p:nvPr/>
        </p:nvGrpSpPr>
        <p:grpSpPr>
          <a:xfrm rot="0">
            <a:off x="2356485" y="5760720"/>
            <a:ext cx="6446520" cy="548640"/>
            <a:chOff x="0" y="0"/>
            <a:chExt cx="8595360" cy="731520"/>
          </a:xfrm>
        </p:grpSpPr>
        <p:sp>
          <p:nvSpPr>
            <p:cNvPr name="Freeform 45" id="45"/>
            <p:cNvSpPr/>
            <p:nvPr/>
          </p:nvSpPr>
          <p:spPr>
            <a:xfrm flipH="false" flipV="false" rot="0">
              <a:off x="0" y="0"/>
              <a:ext cx="8595360" cy="731520"/>
            </a:xfrm>
            <a:custGeom>
              <a:avLst/>
              <a:gdLst/>
              <a:ahLst/>
              <a:cxnLst/>
              <a:rect r="r" b="b" t="t" l="l"/>
              <a:pathLst>
                <a:path h="731520" w="8595360">
                  <a:moveTo>
                    <a:pt x="0" y="0"/>
                  </a:moveTo>
                  <a:lnTo>
                    <a:pt x="8595360" y="0"/>
                  </a:lnTo>
                  <a:lnTo>
                    <a:pt x="8595360" y="731520"/>
                  </a:lnTo>
                  <a:lnTo>
                    <a:pt x="0" y="731520"/>
                  </a:lnTo>
                  <a:close/>
                </a:path>
              </a:pathLst>
            </a:custGeom>
            <a:blipFill>
              <a:blip r:embed="rId9">
                <a:alphaModFix amt="0"/>
              </a:blip>
              <a:stretch>
                <a:fillRect l="0" t="-178949" r="0" b="-178949"/>
              </a:stretch>
            </a:blipFill>
          </p:spPr>
        </p:sp>
        <p:sp>
          <p:nvSpPr>
            <p:cNvPr name="TextBox 46" id="46"/>
            <p:cNvSpPr txBox="true"/>
            <p:nvPr/>
          </p:nvSpPr>
          <p:spPr>
            <a:xfrm>
              <a:off x="0" y="-19050"/>
              <a:ext cx="8595360" cy="750570"/>
            </a:xfrm>
            <a:prstGeom prst="rect">
              <a:avLst/>
            </a:prstGeom>
          </p:spPr>
          <p:txBody>
            <a:bodyPr anchor="ctr" rtlCol="false" tIns="0" lIns="0" bIns="0" rIns="0"/>
            <a:lstStyle/>
            <a:p>
              <a:pPr algn="l">
                <a:lnSpc>
                  <a:spcPts val="2250"/>
                </a:lnSpc>
              </a:pPr>
              <a:r>
                <a:rPr lang="en-US" b="true" sz="1875" i="true">
                  <a:solidFill>
                    <a:srgbClr val="0A1A23"/>
                  </a:solidFill>
                  <a:latin typeface="Poppins Bold Italics"/>
                  <a:ea typeface="Poppins Bold Italics"/>
                  <a:cs typeface="Poppins Bold Italics"/>
                  <a:sym typeface="Poppins Bold Italics"/>
                </a:rPr>
                <a:t>“What would make this measure return a wrong number?”</a:t>
              </a:r>
            </a:p>
          </p:txBody>
        </p:sp>
      </p:grpSp>
      <p:grpSp>
        <p:nvGrpSpPr>
          <p:cNvPr name="Group 47" id="47"/>
          <p:cNvGrpSpPr/>
          <p:nvPr/>
        </p:nvGrpSpPr>
        <p:grpSpPr>
          <a:xfrm rot="0">
            <a:off x="9008745" y="5733288"/>
            <a:ext cx="6309360" cy="1124712"/>
            <a:chOff x="0" y="0"/>
            <a:chExt cx="8412480" cy="1499616"/>
          </a:xfrm>
        </p:grpSpPr>
        <p:sp>
          <p:nvSpPr>
            <p:cNvPr name="Freeform 48" id="48"/>
            <p:cNvSpPr/>
            <p:nvPr/>
          </p:nvSpPr>
          <p:spPr>
            <a:xfrm flipH="false" flipV="false" rot="0">
              <a:off x="0" y="0"/>
              <a:ext cx="8412480" cy="1499616"/>
            </a:xfrm>
            <a:custGeom>
              <a:avLst/>
              <a:gdLst/>
              <a:ahLst/>
              <a:cxnLst/>
              <a:rect r="r" b="b" t="t" l="l"/>
              <a:pathLst>
                <a:path h="1499616" w="8412480">
                  <a:moveTo>
                    <a:pt x="0" y="0"/>
                  </a:moveTo>
                  <a:lnTo>
                    <a:pt x="8412480" y="0"/>
                  </a:lnTo>
                  <a:lnTo>
                    <a:pt x="8412480" y="1499616"/>
                  </a:lnTo>
                  <a:lnTo>
                    <a:pt x="0" y="1499616"/>
                  </a:lnTo>
                  <a:close/>
                </a:path>
              </a:pathLst>
            </a:custGeom>
            <a:blipFill>
              <a:blip r:embed="rId9">
                <a:alphaModFix amt="0"/>
              </a:blip>
              <a:stretch>
                <a:fillRect l="0" t="-59306" r="0" b="-59306"/>
              </a:stretch>
            </a:blipFill>
          </p:spPr>
        </p:sp>
        <p:sp>
          <p:nvSpPr>
            <p:cNvPr name="TextBox 49" id="49"/>
            <p:cNvSpPr txBox="true"/>
            <p:nvPr/>
          </p:nvSpPr>
          <p:spPr>
            <a:xfrm>
              <a:off x="0" y="-47625"/>
              <a:ext cx="8412480" cy="1547241"/>
            </a:xfrm>
            <a:prstGeom prst="rect">
              <a:avLst/>
            </a:prstGeom>
          </p:spPr>
          <p:txBody>
            <a:bodyPr anchor="ctr" rtlCol="false" tIns="0" lIns="0" bIns="0" rIns="0"/>
            <a:lstStyle/>
            <a:p>
              <a:pPr algn="l">
                <a:lnSpc>
                  <a:spcPts val="2268"/>
                </a:lnSpc>
              </a:pPr>
              <a:r>
                <a:rPr lang="en-US" sz="1575">
                  <a:solidFill>
                    <a:srgbClr val="475569"/>
                  </a:solidFill>
                  <a:latin typeface="Poppins"/>
                  <a:ea typeface="Poppins"/>
                  <a:cs typeface="Poppins"/>
                  <a:sym typeface="Poppins"/>
                </a:rPr>
                <a:t>Asking for its own failure modes is startlingly effective and most people never try it.</a:t>
              </a:r>
            </a:p>
          </p:txBody>
        </p:sp>
      </p:grpSp>
      <p:grpSp>
        <p:nvGrpSpPr>
          <p:cNvPr name="Group 50" id="50"/>
          <p:cNvGrpSpPr/>
          <p:nvPr/>
        </p:nvGrpSpPr>
        <p:grpSpPr>
          <a:xfrm rot="0">
            <a:off x="847725" y="7200900"/>
            <a:ext cx="14744700" cy="1344168"/>
            <a:chOff x="0" y="0"/>
            <a:chExt cx="19659600" cy="1792224"/>
          </a:xfrm>
        </p:grpSpPr>
        <p:sp>
          <p:nvSpPr>
            <p:cNvPr name="Freeform 51" id="51"/>
            <p:cNvSpPr/>
            <p:nvPr/>
          </p:nvSpPr>
          <p:spPr>
            <a:xfrm flipH="false" flipV="false" rot="0">
              <a:off x="0" y="0"/>
              <a:ext cx="19659600" cy="1792224"/>
            </a:xfrm>
            <a:custGeom>
              <a:avLst/>
              <a:gdLst/>
              <a:ahLst/>
              <a:cxnLst/>
              <a:rect r="r" b="b" t="t" l="l"/>
              <a:pathLst>
                <a:path h="1792224" w="19659600">
                  <a:moveTo>
                    <a:pt x="0" y="182880"/>
                  </a:moveTo>
                  <a:cubicBezTo>
                    <a:pt x="0" y="81915"/>
                    <a:pt x="81915" y="0"/>
                    <a:pt x="182880" y="0"/>
                  </a:cubicBezTo>
                  <a:lnTo>
                    <a:pt x="19476720" y="0"/>
                  </a:lnTo>
                  <a:cubicBezTo>
                    <a:pt x="19577684" y="0"/>
                    <a:pt x="19659600" y="81915"/>
                    <a:pt x="19659600" y="182880"/>
                  </a:cubicBezTo>
                  <a:lnTo>
                    <a:pt x="19659600" y="1609344"/>
                  </a:lnTo>
                  <a:cubicBezTo>
                    <a:pt x="19659600" y="1710309"/>
                    <a:pt x="19577684" y="1792224"/>
                    <a:pt x="19476720" y="1792224"/>
                  </a:cubicBezTo>
                  <a:lnTo>
                    <a:pt x="182880" y="1792224"/>
                  </a:lnTo>
                  <a:cubicBezTo>
                    <a:pt x="81915" y="1792224"/>
                    <a:pt x="0" y="1710309"/>
                    <a:pt x="0" y="1609344"/>
                  </a:cubicBezTo>
                  <a:close/>
                </a:path>
              </a:pathLst>
            </a:custGeom>
            <a:solidFill>
              <a:srgbClr val="FFFFFF"/>
            </a:solidFill>
          </p:spPr>
        </p:sp>
      </p:grpSp>
      <p:grpSp>
        <p:nvGrpSpPr>
          <p:cNvPr name="Group 52" id="52"/>
          <p:cNvGrpSpPr/>
          <p:nvPr/>
        </p:nvGrpSpPr>
        <p:grpSpPr>
          <a:xfrm rot="0">
            <a:off x="1190625" y="7461504"/>
            <a:ext cx="822960" cy="822960"/>
            <a:chOff x="0" y="0"/>
            <a:chExt cx="1097280" cy="1097280"/>
          </a:xfrm>
        </p:grpSpPr>
        <p:sp>
          <p:nvSpPr>
            <p:cNvPr name="Freeform 53" id="53"/>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87F7F"/>
            </a:solidFill>
          </p:spPr>
        </p:sp>
      </p:grpSp>
      <p:grpSp>
        <p:nvGrpSpPr>
          <p:cNvPr name="Group 54" id="54"/>
          <p:cNvGrpSpPr/>
          <p:nvPr/>
        </p:nvGrpSpPr>
        <p:grpSpPr>
          <a:xfrm rot="0">
            <a:off x="1190625" y="7461504"/>
            <a:ext cx="822960" cy="822960"/>
            <a:chOff x="0" y="0"/>
            <a:chExt cx="1097280" cy="1097280"/>
          </a:xfrm>
        </p:grpSpPr>
        <p:sp>
          <p:nvSpPr>
            <p:cNvPr name="Freeform 55" id="5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9">
                <a:alphaModFix amt="0"/>
              </a:blip>
              <a:stretch>
                <a:fillRect l="-78303" t="0" r="-78303" b="0"/>
              </a:stretch>
            </a:blipFill>
          </p:spPr>
        </p:sp>
        <p:sp>
          <p:nvSpPr>
            <p:cNvPr name="TextBox 56" id="56"/>
            <p:cNvSpPr txBox="true"/>
            <p:nvPr/>
          </p:nvSpPr>
          <p:spPr>
            <a:xfrm>
              <a:off x="0" y="-28575"/>
              <a:ext cx="1097280" cy="1125855"/>
            </a:xfrm>
            <a:prstGeom prst="rect">
              <a:avLst/>
            </a:prstGeom>
          </p:spPr>
          <p:txBody>
            <a:bodyPr anchor="ctr" rtlCol="false" tIns="0" lIns="0" bIns="0" rIns="0"/>
            <a:lstStyle/>
            <a:p>
              <a:pPr algn="ctr">
                <a:lnSpc>
                  <a:spcPts val="3960"/>
                </a:lnSpc>
              </a:pPr>
              <a:r>
                <a:rPr lang="en-US" sz="3300" b="true">
                  <a:solidFill>
                    <a:srgbClr val="FFFFFF"/>
                  </a:solidFill>
                  <a:latin typeface="Poppins Bold"/>
                  <a:ea typeface="Poppins Bold"/>
                  <a:cs typeface="Poppins Bold"/>
                  <a:sym typeface="Poppins Bold"/>
                </a:rPr>
                <a:t>4</a:t>
              </a:r>
            </a:p>
          </p:txBody>
        </p:sp>
      </p:grpSp>
      <p:grpSp>
        <p:nvGrpSpPr>
          <p:cNvPr name="Group 57" id="57"/>
          <p:cNvGrpSpPr/>
          <p:nvPr/>
        </p:nvGrpSpPr>
        <p:grpSpPr>
          <a:xfrm rot="0">
            <a:off x="2356485" y="7338060"/>
            <a:ext cx="6446520" cy="548640"/>
            <a:chOff x="0" y="0"/>
            <a:chExt cx="8595360" cy="731520"/>
          </a:xfrm>
        </p:grpSpPr>
        <p:sp>
          <p:nvSpPr>
            <p:cNvPr name="Freeform 58" id="58"/>
            <p:cNvSpPr/>
            <p:nvPr/>
          </p:nvSpPr>
          <p:spPr>
            <a:xfrm flipH="false" flipV="false" rot="0">
              <a:off x="0" y="0"/>
              <a:ext cx="8595360" cy="731520"/>
            </a:xfrm>
            <a:custGeom>
              <a:avLst/>
              <a:gdLst/>
              <a:ahLst/>
              <a:cxnLst/>
              <a:rect r="r" b="b" t="t" l="l"/>
              <a:pathLst>
                <a:path h="731520" w="8595360">
                  <a:moveTo>
                    <a:pt x="0" y="0"/>
                  </a:moveTo>
                  <a:lnTo>
                    <a:pt x="8595360" y="0"/>
                  </a:lnTo>
                  <a:lnTo>
                    <a:pt x="8595360" y="731520"/>
                  </a:lnTo>
                  <a:lnTo>
                    <a:pt x="0" y="731520"/>
                  </a:lnTo>
                  <a:close/>
                </a:path>
              </a:pathLst>
            </a:custGeom>
            <a:blipFill>
              <a:blip r:embed="rId9">
                <a:alphaModFix amt="0"/>
              </a:blip>
              <a:stretch>
                <a:fillRect l="0" t="-178949" r="0" b="-178949"/>
              </a:stretch>
            </a:blipFill>
          </p:spPr>
        </p:sp>
        <p:sp>
          <p:nvSpPr>
            <p:cNvPr name="TextBox 59" id="59"/>
            <p:cNvSpPr txBox="true"/>
            <p:nvPr/>
          </p:nvSpPr>
          <p:spPr>
            <a:xfrm>
              <a:off x="0" y="-19050"/>
              <a:ext cx="8595360" cy="750570"/>
            </a:xfrm>
            <a:prstGeom prst="rect">
              <a:avLst/>
            </a:prstGeom>
          </p:spPr>
          <p:txBody>
            <a:bodyPr anchor="ctr" rtlCol="false" tIns="0" lIns="0" bIns="0" rIns="0"/>
            <a:lstStyle/>
            <a:p>
              <a:pPr algn="l">
                <a:lnSpc>
                  <a:spcPts val="2250"/>
                </a:lnSpc>
              </a:pPr>
              <a:r>
                <a:rPr lang="en-US" b="true" sz="1875" i="true">
                  <a:solidFill>
                    <a:srgbClr val="0A1A23"/>
                  </a:solidFill>
                  <a:latin typeface="Poppins Bold Italics"/>
                  <a:ea typeface="Poppins Bold Italics"/>
                  <a:cs typeface="Poppins Bold Italics"/>
                  <a:sym typeface="Poppins Bold Italics"/>
                </a:rPr>
                <a:t>“I ran it and got 5 percent. I expected 61. Where would you look first?”</a:t>
              </a:r>
            </a:p>
          </p:txBody>
        </p:sp>
      </p:grpSp>
      <p:grpSp>
        <p:nvGrpSpPr>
          <p:cNvPr name="Group 60" id="60"/>
          <p:cNvGrpSpPr/>
          <p:nvPr/>
        </p:nvGrpSpPr>
        <p:grpSpPr>
          <a:xfrm rot="0">
            <a:off x="9008745" y="7310628"/>
            <a:ext cx="6309360" cy="1124712"/>
            <a:chOff x="0" y="0"/>
            <a:chExt cx="8412480" cy="1499616"/>
          </a:xfrm>
        </p:grpSpPr>
        <p:sp>
          <p:nvSpPr>
            <p:cNvPr name="Freeform 61" id="61"/>
            <p:cNvSpPr/>
            <p:nvPr/>
          </p:nvSpPr>
          <p:spPr>
            <a:xfrm flipH="false" flipV="false" rot="0">
              <a:off x="0" y="0"/>
              <a:ext cx="8412480" cy="1499616"/>
            </a:xfrm>
            <a:custGeom>
              <a:avLst/>
              <a:gdLst/>
              <a:ahLst/>
              <a:cxnLst/>
              <a:rect r="r" b="b" t="t" l="l"/>
              <a:pathLst>
                <a:path h="1499616" w="8412480">
                  <a:moveTo>
                    <a:pt x="0" y="0"/>
                  </a:moveTo>
                  <a:lnTo>
                    <a:pt x="8412480" y="0"/>
                  </a:lnTo>
                  <a:lnTo>
                    <a:pt x="8412480" y="1499616"/>
                  </a:lnTo>
                  <a:lnTo>
                    <a:pt x="0" y="1499616"/>
                  </a:lnTo>
                  <a:close/>
                </a:path>
              </a:pathLst>
            </a:custGeom>
            <a:blipFill>
              <a:blip r:embed="rId9">
                <a:alphaModFix amt="0"/>
              </a:blip>
              <a:stretch>
                <a:fillRect l="0" t="-59306" r="0" b="-59306"/>
              </a:stretch>
            </a:blipFill>
          </p:spPr>
        </p:sp>
        <p:sp>
          <p:nvSpPr>
            <p:cNvPr name="TextBox 62" id="62"/>
            <p:cNvSpPr txBox="true"/>
            <p:nvPr/>
          </p:nvSpPr>
          <p:spPr>
            <a:xfrm>
              <a:off x="0" y="-47625"/>
              <a:ext cx="8412480" cy="1547241"/>
            </a:xfrm>
            <a:prstGeom prst="rect">
              <a:avLst/>
            </a:prstGeom>
          </p:spPr>
          <p:txBody>
            <a:bodyPr anchor="ctr" rtlCol="false" tIns="0" lIns="0" bIns="0" rIns="0"/>
            <a:lstStyle/>
            <a:p>
              <a:pPr algn="l">
                <a:lnSpc>
                  <a:spcPts val="2268"/>
                </a:lnSpc>
              </a:pPr>
              <a:r>
                <a:rPr lang="en-US" sz="1575">
                  <a:solidFill>
                    <a:srgbClr val="475569"/>
                  </a:solidFill>
                  <a:latin typeface="Poppins"/>
                  <a:ea typeface="Poppins"/>
                  <a:cs typeface="Poppins"/>
                  <a:sym typeface="Poppins"/>
                </a:rPr>
                <a:t>Bringing real output back turns a one-shot request into a dialogue. This is Level 3.</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5" id="5"/>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6497824" y="8924125"/>
            <a:ext cx="647224" cy="571500"/>
            <a:chOff x="0" y="0"/>
            <a:chExt cx="862965" cy="762000"/>
          </a:xfrm>
        </p:grpSpPr>
        <p:sp>
          <p:nvSpPr>
            <p:cNvPr name="Freeform 7" id="7"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8" id="8"/>
          <p:cNvGrpSpPr/>
          <p:nvPr/>
        </p:nvGrpSpPr>
        <p:grpSpPr>
          <a:xfrm rot="0">
            <a:off x="0" y="0"/>
            <a:ext cx="18287543" cy="10287000"/>
            <a:chOff x="0" y="0"/>
            <a:chExt cx="24383390" cy="13716000"/>
          </a:xfrm>
        </p:grpSpPr>
        <p:sp>
          <p:nvSpPr>
            <p:cNvPr name="Freeform 9" id="9"/>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20494A"/>
            </a:solidFill>
          </p:spPr>
        </p:sp>
      </p:grpSp>
      <p:grpSp>
        <p:nvGrpSpPr>
          <p:cNvPr name="Group 10" id="10"/>
          <p:cNvGrpSpPr/>
          <p:nvPr/>
        </p:nvGrpSpPr>
        <p:grpSpPr>
          <a:xfrm rot="0">
            <a:off x="1124712" y="7399782"/>
            <a:ext cx="219456" cy="219456"/>
            <a:chOff x="0" y="0"/>
            <a:chExt cx="292608" cy="292608"/>
          </a:xfrm>
        </p:grpSpPr>
        <p:sp>
          <p:nvSpPr>
            <p:cNvPr name="Freeform 11" id="11"/>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12" id="12"/>
          <p:cNvGrpSpPr/>
          <p:nvPr/>
        </p:nvGrpSpPr>
        <p:grpSpPr>
          <a:xfrm rot="0">
            <a:off x="1124712" y="7975854"/>
            <a:ext cx="219456" cy="219456"/>
            <a:chOff x="0" y="0"/>
            <a:chExt cx="292608" cy="292608"/>
          </a:xfrm>
        </p:grpSpPr>
        <p:sp>
          <p:nvSpPr>
            <p:cNvPr name="Freeform 13" id="13"/>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14" id="14"/>
          <p:cNvGrpSpPr/>
          <p:nvPr/>
        </p:nvGrpSpPr>
        <p:grpSpPr>
          <a:xfrm rot="0">
            <a:off x="1124712" y="8551926"/>
            <a:ext cx="219456" cy="219456"/>
            <a:chOff x="0" y="0"/>
            <a:chExt cx="292608" cy="292608"/>
          </a:xfrm>
        </p:grpSpPr>
        <p:sp>
          <p:nvSpPr>
            <p:cNvPr name="Freeform 15" id="15"/>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sp>
        <p:nvSpPr>
          <p:cNvPr name="Freeform 16" id="16"/>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7" id="17"/>
          <p:cNvGrpSpPr/>
          <p:nvPr/>
        </p:nvGrpSpPr>
        <p:grpSpPr>
          <a:xfrm rot="0">
            <a:off x="850392" y="480060"/>
            <a:ext cx="4389120" cy="2880360"/>
            <a:chOff x="0" y="0"/>
            <a:chExt cx="5852160" cy="3840480"/>
          </a:xfrm>
        </p:grpSpPr>
        <p:sp>
          <p:nvSpPr>
            <p:cNvPr name="Freeform 18" id="18"/>
            <p:cNvSpPr/>
            <p:nvPr/>
          </p:nvSpPr>
          <p:spPr>
            <a:xfrm flipH="false" flipV="false" rot="0">
              <a:off x="0" y="0"/>
              <a:ext cx="5852160" cy="3840480"/>
            </a:xfrm>
            <a:custGeom>
              <a:avLst/>
              <a:gdLst/>
              <a:ahLst/>
              <a:cxnLst/>
              <a:rect r="r" b="b" t="t" l="l"/>
              <a:pathLst>
                <a:path h="3840480" w="5852160">
                  <a:moveTo>
                    <a:pt x="0" y="0"/>
                  </a:moveTo>
                  <a:lnTo>
                    <a:pt x="5852160" y="0"/>
                  </a:lnTo>
                  <a:lnTo>
                    <a:pt x="5852160" y="3840480"/>
                  </a:lnTo>
                  <a:lnTo>
                    <a:pt x="0" y="3840480"/>
                  </a:lnTo>
                  <a:close/>
                </a:path>
              </a:pathLst>
            </a:custGeom>
            <a:blipFill>
              <a:blip r:embed="rId9">
                <a:alphaModFix amt="0"/>
              </a:blip>
              <a:stretch>
                <a:fillRect l="-34199" t="0" r="-34199" b="0"/>
              </a:stretch>
            </a:blipFill>
          </p:spPr>
        </p:sp>
        <p:sp>
          <p:nvSpPr>
            <p:cNvPr name="TextBox 19" id="19"/>
            <p:cNvSpPr txBox="true"/>
            <p:nvPr/>
          </p:nvSpPr>
          <p:spPr>
            <a:xfrm>
              <a:off x="0" y="-190500"/>
              <a:ext cx="5852160" cy="4030980"/>
            </a:xfrm>
            <a:prstGeom prst="rect">
              <a:avLst/>
            </a:prstGeom>
          </p:spPr>
          <p:txBody>
            <a:bodyPr anchor="ctr" rtlCol="false" tIns="0" lIns="0" bIns="0" rIns="0"/>
            <a:lstStyle/>
            <a:p>
              <a:pPr algn="l">
                <a:lnSpc>
                  <a:spcPts val="23400"/>
                </a:lnSpc>
              </a:pPr>
              <a:r>
                <a:rPr lang="en-US" sz="19500" b="true">
                  <a:solidFill>
                    <a:srgbClr val="2F6364"/>
                  </a:solidFill>
                  <a:latin typeface="Poppins Bold"/>
                  <a:ea typeface="Poppins Bold"/>
                  <a:cs typeface="Poppins Bold"/>
                  <a:sym typeface="Poppins Bold"/>
                </a:rPr>
                <a:t>01</a:t>
              </a:r>
            </a:p>
          </p:txBody>
        </p:sp>
      </p:grpSp>
      <p:grpSp>
        <p:nvGrpSpPr>
          <p:cNvPr name="Group 20" id="20"/>
          <p:cNvGrpSpPr/>
          <p:nvPr/>
        </p:nvGrpSpPr>
        <p:grpSpPr>
          <a:xfrm rot="0">
            <a:off x="1069848" y="3730752"/>
            <a:ext cx="10149840" cy="466344"/>
            <a:chOff x="0" y="0"/>
            <a:chExt cx="13533120" cy="621792"/>
          </a:xfrm>
        </p:grpSpPr>
        <p:sp>
          <p:nvSpPr>
            <p:cNvPr name="Freeform 21" id="21"/>
            <p:cNvSpPr/>
            <p:nvPr/>
          </p:nvSpPr>
          <p:spPr>
            <a:xfrm flipH="false" flipV="false" rot="0">
              <a:off x="0" y="0"/>
              <a:ext cx="13533120" cy="621792"/>
            </a:xfrm>
            <a:custGeom>
              <a:avLst/>
              <a:gdLst/>
              <a:ahLst/>
              <a:cxnLst/>
              <a:rect r="r" b="b" t="t" l="l"/>
              <a:pathLst>
                <a:path h="621792" w="13533120">
                  <a:moveTo>
                    <a:pt x="0" y="0"/>
                  </a:moveTo>
                  <a:lnTo>
                    <a:pt x="13533120" y="0"/>
                  </a:lnTo>
                  <a:lnTo>
                    <a:pt x="13533120" y="621792"/>
                  </a:lnTo>
                  <a:lnTo>
                    <a:pt x="0" y="621792"/>
                  </a:lnTo>
                  <a:close/>
                </a:path>
              </a:pathLst>
            </a:custGeom>
            <a:blipFill>
              <a:blip r:embed="rId9">
                <a:alphaModFix amt="0"/>
              </a:blip>
              <a:stretch>
                <a:fillRect l="0" t="-374086" r="0" b="-374086"/>
              </a:stretch>
            </a:blipFill>
          </p:spPr>
        </p:sp>
        <p:sp>
          <p:nvSpPr>
            <p:cNvPr name="TextBox 22" id="22"/>
            <p:cNvSpPr txBox="true"/>
            <p:nvPr/>
          </p:nvSpPr>
          <p:spPr>
            <a:xfrm>
              <a:off x="0" y="-19050"/>
              <a:ext cx="13533120" cy="640842"/>
            </a:xfrm>
            <a:prstGeom prst="rect">
              <a:avLst/>
            </a:prstGeom>
          </p:spPr>
          <p:txBody>
            <a:bodyPr anchor="ctr" rtlCol="false" tIns="0" lIns="0" bIns="0" rIns="0"/>
            <a:lstStyle/>
            <a:p>
              <a:pPr algn="l">
                <a:lnSpc>
                  <a:spcPts val="2340"/>
                </a:lnSpc>
              </a:pPr>
              <a:r>
                <a:rPr lang="en-US" b="true" sz="1950" spc="375">
                  <a:solidFill>
                    <a:srgbClr val="8FBEBE"/>
                  </a:solidFill>
                  <a:latin typeface="Poppins Bold"/>
                  <a:ea typeface="Poppins Bold"/>
                  <a:cs typeface="Poppins Bold"/>
                  <a:sym typeface="Poppins Bold"/>
                </a:rPr>
                <a:t>PART ONE</a:t>
              </a:r>
            </a:p>
          </p:txBody>
        </p:sp>
      </p:grpSp>
      <p:grpSp>
        <p:nvGrpSpPr>
          <p:cNvPr name="Group 23" id="23"/>
          <p:cNvGrpSpPr/>
          <p:nvPr/>
        </p:nvGrpSpPr>
        <p:grpSpPr>
          <a:xfrm rot="0">
            <a:off x="1069848" y="4361688"/>
            <a:ext cx="1851660" cy="116586"/>
            <a:chOff x="0" y="0"/>
            <a:chExt cx="2468880" cy="155448"/>
          </a:xfrm>
        </p:grpSpPr>
        <p:sp>
          <p:nvSpPr>
            <p:cNvPr name="Freeform 24" id="24"/>
            <p:cNvSpPr/>
            <p:nvPr/>
          </p:nvSpPr>
          <p:spPr>
            <a:xfrm flipH="false" flipV="false" rot="0">
              <a:off x="0" y="0"/>
              <a:ext cx="2468880" cy="155448"/>
            </a:xfrm>
            <a:custGeom>
              <a:avLst/>
              <a:gdLst/>
              <a:ahLst/>
              <a:cxnLst/>
              <a:rect r="r" b="b" t="t" l="l"/>
              <a:pathLst>
                <a:path h="155448" w="2468880">
                  <a:moveTo>
                    <a:pt x="0" y="0"/>
                  </a:moveTo>
                  <a:lnTo>
                    <a:pt x="2468880" y="0"/>
                  </a:lnTo>
                  <a:lnTo>
                    <a:pt x="2468880" y="155448"/>
                  </a:lnTo>
                  <a:lnTo>
                    <a:pt x="0" y="155448"/>
                  </a:lnTo>
                  <a:close/>
                </a:path>
              </a:pathLst>
            </a:custGeom>
            <a:solidFill>
              <a:srgbClr val="387F7F"/>
            </a:solidFill>
          </p:spPr>
        </p:sp>
      </p:grpSp>
      <p:grpSp>
        <p:nvGrpSpPr>
          <p:cNvPr name="Group 25" id="25"/>
          <p:cNvGrpSpPr/>
          <p:nvPr/>
        </p:nvGrpSpPr>
        <p:grpSpPr>
          <a:xfrm rot="0">
            <a:off x="1069848" y="4732020"/>
            <a:ext cx="11109960" cy="2194560"/>
            <a:chOff x="0" y="0"/>
            <a:chExt cx="14813280" cy="2926080"/>
          </a:xfrm>
        </p:grpSpPr>
        <p:sp>
          <p:nvSpPr>
            <p:cNvPr name="Freeform 26" id="26"/>
            <p:cNvSpPr/>
            <p:nvPr/>
          </p:nvSpPr>
          <p:spPr>
            <a:xfrm flipH="false" flipV="false" rot="0">
              <a:off x="0" y="0"/>
              <a:ext cx="14813280" cy="2926080"/>
            </a:xfrm>
            <a:custGeom>
              <a:avLst/>
              <a:gdLst/>
              <a:ahLst/>
              <a:cxnLst/>
              <a:rect r="r" b="b" t="t" l="l"/>
              <a:pathLst>
                <a:path h="2926080" w="14813280">
                  <a:moveTo>
                    <a:pt x="0" y="0"/>
                  </a:moveTo>
                  <a:lnTo>
                    <a:pt x="14813280" y="0"/>
                  </a:lnTo>
                  <a:lnTo>
                    <a:pt x="14813280" y="2926080"/>
                  </a:lnTo>
                  <a:lnTo>
                    <a:pt x="0" y="2926080"/>
                  </a:lnTo>
                  <a:close/>
                </a:path>
              </a:pathLst>
            </a:custGeom>
            <a:blipFill>
              <a:blip r:embed="rId9">
                <a:alphaModFix amt="0"/>
              </a:blip>
              <a:stretch>
                <a:fillRect l="0" t="-48643" r="0" b="-48643"/>
              </a:stretch>
            </a:blipFill>
          </p:spPr>
        </p:sp>
        <p:sp>
          <p:nvSpPr>
            <p:cNvPr name="TextBox 27" id="27"/>
            <p:cNvSpPr txBox="true"/>
            <p:nvPr/>
          </p:nvSpPr>
          <p:spPr>
            <a:xfrm>
              <a:off x="0" y="-104775"/>
              <a:ext cx="14813280" cy="3030855"/>
            </a:xfrm>
            <a:prstGeom prst="rect">
              <a:avLst/>
            </a:prstGeom>
          </p:spPr>
          <p:txBody>
            <a:bodyPr anchor="ctr" rtlCol="false" tIns="0" lIns="0" bIns="0" rIns="0"/>
            <a:lstStyle/>
            <a:p>
              <a:pPr algn="l">
                <a:lnSpc>
                  <a:spcPts val="6998"/>
                </a:lnSpc>
              </a:pPr>
              <a:r>
                <a:rPr lang="en-US" sz="5400" b="true">
                  <a:solidFill>
                    <a:srgbClr val="FFFFFF"/>
                  </a:solidFill>
                  <a:latin typeface="Poppins Bold"/>
                  <a:ea typeface="Poppins Bold"/>
                  <a:cs typeface="Poppins Bold"/>
                  <a:sym typeface="Poppins Bold"/>
                </a:rPr>
                <a:t>The DAX audit</a:t>
              </a:r>
            </a:p>
          </p:txBody>
        </p:sp>
      </p:grpSp>
      <p:grpSp>
        <p:nvGrpSpPr>
          <p:cNvPr name="Group 28" id="28"/>
          <p:cNvGrpSpPr/>
          <p:nvPr/>
        </p:nvGrpSpPr>
        <p:grpSpPr>
          <a:xfrm rot="0">
            <a:off x="1645920" y="7283196"/>
            <a:ext cx="9875520" cy="466344"/>
            <a:chOff x="0" y="0"/>
            <a:chExt cx="13167360" cy="621792"/>
          </a:xfrm>
        </p:grpSpPr>
        <p:sp>
          <p:nvSpPr>
            <p:cNvPr name="Freeform 29" id="29"/>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30" id="30"/>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Four measures. Two are wrong.</a:t>
              </a:r>
            </a:p>
          </p:txBody>
        </p:sp>
      </p:grpSp>
      <p:grpSp>
        <p:nvGrpSpPr>
          <p:cNvPr name="Group 31" id="31"/>
          <p:cNvGrpSpPr/>
          <p:nvPr/>
        </p:nvGrpSpPr>
        <p:grpSpPr>
          <a:xfrm rot="0">
            <a:off x="1645920" y="7859268"/>
            <a:ext cx="9875520" cy="466344"/>
            <a:chOff x="0" y="0"/>
            <a:chExt cx="13167360" cy="621792"/>
          </a:xfrm>
        </p:grpSpPr>
        <p:sp>
          <p:nvSpPr>
            <p:cNvPr name="Freeform 32" id="32"/>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33" id="33"/>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Your job is judgement, not generation</a:t>
              </a:r>
            </a:p>
          </p:txBody>
        </p:sp>
      </p:grpSp>
      <p:grpSp>
        <p:nvGrpSpPr>
          <p:cNvPr name="Group 34" id="34"/>
          <p:cNvGrpSpPr/>
          <p:nvPr/>
        </p:nvGrpSpPr>
        <p:grpSpPr>
          <a:xfrm rot="0">
            <a:off x="1645920" y="8435340"/>
            <a:ext cx="9875520" cy="466344"/>
            <a:chOff x="0" y="0"/>
            <a:chExt cx="13167360" cy="621792"/>
          </a:xfrm>
        </p:grpSpPr>
        <p:sp>
          <p:nvSpPr>
            <p:cNvPr name="Freeform 35" id="35"/>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36" id="36"/>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This is your Level 3 evidence</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9821566"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Four</a:t>
            </a:r>
            <a:r>
              <a:rPr lang="en-US" sz="5000">
                <a:solidFill>
                  <a:srgbClr val="388080"/>
                </a:solidFill>
                <a:latin typeface="Poppins"/>
                <a:ea typeface="Poppins"/>
                <a:cs typeface="Poppins"/>
                <a:sym typeface="Poppins"/>
              </a:rPr>
              <a:t> measures. Two are wrong.</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143000" y="1571625"/>
            <a:ext cx="8229600" cy="438912"/>
            <a:chOff x="0" y="0"/>
            <a:chExt cx="10972800" cy="585216"/>
          </a:xfrm>
        </p:grpSpPr>
        <p:sp>
          <p:nvSpPr>
            <p:cNvPr name="Freeform 12" id="12"/>
            <p:cNvSpPr/>
            <p:nvPr/>
          </p:nvSpPr>
          <p:spPr>
            <a:xfrm flipH="false" flipV="false" rot="0">
              <a:off x="0" y="0"/>
              <a:ext cx="10972800" cy="585216"/>
            </a:xfrm>
            <a:custGeom>
              <a:avLst/>
              <a:gdLst/>
              <a:ahLst/>
              <a:cxnLst/>
              <a:rect r="r" b="b" t="t" l="l"/>
              <a:pathLst>
                <a:path h="585216" w="10972800">
                  <a:moveTo>
                    <a:pt x="0" y="0"/>
                  </a:moveTo>
                  <a:lnTo>
                    <a:pt x="10972800" y="0"/>
                  </a:lnTo>
                  <a:lnTo>
                    <a:pt x="10972800" y="585216"/>
                  </a:lnTo>
                  <a:lnTo>
                    <a:pt x="0" y="585216"/>
                  </a:lnTo>
                  <a:close/>
                </a:path>
              </a:pathLst>
            </a:custGeom>
            <a:blipFill>
              <a:blip r:embed="rId9">
                <a:alphaModFix amt="0"/>
              </a:blip>
              <a:stretch>
                <a:fillRect l="0" t="-315344" r="0" b="-315344"/>
              </a:stretch>
            </a:blipFill>
          </p:spPr>
        </p:sp>
        <p:sp>
          <p:nvSpPr>
            <p:cNvPr name="TextBox 13" id="13"/>
            <p:cNvSpPr txBox="true"/>
            <p:nvPr/>
          </p:nvSpPr>
          <p:spPr>
            <a:xfrm>
              <a:off x="0" y="-19050"/>
              <a:ext cx="10972800" cy="604266"/>
            </a:xfrm>
            <a:prstGeom prst="rect">
              <a:avLst/>
            </a:prstGeom>
          </p:spPr>
          <p:txBody>
            <a:bodyPr anchor="ctr" rtlCol="false" tIns="0" lIns="0" bIns="0" rIns="0"/>
            <a:lstStyle/>
            <a:p>
              <a:pPr algn="l">
                <a:lnSpc>
                  <a:spcPts val="2160"/>
                </a:lnSpc>
              </a:pPr>
              <a:r>
                <a:rPr lang="en-US" b="true" sz="1800" spc="300">
                  <a:solidFill>
                    <a:srgbClr val="8FBEBE"/>
                  </a:solidFill>
                  <a:latin typeface="Poppins Bold"/>
                  <a:ea typeface="Poppins Bold"/>
                  <a:cs typeface="Poppins Bold"/>
                  <a:sym typeface="Poppins Bold"/>
                </a:rPr>
                <a:t>AUDIT EXERCISE</a:t>
              </a:r>
            </a:p>
          </p:txBody>
        </p:sp>
      </p:grpSp>
      <p:grpSp>
        <p:nvGrpSpPr>
          <p:cNvPr name="Group 14" id="14"/>
          <p:cNvGrpSpPr/>
          <p:nvPr/>
        </p:nvGrpSpPr>
        <p:grpSpPr>
          <a:xfrm rot="0">
            <a:off x="881367" y="3017520"/>
            <a:ext cx="15636240" cy="2743200"/>
            <a:chOff x="0" y="0"/>
            <a:chExt cx="20848320" cy="3657600"/>
          </a:xfrm>
        </p:grpSpPr>
        <p:sp>
          <p:nvSpPr>
            <p:cNvPr name="Freeform 15" id="15"/>
            <p:cNvSpPr/>
            <p:nvPr/>
          </p:nvSpPr>
          <p:spPr>
            <a:xfrm flipH="false" flipV="false" rot="0">
              <a:off x="0" y="0"/>
              <a:ext cx="20848320" cy="3657600"/>
            </a:xfrm>
            <a:custGeom>
              <a:avLst/>
              <a:gdLst/>
              <a:ahLst/>
              <a:cxnLst/>
              <a:rect r="r" b="b" t="t" l="l"/>
              <a:pathLst>
                <a:path h="3657600" w="20848320">
                  <a:moveTo>
                    <a:pt x="0" y="182880"/>
                  </a:moveTo>
                  <a:cubicBezTo>
                    <a:pt x="0" y="81915"/>
                    <a:pt x="81915" y="0"/>
                    <a:pt x="182880" y="0"/>
                  </a:cubicBezTo>
                  <a:lnTo>
                    <a:pt x="20665439" y="0"/>
                  </a:lnTo>
                  <a:cubicBezTo>
                    <a:pt x="20766404" y="0"/>
                    <a:pt x="20848320" y="81915"/>
                    <a:pt x="20848320" y="182880"/>
                  </a:cubicBezTo>
                  <a:lnTo>
                    <a:pt x="20848320" y="3474720"/>
                  </a:lnTo>
                  <a:cubicBezTo>
                    <a:pt x="20848320" y="3575685"/>
                    <a:pt x="20766404" y="3657600"/>
                    <a:pt x="20665439" y="3657600"/>
                  </a:cubicBezTo>
                  <a:lnTo>
                    <a:pt x="182880" y="3657600"/>
                  </a:lnTo>
                  <a:cubicBezTo>
                    <a:pt x="81915" y="3657600"/>
                    <a:pt x="0" y="3575685"/>
                    <a:pt x="0" y="3474720"/>
                  </a:cubicBezTo>
                  <a:close/>
                </a:path>
              </a:pathLst>
            </a:custGeom>
            <a:solidFill>
              <a:srgbClr val="FFFFFF"/>
            </a:solidFill>
          </p:spPr>
        </p:sp>
      </p:grpSp>
      <p:grpSp>
        <p:nvGrpSpPr>
          <p:cNvPr name="Group 16" id="16"/>
          <p:cNvGrpSpPr/>
          <p:nvPr/>
        </p:nvGrpSpPr>
        <p:grpSpPr>
          <a:xfrm rot="0">
            <a:off x="881367" y="3017520"/>
            <a:ext cx="123444" cy="2743200"/>
            <a:chOff x="0" y="0"/>
            <a:chExt cx="164592" cy="3657600"/>
          </a:xfrm>
        </p:grpSpPr>
        <p:sp>
          <p:nvSpPr>
            <p:cNvPr name="Freeform 17" id="17"/>
            <p:cNvSpPr/>
            <p:nvPr/>
          </p:nvSpPr>
          <p:spPr>
            <a:xfrm flipH="false" flipV="false" rot="0">
              <a:off x="0" y="0"/>
              <a:ext cx="164592" cy="3657600"/>
            </a:xfrm>
            <a:custGeom>
              <a:avLst/>
              <a:gdLst/>
              <a:ahLst/>
              <a:cxnLst/>
              <a:rect r="r" b="b" t="t" l="l"/>
              <a:pathLst>
                <a:path h="3657600" w="164592">
                  <a:moveTo>
                    <a:pt x="0" y="0"/>
                  </a:moveTo>
                  <a:lnTo>
                    <a:pt x="164592" y="0"/>
                  </a:lnTo>
                  <a:lnTo>
                    <a:pt x="164592" y="3657600"/>
                  </a:lnTo>
                  <a:lnTo>
                    <a:pt x="0" y="3657600"/>
                  </a:lnTo>
                  <a:close/>
                </a:path>
              </a:pathLst>
            </a:custGeom>
            <a:solidFill>
              <a:srgbClr val="387F7F"/>
            </a:solidFill>
          </p:spPr>
        </p:sp>
      </p:grpSp>
      <p:grpSp>
        <p:nvGrpSpPr>
          <p:cNvPr name="Group 18" id="18"/>
          <p:cNvGrpSpPr/>
          <p:nvPr/>
        </p:nvGrpSpPr>
        <p:grpSpPr>
          <a:xfrm rot="0">
            <a:off x="1361427" y="3291840"/>
            <a:ext cx="14401800" cy="411480"/>
            <a:chOff x="0" y="0"/>
            <a:chExt cx="19202400" cy="548640"/>
          </a:xfrm>
        </p:grpSpPr>
        <p:sp>
          <p:nvSpPr>
            <p:cNvPr name="Freeform 19" id="19"/>
            <p:cNvSpPr/>
            <p:nvPr/>
          </p:nvSpPr>
          <p:spPr>
            <a:xfrm flipH="false" flipV="false" rot="0">
              <a:off x="0" y="0"/>
              <a:ext cx="19202400" cy="548640"/>
            </a:xfrm>
            <a:custGeom>
              <a:avLst/>
              <a:gdLst/>
              <a:ahLst/>
              <a:cxnLst/>
              <a:rect r="r" b="b" t="t" l="l"/>
              <a:pathLst>
                <a:path h="548640" w="19202400">
                  <a:moveTo>
                    <a:pt x="0" y="0"/>
                  </a:moveTo>
                  <a:lnTo>
                    <a:pt x="19202400" y="0"/>
                  </a:lnTo>
                  <a:lnTo>
                    <a:pt x="19202400" y="548640"/>
                  </a:lnTo>
                  <a:lnTo>
                    <a:pt x="0" y="548640"/>
                  </a:lnTo>
                  <a:close/>
                </a:path>
              </a:pathLst>
            </a:custGeom>
            <a:blipFill>
              <a:blip r:embed="rId9">
                <a:alphaModFix amt="0"/>
              </a:blip>
              <a:stretch>
                <a:fillRect l="0" t="-631976" r="0" b="-631976"/>
              </a:stretch>
            </a:blipFill>
          </p:spPr>
        </p:sp>
        <p:sp>
          <p:nvSpPr>
            <p:cNvPr name="TextBox 20" id="20"/>
            <p:cNvSpPr txBox="true"/>
            <p:nvPr/>
          </p:nvSpPr>
          <p:spPr>
            <a:xfrm>
              <a:off x="0" y="-9525"/>
              <a:ext cx="19202400" cy="558165"/>
            </a:xfrm>
            <a:prstGeom prst="rect">
              <a:avLst/>
            </a:prstGeom>
          </p:spPr>
          <p:txBody>
            <a:bodyPr anchor="ctr" rtlCol="false" tIns="0" lIns="0" bIns="0" rIns="0"/>
            <a:lstStyle/>
            <a:p>
              <a:pPr algn="l">
                <a:lnSpc>
                  <a:spcPts val="1980"/>
                </a:lnSpc>
              </a:pPr>
              <a:r>
                <a:rPr lang="en-US" sz="1650" b="true">
                  <a:solidFill>
                    <a:srgbClr val="387F7F"/>
                  </a:solidFill>
                  <a:latin typeface="Poppins Bold"/>
                  <a:ea typeface="Poppins Bold"/>
                  <a:cs typeface="Poppins Bold"/>
                  <a:sym typeface="Poppins Bold"/>
                </a:rPr>
                <a:t>THE TASK</a:t>
              </a:r>
            </a:p>
          </p:txBody>
        </p:sp>
      </p:grpSp>
      <p:sp>
        <p:nvSpPr>
          <p:cNvPr name="TextBox 21" id="21"/>
          <p:cNvSpPr txBox="true"/>
          <p:nvPr/>
        </p:nvSpPr>
        <p:spPr>
          <a:xfrm rot="0">
            <a:off x="1361427" y="3686175"/>
            <a:ext cx="14813280" cy="1937385"/>
          </a:xfrm>
          <a:prstGeom prst="rect">
            <a:avLst/>
          </a:prstGeom>
        </p:spPr>
        <p:txBody>
          <a:bodyPr anchor="t" rtlCol="false" tIns="0" lIns="0" bIns="0" rIns="0">
            <a:spAutoFit/>
          </a:bodyPr>
          <a:lstStyle/>
          <a:p>
            <a:pPr algn="l">
              <a:lnSpc>
                <a:spcPts val="3110"/>
              </a:lnSpc>
            </a:pPr>
            <a:r>
              <a:rPr lang="en-US" sz="2025">
                <a:solidFill>
                  <a:srgbClr val="475569"/>
                </a:solidFill>
                <a:latin typeface="Poppins"/>
                <a:ea typeface="Poppins"/>
                <a:cs typeface="Poppins"/>
                <a:sym typeface="Poppins"/>
              </a:rPr>
              <a:t>You will receive four DAX measures written by an AI assistant, all for the SwiftRoute model. Two are correct. Two are not, and one of those returns a plausible number rather than an error.</a:t>
            </a:r>
          </a:p>
          <a:p>
            <a:pPr algn="l">
              <a:lnSpc>
                <a:spcPts val="3110"/>
              </a:lnSpc>
            </a:pPr>
          </a:p>
          <a:p>
            <a:pPr algn="l">
              <a:lnSpc>
                <a:spcPts val="3110"/>
              </a:lnSpc>
            </a:pPr>
            <a:r>
              <a:rPr lang="en-US" sz="2025">
                <a:solidFill>
                  <a:srgbClr val="475569"/>
                </a:solidFill>
                <a:latin typeface="Poppins"/>
                <a:ea typeface="Poppins"/>
                <a:cs typeface="Poppins"/>
                <a:sym typeface="Poppins"/>
              </a:rPr>
              <a:t>For each measure: state whether it is correct, prove your verdict against source data in Power BI, and for each faulty one write the prompt you would use to challenge the assistant.</a:t>
            </a:r>
          </a:p>
        </p:txBody>
      </p:sp>
      <p:grpSp>
        <p:nvGrpSpPr>
          <p:cNvPr name="Group 22" id="22"/>
          <p:cNvGrpSpPr/>
          <p:nvPr/>
        </p:nvGrpSpPr>
        <p:grpSpPr>
          <a:xfrm rot="0">
            <a:off x="881367" y="6103620"/>
            <a:ext cx="15636240" cy="1851660"/>
            <a:chOff x="0" y="0"/>
            <a:chExt cx="20848320" cy="2468880"/>
          </a:xfrm>
        </p:grpSpPr>
        <p:sp>
          <p:nvSpPr>
            <p:cNvPr name="Freeform 23" id="23"/>
            <p:cNvSpPr/>
            <p:nvPr/>
          </p:nvSpPr>
          <p:spPr>
            <a:xfrm flipH="false" flipV="false" rot="0">
              <a:off x="0" y="0"/>
              <a:ext cx="20848320" cy="2468880"/>
            </a:xfrm>
            <a:custGeom>
              <a:avLst/>
              <a:gdLst/>
              <a:ahLst/>
              <a:cxnLst/>
              <a:rect r="r" b="b" t="t" l="l"/>
              <a:pathLst>
                <a:path h="2468880" w="20848320">
                  <a:moveTo>
                    <a:pt x="0" y="164592"/>
                  </a:moveTo>
                  <a:cubicBezTo>
                    <a:pt x="0" y="73660"/>
                    <a:pt x="73660" y="0"/>
                    <a:pt x="164592" y="0"/>
                  </a:cubicBezTo>
                  <a:lnTo>
                    <a:pt x="20683728" y="0"/>
                  </a:lnTo>
                  <a:cubicBezTo>
                    <a:pt x="20774661" y="0"/>
                    <a:pt x="20848320" y="73660"/>
                    <a:pt x="20848320" y="164592"/>
                  </a:cubicBezTo>
                  <a:lnTo>
                    <a:pt x="20848320" y="2304288"/>
                  </a:lnTo>
                  <a:cubicBezTo>
                    <a:pt x="20848320" y="2395220"/>
                    <a:pt x="20774661" y="2468880"/>
                    <a:pt x="20683728" y="2468880"/>
                  </a:cubicBezTo>
                  <a:lnTo>
                    <a:pt x="164592" y="2468880"/>
                  </a:lnTo>
                  <a:cubicBezTo>
                    <a:pt x="73660" y="2468880"/>
                    <a:pt x="0" y="2395220"/>
                    <a:pt x="0" y="2304288"/>
                  </a:cubicBezTo>
                  <a:close/>
                </a:path>
              </a:pathLst>
            </a:custGeom>
            <a:solidFill>
              <a:srgbClr val="EEF4F4"/>
            </a:solidFill>
          </p:spPr>
        </p:sp>
      </p:grpSp>
      <p:grpSp>
        <p:nvGrpSpPr>
          <p:cNvPr name="Group 24" id="24"/>
          <p:cNvGrpSpPr/>
          <p:nvPr/>
        </p:nvGrpSpPr>
        <p:grpSpPr>
          <a:xfrm rot="0">
            <a:off x="881367" y="6103620"/>
            <a:ext cx="123444" cy="1851660"/>
            <a:chOff x="0" y="0"/>
            <a:chExt cx="164592" cy="2468880"/>
          </a:xfrm>
        </p:grpSpPr>
        <p:sp>
          <p:nvSpPr>
            <p:cNvPr name="Freeform 25" id="25"/>
            <p:cNvSpPr/>
            <p:nvPr/>
          </p:nvSpPr>
          <p:spPr>
            <a:xfrm flipH="false" flipV="false" rot="0">
              <a:off x="0" y="0"/>
              <a:ext cx="164592" cy="2468880"/>
            </a:xfrm>
            <a:custGeom>
              <a:avLst/>
              <a:gdLst/>
              <a:ahLst/>
              <a:cxnLst/>
              <a:rect r="r" b="b" t="t" l="l"/>
              <a:pathLst>
                <a:path h="2468880" w="164592">
                  <a:moveTo>
                    <a:pt x="0" y="0"/>
                  </a:moveTo>
                  <a:lnTo>
                    <a:pt x="164592" y="0"/>
                  </a:lnTo>
                  <a:lnTo>
                    <a:pt x="164592" y="2468880"/>
                  </a:lnTo>
                  <a:lnTo>
                    <a:pt x="0" y="2468880"/>
                  </a:lnTo>
                  <a:close/>
                </a:path>
              </a:pathLst>
            </a:custGeom>
            <a:solidFill>
              <a:srgbClr val="9BB7B7"/>
            </a:solidFill>
          </p:spPr>
        </p:sp>
      </p:grpSp>
      <p:grpSp>
        <p:nvGrpSpPr>
          <p:cNvPr name="Group 26" id="26"/>
          <p:cNvGrpSpPr/>
          <p:nvPr/>
        </p:nvGrpSpPr>
        <p:grpSpPr>
          <a:xfrm rot="0">
            <a:off x="1361427" y="6377940"/>
            <a:ext cx="14401800" cy="411480"/>
            <a:chOff x="0" y="0"/>
            <a:chExt cx="19202400" cy="548640"/>
          </a:xfrm>
        </p:grpSpPr>
        <p:sp>
          <p:nvSpPr>
            <p:cNvPr name="Freeform 27" id="27"/>
            <p:cNvSpPr/>
            <p:nvPr/>
          </p:nvSpPr>
          <p:spPr>
            <a:xfrm flipH="false" flipV="false" rot="0">
              <a:off x="0" y="0"/>
              <a:ext cx="19202400" cy="548640"/>
            </a:xfrm>
            <a:custGeom>
              <a:avLst/>
              <a:gdLst/>
              <a:ahLst/>
              <a:cxnLst/>
              <a:rect r="r" b="b" t="t" l="l"/>
              <a:pathLst>
                <a:path h="548640" w="19202400">
                  <a:moveTo>
                    <a:pt x="0" y="0"/>
                  </a:moveTo>
                  <a:lnTo>
                    <a:pt x="19202400" y="0"/>
                  </a:lnTo>
                  <a:lnTo>
                    <a:pt x="19202400" y="548640"/>
                  </a:lnTo>
                  <a:lnTo>
                    <a:pt x="0" y="548640"/>
                  </a:lnTo>
                  <a:close/>
                </a:path>
              </a:pathLst>
            </a:custGeom>
            <a:blipFill>
              <a:blip r:embed="rId9">
                <a:alphaModFix amt="0"/>
              </a:blip>
              <a:stretch>
                <a:fillRect l="0" t="-631976" r="0" b="-631976"/>
              </a:stretch>
            </a:blipFill>
          </p:spPr>
        </p:sp>
        <p:sp>
          <p:nvSpPr>
            <p:cNvPr name="TextBox 28" id="28"/>
            <p:cNvSpPr txBox="true"/>
            <p:nvPr/>
          </p:nvSpPr>
          <p:spPr>
            <a:xfrm>
              <a:off x="0" y="-9525"/>
              <a:ext cx="19202400" cy="558165"/>
            </a:xfrm>
            <a:prstGeom prst="rect">
              <a:avLst/>
            </a:prstGeom>
          </p:spPr>
          <p:txBody>
            <a:bodyPr anchor="ctr" rtlCol="false" tIns="0" lIns="0" bIns="0" rIns="0"/>
            <a:lstStyle/>
            <a:p>
              <a:pPr algn="l">
                <a:lnSpc>
                  <a:spcPts val="1980"/>
                </a:lnSpc>
              </a:pPr>
              <a:r>
                <a:rPr lang="en-US" sz="1650" b="true">
                  <a:solidFill>
                    <a:srgbClr val="20494A"/>
                  </a:solidFill>
                  <a:latin typeface="Poppins Bold"/>
                  <a:ea typeface="Poppins Bold"/>
                  <a:cs typeface="Poppins Bold"/>
                  <a:sym typeface="Poppins Bold"/>
                </a:rPr>
                <a:t>DELIVERABLE</a:t>
              </a:r>
            </a:p>
          </p:txBody>
        </p:sp>
      </p:grpSp>
      <p:sp>
        <p:nvSpPr>
          <p:cNvPr name="TextBox 29" id="29"/>
          <p:cNvSpPr txBox="true"/>
          <p:nvPr/>
        </p:nvSpPr>
        <p:spPr>
          <a:xfrm rot="0">
            <a:off x="1361427" y="6781800"/>
            <a:ext cx="14813280" cy="1104900"/>
          </a:xfrm>
          <a:prstGeom prst="rect">
            <a:avLst/>
          </a:prstGeom>
        </p:spPr>
        <p:txBody>
          <a:bodyPr anchor="t" rtlCol="false" tIns="0" lIns="0" bIns="0" rIns="0">
            <a:spAutoFit/>
          </a:bodyPr>
          <a:lstStyle/>
          <a:p>
            <a:pPr algn="l">
              <a:lnSpc>
                <a:spcPts val="2925"/>
              </a:lnSpc>
            </a:pPr>
            <a:r>
              <a:rPr lang="en-US" sz="1950">
                <a:solidFill>
                  <a:srgbClr val="475569"/>
                </a:solidFill>
                <a:latin typeface="Poppins"/>
                <a:ea typeface="Poppins"/>
                <a:cs typeface="Poppins"/>
                <a:sym typeface="Poppins"/>
              </a:rPr>
              <a:t>The marked-up sheet: your verdict, your proof, and your challenge prompt for each of the four. This is your Level 3 evidence for the AI fluency ladder, and it is assessed.</a:t>
            </a:r>
          </a:p>
        </p:txBody>
      </p:sp>
      <p:sp>
        <p:nvSpPr>
          <p:cNvPr name="TextBox 30" id="30"/>
          <p:cNvSpPr txBox="true"/>
          <p:nvPr/>
        </p:nvSpPr>
        <p:spPr>
          <a:xfrm rot="0">
            <a:off x="881367" y="8065770"/>
            <a:ext cx="15636240" cy="643890"/>
          </a:xfrm>
          <a:prstGeom prst="rect">
            <a:avLst/>
          </a:prstGeom>
        </p:spPr>
        <p:txBody>
          <a:bodyPr anchor="t" rtlCol="false" tIns="0" lIns="0" bIns="0" rIns="0">
            <a:spAutoFit/>
          </a:bodyPr>
          <a:lstStyle/>
          <a:p>
            <a:pPr algn="ctr">
              <a:lnSpc>
                <a:spcPts val="3159"/>
              </a:lnSpc>
            </a:pPr>
            <a:r>
              <a:rPr lang="en-US" sz="1950" i="true">
                <a:solidFill>
                  <a:srgbClr val="64748B"/>
                </a:solidFill>
                <a:latin typeface="Poppins Italics"/>
                <a:ea typeface="Poppins Italics"/>
                <a:cs typeface="Poppins Italics"/>
                <a:sym typeface="Poppins Italics"/>
              </a:rPr>
              <a:t>Work in pairs. Predict before you run.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978227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The</a:t>
            </a:r>
            <a:r>
              <a:rPr lang="en-US" sz="5000">
                <a:solidFill>
                  <a:srgbClr val="388080"/>
                </a:solidFill>
                <a:latin typeface="Poppins"/>
                <a:ea typeface="Poppins"/>
                <a:cs typeface="Poppins"/>
                <a:sym typeface="Poppins"/>
              </a:rPr>
              <a:t> four measures under audit</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904875" y="2546985"/>
            <a:ext cx="7063740" cy="3223260"/>
            <a:chOff x="0" y="0"/>
            <a:chExt cx="9418320" cy="4297680"/>
          </a:xfrm>
        </p:grpSpPr>
        <p:sp>
          <p:nvSpPr>
            <p:cNvPr name="Freeform 12" id="12"/>
            <p:cNvSpPr/>
            <p:nvPr/>
          </p:nvSpPr>
          <p:spPr>
            <a:xfrm flipH="false" flipV="false" rot="0">
              <a:off x="0" y="0"/>
              <a:ext cx="9418320" cy="4297680"/>
            </a:xfrm>
            <a:custGeom>
              <a:avLst/>
              <a:gdLst/>
              <a:ahLst/>
              <a:cxnLst/>
              <a:rect r="r" b="b" t="t" l="l"/>
              <a:pathLst>
                <a:path h="4297680" w="9418320">
                  <a:moveTo>
                    <a:pt x="0" y="164592"/>
                  </a:moveTo>
                  <a:cubicBezTo>
                    <a:pt x="0" y="73660"/>
                    <a:pt x="73660" y="0"/>
                    <a:pt x="164592" y="0"/>
                  </a:cubicBezTo>
                  <a:lnTo>
                    <a:pt x="9253728" y="0"/>
                  </a:lnTo>
                  <a:cubicBezTo>
                    <a:pt x="9344660" y="0"/>
                    <a:pt x="9418320" y="73660"/>
                    <a:pt x="9418320" y="164592"/>
                  </a:cubicBezTo>
                  <a:lnTo>
                    <a:pt x="9418320" y="4133088"/>
                  </a:lnTo>
                  <a:cubicBezTo>
                    <a:pt x="9418320" y="4224020"/>
                    <a:pt x="9344660" y="4297680"/>
                    <a:pt x="9253728" y="4297680"/>
                  </a:cubicBezTo>
                  <a:lnTo>
                    <a:pt x="164592" y="4297680"/>
                  </a:lnTo>
                  <a:cubicBezTo>
                    <a:pt x="73660" y="4297680"/>
                    <a:pt x="0" y="4224020"/>
                    <a:pt x="0" y="4133088"/>
                  </a:cubicBezTo>
                  <a:close/>
                </a:path>
              </a:pathLst>
            </a:custGeom>
            <a:solidFill>
              <a:srgbClr val="10312F"/>
            </a:solidFill>
          </p:spPr>
        </p:sp>
      </p:grpSp>
      <p:grpSp>
        <p:nvGrpSpPr>
          <p:cNvPr name="Group 13" id="13"/>
          <p:cNvGrpSpPr/>
          <p:nvPr/>
        </p:nvGrpSpPr>
        <p:grpSpPr>
          <a:xfrm rot="0">
            <a:off x="1206627" y="2341245"/>
            <a:ext cx="2194560" cy="438912"/>
            <a:chOff x="0" y="0"/>
            <a:chExt cx="2926080" cy="585216"/>
          </a:xfrm>
        </p:grpSpPr>
        <p:sp>
          <p:nvSpPr>
            <p:cNvPr name="Freeform 14" id="14"/>
            <p:cNvSpPr/>
            <p:nvPr/>
          </p:nvSpPr>
          <p:spPr>
            <a:xfrm flipH="false" flipV="false" rot="0">
              <a:off x="0" y="0"/>
              <a:ext cx="2926080" cy="585216"/>
            </a:xfrm>
            <a:custGeom>
              <a:avLst/>
              <a:gdLst/>
              <a:ahLst/>
              <a:cxnLst/>
              <a:rect r="r" b="b" t="t" l="l"/>
              <a:pathLst>
                <a:path h="585216" w="2926080">
                  <a:moveTo>
                    <a:pt x="0" y="292608"/>
                  </a:moveTo>
                  <a:cubicBezTo>
                    <a:pt x="0" y="131064"/>
                    <a:pt x="131064" y="0"/>
                    <a:pt x="292608" y="0"/>
                  </a:cubicBezTo>
                  <a:lnTo>
                    <a:pt x="2633472" y="0"/>
                  </a:lnTo>
                  <a:cubicBezTo>
                    <a:pt x="2795016" y="0"/>
                    <a:pt x="2926080" y="131064"/>
                    <a:pt x="2926080" y="292608"/>
                  </a:cubicBezTo>
                  <a:cubicBezTo>
                    <a:pt x="2926080" y="454152"/>
                    <a:pt x="2795016" y="585216"/>
                    <a:pt x="2633472" y="585216"/>
                  </a:cubicBezTo>
                  <a:lnTo>
                    <a:pt x="292608" y="585216"/>
                  </a:lnTo>
                  <a:cubicBezTo>
                    <a:pt x="131064" y="585216"/>
                    <a:pt x="0" y="454152"/>
                    <a:pt x="0" y="292608"/>
                  </a:cubicBezTo>
                  <a:close/>
                </a:path>
              </a:pathLst>
            </a:custGeom>
            <a:solidFill>
              <a:srgbClr val="387F7F"/>
            </a:solidFill>
          </p:spPr>
        </p:sp>
      </p:grpSp>
      <p:grpSp>
        <p:nvGrpSpPr>
          <p:cNvPr name="Group 15" id="15"/>
          <p:cNvGrpSpPr/>
          <p:nvPr/>
        </p:nvGrpSpPr>
        <p:grpSpPr>
          <a:xfrm rot="0">
            <a:off x="1206627" y="2341245"/>
            <a:ext cx="2194560" cy="438912"/>
            <a:chOff x="0" y="0"/>
            <a:chExt cx="2926080" cy="585216"/>
          </a:xfrm>
        </p:grpSpPr>
        <p:sp>
          <p:nvSpPr>
            <p:cNvPr name="Freeform 16" id="16"/>
            <p:cNvSpPr/>
            <p:nvPr/>
          </p:nvSpPr>
          <p:spPr>
            <a:xfrm flipH="false" flipV="false" rot="0">
              <a:off x="0" y="0"/>
              <a:ext cx="2926080" cy="585216"/>
            </a:xfrm>
            <a:custGeom>
              <a:avLst/>
              <a:gdLst/>
              <a:ahLst/>
              <a:cxnLst/>
              <a:rect r="r" b="b" t="t" l="l"/>
              <a:pathLst>
                <a:path h="585216" w="2926080">
                  <a:moveTo>
                    <a:pt x="0" y="0"/>
                  </a:moveTo>
                  <a:lnTo>
                    <a:pt x="2926080" y="0"/>
                  </a:lnTo>
                  <a:lnTo>
                    <a:pt x="2926080" y="585216"/>
                  </a:lnTo>
                  <a:lnTo>
                    <a:pt x="0" y="585216"/>
                  </a:lnTo>
                  <a:close/>
                </a:path>
              </a:pathLst>
            </a:custGeom>
            <a:blipFill>
              <a:blip r:embed="rId9">
                <a:alphaModFix amt="0"/>
              </a:blip>
              <a:stretch>
                <a:fillRect l="0" t="-47425" r="0" b="-47425"/>
              </a:stretch>
            </a:blipFill>
          </p:spPr>
        </p:sp>
        <p:sp>
          <p:nvSpPr>
            <p:cNvPr name="TextBox 17" id="17"/>
            <p:cNvSpPr txBox="true"/>
            <p:nvPr/>
          </p:nvSpPr>
          <p:spPr>
            <a:xfrm>
              <a:off x="0" y="-19050"/>
              <a:ext cx="2926080" cy="604266"/>
            </a:xfrm>
            <a:prstGeom prst="rect">
              <a:avLst/>
            </a:prstGeom>
          </p:spPr>
          <p:txBody>
            <a:bodyPr anchor="ctr" rtlCol="false" tIns="0" lIns="0" bIns="0" rIns="0"/>
            <a:lstStyle/>
            <a:p>
              <a:pPr algn="ctr">
                <a:lnSpc>
                  <a:spcPts val="1620"/>
                </a:lnSpc>
              </a:pPr>
              <a:r>
                <a:rPr lang="en-US" sz="1350" b="true">
                  <a:solidFill>
                    <a:srgbClr val="FFFFFF"/>
                  </a:solidFill>
                  <a:latin typeface="Poppins Bold"/>
                  <a:ea typeface="Poppins Bold"/>
                  <a:cs typeface="Poppins Bold"/>
                  <a:sym typeface="Poppins Bold"/>
                </a:rPr>
                <a:t>MEASURE A</a:t>
              </a:r>
            </a:p>
          </p:txBody>
        </p:sp>
      </p:grpSp>
      <p:grpSp>
        <p:nvGrpSpPr>
          <p:cNvPr name="Group 18" id="18"/>
          <p:cNvGrpSpPr/>
          <p:nvPr/>
        </p:nvGrpSpPr>
        <p:grpSpPr>
          <a:xfrm rot="0">
            <a:off x="1316355" y="2958465"/>
            <a:ext cx="6240780" cy="2537460"/>
            <a:chOff x="0" y="0"/>
            <a:chExt cx="8321040" cy="3383280"/>
          </a:xfrm>
        </p:grpSpPr>
        <p:sp>
          <p:nvSpPr>
            <p:cNvPr name="Freeform 19" id="19"/>
            <p:cNvSpPr/>
            <p:nvPr/>
          </p:nvSpPr>
          <p:spPr>
            <a:xfrm flipH="false" flipV="false" rot="0">
              <a:off x="0" y="0"/>
              <a:ext cx="8321040" cy="3383280"/>
            </a:xfrm>
            <a:custGeom>
              <a:avLst/>
              <a:gdLst/>
              <a:ahLst/>
              <a:cxnLst/>
              <a:rect r="r" b="b" t="t" l="l"/>
              <a:pathLst>
                <a:path h="3383280" w="8321040">
                  <a:moveTo>
                    <a:pt x="0" y="0"/>
                  </a:moveTo>
                  <a:lnTo>
                    <a:pt x="8321040" y="0"/>
                  </a:lnTo>
                  <a:lnTo>
                    <a:pt x="8321040" y="3383280"/>
                  </a:lnTo>
                  <a:lnTo>
                    <a:pt x="0" y="3383280"/>
                  </a:lnTo>
                  <a:close/>
                </a:path>
              </a:pathLst>
            </a:custGeom>
            <a:blipFill>
              <a:blip r:embed="rId9">
                <a:alphaModFix amt="0"/>
              </a:blip>
              <a:stretch>
                <a:fillRect l="-2167" t="0" r="-2167" b="0"/>
              </a:stretch>
            </a:blipFill>
          </p:spPr>
        </p:sp>
        <p:sp>
          <p:nvSpPr>
            <p:cNvPr name="TextBox 20" id="20"/>
            <p:cNvSpPr txBox="true"/>
            <p:nvPr/>
          </p:nvSpPr>
          <p:spPr>
            <a:xfrm>
              <a:off x="0" y="-38100"/>
              <a:ext cx="8321040" cy="3421380"/>
            </a:xfrm>
            <a:prstGeom prst="rect">
              <a:avLst/>
            </a:prstGeom>
          </p:spPr>
          <p:txBody>
            <a:bodyPr anchor="ctr" rtlCol="false" tIns="0" lIns="0" bIns="0" rIns="0"/>
            <a:lstStyle/>
            <a:p>
              <a:pPr algn="l">
                <a:lnSpc>
                  <a:spcPts val="2250"/>
                </a:lnSpc>
              </a:pPr>
              <a:r>
                <a:rPr lang="en-US" sz="1500">
                  <a:solidFill>
                    <a:srgbClr val="CFE6E3"/>
                  </a:solidFill>
                  <a:latin typeface="Roboto Mono"/>
                  <a:ea typeface="Roboto Mono"/>
                  <a:cs typeface="Roboto Mono"/>
                  <a:sym typeface="Roboto Mono"/>
                </a:rPr>
                <a:t>Total Late =</a:t>
              </a:r>
            </a:p>
            <a:p>
              <a:pPr algn="l">
                <a:lnSpc>
                  <a:spcPts val="2250"/>
                </a:lnSpc>
              </a:pPr>
              <a:r>
                <a:rPr lang="en-US" sz="1500">
                  <a:solidFill>
                    <a:srgbClr val="CFE6E3"/>
                  </a:solidFill>
                  <a:latin typeface="Roboto Mono"/>
                  <a:ea typeface="Roboto Mono"/>
                  <a:cs typeface="Roboto Mono"/>
                  <a:sym typeface="Roboto Mono"/>
                </a:rPr>
                <a:t>CALCULATE (</a:t>
              </a:r>
            </a:p>
            <a:p>
              <a:pPr algn="l">
                <a:lnSpc>
                  <a:spcPts val="2250"/>
                </a:lnSpc>
              </a:pPr>
              <a:r>
                <a:rPr lang="en-US" sz="1500">
                  <a:solidFill>
                    <a:srgbClr val="CFE6E3"/>
                  </a:solidFill>
                  <a:latin typeface="Roboto Mono"/>
                  <a:ea typeface="Roboto Mono"/>
                  <a:cs typeface="Roboto Mono"/>
                  <a:sym typeface="Roboto Mono"/>
                </a:rPr>
                <a:t>    [Total Deliveries],</a:t>
              </a:r>
            </a:p>
            <a:p>
              <a:pPr algn="l">
                <a:lnSpc>
                  <a:spcPts val="2250"/>
                </a:lnSpc>
              </a:pPr>
              <a:r>
                <a:rPr lang="en-US" sz="1500">
                  <a:solidFill>
                    <a:srgbClr val="CFE6E3"/>
                  </a:solidFill>
                  <a:latin typeface="Roboto Mono"/>
                  <a:ea typeface="Roboto Mono"/>
                  <a:cs typeface="Roboto Mono"/>
                  <a:sym typeface="Roboto Mono"/>
                </a:rPr>
                <a:t>    swiftroute_deliveries[Status] = "Late"</a:t>
              </a:r>
            </a:p>
            <a:p>
              <a:pPr algn="l">
                <a:lnSpc>
                  <a:spcPts val="2250"/>
                </a:lnSpc>
              </a:pPr>
              <a:r>
                <a:rPr lang="en-US" sz="1500">
                  <a:solidFill>
                    <a:srgbClr val="CFE6E3"/>
                  </a:solidFill>
                  <a:latin typeface="Roboto Mono"/>
                  <a:ea typeface="Roboto Mono"/>
                  <a:cs typeface="Roboto Mono"/>
                  <a:sym typeface="Roboto Mono"/>
                </a:rPr>
                <a:t>)</a:t>
              </a:r>
            </a:p>
          </p:txBody>
        </p:sp>
      </p:grpSp>
      <p:grpSp>
        <p:nvGrpSpPr>
          <p:cNvPr name="Group 21" id="21"/>
          <p:cNvGrpSpPr/>
          <p:nvPr/>
        </p:nvGrpSpPr>
        <p:grpSpPr>
          <a:xfrm rot="0">
            <a:off x="8585835" y="2546985"/>
            <a:ext cx="7063740" cy="3223260"/>
            <a:chOff x="0" y="0"/>
            <a:chExt cx="9418320" cy="4297680"/>
          </a:xfrm>
        </p:grpSpPr>
        <p:sp>
          <p:nvSpPr>
            <p:cNvPr name="Freeform 22" id="22"/>
            <p:cNvSpPr/>
            <p:nvPr/>
          </p:nvSpPr>
          <p:spPr>
            <a:xfrm flipH="false" flipV="false" rot="0">
              <a:off x="0" y="0"/>
              <a:ext cx="9418320" cy="4297680"/>
            </a:xfrm>
            <a:custGeom>
              <a:avLst/>
              <a:gdLst/>
              <a:ahLst/>
              <a:cxnLst/>
              <a:rect r="r" b="b" t="t" l="l"/>
              <a:pathLst>
                <a:path h="4297680" w="9418320">
                  <a:moveTo>
                    <a:pt x="0" y="164592"/>
                  </a:moveTo>
                  <a:cubicBezTo>
                    <a:pt x="0" y="73660"/>
                    <a:pt x="73660" y="0"/>
                    <a:pt x="164592" y="0"/>
                  </a:cubicBezTo>
                  <a:lnTo>
                    <a:pt x="9253728" y="0"/>
                  </a:lnTo>
                  <a:cubicBezTo>
                    <a:pt x="9344660" y="0"/>
                    <a:pt x="9418320" y="73660"/>
                    <a:pt x="9418320" y="164592"/>
                  </a:cubicBezTo>
                  <a:lnTo>
                    <a:pt x="9418320" y="4133088"/>
                  </a:lnTo>
                  <a:cubicBezTo>
                    <a:pt x="9418320" y="4224020"/>
                    <a:pt x="9344660" y="4297680"/>
                    <a:pt x="9253728" y="4297680"/>
                  </a:cubicBezTo>
                  <a:lnTo>
                    <a:pt x="164592" y="4297680"/>
                  </a:lnTo>
                  <a:cubicBezTo>
                    <a:pt x="73660" y="4297680"/>
                    <a:pt x="0" y="4224020"/>
                    <a:pt x="0" y="4133088"/>
                  </a:cubicBezTo>
                  <a:close/>
                </a:path>
              </a:pathLst>
            </a:custGeom>
            <a:solidFill>
              <a:srgbClr val="10312F"/>
            </a:solidFill>
          </p:spPr>
        </p:sp>
      </p:grpSp>
      <p:grpSp>
        <p:nvGrpSpPr>
          <p:cNvPr name="Group 23" id="23"/>
          <p:cNvGrpSpPr/>
          <p:nvPr/>
        </p:nvGrpSpPr>
        <p:grpSpPr>
          <a:xfrm rot="0">
            <a:off x="8887587" y="2341245"/>
            <a:ext cx="2194560" cy="438912"/>
            <a:chOff x="0" y="0"/>
            <a:chExt cx="2926080" cy="585216"/>
          </a:xfrm>
        </p:grpSpPr>
        <p:sp>
          <p:nvSpPr>
            <p:cNvPr name="Freeform 24" id="24"/>
            <p:cNvSpPr/>
            <p:nvPr/>
          </p:nvSpPr>
          <p:spPr>
            <a:xfrm flipH="false" flipV="false" rot="0">
              <a:off x="0" y="0"/>
              <a:ext cx="2926080" cy="585216"/>
            </a:xfrm>
            <a:custGeom>
              <a:avLst/>
              <a:gdLst/>
              <a:ahLst/>
              <a:cxnLst/>
              <a:rect r="r" b="b" t="t" l="l"/>
              <a:pathLst>
                <a:path h="585216" w="2926080">
                  <a:moveTo>
                    <a:pt x="0" y="292608"/>
                  </a:moveTo>
                  <a:cubicBezTo>
                    <a:pt x="0" y="131064"/>
                    <a:pt x="131064" y="0"/>
                    <a:pt x="292608" y="0"/>
                  </a:cubicBezTo>
                  <a:lnTo>
                    <a:pt x="2633472" y="0"/>
                  </a:lnTo>
                  <a:cubicBezTo>
                    <a:pt x="2795016" y="0"/>
                    <a:pt x="2926080" y="131064"/>
                    <a:pt x="2926080" y="292608"/>
                  </a:cubicBezTo>
                  <a:cubicBezTo>
                    <a:pt x="2926080" y="454152"/>
                    <a:pt x="2795016" y="585216"/>
                    <a:pt x="2633472" y="585216"/>
                  </a:cubicBezTo>
                  <a:lnTo>
                    <a:pt x="292608" y="585216"/>
                  </a:lnTo>
                  <a:cubicBezTo>
                    <a:pt x="131064" y="585216"/>
                    <a:pt x="0" y="454152"/>
                    <a:pt x="0" y="292608"/>
                  </a:cubicBezTo>
                  <a:close/>
                </a:path>
              </a:pathLst>
            </a:custGeom>
            <a:solidFill>
              <a:srgbClr val="387F7F"/>
            </a:solidFill>
          </p:spPr>
        </p:sp>
      </p:grpSp>
      <p:grpSp>
        <p:nvGrpSpPr>
          <p:cNvPr name="Group 25" id="25"/>
          <p:cNvGrpSpPr/>
          <p:nvPr/>
        </p:nvGrpSpPr>
        <p:grpSpPr>
          <a:xfrm rot="0">
            <a:off x="8887587" y="2341245"/>
            <a:ext cx="2194560" cy="438912"/>
            <a:chOff x="0" y="0"/>
            <a:chExt cx="2926080" cy="585216"/>
          </a:xfrm>
        </p:grpSpPr>
        <p:sp>
          <p:nvSpPr>
            <p:cNvPr name="Freeform 26" id="26"/>
            <p:cNvSpPr/>
            <p:nvPr/>
          </p:nvSpPr>
          <p:spPr>
            <a:xfrm flipH="false" flipV="false" rot="0">
              <a:off x="0" y="0"/>
              <a:ext cx="2926080" cy="585216"/>
            </a:xfrm>
            <a:custGeom>
              <a:avLst/>
              <a:gdLst/>
              <a:ahLst/>
              <a:cxnLst/>
              <a:rect r="r" b="b" t="t" l="l"/>
              <a:pathLst>
                <a:path h="585216" w="2926080">
                  <a:moveTo>
                    <a:pt x="0" y="0"/>
                  </a:moveTo>
                  <a:lnTo>
                    <a:pt x="2926080" y="0"/>
                  </a:lnTo>
                  <a:lnTo>
                    <a:pt x="2926080" y="585216"/>
                  </a:lnTo>
                  <a:lnTo>
                    <a:pt x="0" y="585216"/>
                  </a:lnTo>
                  <a:close/>
                </a:path>
              </a:pathLst>
            </a:custGeom>
            <a:blipFill>
              <a:blip r:embed="rId9">
                <a:alphaModFix amt="0"/>
              </a:blip>
              <a:stretch>
                <a:fillRect l="0" t="-47425" r="0" b="-47425"/>
              </a:stretch>
            </a:blipFill>
          </p:spPr>
        </p:sp>
        <p:sp>
          <p:nvSpPr>
            <p:cNvPr name="TextBox 27" id="27"/>
            <p:cNvSpPr txBox="true"/>
            <p:nvPr/>
          </p:nvSpPr>
          <p:spPr>
            <a:xfrm>
              <a:off x="0" y="-19050"/>
              <a:ext cx="2926080" cy="604266"/>
            </a:xfrm>
            <a:prstGeom prst="rect">
              <a:avLst/>
            </a:prstGeom>
          </p:spPr>
          <p:txBody>
            <a:bodyPr anchor="ctr" rtlCol="false" tIns="0" lIns="0" bIns="0" rIns="0"/>
            <a:lstStyle/>
            <a:p>
              <a:pPr algn="ctr">
                <a:lnSpc>
                  <a:spcPts val="1620"/>
                </a:lnSpc>
              </a:pPr>
              <a:r>
                <a:rPr lang="en-US" sz="1350" b="true">
                  <a:solidFill>
                    <a:srgbClr val="FFFFFF"/>
                  </a:solidFill>
                  <a:latin typeface="Poppins Bold"/>
                  <a:ea typeface="Poppins Bold"/>
                  <a:cs typeface="Poppins Bold"/>
                  <a:sym typeface="Poppins Bold"/>
                </a:rPr>
                <a:t>MEASURE B</a:t>
              </a:r>
            </a:p>
          </p:txBody>
        </p:sp>
      </p:grpSp>
      <p:grpSp>
        <p:nvGrpSpPr>
          <p:cNvPr name="Group 28" id="28"/>
          <p:cNvGrpSpPr/>
          <p:nvPr/>
        </p:nvGrpSpPr>
        <p:grpSpPr>
          <a:xfrm rot="0">
            <a:off x="8997315" y="2958465"/>
            <a:ext cx="6240780" cy="2537460"/>
            <a:chOff x="0" y="0"/>
            <a:chExt cx="8321040" cy="3383280"/>
          </a:xfrm>
        </p:grpSpPr>
        <p:sp>
          <p:nvSpPr>
            <p:cNvPr name="Freeform 29" id="29"/>
            <p:cNvSpPr/>
            <p:nvPr/>
          </p:nvSpPr>
          <p:spPr>
            <a:xfrm flipH="false" flipV="false" rot="0">
              <a:off x="0" y="0"/>
              <a:ext cx="8321040" cy="3383280"/>
            </a:xfrm>
            <a:custGeom>
              <a:avLst/>
              <a:gdLst/>
              <a:ahLst/>
              <a:cxnLst/>
              <a:rect r="r" b="b" t="t" l="l"/>
              <a:pathLst>
                <a:path h="3383280" w="8321040">
                  <a:moveTo>
                    <a:pt x="0" y="0"/>
                  </a:moveTo>
                  <a:lnTo>
                    <a:pt x="8321040" y="0"/>
                  </a:lnTo>
                  <a:lnTo>
                    <a:pt x="8321040" y="3383280"/>
                  </a:lnTo>
                  <a:lnTo>
                    <a:pt x="0" y="3383280"/>
                  </a:lnTo>
                  <a:close/>
                </a:path>
              </a:pathLst>
            </a:custGeom>
            <a:blipFill>
              <a:blip r:embed="rId9">
                <a:alphaModFix amt="0"/>
              </a:blip>
              <a:stretch>
                <a:fillRect l="-2167" t="0" r="-2167" b="0"/>
              </a:stretch>
            </a:blipFill>
          </p:spPr>
        </p:sp>
        <p:sp>
          <p:nvSpPr>
            <p:cNvPr name="TextBox 30" id="30"/>
            <p:cNvSpPr txBox="true"/>
            <p:nvPr/>
          </p:nvSpPr>
          <p:spPr>
            <a:xfrm>
              <a:off x="0" y="-38100"/>
              <a:ext cx="8321040" cy="3421380"/>
            </a:xfrm>
            <a:prstGeom prst="rect">
              <a:avLst/>
            </a:prstGeom>
          </p:spPr>
          <p:txBody>
            <a:bodyPr anchor="ctr" rtlCol="false" tIns="0" lIns="0" bIns="0" rIns="0"/>
            <a:lstStyle/>
            <a:p>
              <a:pPr algn="l">
                <a:lnSpc>
                  <a:spcPts val="2250"/>
                </a:lnSpc>
              </a:pPr>
              <a:r>
                <a:rPr lang="en-US" sz="1500">
                  <a:solidFill>
                    <a:srgbClr val="CFE6E3"/>
                  </a:solidFill>
                  <a:latin typeface="Roboto Mono"/>
                  <a:ea typeface="Roboto Mono"/>
                  <a:cs typeface="Roboto Mono"/>
                  <a:sym typeface="Roboto Mono"/>
                </a:rPr>
                <a:t>On-Time Rate =</a:t>
              </a:r>
            </a:p>
            <a:p>
              <a:pPr algn="l">
                <a:lnSpc>
                  <a:spcPts val="2250"/>
                </a:lnSpc>
              </a:pPr>
              <a:r>
                <a:rPr lang="en-US" sz="1500">
                  <a:solidFill>
                    <a:srgbClr val="CFE6E3"/>
                  </a:solidFill>
                  <a:latin typeface="Roboto Mono"/>
                  <a:ea typeface="Roboto Mono"/>
                  <a:cs typeface="Roboto Mono"/>
                  <a:sym typeface="Roboto Mono"/>
                </a:rPr>
                <a:t>DIVIDE (</a:t>
              </a:r>
            </a:p>
            <a:p>
              <a:pPr algn="l">
                <a:lnSpc>
                  <a:spcPts val="2250"/>
                </a:lnSpc>
              </a:pPr>
              <a:r>
                <a:rPr lang="en-US" sz="1500">
                  <a:solidFill>
                    <a:srgbClr val="CFE6E3"/>
                  </a:solidFill>
                  <a:latin typeface="Roboto Mono"/>
                  <a:ea typeface="Roboto Mono"/>
                  <a:cs typeface="Roboto Mono"/>
                  <a:sym typeface="Roboto Mono"/>
                </a:rPr>
                <a:t>    [On-Time Deliveries],</a:t>
              </a:r>
            </a:p>
            <a:p>
              <a:pPr algn="l">
                <a:lnSpc>
                  <a:spcPts val="2250"/>
                </a:lnSpc>
              </a:pPr>
              <a:r>
                <a:rPr lang="en-US" sz="1500">
                  <a:solidFill>
                    <a:srgbClr val="CFE6E3"/>
                  </a:solidFill>
                  <a:latin typeface="Roboto Mono"/>
                  <a:ea typeface="Roboto Mono"/>
                  <a:cs typeface="Roboto Mono"/>
                  <a:sym typeface="Roboto Mono"/>
                </a:rPr>
                <a:t>    41280</a:t>
              </a:r>
            </a:p>
            <a:p>
              <a:pPr algn="l">
                <a:lnSpc>
                  <a:spcPts val="2250"/>
                </a:lnSpc>
              </a:pPr>
              <a:r>
                <a:rPr lang="en-US" sz="1500">
                  <a:solidFill>
                    <a:srgbClr val="CFE6E3"/>
                  </a:solidFill>
                  <a:latin typeface="Roboto Mono"/>
                  <a:ea typeface="Roboto Mono"/>
                  <a:cs typeface="Roboto Mono"/>
                  <a:sym typeface="Roboto Mono"/>
                </a:rPr>
                <a:t>)</a:t>
              </a:r>
            </a:p>
          </p:txBody>
        </p:sp>
      </p:grpSp>
      <p:grpSp>
        <p:nvGrpSpPr>
          <p:cNvPr name="Group 31" id="31"/>
          <p:cNvGrpSpPr/>
          <p:nvPr/>
        </p:nvGrpSpPr>
        <p:grpSpPr>
          <a:xfrm rot="0">
            <a:off x="904875" y="6044565"/>
            <a:ext cx="7063740" cy="3223260"/>
            <a:chOff x="0" y="0"/>
            <a:chExt cx="9418320" cy="4297680"/>
          </a:xfrm>
        </p:grpSpPr>
        <p:sp>
          <p:nvSpPr>
            <p:cNvPr name="Freeform 32" id="32"/>
            <p:cNvSpPr/>
            <p:nvPr/>
          </p:nvSpPr>
          <p:spPr>
            <a:xfrm flipH="false" flipV="false" rot="0">
              <a:off x="0" y="0"/>
              <a:ext cx="9418320" cy="4297680"/>
            </a:xfrm>
            <a:custGeom>
              <a:avLst/>
              <a:gdLst/>
              <a:ahLst/>
              <a:cxnLst/>
              <a:rect r="r" b="b" t="t" l="l"/>
              <a:pathLst>
                <a:path h="4297680" w="9418320">
                  <a:moveTo>
                    <a:pt x="0" y="164592"/>
                  </a:moveTo>
                  <a:cubicBezTo>
                    <a:pt x="0" y="73660"/>
                    <a:pt x="73660" y="0"/>
                    <a:pt x="164592" y="0"/>
                  </a:cubicBezTo>
                  <a:lnTo>
                    <a:pt x="9253728" y="0"/>
                  </a:lnTo>
                  <a:cubicBezTo>
                    <a:pt x="9344660" y="0"/>
                    <a:pt x="9418320" y="73660"/>
                    <a:pt x="9418320" y="164592"/>
                  </a:cubicBezTo>
                  <a:lnTo>
                    <a:pt x="9418320" y="4133088"/>
                  </a:lnTo>
                  <a:cubicBezTo>
                    <a:pt x="9418320" y="4224020"/>
                    <a:pt x="9344660" y="4297680"/>
                    <a:pt x="9253728" y="4297680"/>
                  </a:cubicBezTo>
                  <a:lnTo>
                    <a:pt x="164592" y="4297680"/>
                  </a:lnTo>
                  <a:cubicBezTo>
                    <a:pt x="73660" y="4297680"/>
                    <a:pt x="0" y="4224020"/>
                    <a:pt x="0" y="4133088"/>
                  </a:cubicBezTo>
                  <a:close/>
                </a:path>
              </a:pathLst>
            </a:custGeom>
            <a:solidFill>
              <a:srgbClr val="10312F"/>
            </a:solidFill>
          </p:spPr>
        </p:sp>
      </p:grpSp>
      <p:grpSp>
        <p:nvGrpSpPr>
          <p:cNvPr name="Group 33" id="33"/>
          <p:cNvGrpSpPr/>
          <p:nvPr/>
        </p:nvGrpSpPr>
        <p:grpSpPr>
          <a:xfrm rot="0">
            <a:off x="1206627" y="5838825"/>
            <a:ext cx="2194560" cy="438912"/>
            <a:chOff x="0" y="0"/>
            <a:chExt cx="2926080" cy="585216"/>
          </a:xfrm>
        </p:grpSpPr>
        <p:sp>
          <p:nvSpPr>
            <p:cNvPr name="Freeform 34" id="34"/>
            <p:cNvSpPr/>
            <p:nvPr/>
          </p:nvSpPr>
          <p:spPr>
            <a:xfrm flipH="false" flipV="false" rot="0">
              <a:off x="0" y="0"/>
              <a:ext cx="2926080" cy="585216"/>
            </a:xfrm>
            <a:custGeom>
              <a:avLst/>
              <a:gdLst/>
              <a:ahLst/>
              <a:cxnLst/>
              <a:rect r="r" b="b" t="t" l="l"/>
              <a:pathLst>
                <a:path h="585216" w="2926080">
                  <a:moveTo>
                    <a:pt x="0" y="292608"/>
                  </a:moveTo>
                  <a:cubicBezTo>
                    <a:pt x="0" y="131064"/>
                    <a:pt x="131064" y="0"/>
                    <a:pt x="292608" y="0"/>
                  </a:cubicBezTo>
                  <a:lnTo>
                    <a:pt x="2633472" y="0"/>
                  </a:lnTo>
                  <a:cubicBezTo>
                    <a:pt x="2795016" y="0"/>
                    <a:pt x="2926080" y="131064"/>
                    <a:pt x="2926080" y="292608"/>
                  </a:cubicBezTo>
                  <a:cubicBezTo>
                    <a:pt x="2926080" y="454152"/>
                    <a:pt x="2795016" y="585216"/>
                    <a:pt x="2633472" y="585216"/>
                  </a:cubicBezTo>
                  <a:lnTo>
                    <a:pt x="292608" y="585216"/>
                  </a:lnTo>
                  <a:cubicBezTo>
                    <a:pt x="131064" y="585216"/>
                    <a:pt x="0" y="454152"/>
                    <a:pt x="0" y="292608"/>
                  </a:cubicBezTo>
                  <a:close/>
                </a:path>
              </a:pathLst>
            </a:custGeom>
            <a:solidFill>
              <a:srgbClr val="387F7F"/>
            </a:solidFill>
          </p:spPr>
        </p:sp>
      </p:grpSp>
      <p:grpSp>
        <p:nvGrpSpPr>
          <p:cNvPr name="Group 35" id="35"/>
          <p:cNvGrpSpPr/>
          <p:nvPr/>
        </p:nvGrpSpPr>
        <p:grpSpPr>
          <a:xfrm rot="0">
            <a:off x="1206627" y="5838825"/>
            <a:ext cx="2194560" cy="438912"/>
            <a:chOff x="0" y="0"/>
            <a:chExt cx="2926080" cy="585216"/>
          </a:xfrm>
        </p:grpSpPr>
        <p:sp>
          <p:nvSpPr>
            <p:cNvPr name="Freeform 36" id="36"/>
            <p:cNvSpPr/>
            <p:nvPr/>
          </p:nvSpPr>
          <p:spPr>
            <a:xfrm flipH="false" flipV="false" rot="0">
              <a:off x="0" y="0"/>
              <a:ext cx="2926080" cy="585216"/>
            </a:xfrm>
            <a:custGeom>
              <a:avLst/>
              <a:gdLst/>
              <a:ahLst/>
              <a:cxnLst/>
              <a:rect r="r" b="b" t="t" l="l"/>
              <a:pathLst>
                <a:path h="585216" w="2926080">
                  <a:moveTo>
                    <a:pt x="0" y="0"/>
                  </a:moveTo>
                  <a:lnTo>
                    <a:pt x="2926080" y="0"/>
                  </a:lnTo>
                  <a:lnTo>
                    <a:pt x="2926080" y="585216"/>
                  </a:lnTo>
                  <a:lnTo>
                    <a:pt x="0" y="585216"/>
                  </a:lnTo>
                  <a:close/>
                </a:path>
              </a:pathLst>
            </a:custGeom>
            <a:blipFill>
              <a:blip r:embed="rId9">
                <a:alphaModFix amt="0"/>
              </a:blip>
              <a:stretch>
                <a:fillRect l="0" t="-47425" r="0" b="-47425"/>
              </a:stretch>
            </a:blipFill>
          </p:spPr>
        </p:sp>
        <p:sp>
          <p:nvSpPr>
            <p:cNvPr name="TextBox 37" id="37"/>
            <p:cNvSpPr txBox="true"/>
            <p:nvPr/>
          </p:nvSpPr>
          <p:spPr>
            <a:xfrm>
              <a:off x="0" y="-19050"/>
              <a:ext cx="2926080" cy="604266"/>
            </a:xfrm>
            <a:prstGeom prst="rect">
              <a:avLst/>
            </a:prstGeom>
          </p:spPr>
          <p:txBody>
            <a:bodyPr anchor="ctr" rtlCol="false" tIns="0" lIns="0" bIns="0" rIns="0"/>
            <a:lstStyle/>
            <a:p>
              <a:pPr algn="ctr">
                <a:lnSpc>
                  <a:spcPts val="1620"/>
                </a:lnSpc>
              </a:pPr>
              <a:r>
                <a:rPr lang="en-US" sz="1350" b="true">
                  <a:solidFill>
                    <a:srgbClr val="FFFFFF"/>
                  </a:solidFill>
                  <a:latin typeface="Poppins Bold"/>
                  <a:ea typeface="Poppins Bold"/>
                  <a:cs typeface="Poppins Bold"/>
                  <a:sym typeface="Poppins Bold"/>
                </a:rPr>
                <a:t>MEASURE C</a:t>
              </a:r>
            </a:p>
          </p:txBody>
        </p:sp>
      </p:grpSp>
      <p:grpSp>
        <p:nvGrpSpPr>
          <p:cNvPr name="Group 38" id="38"/>
          <p:cNvGrpSpPr/>
          <p:nvPr/>
        </p:nvGrpSpPr>
        <p:grpSpPr>
          <a:xfrm rot="0">
            <a:off x="1316355" y="6456045"/>
            <a:ext cx="6240780" cy="2537460"/>
            <a:chOff x="0" y="0"/>
            <a:chExt cx="8321040" cy="3383280"/>
          </a:xfrm>
        </p:grpSpPr>
        <p:sp>
          <p:nvSpPr>
            <p:cNvPr name="Freeform 39" id="39"/>
            <p:cNvSpPr/>
            <p:nvPr/>
          </p:nvSpPr>
          <p:spPr>
            <a:xfrm flipH="false" flipV="false" rot="0">
              <a:off x="0" y="0"/>
              <a:ext cx="8321040" cy="3383280"/>
            </a:xfrm>
            <a:custGeom>
              <a:avLst/>
              <a:gdLst/>
              <a:ahLst/>
              <a:cxnLst/>
              <a:rect r="r" b="b" t="t" l="l"/>
              <a:pathLst>
                <a:path h="3383280" w="8321040">
                  <a:moveTo>
                    <a:pt x="0" y="0"/>
                  </a:moveTo>
                  <a:lnTo>
                    <a:pt x="8321040" y="0"/>
                  </a:lnTo>
                  <a:lnTo>
                    <a:pt x="8321040" y="3383280"/>
                  </a:lnTo>
                  <a:lnTo>
                    <a:pt x="0" y="3383280"/>
                  </a:lnTo>
                  <a:close/>
                </a:path>
              </a:pathLst>
            </a:custGeom>
            <a:blipFill>
              <a:blip r:embed="rId9">
                <a:alphaModFix amt="0"/>
              </a:blip>
              <a:stretch>
                <a:fillRect l="-2167" t="0" r="-2167" b="0"/>
              </a:stretch>
            </a:blipFill>
          </p:spPr>
        </p:sp>
        <p:sp>
          <p:nvSpPr>
            <p:cNvPr name="TextBox 40" id="40"/>
            <p:cNvSpPr txBox="true"/>
            <p:nvPr/>
          </p:nvSpPr>
          <p:spPr>
            <a:xfrm>
              <a:off x="0" y="-38100"/>
              <a:ext cx="8321040" cy="3421380"/>
            </a:xfrm>
            <a:prstGeom prst="rect">
              <a:avLst/>
            </a:prstGeom>
          </p:spPr>
          <p:txBody>
            <a:bodyPr anchor="ctr" rtlCol="false" tIns="0" lIns="0" bIns="0" rIns="0"/>
            <a:lstStyle/>
            <a:p>
              <a:pPr algn="l">
                <a:lnSpc>
                  <a:spcPts val="2250"/>
                </a:lnSpc>
              </a:pPr>
              <a:r>
                <a:rPr lang="en-US" sz="1500">
                  <a:solidFill>
                    <a:srgbClr val="CFE6E3"/>
                  </a:solidFill>
                  <a:latin typeface="Roboto Mono"/>
                  <a:ea typeface="Roboto Mono"/>
                  <a:cs typeface="Roboto Mono"/>
                  <a:sym typeface="Roboto Mono"/>
                </a:rPr>
                <a:t>Late Rate =</a:t>
              </a:r>
            </a:p>
            <a:p>
              <a:pPr algn="l">
                <a:lnSpc>
                  <a:spcPts val="2250"/>
                </a:lnSpc>
              </a:pPr>
              <a:r>
                <a:rPr lang="en-US" sz="1500">
                  <a:solidFill>
                    <a:srgbClr val="CFE6E3"/>
                  </a:solidFill>
                  <a:latin typeface="Roboto Mono"/>
                  <a:ea typeface="Roboto Mono"/>
                  <a:cs typeface="Roboto Mono"/>
                  <a:sym typeface="Roboto Mono"/>
                </a:rPr>
                <a:t>DIVIDE (</a:t>
              </a:r>
            </a:p>
            <a:p>
              <a:pPr algn="l">
                <a:lnSpc>
                  <a:spcPts val="2250"/>
                </a:lnSpc>
              </a:pPr>
              <a:r>
                <a:rPr lang="en-US" sz="1500">
                  <a:solidFill>
                    <a:srgbClr val="CFE6E3"/>
                  </a:solidFill>
                  <a:latin typeface="Roboto Mono"/>
                  <a:ea typeface="Roboto Mono"/>
                  <a:cs typeface="Roboto Mono"/>
                  <a:sym typeface="Roboto Mono"/>
                </a:rPr>
                <a:t>    CALCULATE ( [Total Deliveries],</a:t>
              </a:r>
            </a:p>
            <a:p>
              <a:pPr algn="l">
                <a:lnSpc>
                  <a:spcPts val="2250"/>
                </a:lnSpc>
              </a:pPr>
              <a:r>
                <a:rPr lang="en-US" sz="1500">
                  <a:solidFill>
                    <a:srgbClr val="CFE6E3"/>
                  </a:solidFill>
                  <a:latin typeface="Roboto Mono"/>
                  <a:ea typeface="Roboto Mono"/>
                  <a:cs typeface="Roboto Mono"/>
                  <a:sym typeface="Roboto Mono"/>
                </a:rPr>
                <a:t>      swiftroute_deliveries[Status] = "Late" ),</a:t>
              </a:r>
            </a:p>
            <a:p>
              <a:pPr algn="l">
                <a:lnSpc>
                  <a:spcPts val="2250"/>
                </a:lnSpc>
              </a:pPr>
              <a:r>
                <a:rPr lang="en-US" sz="1500">
                  <a:solidFill>
                    <a:srgbClr val="CFE6E3"/>
                  </a:solidFill>
                  <a:latin typeface="Roboto Mono"/>
                  <a:ea typeface="Roboto Mono"/>
                  <a:cs typeface="Roboto Mono"/>
                  <a:sym typeface="Roboto Mono"/>
                </a:rPr>
                <a:t>    CALCULATE ( [Total Deliveries],</a:t>
              </a:r>
            </a:p>
            <a:p>
              <a:pPr algn="l">
                <a:lnSpc>
                  <a:spcPts val="2250"/>
                </a:lnSpc>
              </a:pPr>
              <a:r>
                <a:rPr lang="en-US" sz="1500">
                  <a:solidFill>
                    <a:srgbClr val="CFE6E3"/>
                  </a:solidFill>
                  <a:latin typeface="Roboto Mono"/>
                  <a:ea typeface="Roboto Mono"/>
                  <a:cs typeface="Roboto Mono"/>
                  <a:sym typeface="Roboto Mono"/>
                </a:rPr>
                <a:t>      swiftroute_deliveries[Status] = "Late" )</a:t>
              </a:r>
            </a:p>
            <a:p>
              <a:pPr algn="l">
                <a:lnSpc>
                  <a:spcPts val="2250"/>
                </a:lnSpc>
              </a:pPr>
              <a:r>
                <a:rPr lang="en-US" sz="1500">
                  <a:solidFill>
                    <a:srgbClr val="CFE6E3"/>
                  </a:solidFill>
                  <a:latin typeface="Roboto Mono"/>
                  <a:ea typeface="Roboto Mono"/>
                  <a:cs typeface="Roboto Mono"/>
                  <a:sym typeface="Roboto Mono"/>
                </a:rPr>
                <a:t>)</a:t>
              </a:r>
            </a:p>
          </p:txBody>
        </p:sp>
      </p:grpSp>
      <p:grpSp>
        <p:nvGrpSpPr>
          <p:cNvPr name="Group 41" id="41"/>
          <p:cNvGrpSpPr/>
          <p:nvPr/>
        </p:nvGrpSpPr>
        <p:grpSpPr>
          <a:xfrm rot="0">
            <a:off x="8585835" y="6044565"/>
            <a:ext cx="7063740" cy="3223260"/>
            <a:chOff x="0" y="0"/>
            <a:chExt cx="9418320" cy="4297680"/>
          </a:xfrm>
        </p:grpSpPr>
        <p:sp>
          <p:nvSpPr>
            <p:cNvPr name="Freeform 42" id="42"/>
            <p:cNvSpPr/>
            <p:nvPr/>
          </p:nvSpPr>
          <p:spPr>
            <a:xfrm flipH="false" flipV="false" rot="0">
              <a:off x="0" y="0"/>
              <a:ext cx="9418320" cy="4297680"/>
            </a:xfrm>
            <a:custGeom>
              <a:avLst/>
              <a:gdLst/>
              <a:ahLst/>
              <a:cxnLst/>
              <a:rect r="r" b="b" t="t" l="l"/>
              <a:pathLst>
                <a:path h="4297680" w="9418320">
                  <a:moveTo>
                    <a:pt x="0" y="164592"/>
                  </a:moveTo>
                  <a:cubicBezTo>
                    <a:pt x="0" y="73660"/>
                    <a:pt x="73660" y="0"/>
                    <a:pt x="164592" y="0"/>
                  </a:cubicBezTo>
                  <a:lnTo>
                    <a:pt x="9253728" y="0"/>
                  </a:lnTo>
                  <a:cubicBezTo>
                    <a:pt x="9344660" y="0"/>
                    <a:pt x="9418320" y="73660"/>
                    <a:pt x="9418320" y="164592"/>
                  </a:cubicBezTo>
                  <a:lnTo>
                    <a:pt x="9418320" y="4133088"/>
                  </a:lnTo>
                  <a:cubicBezTo>
                    <a:pt x="9418320" y="4224020"/>
                    <a:pt x="9344660" y="4297680"/>
                    <a:pt x="9253728" y="4297680"/>
                  </a:cubicBezTo>
                  <a:lnTo>
                    <a:pt x="164592" y="4297680"/>
                  </a:lnTo>
                  <a:cubicBezTo>
                    <a:pt x="73660" y="4297680"/>
                    <a:pt x="0" y="4224020"/>
                    <a:pt x="0" y="4133088"/>
                  </a:cubicBezTo>
                  <a:close/>
                </a:path>
              </a:pathLst>
            </a:custGeom>
            <a:solidFill>
              <a:srgbClr val="10312F"/>
            </a:solidFill>
          </p:spPr>
        </p:sp>
      </p:grpSp>
      <p:grpSp>
        <p:nvGrpSpPr>
          <p:cNvPr name="Group 43" id="43"/>
          <p:cNvGrpSpPr/>
          <p:nvPr/>
        </p:nvGrpSpPr>
        <p:grpSpPr>
          <a:xfrm rot="0">
            <a:off x="8887587" y="5838825"/>
            <a:ext cx="2194560" cy="438912"/>
            <a:chOff x="0" y="0"/>
            <a:chExt cx="2926080" cy="585216"/>
          </a:xfrm>
        </p:grpSpPr>
        <p:sp>
          <p:nvSpPr>
            <p:cNvPr name="Freeform 44" id="44"/>
            <p:cNvSpPr/>
            <p:nvPr/>
          </p:nvSpPr>
          <p:spPr>
            <a:xfrm flipH="false" flipV="false" rot="0">
              <a:off x="0" y="0"/>
              <a:ext cx="2926080" cy="585216"/>
            </a:xfrm>
            <a:custGeom>
              <a:avLst/>
              <a:gdLst/>
              <a:ahLst/>
              <a:cxnLst/>
              <a:rect r="r" b="b" t="t" l="l"/>
              <a:pathLst>
                <a:path h="585216" w="2926080">
                  <a:moveTo>
                    <a:pt x="0" y="292608"/>
                  </a:moveTo>
                  <a:cubicBezTo>
                    <a:pt x="0" y="131064"/>
                    <a:pt x="131064" y="0"/>
                    <a:pt x="292608" y="0"/>
                  </a:cubicBezTo>
                  <a:lnTo>
                    <a:pt x="2633472" y="0"/>
                  </a:lnTo>
                  <a:cubicBezTo>
                    <a:pt x="2795016" y="0"/>
                    <a:pt x="2926080" y="131064"/>
                    <a:pt x="2926080" y="292608"/>
                  </a:cubicBezTo>
                  <a:cubicBezTo>
                    <a:pt x="2926080" y="454152"/>
                    <a:pt x="2795016" y="585216"/>
                    <a:pt x="2633472" y="585216"/>
                  </a:cubicBezTo>
                  <a:lnTo>
                    <a:pt x="292608" y="585216"/>
                  </a:lnTo>
                  <a:cubicBezTo>
                    <a:pt x="131064" y="585216"/>
                    <a:pt x="0" y="454152"/>
                    <a:pt x="0" y="292608"/>
                  </a:cubicBezTo>
                  <a:close/>
                </a:path>
              </a:pathLst>
            </a:custGeom>
            <a:solidFill>
              <a:srgbClr val="387F7F"/>
            </a:solidFill>
          </p:spPr>
        </p:sp>
      </p:grpSp>
      <p:grpSp>
        <p:nvGrpSpPr>
          <p:cNvPr name="Group 45" id="45"/>
          <p:cNvGrpSpPr/>
          <p:nvPr/>
        </p:nvGrpSpPr>
        <p:grpSpPr>
          <a:xfrm rot="0">
            <a:off x="8887587" y="5838825"/>
            <a:ext cx="2194560" cy="438912"/>
            <a:chOff x="0" y="0"/>
            <a:chExt cx="2926080" cy="585216"/>
          </a:xfrm>
        </p:grpSpPr>
        <p:sp>
          <p:nvSpPr>
            <p:cNvPr name="Freeform 46" id="46"/>
            <p:cNvSpPr/>
            <p:nvPr/>
          </p:nvSpPr>
          <p:spPr>
            <a:xfrm flipH="false" flipV="false" rot="0">
              <a:off x="0" y="0"/>
              <a:ext cx="2926080" cy="585216"/>
            </a:xfrm>
            <a:custGeom>
              <a:avLst/>
              <a:gdLst/>
              <a:ahLst/>
              <a:cxnLst/>
              <a:rect r="r" b="b" t="t" l="l"/>
              <a:pathLst>
                <a:path h="585216" w="2926080">
                  <a:moveTo>
                    <a:pt x="0" y="0"/>
                  </a:moveTo>
                  <a:lnTo>
                    <a:pt x="2926080" y="0"/>
                  </a:lnTo>
                  <a:lnTo>
                    <a:pt x="2926080" y="585216"/>
                  </a:lnTo>
                  <a:lnTo>
                    <a:pt x="0" y="585216"/>
                  </a:lnTo>
                  <a:close/>
                </a:path>
              </a:pathLst>
            </a:custGeom>
            <a:blipFill>
              <a:blip r:embed="rId9">
                <a:alphaModFix amt="0"/>
              </a:blip>
              <a:stretch>
                <a:fillRect l="0" t="-47425" r="0" b="-47425"/>
              </a:stretch>
            </a:blipFill>
          </p:spPr>
        </p:sp>
        <p:sp>
          <p:nvSpPr>
            <p:cNvPr name="TextBox 47" id="47"/>
            <p:cNvSpPr txBox="true"/>
            <p:nvPr/>
          </p:nvSpPr>
          <p:spPr>
            <a:xfrm>
              <a:off x="0" y="-19050"/>
              <a:ext cx="2926080" cy="604266"/>
            </a:xfrm>
            <a:prstGeom prst="rect">
              <a:avLst/>
            </a:prstGeom>
          </p:spPr>
          <p:txBody>
            <a:bodyPr anchor="ctr" rtlCol="false" tIns="0" lIns="0" bIns="0" rIns="0"/>
            <a:lstStyle/>
            <a:p>
              <a:pPr algn="ctr">
                <a:lnSpc>
                  <a:spcPts val="1620"/>
                </a:lnSpc>
              </a:pPr>
              <a:r>
                <a:rPr lang="en-US" sz="1350" b="true">
                  <a:solidFill>
                    <a:srgbClr val="FFFFFF"/>
                  </a:solidFill>
                  <a:latin typeface="Poppins Bold"/>
                  <a:ea typeface="Poppins Bold"/>
                  <a:cs typeface="Poppins Bold"/>
                  <a:sym typeface="Poppins Bold"/>
                </a:rPr>
                <a:t>MEASURE D</a:t>
              </a:r>
            </a:p>
          </p:txBody>
        </p:sp>
      </p:grpSp>
      <p:grpSp>
        <p:nvGrpSpPr>
          <p:cNvPr name="Group 48" id="48"/>
          <p:cNvGrpSpPr/>
          <p:nvPr/>
        </p:nvGrpSpPr>
        <p:grpSpPr>
          <a:xfrm rot="0">
            <a:off x="8997315" y="6456045"/>
            <a:ext cx="6240780" cy="2537460"/>
            <a:chOff x="0" y="0"/>
            <a:chExt cx="8321040" cy="3383280"/>
          </a:xfrm>
        </p:grpSpPr>
        <p:sp>
          <p:nvSpPr>
            <p:cNvPr name="Freeform 49" id="49"/>
            <p:cNvSpPr/>
            <p:nvPr/>
          </p:nvSpPr>
          <p:spPr>
            <a:xfrm flipH="false" flipV="false" rot="0">
              <a:off x="0" y="0"/>
              <a:ext cx="8321040" cy="3383280"/>
            </a:xfrm>
            <a:custGeom>
              <a:avLst/>
              <a:gdLst/>
              <a:ahLst/>
              <a:cxnLst/>
              <a:rect r="r" b="b" t="t" l="l"/>
              <a:pathLst>
                <a:path h="3383280" w="8321040">
                  <a:moveTo>
                    <a:pt x="0" y="0"/>
                  </a:moveTo>
                  <a:lnTo>
                    <a:pt x="8321040" y="0"/>
                  </a:lnTo>
                  <a:lnTo>
                    <a:pt x="8321040" y="3383280"/>
                  </a:lnTo>
                  <a:lnTo>
                    <a:pt x="0" y="3383280"/>
                  </a:lnTo>
                  <a:close/>
                </a:path>
              </a:pathLst>
            </a:custGeom>
            <a:blipFill>
              <a:blip r:embed="rId9">
                <a:alphaModFix amt="0"/>
              </a:blip>
              <a:stretch>
                <a:fillRect l="-2167" t="0" r="-2167" b="0"/>
              </a:stretch>
            </a:blipFill>
          </p:spPr>
        </p:sp>
        <p:sp>
          <p:nvSpPr>
            <p:cNvPr name="TextBox 50" id="50"/>
            <p:cNvSpPr txBox="true"/>
            <p:nvPr/>
          </p:nvSpPr>
          <p:spPr>
            <a:xfrm>
              <a:off x="0" y="-38100"/>
              <a:ext cx="8321040" cy="3421380"/>
            </a:xfrm>
            <a:prstGeom prst="rect">
              <a:avLst/>
            </a:prstGeom>
          </p:spPr>
          <p:txBody>
            <a:bodyPr anchor="ctr" rtlCol="false" tIns="0" lIns="0" bIns="0" rIns="0"/>
            <a:lstStyle/>
            <a:p>
              <a:pPr algn="l">
                <a:lnSpc>
                  <a:spcPts val="2250"/>
                </a:lnSpc>
              </a:pPr>
              <a:r>
                <a:rPr lang="en-US" sz="1500">
                  <a:solidFill>
                    <a:srgbClr val="CFE6E3"/>
                  </a:solidFill>
                  <a:latin typeface="Roboto Mono"/>
                  <a:ea typeface="Roboto Mono"/>
                  <a:cs typeface="Roboto Mono"/>
                  <a:sym typeface="Roboto Mono"/>
                </a:rPr>
                <a:t>Deliveries Previous Month =</a:t>
              </a:r>
            </a:p>
            <a:p>
              <a:pPr algn="l">
                <a:lnSpc>
                  <a:spcPts val="2250"/>
                </a:lnSpc>
              </a:pPr>
              <a:r>
                <a:rPr lang="en-US" sz="1500">
                  <a:solidFill>
                    <a:srgbClr val="CFE6E3"/>
                  </a:solidFill>
                  <a:latin typeface="Roboto Mono"/>
                  <a:ea typeface="Roboto Mono"/>
                  <a:cs typeface="Roboto Mono"/>
                  <a:sym typeface="Roboto Mono"/>
                </a:rPr>
                <a:t>CALCULATE (</a:t>
              </a:r>
            </a:p>
            <a:p>
              <a:pPr algn="l">
                <a:lnSpc>
                  <a:spcPts val="2250"/>
                </a:lnSpc>
              </a:pPr>
              <a:r>
                <a:rPr lang="en-US" sz="1500">
                  <a:solidFill>
                    <a:srgbClr val="CFE6E3"/>
                  </a:solidFill>
                  <a:latin typeface="Roboto Mono"/>
                  <a:ea typeface="Roboto Mono"/>
                  <a:cs typeface="Roboto Mono"/>
                  <a:sym typeface="Roboto Mono"/>
                </a:rPr>
                <a:t>    [Total Deliveries],</a:t>
              </a:r>
            </a:p>
            <a:p>
              <a:pPr algn="l">
                <a:lnSpc>
                  <a:spcPts val="2250"/>
                </a:lnSpc>
              </a:pPr>
              <a:r>
                <a:rPr lang="en-US" sz="1500">
                  <a:solidFill>
                    <a:srgbClr val="CFE6E3"/>
                  </a:solidFill>
                  <a:latin typeface="Roboto Mono"/>
                  <a:ea typeface="Roboto Mono"/>
                  <a:cs typeface="Roboto Mono"/>
                  <a:sym typeface="Roboto Mono"/>
                </a:rPr>
                <a:t>    PREVIOUSMONTH ( dates[DateKey] )</a:t>
              </a:r>
            </a:p>
            <a:p>
              <a:pPr algn="l">
                <a:lnSpc>
                  <a:spcPts val="2250"/>
                </a:lnSpc>
              </a:pPr>
              <a:r>
                <a:rPr lang="en-US" sz="1500">
                  <a:solidFill>
                    <a:srgbClr val="CFE6E3"/>
                  </a:solidFill>
                  <a:latin typeface="Roboto Mono"/>
                  <a:ea typeface="Roboto Mono"/>
                  <a:cs typeface="Roboto Mono"/>
                  <a:sym typeface="Roboto Mono"/>
                </a:rPr>
                <a:t>)</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51012"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596836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Measure</a:t>
            </a:r>
            <a:r>
              <a:rPr lang="en-US" sz="5000">
                <a:solidFill>
                  <a:srgbClr val="388080"/>
                </a:solidFill>
                <a:latin typeface="Poppins"/>
                <a:ea typeface="Poppins"/>
                <a:cs typeface="Poppins"/>
                <a:sym typeface="Poppins"/>
              </a:rPr>
              <a:t> B: right at the total, wrong under any filter</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914400" y="2700490"/>
            <a:ext cx="14744700" cy="2537460"/>
            <a:chOff x="0" y="0"/>
            <a:chExt cx="19659600" cy="3383280"/>
          </a:xfrm>
        </p:grpSpPr>
        <p:sp>
          <p:nvSpPr>
            <p:cNvPr name="Freeform 12" id="12"/>
            <p:cNvSpPr/>
            <p:nvPr/>
          </p:nvSpPr>
          <p:spPr>
            <a:xfrm flipH="false" flipV="false" rot="0">
              <a:off x="0" y="0"/>
              <a:ext cx="19659600" cy="3383280"/>
            </a:xfrm>
            <a:custGeom>
              <a:avLst/>
              <a:gdLst/>
              <a:ahLst/>
              <a:cxnLst/>
              <a:rect r="r" b="b" t="t" l="l"/>
              <a:pathLst>
                <a:path h="3383280" w="19659600">
                  <a:moveTo>
                    <a:pt x="0" y="182880"/>
                  </a:moveTo>
                  <a:cubicBezTo>
                    <a:pt x="0" y="81915"/>
                    <a:pt x="81915" y="0"/>
                    <a:pt x="182880" y="0"/>
                  </a:cubicBezTo>
                  <a:lnTo>
                    <a:pt x="19476720" y="0"/>
                  </a:lnTo>
                  <a:cubicBezTo>
                    <a:pt x="19577684" y="0"/>
                    <a:pt x="19659600" y="81915"/>
                    <a:pt x="19659600" y="182880"/>
                  </a:cubicBezTo>
                  <a:lnTo>
                    <a:pt x="19659600" y="3200400"/>
                  </a:lnTo>
                  <a:cubicBezTo>
                    <a:pt x="19659600" y="3301365"/>
                    <a:pt x="19577684" y="3383280"/>
                    <a:pt x="19476720" y="3383280"/>
                  </a:cubicBezTo>
                  <a:lnTo>
                    <a:pt x="182880" y="3383280"/>
                  </a:lnTo>
                  <a:cubicBezTo>
                    <a:pt x="81915" y="3383280"/>
                    <a:pt x="0" y="3301365"/>
                    <a:pt x="0" y="3200400"/>
                  </a:cubicBezTo>
                  <a:close/>
                </a:path>
              </a:pathLst>
            </a:custGeom>
            <a:solidFill>
              <a:srgbClr val="FFFFFF"/>
            </a:solidFill>
          </p:spPr>
        </p:sp>
      </p:grpSp>
      <p:grpSp>
        <p:nvGrpSpPr>
          <p:cNvPr name="Group 13" id="13"/>
          <p:cNvGrpSpPr/>
          <p:nvPr/>
        </p:nvGrpSpPr>
        <p:grpSpPr>
          <a:xfrm rot="0">
            <a:off x="1325880" y="2974810"/>
            <a:ext cx="13921740" cy="411480"/>
            <a:chOff x="0" y="0"/>
            <a:chExt cx="18562320" cy="548640"/>
          </a:xfrm>
        </p:grpSpPr>
        <p:sp>
          <p:nvSpPr>
            <p:cNvPr name="Freeform 14" id="14"/>
            <p:cNvSpPr/>
            <p:nvPr/>
          </p:nvSpPr>
          <p:spPr>
            <a:xfrm flipH="false" flipV="false" rot="0">
              <a:off x="0" y="0"/>
              <a:ext cx="18562320" cy="548640"/>
            </a:xfrm>
            <a:custGeom>
              <a:avLst/>
              <a:gdLst/>
              <a:ahLst/>
              <a:cxnLst/>
              <a:rect r="r" b="b" t="t" l="l"/>
              <a:pathLst>
                <a:path h="548640" w="18562320">
                  <a:moveTo>
                    <a:pt x="0" y="0"/>
                  </a:moveTo>
                  <a:lnTo>
                    <a:pt x="18562320" y="0"/>
                  </a:lnTo>
                  <a:lnTo>
                    <a:pt x="18562320" y="548640"/>
                  </a:lnTo>
                  <a:lnTo>
                    <a:pt x="0" y="548640"/>
                  </a:lnTo>
                  <a:close/>
                </a:path>
              </a:pathLst>
            </a:custGeom>
            <a:blipFill>
              <a:blip r:embed="rId9">
                <a:alphaModFix amt="0"/>
              </a:blip>
              <a:stretch>
                <a:fillRect l="0" t="-609243" r="0" b="-609243"/>
              </a:stretch>
            </a:blipFill>
          </p:spPr>
        </p:sp>
        <p:sp>
          <p:nvSpPr>
            <p:cNvPr name="TextBox 15" id="15"/>
            <p:cNvSpPr txBox="true"/>
            <p:nvPr/>
          </p:nvSpPr>
          <p:spPr>
            <a:xfrm>
              <a:off x="0" y="-9525"/>
              <a:ext cx="18562320" cy="558165"/>
            </a:xfrm>
            <a:prstGeom prst="rect">
              <a:avLst/>
            </a:prstGeom>
          </p:spPr>
          <p:txBody>
            <a:bodyPr anchor="ctr" rtlCol="false" tIns="0" lIns="0" bIns="0" rIns="0"/>
            <a:lstStyle/>
            <a:p>
              <a:pPr algn="l">
                <a:lnSpc>
                  <a:spcPts val="1980"/>
                </a:lnSpc>
              </a:pPr>
              <a:r>
                <a:rPr lang="en-US" b="true" sz="1650" spc="150">
                  <a:solidFill>
                    <a:srgbClr val="A8322D"/>
                  </a:solidFill>
                  <a:latin typeface="Poppins Bold"/>
                  <a:ea typeface="Poppins Bold"/>
                  <a:cs typeface="Poppins Bold"/>
                  <a:sym typeface="Poppins Bold"/>
                </a:rPr>
                <a:t>THE FAULT</a:t>
              </a:r>
            </a:p>
          </p:txBody>
        </p:sp>
      </p:grpSp>
      <p:sp>
        <p:nvSpPr>
          <p:cNvPr name="TextBox 16" id="16"/>
          <p:cNvSpPr txBox="true"/>
          <p:nvPr/>
        </p:nvSpPr>
        <p:spPr>
          <a:xfrm rot="0">
            <a:off x="1325880" y="3369145"/>
            <a:ext cx="13921740" cy="1663065"/>
          </a:xfrm>
          <a:prstGeom prst="rect">
            <a:avLst/>
          </a:prstGeom>
        </p:spPr>
        <p:txBody>
          <a:bodyPr anchor="t" rtlCol="false" tIns="0" lIns="0" bIns="0" rIns="0">
            <a:spAutoFit/>
          </a:bodyPr>
          <a:lstStyle/>
          <a:p>
            <a:pPr algn="l">
              <a:lnSpc>
                <a:spcPts val="3276"/>
              </a:lnSpc>
            </a:pPr>
            <a:r>
              <a:rPr lang="en-US" sz="2100">
                <a:solidFill>
                  <a:srgbClr val="475569"/>
                </a:solidFill>
                <a:latin typeface="Poppins"/>
                <a:ea typeface="Poppins"/>
                <a:cs typeface="Poppins"/>
                <a:sym typeface="Poppins"/>
              </a:rPr>
              <a:t>The denominator is the literal number 41280, not a reference to [Total Deliveries]. CALCULATE correctly narrows the numerator to whatever is filtered. The denominator never moves.</a:t>
            </a:r>
          </a:p>
        </p:txBody>
      </p:sp>
      <p:grpSp>
        <p:nvGrpSpPr>
          <p:cNvPr name="Group 17" id="17"/>
          <p:cNvGrpSpPr/>
          <p:nvPr/>
        </p:nvGrpSpPr>
        <p:grpSpPr>
          <a:xfrm rot="0">
            <a:off x="914400" y="5580850"/>
            <a:ext cx="14744700" cy="1303020"/>
            <a:chOff x="0" y="0"/>
            <a:chExt cx="19659600" cy="1737360"/>
          </a:xfrm>
        </p:grpSpPr>
        <p:sp>
          <p:nvSpPr>
            <p:cNvPr name="Freeform 18" id="18"/>
            <p:cNvSpPr/>
            <p:nvPr/>
          </p:nvSpPr>
          <p:spPr>
            <a:xfrm flipH="false" flipV="false" rot="0">
              <a:off x="0" y="0"/>
              <a:ext cx="19659600" cy="1737360"/>
            </a:xfrm>
            <a:custGeom>
              <a:avLst/>
              <a:gdLst/>
              <a:ahLst/>
              <a:cxnLst/>
              <a:rect r="r" b="b" t="t" l="l"/>
              <a:pathLst>
                <a:path h="1737360" w="19659600">
                  <a:moveTo>
                    <a:pt x="0" y="182880"/>
                  </a:moveTo>
                  <a:cubicBezTo>
                    <a:pt x="0" y="81915"/>
                    <a:pt x="81915" y="0"/>
                    <a:pt x="182880" y="0"/>
                  </a:cubicBezTo>
                  <a:lnTo>
                    <a:pt x="19476720" y="0"/>
                  </a:lnTo>
                  <a:cubicBezTo>
                    <a:pt x="19577684" y="0"/>
                    <a:pt x="19659600" y="81915"/>
                    <a:pt x="19659600" y="182880"/>
                  </a:cubicBezTo>
                  <a:lnTo>
                    <a:pt x="19659600" y="1554480"/>
                  </a:lnTo>
                  <a:cubicBezTo>
                    <a:pt x="19659600" y="1655445"/>
                    <a:pt x="19577684" y="1737360"/>
                    <a:pt x="19476720" y="1737360"/>
                  </a:cubicBezTo>
                  <a:lnTo>
                    <a:pt x="182880" y="1737360"/>
                  </a:lnTo>
                  <a:cubicBezTo>
                    <a:pt x="81915" y="1737360"/>
                    <a:pt x="0" y="1655445"/>
                    <a:pt x="0" y="1554480"/>
                  </a:cubicBezTo>
                  <a:close/>
                </a:path>
              </a:pathLst>
            </a:custGeom>
            <a:solidFill>
              <a:srgbClr val="FFFFFF"/>
            </a:solidFill>
          </p:spPr>
        </p:sp>
      </p:grpSp>
      <p:grpSp>
        <p:nvGrpSpPr>
          <p:cNvPr name="Group 19" id="19"/>
          <p:cNvGrpSpPr/>
          <p:nvPr/>
        </p:nvGrpSpPr>
        <p:grpSpPr>
          <a:xfrm rot="0">
            <a:off x="1325880" y="5580850"/>
            <a:ext cx="3566160" cy="1303020"/>
            <a:chOff x="0" y="0"/>
            <a:chExt cx="4754880" cy="1737360"/>
          </a:xfrm>
        </p:grpSpPr>
        <p:sp>
          <p:nvSpPr>
            <p:cNvPr name="Freeform 20" id="20"/>
            <p:cNvSpPr/>
            <p:nvPr/>
          </p:nvSpPr>
          <p:spPr>
            <a:xfrm flipH="false" flipV="false" rot="0">
              <a:off x="0" y="0"/>
              <a:ext cx="4754880" cy="1737360"/>
            </a:xfrm>
            <a:custGeom>
              <a:avLst/>
              <a:gdLst/>
              <a:ahLst/>
              <a:cxnLst/>
              <a:rect r="r" b="b" t="t" l="l"/>
              <a:pathLst>
                <a:path h="1737360" w="4754880">
                  <a:moveTo>
                    <a:pt x="0" y="0"/>
                  </a:moveTo>
                  <a:lnTo>
                    <a:pt x="4754880" y="0"/>
                  </a:lnTo>
                  <a:lnTo>
                    <a:pt x="4754880" y="1737360"/>
                  </a:lnTo>
                  <a:lnTo>
                    <a:pt x="0" y="1737360"/>
                  </a:lnTo>
                  <a:close/>
                </a:path>
              </a:pathLst>
            </a:custGeom>
            <a:blipFill>
              <a:blip r:embed="rId9">
                <a:alphaModFix amt="0"/>
              </a:blip>
              <a:stretch>
                <a:fillRect l="0" t="-3327" r="0" b="-3327"/>
              </a:stretch>
            </a:blipFill>
          </p:spPr>
        </p:sp>
        <p:sp>
          <p:nvSpPr>
            <p:cNvPr name="TextBox 21" id="21"/>
            <p:cNvSpPr txBox="true"/>
            <p:nvPr/>
          </p:nvSpPr>
          <p:spPr>
            <a:xfrm>
              <a:off x="0" y="-95250"/>
              <a:ext cx="4754880" cy="1832610"/>
            </a:xfrm>
            <a:prstGeom prst="rect">
              <a:avLst/>
            </a:prstGeom>
          </p:spPr>
          <p:txBody>
            <a:bodyPr anchor="ctr" rtlCol="false" tIns="0" lIns="0" bIns="0" rIns="0"/>
            <a:lstStyle/>
            <a:p>
              <a:pPr algn="l">
                <a:lnSpc>
                  <a:spcPts val="3159"/>
                </a:lnSpc>
              </a:pPr>
              <a:r>
                <a:rPr lang="en-US" sz="1950" b="true">
                  <a:solidFill>
                    <a:srgbClr val="475569"/>
                  </a:solidFill>
                  <a:latin typeface="Poppins Bold"/>
                  <a:ea typeface="Poppins Bold"/>
                  <a:cs typeface="Poppins Bold"/>
                  <a:sym typeface="Poppins Bold"/>
                </a:rPr>
                <a:t>Unfiltered total</a:t>
              </a:r>
            </a:p>
          </p:txBody>
        </p:sp>
      </p:grpSp>
      <p:grpSp>
        <p:nvGrpSpPr>
          <p:cNvPr name="Group 22" id="22"/>
          <p:cNvGrpSpPr/>
          <p:nvPr/>
        </p:nvGrpSpPr>
        <p:grpSpPr>
          <a:xfrm rot="0">
            <a:off x="5166360" y="5580850"/>
            <a:ext cx="2743200" cy="1303020"/>
            <a:chOff x="0" y="0"/>
            <a:chExt cx="3657600" cy="1737360"/>
          </a:xfrm>
        </p:grpSpPr>
        <p:sp>
          <p:nvSpPr>
            <p:cNvPr name="Freeform 23" id="23"/>
            <p:cNvSpPr/>
            <p:nvPr/>
          </p:nvSpPr>
          <p:spPr>
            <a:xfrm flipH="false" flipV="false" rot="0">
              <a:off x="0" y="0"/>
              <a:ext cx="3657600" cy="1737360"/>
            </a:xfrm>
            <a:custGeom>
              <a:avLst/>
              <a:gdLst/>
              <a:ahLst/>
              <a:cxnLst/>
              <a:rect r="r" b="b" t="t" l="l"/>
              <a:pathLst>
                <a:path h="1737360" w="3657600">
                  <a:moveTo>
                    <a:pt x="0" y="0"/>
                  </a:moveTo>
                  <a:lnTo>
                    <a:pt x="3657600" y="0"/>
                  </a:lnTo>
                  <a:lnTo>
                    <a:pt x="3657600" y="1737360"/>
                  </a:lnTo>
                  <a:lnTo>
                    <a:pt x="0" y="1737360"/>
                  </a:lnTo>
                  <a:close/>
                </a:path>
              </a:pathLst>
            </a:custGeom>
            <a:blipFill>
              <a:blip r:embed="rId9">
                <a:alphaModFix amt="0"/>
              </a:blip>
              <a:stretch>
                <a:fillRect l="-10944" t="0" r="-10944" b="0"/>
              </a:stretch>
            </a:blipFill>
          </p:spPr>
        </p:sp>
        <p:sp>
          <p:nvSpPr>
            <p:cNvPr name="TextBox 24" id="24"/>
            <p:cNvSpPr txBox="true"/>
            <p:nvPr/>
          </p:nvSpPr>
          <p:spPr>
            <a:xfrm>
              <a:off x="0" y="-28575"/>
              <a:ext cx="3657600" cy="1765935"/>
            </a:xfrm>
            <a:prstGeom prst="rect">
              <a:avLst/>
            </a:prstGeom>
          </p:spPr>
          <p:txBody>
            <a:bodyPr anchor="ctr" rtlCol="false" tIns="0" lIns="0" bIns="0" rIns="0"/>
            <a:lstStyle/>
            <a:p>
              <a:pPr algn="ctr">
                <a:lnSpc>
                  <a:spcPts val="3240"/>
                </a:lnSpc>
              </a:pPr>
              <a:r>
                <a:rPr lang="en-US" sz="2700" b="true">
                  <a:solidFill>
                    <a:srgbClr val="387F7F"/>
                  </a:solidFill>
                  <a:latin typeface="Poppins Bold"/>
                  <a:ea typeface="Poppins Bold"/>
                  <a:cs typeface="Poppins Bold"/>
                  <a:sym typeface="Poppins Bold"/>
                </a:rPr>
                <a:t>82.0%</a:t>
              </a:r>
            </a:p>
          </p:txBody>
        </p:sp>
      </p:grpSp>
      <p:grpSp>
        <p:nvGrpSpPr>
          <p:cNvPr name="Group 25" id="25"/>
          <p:cNvGrpSpPr/>
          <p:nvPr/>
        </p:nvGrpSpPr>
        <p:grpSpPr>
          <a:xfrm rot="0">
            <a:off x="8183880" y="5580850"/>
            <a:ext cx="3154680" cy="1303020"/>
            <a:chOff x="0" y="0"/>
            <a:chExt cx="4206240" cy="1737360"/>
          </a:xfrm>
        </p:grpSpPr>
        <p:sp>
          <p:nvSpPr>
            <p:cNvPr name="Freeform 26" id="26"/>
            <p:cNvSpPr/>
            <p:nvPr/>
          </p:nvSpPr>
          <p:spPr>
            <a:xfrm flipH="false" flipV="false" rot="0">
              <a:off x="0" y="0"/>
              <a:ext cx="4206240" cy="1737360"/>
            </a:xfrm>
            <a:custGeom>
              <a:avLst/>
              <a:gdLst/>
              <a:ahLst/>
              <a:cxnLst/>
              <a:rect r="r" b="b" t="t" l="l"/>
              <a:pathLst>
                <a:path h="1737360" w="4206240">
                  <a:moveTo>
                    <a:pt x="0" y="0"/>
                  </a:moveTo>
                  <a:lnTo>
                    <a:pt x="4206240" y="0"/>
                  </a:lnTo>
                  <a:lnTo>
                    <a:pt x="4206240" y="1737360"/>
                  </a:lnTo>
                  <a:lnTo>
                    <a:pt x="0" y="1737360"/>
                  </a:lnTo>
                  <a:close/>
                </a:path>
              </a:pathLst>
            </a:custGeom>
            <a:blipFill>
              <a:blip r:embed="rId9">
                <a:alphaModFix amt="0"/>
              </a:blip>
              <a:stretch>
                <a:fillRect l="-2994" t="0" r="-2994" b="0"/>
              </a:stretch>
            </a:blipFill>
          </p:spPr>
        </p:sp>
        <p:sp>
          <p:nvSpPr>
            <p:cNvPr name="TextBox 27" id="27"/>
            <p:cNvSpPr txBox="true"/>
            <p:nvPr/>
          </p:nvSpPr>
          <p:spPr>
            <a:xfrm>
              <a:off x="0" y="-19050"/>
              <a:ext cx="4206240" cy="1756410"/>
            </a:xfrm>
            <a:prstGeom prst="rect">
              <a:avLst/>
            </a:prstGeom>
          </p:spPr>
          <p:txBody>
            <a:bodyPr anchor="ctr" rtlCol="false" tIns="0" lIns="0" bIns="0" rIns="0"/>
            <a:lstStyle/>
            <a:p>
              <a:pPr algn="ctr">
                <a:lnSpc>
                  <a:spcPts val="2160"/>
                </a:lnSpc>
              </a:pPr>
              <a:r>
                <a:rPr lang="en-US" sz="1800">
                  <a:solidFill>
                    <a:srgbClr val="64748B"/>
                  </a:solidFill>
                  <a:latin typeface="Poppins"/>
                  <a:ea typeface="Poppins"/>
                  <a:cs typeface="Poppins"/>
                  <a:sym typeface="Poppins"/>
                </a:rPr>
                <a:t>vs true 82.0%</a:t>
              </a:r>
            </a:p>
          </p:txBody>
        </p:sp>
      </p:grpSp>
      <p:grpSp>
        <p:nvGrpSpPr>
          <p:cNvPr name="Group 28" id="28"/>
          <p:cNvGrpSpPr/>
          <p:nvPr/>
        </p:nvGrpSpPr>
        <p:grpSpPr>
          <a:xfrm rot="0">
            <a:off x="11612880" y="5580850"/>
            <a:ext cx="3634740" cy="1303020"/>
            <a:chOff x="0" y="0"/>
            <a:chExt cx="4846320" cy="1737360"/>
          </a:xfrm>
        </p:grpSpPr>
        <p:sp>
          <p:nvSpPr>
            <p:cNvPr name="Freeform 29" id="29"/>
            <p:cNvSpPr/>
            <p:nvPr/>
          </p:nvSpPr>
          <p:spPr>
            <a:xfrm flipH="false" flipV="false" rot="0">
              <a:off x="0" y="0"/>
              <a:ext cx="4846320" cy="1737360"/>
            </a:xfrm>
            <a:custGeom>
              <a:avLst/>
              <a:gdLst/>
              <a:ahLst/>
              <a:cxnLst/>
              <a:rect r="r" b="b" t="t" l="l"/>
              <a:pathLst>
                <a:path h="1737360" w="4846320">
                  <a:moveTo>
                    <a:pt x="0" y="0"/>
                  </a:moveTo>
                  <a:lnTo>
                    <a:pt x="4846320" y="0"/>
                  </a:lnTo>
                  <a:lnTo>
                    <a:pt x="4846320" y="1737360"/>
                  </a:lnTo>
                  <a:lnTo>
                    <a:pt x="0" y="1737360"/>
                  </a:lnTo>
                  <a:close/>
                </a:path>
              </a:pathLst>
            </a:custGeom>
            <a:blipFill>
              <a:blip r:embed="rId9">
                <a:alphaModFix amt="0"/>
              </a:blip>
              <a:stretch>
                <a:fillRect l="0" t="-4353" r="0" b="-4352"/>
              </a:stretch>
            </a:blipFill>
          </p:spPr>
        </p:sp>
        <p:sp>
          <p:nvSpPr>
            <p:cNvPr name="TextBox 30" id="30"/>
            <p:cNvSpPr txBox="true"/>
            <p:nvPr/>
          </p:nvSpPr>
          <p:spPr>
            <a:xfrm>
              <a:off x="0" y="-76200"/>
              <a:ext cx="4846320" cy="1813560"/>
            </a:xfrm>
            <a:prstGeom prst="rect">
              <a:avLst/>
            </a:prstGeom>
          </p:spPr>
          <p:txBody>
            <a:bodyPr anchor="ctr" rtlCol="false" tIns="0" lIns="0" bIns="0" rIns="0"/>
            <a:lstStyle/>
            <a:p>
              <a:pPr algn="l">
                <a:lnSpc>
                  <a:spcPts val="2794"/>
                </a:lnSpc>
              </a:pPr>
              <a:r>
                <a:rPr lang="en-US" sz="1725" i="true">
                  <a:solidFill>
                    <a:srgbClr val="64748B"/>
                  </a:solidFill>
                  <a:latin typeface="Poppins Italics"/>
                  <a:ea typeface="Poppins Italics"/>
                  <a:cs typeface="Poppins Italics"/>
                  <a:sym typeface="Poppins Italics"/>
                </a:rPr>
                <a:t>matches, hides the fault</a:t>
              </a:r>
            </a:p>
          </p:txBody>
        </p:sp>
      </p:grpSp>
      <p:grpSp>
        <p:nvGrpSpPr>
          <p:cNvPr name="Group 31" id="31"/>
          <p:cNvGrpSpPr/>
          <p:nvPr/>
        </p:nvGrpSpPr>
        <p:grpSpPr>
          <a:xfrm rot="0">
            <a:off x="914400" y="7021030"/>
            <a:ext cx="14744700" cy="1303020"/>
            <a:chOff x="0" y="0"/>
            <a:chExt cx="19659600" cy="1737360"/>
          </a:xfrm>
        </p:grpSpPr>
        <p:sp>
          <p:nvSpPr>
            <p:cNvPr name="Freeform 32" id="32"/>
            <p:cNvSpPr/>
            <p:nvPr/>
          </p:nvSpPr>
          <p:spPr>
            <a:xfrm flipH="false" flipV="false" rot="0">
              <a:off x="0" y="0"/>
              <a:ext cx="19659600" cy="1737360"/>
            </a:xfrm>
            <a:custGeom>
              <a:avLst/>
              <a:gdLst/>
              <a:ahLst/>
              <a:cxnLst/>
              <a:rect r="r" b="b" t="t" l="l"/>
              <a:pathLst>
                <a:path h="1737360" w="19659600">
                  <a:moveTo>
                    <a:pt x="0" y="182880"/>
                  </a:moveTo>
                  <a:cubicBezTo>
                    <a:pt x="0" y="81915"/>
                    <a:pt x="81915" y="0"/>
                    <a:pt x="182880" y="0"/>
                  </a:cubicBezTo>
                  <a:lnTo>
                    <a:pt x="19476720" y="0"/>
                  </a:lnTo>
                  <a:cubicBezTo>
                    <a:pt x="19577684" y="0"/>
                    <a:pt x="19659600" y="81915"/>
                    <a:pt x="19659600" y="182880"/>
                  </a:cubicBezTo>
                  <a:lnTo>
                    <a:pt x="19659600" y="1554480"/>
                  </a:lnTo>
                  <a:cubicBezTo>
                    <a:pt x="19659600" y="1655445"/>
                    <a:pt x="19577684" y="1737360"/>
                    <a:pt x="19476720" y="1737360"/>
                  </a:cubicBezTo>
                  <a:lnTo>
                    <a:pt x="182880" y="1737360"/>
                  </a:lnTo>
                  <a:cubicBezTo>
                    <a:pt x="81915" y="1737360"/>
                    <a:pt x="0" y="1655445"/>
                    <a:pt x="0" y="1554480"/>
                  </a:cubicBezTo>
                  <a:close/>
                </a:path>
              </a:pathLst>
            </a:custGeom>
            <a:solidFill>
              <a:srgbClr val="FFFFFF"/>
            </a:solidFill>
          </p:spPr>
        </p:sp>
      </p:grpSp>
      <p:grpSp>
        <p:nvGrpSpPr>
          <p:cNvPr name="Group 33" id="33"/>
          <p:cNvGrpSpPr/>
          <p:nvPr/>
        </p:nvGrpSpPr>
        <p:grpSpPr>
          <a:xfrm rot="0">
            <a:off x="1325880" y="7021030"/>
            <a:ext cx="3566160" cy="1303020"/>
            <a:chOff x="0" y="0"/>
            <a:chExt cx="4754880" cy="1737360"/>
          </a:xfrm>
        </p:grpSpPr>
        <p:sp>
          <p:nvSpPr>
            <p:cNvPr name="Freeform 34" id="34"/>
            <p:cNvSpPr/>
            <p:nvPr/>
          </p:nvSpPr>
          <p:spPr>
            <a:xfrm flipH="false" flipV="false" rot="0">
              <a:off x="0" y="0"/>
              <a:ext cx="4754880" cy="1737360"/>
            </a:xfrm>
            <a:custGeom>
              <a:avLst/>
              <a:gdLst/>
              <a:ahLst/>
              <a:cxnLst/>
              <a:rect r="r" b="b" t="t" l="l"/>
              <a:pathLst>
                <a:path h="1737360" w="4754880">
                  <a:moveTo>
                    <a:pt x="0" y="0"/>
                  </a:moveTo>
                  <a:lnTo>
                    <a:pt x="4754880" y="0"/>
                  </a:lnTo>
                  <a:lnTo>
                    <a:pt x="4754880" y="1737360"/>
                  </a:lnTo>
                  <a:lnTo>
                    <a:pt x="0" y="1737360"/>
                  </a:lnTo>
                  <a:close/>
                </a:path>
              </a:pathLst>
            </a:custGeom>
            <a:blipFill>
              <a:blip r:embed="rId9">
                <a:alphaModFix amt="0"/>
              </a:blip>
              <a:stretch>
                <a:fillRect l="0" t="-3327" r="0" b="-3327"/>
              </a:stretch>
            </a:blipFill>
          </p:spPr>
        </p:sp>
        <p:sp>
          <p:nvSpPr>
            <p:cNvPr name="TextBox 35" id="35"/>
            <p:cNvSpPr txBox="true"/>
            <p:nvPr/>
          </p:nvSpPr>
          <p:spPr>
            <a:xfrm>
              <a:off x="0" y="-95250"/>
              <a:ext cx="4754880" cy="1832610"/>
            </a:xfrm>
            <a:prstGeom prst="rect">
              <a:avLst/>
            </a:prstGeom>
          </p:spPr>
          <p:txBody>
            <a:bodyPr anchor="ctr" rtlCol="false" tIns="0" lIns="0" bIns="0" rIns="0"/>
            <a:lstStyle/>
            <a:p>
              <a:pPr algn="l">
                <a:lnSpc>
                  <a:spcPts val="3159"/>
                </a:lnSpc>
              </a:pPr>
              <a:r>
                <a:rPr lang="en-US" sz="1950" b="true">
                  <a:solidFill>
                    <a:srgbClr val="475569"/>
                  </a:solidFill>
                  <a:latin typeface="Poppins Bold"/>
                  <a:ea typeface="Poppins Bold"/>
                  <a:cs typeface="Poppins Bold"/>
                  <a:sym typeface="Poppins Bold"/>
                </a:rPr>
                <a:t>Filtered to LAG-07</a:t>
              </a:r>
            </a:p>
          </p:txBody>
        </p:sp>
      </p:grpSp>
      <p:grpSp>
        <p:nvGrpSpPr>
          <p:cNvPr name="Group 36" id="36"/>
          <p:cNvGrpSpPr/>
          <p:nvPr/>
        </p:nvGrpSpPr>
        <p:grpSpPr>
          <a:xfrm rot="0">
            <a:off x="5166360" y="7021030"/>
            <a:ext cx="2743200" cy="1303020"/>
            <a:chOff x="0" y="0"/>
            <a:chExt cx="3657600" cy="1737360"/>
          </a:xfrm>
        </p:grpSpPr>
        <p:sp>
          <p:nvSpPr>
            <p:cNvPr name="Freeform 37" id="37"/>
            <p:cNvSpPr/>
            <p:nvPr/>
          </p:nvSpPr>
          <p:spPr>
            <a:xfrm flipH="false" flipV="false" rot="0">
              <a:off x="0" y="0"/>
              <a:ext cx="3657600" cy="1737360"/>
            </a:xfrm>
            <a:custGeom>
              <a:avLst/>
              <a:gdLst/>
              <a:ahLst/>
              <a:cxnLst/>
              <a:rect r="r" b="b" t="t" l="l"/>
              <a:pathLst>
                <a:path h="1737360" w="3657600">
                  <a:moveTo>
                    <a:pt x="0" y="0"/>
                  </a:moveTo>
                  <a:lnTo>
                    <a:pt x="3657600" y="0"/>
                  </a:lnTo>
                  <a:lnTo>
                    <a:pt x="3657600" y="1737360"/>
                  </a:lnTo>
                  <a:lnTo>
                    <a:pt x="0" y="1737360"/>
                  </a:lnTo>
                  <a:close/>
                </a:path>
              </a:pathLst>
            </a:custGeom>
            <a:blipFill>
              <a:blip r:embed="rId9">
                <a:alphaModFix amt="0"/>
              </a:blip>
              <a:stretch>
                <a:fillRect l="-10944" t="0" r="-10944" b="0"/>
              </a:stretch>
            </a:blipFill>
          </p:spPr>
        </p:sp>
        <p:sp>
          <p:nvSpPr>
            <p:cNvPr name="TextBox 38" id="38"/>
            <p:cNvSpPr txBox="true"/>
            <p:nvPr/>
          </p:nvSpPr>
          <p:spPr>
            <a:xfrm>
              <a:off x="0" y="-28575"/>
              <a:ext cx="3657600" cy="1765935"/>
            </a:xfrm>
            <a:prstGeom prst="rect">
              <a:avLst/>
            </a:prstGeom>
          </p:spPr>
          <p:txBody>
            <a:bodyPr anchor="ctr" rtlCol="false" tIns="0" lIns="0" bIns="0" rIns="0"/>
            <a:lstStyle/>
            <a:p>
              <a:pPr algn="ctr">
                <a:lnSpc>
                  <a:spcPts val="3240"/>
                </a:lnSpc>
              </a:pPr>
              <a:r>
                <a:rPr lang="en-US" sz="2700" b="true">
                  <a:solidFill>
                    <a:srgbClr val="A8322D"/>
                  </a:solidFill>
                  <a:latin typeface="Poppins Bold"/>
                  <a:ea typeface="Poppins Bold"/>
                  <a:cs typeface="Poppins Bold"/>
                  <a:sym typeface="Poppins Bold"/>
                </a:rPr>
                <a:t>5.1%</a:t>
              </a:r>
            </a:p>
          </p:txBody>
        </p:sp>
      </p:grpSp>
      <p:grpSp>
        <p:nvGrpSpPr>
          <p:cNvPr name="Group 39" id="39"/>
          <p:cNvGrpSpPr/>
          <p:nvPr/>
        </p:nvGrpSpPr>
        <p:grpSpPr>
          <a:xfrm rot="0">
            <a:off x="8183880" y="7021030"/>
            <a:ext cx="3154680" cy="1303020"/>
            <a:chOff x="0" y="0"/>
            <a:chExt cx="4206240" cy="1737360"/>
          </a:xfrm>
        </p:grpSpPr>
        <p:sp>
          <p:nvSpPr>
            <p:cNvPr name="Freeform 40" id="40"/>
            <p:cNvSpPr/>
            <p:nvPr/>
          </p:nvSpPr>
          <p:spPr>
            <a:xfrm flipH="false" flipV="false" rot="0">
              <a:off x="0" y="0"/>
              <a:ext cx="4206240" cy="1737360"/>
            </a:xfrm>
            <a:custGeom>
              <a:avLst/>
              <a:gdLst/>
              <a:ahLst/>
              <a:cxnLst/>
              <a:rect r="r" b="b" t="t" l="l"/>
              <a:pathLst>
                <a:path h="1737360" w="4206240">
                  <a:moveTo>
                    <a:pt x="0" y="0"/>
                  </a:moveTo>
                  <a:lnTo>
                    <a:pt x="4206240" y="0"/>
                  </a:lnTo>
                  <a:lnTo>
                    <a:pt x="4206240" y="1737360"/>
                  </a:lnTo>
                  <a:lnTo>
                    <a:pt x="0" y="1737360"/>
                  </a:lnTo>
                  <a:close/>
                </a:path>
              </a:pathLst>
            </a:custGeom>
            <a:blipFill>
              <a:blip r:embed="rId9">
                <a:alphaModFix amt="0"/>
              </a:blip>
              <a:stretch>
                <a:fillRect l="-2994" t="0" r="-2994" b="0"/>
              </a:stretch>
            </a:blipFill>
          </p:spPr>
        </p:sp>
        <p:sp>
          <p:nvSpPr>
            <p:cNvPr name="TextBox 41" id="41"/>
            <p:cNvSpPr txBox="true"/>
            <p:nvPr/>
          </p:nvSpPr>
          <p:spPr>
            <a:xfrm>
              <a:off x="0" y="-19050"/>
              <a:ext cx="4206240" cy="1756410"/>
            </a:xfrm>
            <a:prstGeom prst="rect">
              <a:avLst/>
            </a:prstGeom>
          </p:spPr>
          <p:txBody>
            <a:bodyPr anchor="ctr" rtlCol="false" tIns="0" lIns="0" bIns="0" rIns="0"/>
            <a:lstStyle/>
            <a:p>
              <a:pPr algn="ctr">
                <a:lnSpc>
                  <a:spcPts val="2160"/>
                </a:lnSpc>
              </a:pPr>
              <a:r>
                <a:rPr lang="en-US" sz="1800">
                  <a:solidFill>
                    <a:srgbClr val="64748B"/>
                  </a:solidFill>
                  <a:latin typeface="Poppins"/>
                  <a:ea typeface="Poppins"/>
                  <a:cs typeface="Poppins"/>
                  <a:sym typeface="Poppins"/>
                </a:rPr>
                <a:t>vs true 61.4%</a:t>
              </a:r>
            </a:p>
          </p:txBody>
        </p:sp>
      </p:grpSp>
      <p:grpSp>
        <p:nvGrpSpPr>
          <p:cNvPr name="Group 42" id="42"/>
          <p:cNvGrpSpPr/>
          <p:nvPr/>
        </p:nvGrpSpPr>
        <p:grpSpPr>
          <a:xfrm rot="0">
            <a:off x="11612880" y="7021030"/>
            <a:ext cx="3634740" cy="1303020"/>
            <a:chOff x="0" y="0"/>
            <a:chExt cx="4846320" cy="1737360"/>
          </a:xfrm>
        </p:grpSpPr>
        <p:sp>
          <p:nvSpPr>
            <p:cNvPr name="Freeform 43" id="43"/>
            <p:cNvSpPr/>
            <p:nvPr/>
          </p:nvSpPr>
          <p:spPr>
            <a:xfrm flipH="false" flipV="false" rot="0">
              <a:off x="0" y="0"/>
              <a:ext cx="4846320" cy="1737360"/>
            </a:xfrm>
            <a:custGeom>
              <a:avLst/>
              <a:gdLst/>
              <a:ahLst/>
              <a:cxnLst/>
              <a:rect r="r" b="b" t="t" l="l"/>
              <a:pathLst>
                <a:path h="1737360" w="4846320">
                  <a:moveTo>
                    <a:pt x="0" y="0"/>
                  </a:moveTo>
                  <a:lnTo>
                    <a:pt x="4846320" y="0"/>
                  </a:lnTo>
                  <a:lnTo>
                    <a:pt x="4846320" y="1737360"/>
                  </a:lnTo>
                  <a:lnTo>
                    <a:pt x="0" y="1737360"/>
                  </a:lnTo>
                  <a:close/>
                </a:path>
              </a:pathLst>
            </a:custGeom>
            <a:blipFill>
              <a:blip r:embed="rId9">
                <a:alphaModFix amt="0"/>
              </a:blip>
              <a:stretch>
                <a:fillRect l="0" t="-4353" r="0" b="-4352"/>
              </a:stretch>
            </a:blipFill>
          </p:spPr>
        </p:sp>
        <p:sp>
          <p:nvSpPr>
            <p:cNvPr name="TextBox 44" id="44"/>
            <p:cNvSpPr txBox="true"/>
            <p:nvPr/>
          </p:nvSpPr>
          <p:spPr>
            <a:xfrm>
              <a:off x="0" y="-76200"/>
              <a:ext cx="4846320" cy="1813560"/>
            </a:xfrm>
            <a:prstGeom prst="rect">
              <a:avLst/>
            </a:prstGeom>
          </p:spPr>
          <p:txBody>
            <a:bodyPr anchor="ctr" rtlCol="false" tIns="0" lIns="0" bIns="0" rIns="0"/>
            <a:lstStyle/>
            <a:p>
              <a:pPr algn="l">
                <a:lnSpc>
                  <a:spcPts val="2794"/>
                </a:lnSpc>
              </a:pPr>
              <a:r>
                <a:rPr lang="en-US" sz="1725" i="true">
                  <a:solidFill>
                    <a:srgbClr val="64748B"/>
                  </a:solidFill>
                  <a:latin typeface="Poppins Italics"/>
                  <a:ea typeface="Poppins Italics"/>
                  <a:cs typeface="Poppins Italics"/>
                  <a:sym typeface="Poppins Italics"/>
                </a:rPr>
                <a:t>obviously wrong</a:t>
              </a:r>
            </a:p>
          </p:txBody>
        </p:sp>
      </p:grpSp>
      <p:grpSp>
        <p:nvGrpSpPr>
          <p:cNvPr name="Group 45" id="45"/>
          <p:cNvGrpSpPr/>
          <p:nvPr/>
        </p:nvGrpSpPr>
        <p:grpSpPr>
          <a:xfrm rot="0">
            <a:off x="914400" y="8529790"/>
            <a:ext cx="14744700" cy="1165860"/>
            <a:chOff x="0" y="0"/>
            <a:chExt cx="19659600" cy="1554480"/>
          </a:xfrm>
        </p:grpSpPr>
        <p:sp>
          <p:nvSpPr>
            <p:cNvPr name="Freeform 46" id="46"/>
            <p:cNvSpPr/>
            <p:nvPr/>
          </p:nvSpPr>
          <p:spPr>
            <a:xfrm flipH="false" flipV="false" rot="0">
              <a:off x="0" y="0"/>
              <a:ext cx="19659600" cy="1554480"/>
            </a:xfrm>
            <a:custGeom>
              <a:avLst/>
              <a:gdLst/>
              <a:ahLst/>
              <a:cxnLst/>
              <a:rect r="r" b="b" t="t" l="l"/>
              <a:pathLst>
                <a:path h="1554480" w="19659600">
                  <a:moveTo>
                    <a:pt x="0" y="164592"/>
                  </a:moveTo>
                  <a:cubicBezTo>
                    <a:pt x="0" y="73660"/>
                    <a:pt x="73660" y="0"/>
                    <a:pt x="164592" y="0"/>
                  </a:cubicBezTo>
                  <a:lnTo>
                    <a:pt x="19495008" y="0"/>
                  </a:lnTo>
                  <a:cubicBezTo>
                    <a:pt x="19585939" y="0"/>
                    <a:pt x="19659600" y="73660"/>
                    <a:pt x="19659600" y="164592"/>
                  </a:cubicBezTo>
                  <a:lnTo>
                    <a:pt x="19659600" y="1389888"/>
                  </a:lnTo>
                  <a:cubicBezTo>
                    <a:pt x="19659600" y="1480820"/>
                    <a:pt x="19585939" y="1554480"/>
                    <a:pt x="19495008" y="1554480"/>
                  </a:cubicBezTo>
                  <a:lnTo>
                    <a:pt x="164592" y="1554480"/>
                  </a:lnTo>
                  <a:cubicBezTo>
                    <a:pt x="73660" y="1554480"/>
                    <a:pt x="0" y="1480820"/>
                    <a:pt x="0" y="1389888"/>
                  </a:cubicBezTo>
                  <a:close/>
                </a:path>
              </a:pathLst>
            </a:custGeom>
            <a:solidFill>
              <a:srgbClr val="EEF4F4"/>
            </a:solidFill>
          </p:spPr>
        </p:sp>
      </p:grpSp>
      <p:grpSp>
        <p:nvGrpSpPr>
          <p:cNvPr name="Group 47" id="47"/>
          <p:cNvGrpSpPr/>
          <p:nvPr/>
        </p:nvGrpSpPr>
        <p:grpSpPr>
          <a:xfrm rot="0">
            <a:off x="914400" y="8529790"/>
            <a:ext cx="102870" cy="1165860"/>
            <a:chOff x="0" y="0"/>
            <a:chExt cx="137160" cy="1554480"/>
          </a:xfrm>
        </p:grpSpPr>
        <p:sp>
          <p:nvSpPr>
            <p:cNvPr name="Freeform 48" id="48"/>
            <p:cNvSpPr/>
            <p:nvPr/>
          </p:nvSpPr>
          <p:spPr>
            <a:xfrm flipH="false" flipV="false" rot="0">
              <a:off x="0" y="0"/>
              <a:ext cx="137160" cy="1554480"/>
            </a:xfrm>
            <a:custGeom>
              <a:avLst/>
              <a:gdLst/>
              <a:ahLst/>
              <a:cxnLst/>
              <a:rect r="r" b="b" t="t" l="l"/>
              <a:pathLst>
                <a:path h="1554480" w="137160">
                  <a:moveTo>
                    <a:pt x="0" y="0"/>
                  </a:moveTo>
                  <a:lnTo>
                    <a:pt x="137160" y="0"/>
                  </a:lnTo>
                  <a:lnTo>
                    <a:pt x="137160" y="1554480"/>
                  </a:lnTo>
                  <a:lnTo>
                    <a:pt x="0" y="1554480"/>
                  </a:lnTo>
                  <a:close/>
                </a:path>
              </a:pathLst>
            </a:custGeom>
            <a:solidFill>
              <a:srgbClr val="387F7F"/>
            </a:solidFill>
          </p:spPr>
        </p:sp>
      </p:grpSp>
      <p:grpSp>
        <p:nvGrpSpPr>
          <p:cNvPr name="Group 49" id="49"/>
          <p:cNvGrpSpPr/>
          <p:nvPr/>
        </p:nvGrpSpPr>
        <p:grpSpPr>
          <a:xfrm rot="0">
            <a:off x="1463040" y="8529790"/>
            <a:ext cx="13853160" cy="1165860"/>
            <a:chOff x="0" y="0"/>
            <a:chExt cx="18470880" cy="1554480"/>
          </a:xfrm>
        </p:grpSpPr>
        <p:sp>
          <p:nvSpPr>
            <p:cNvPr name="Freeform 50" id="50"/>
            <p:cNvSpPr/>
            <p:nvPr/>
          </p:nvSpPr>
          <p:spPr>
            <a:xfrm flipH="false" flipV="false" rot="0">
              <a:off x="0" y="0"/>
              <a:ext cx="18470880" cy="1554480"/>
            </a:xfrm>
            <a:custGeom>
              <a:avLst/>
              <a:gdLst/>
              <a:ahLst/>
              <a:cxnLst/>
              <a:rect r="r" b="b" t="t" l="l"/>
              <a:pathLst>
                <a:path h="1554480" w="18470880">
                  <a:moveTo>
                    <a:pt x="0" y="0"/>
                  </a:moveTo>
                  <a:lnTo>
                    <a:pt x="18470880" y="0"/>
                  </a:lnTo>
                  <a:lnTo>
                    <a:pt x="18470880" y="1554480"/>
                  </a:lnTo>
                  <a:lnTo>
                    <a:pt x="0" y="1554480"/>
                  </a:lnTo>
                  <a:close/>
                </a:path>
              </a:pathLst>
            </a:custGeom>
            <a:blipFill>
              <a:blip r:embed="rId9">
                <a:alphaModFix amt="0"/>
              </a:blip>
              <a:stretch>
                <a:fillRect l="0" t="-181528" r="0" b="-181528"/>
              </a:stretch>
            </a:blipFill>
          </p:spPr>
        </p:sp>
        <p:sp>
          <p:nvSpPr>
            <p:cNvPr name="TextBox 51" id="51"/>
            <p:cNvSpPr txBox="true"/>
            <p:nvPr/>
          </p:nvSpPr>
          <p:spPr>
            <a:xfrm>
              <a:off x="0" y="-66675"/>
              <a:ext cx="18470880" cy="1621155"/>
            </a:xfrm>
            <a:prstGeom prst="rect">
              <a:avLst/>
            </a:prstGeom>
          </p:spPr>
          <p:txBody>
            <a:bodyPr anchor="ctr" rtlCol="false" tIns="0" lIns="0" bIns="0" rIns="0"/>
            <a:lstStyle/>
            <a:p>
              <a:pPr algn="l">
                <a:lnSpc>
                  <a:spcPts val="2964"/>
                </a:lnSpc>
              </a:pPr>
              <a:r>
                <a:rPr lang="en-US" sz="2025" b="true">
                  <a:solidFill>
                    <a:srgbClr val="387F7F"/>
                  </a:solidFill>
                  <a:latin typeface="Poppins Bold"/>
                  <a:ea typeface="Poppins Bold"/>
                  <a:cs typeface="Poppins Bold"/>
                  <a:sym typeface="Poppins Bold"/>
                </a:rPr>
                <a:t>This is why you predict, then run, then check more than one filter state, not just the total.</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3402550" cy="1495425"/>
          </a:xfrm>
          <a:prstGeom prst="rect">
            <a:avLst/>
          </a:prstGeom>
        </p:spPr>
        <p:txBody>
          <a:bodyPr anchor="t" rtlCol="false" tIns="0" lIns="0" bIns="0" rIns="0">
            <a:spAutoFit/>
          </a:bodyPr>
          <a:lstStyle/>
          <a:p>
            <a:pPr algn="l">
              <a:lnSpc>
                <a:spcPts val="5760"/>
              </a:lnSpc>
            </a:pPr>
            <a:r>
              <a:rPr lang="en-US" sz="4800">
                <a:solidFill>
                  <a:srgbClr val="388080"/>
                </a:solidFill>
                <a:latin typeface="Poppins"/>
                <a:ea typeface="Poppins"/>
                <a:cs typeface="Poppins"/>
                <a:sym typeface="Poppins"/>
              </a:rPr>
              <a:t>Measure</a:t>
            </a:r>
            <a:r>
              <a:rPr lang="en-US" sz="4800">
                <a:solidFill>
                  <a:srgbClr val="388080"/>
                </a:solidFill>
                <a:latin typeface="Poppins"/>
                <a:ea typeface="Poppins"/>
                <a:cs typeface="Poppins"/>
                <a:sym typeface="Poppins"/>
              </a:rPr>
              <a:t> C: the numerator, copied into the denominator</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904875" y="2673577"/>
            <a:ext cx="14744700" cy="2606040"/>
            <a:chOff x="0" y="0"/>
            <a:chExt cx="19659600" cy="3474720"/>
          </a:xfrm>
        </p:grpSpPr>
        <p:sp>
          <p:nvSpPr>
            <p:cNvPr name="Freeform 12" id="12"/>
            <p:cNvSpPr/>
            <p:nvPr/>
          </p:nvSpPr>
          <p:spPr>
            <a:xfrm flipH="false" flipV="false" rot="0">
              <a:off x="0" y="0"/>
              <a:ext cx="19659600" cy="3474720"/>
            </a:xfrm>
            <a:custGeom>
              <a:avLst/>
              <a:gdLst/>
              <a:ahLst/>
              <a:cxnLst/>
              <a:rect r="r" b="b" t="t" l="l"/>
              <a:pathLst>
                <a:path h="3474720" w="19659600">
                  <a:moveTo>
                    <a:pt x="0" y="164592"/>
                  </a:moveTo>
                  <a:cubicBezTo>
                    <a:pt x="0" y="73660"/>
                    <a:pt x="73660" y="0"/>
                    <a:pt x="164592" y="0"/>
                  </a:cubicBezTo>
                  <a:lnTo>
                    <a:pt x="19495008" y="0"/>
                  </a:lnTo>
                  <a:cubicBezTo>
                    <a:pt x="19585939" y="0"/>
                    <a:pt x="19659600" y="73660"/>
                    <a:pt x="19659600" y="164592"/>
                  </a:cubicBezTo>
                  <a:lnTo>
                    <a:pt x="19659600" y="3310128"/>
                  </a:lnTo>
                  <a:cubicBezTo>
                    <a:pt x="19659600" y="3401060"/>
                    <a:pt x="19585939" y="3474720"/>
                    <a:pt x="19495008" y="3474720"/>
                  </a:cubicBezTo>
                  <a:lnTo>
                    <a:pt x="164592" y="3474720"/>
                  </a:lnTo>
                  <a:cubicBezTo>
                    <a:pt x="73660" y="3474720"/>
                    <a:pt x="0" y="3401060"/>
                    <a:pt x="0" y="3310128"/>
                  </a:cubicBezTo>
                  <a:close/>
                </a:path>
              </a:pathLst>
            </a:custGeom>
            <a:solidFill>
              <a:srgbClr val="10312F"/>
            </a:solidFill>
          </p:spPr>
        </p:sp>
      </p:grpSp>
      <p:grpSp>
        <p:nvGrpSpPr>
          <p:cNvPr name="Group 13" id="13"/>
          <p:cNvGrpSpPr/>
          <p:nvPr/>
        </p:nvGrpSpPr>
        <p:grpSpPr>
          <a:xfrm rot="0">
            <a:off x="1206627" y="2467837"/>
            <a:ext cx="3017520" cy="438912"/>
            <a:chOff x="0" y="0"/>
            <a:chExt cx="4023360" cy="585216"/>
          </a:xfrm>
        </p:grpSpPr>
        <p:sp>
          <p:nvSpPr>
            <p:cNvPr name="Freeform 14" id="14"/>
            <p:cNvSpPr/>
            <p:nvPr/>
          </p:nvSpPr>
          <p:spPr>
            <a:xfrm flipH="false" flipV="false" rot="0">
              <a:off x="0" y="0"/>
              <a:ext cx="4023360" cy="585216"/>
            </a:xfrm>
            <a:custGeom>
              <a:avLst/>
              <a:gdLst/>
              <a:ahLst/>
              <a:cxnLst/>
              <a:rect r="r" b="b" t="t" l="l"/>
              <a:pathLst>
                <a:path h="585216" w="4023360">
                  <a:moveTo>
                    <a:pt x="0" y="292608"/>
                  </a:moveTo>
                  <a:cubicBezTo>
                    <a:pt x="0" y="131064"/>
                    <a:pt x="131064" y="0"/>
                    <a:pt x="292608" y="0"/>
                  </a:cubicBezTo>
                  <a:lnTo>
                    <a:pt x="3730752" y="0"/>
                  </a:lnTo>
                  <a:cubicBezTo>
                    <a:pt x="3892296" y="0"/>
                    <a:pt x="4023360" y="131064"/>
                    <a:pt x="4023360" y="292608"/>
                  </a:cubicBezTo>
                  <a:cubicBezTo>
                    <a:pt x="4023360" y="454152"/>
                    <a:pt x="3892296" y="585216"/>
                    <a:pt x="3730752" y="585216"/>
                  </a:cubicBezTo>
                  <a:lnTo>
                    <a:pt x="292608" y="585216"/>
                  </a:lnTo>
                  <a:cubicBezTo>
                    <a:pt x="131064" y="585216"/>
                    <a:pt x="0" y="454152"/>
                    <a:pt x="0" y="292608"/>
                  </a:cubicBezTo>
                  <a:close/>
                </a:path>
              </a:pathLst>
            </a:custGeom>
            <a:solidFill>
              <a:srgbClr val="387F7F"/>
            </a:solidFill>
          </p:spPr>
        </p:sp>
      </p:grpSp>
      <p:grpSp>
        <p:nvGrpSpPr>
          <p:cNvPr name="Group 15" id="15"/>
          <p:cNvGrpSpPr/>
          <p:nvPr/>
        </p:nvGrpSpPr>
        <p:grpSpPr>
          <a:xfrm rot="0">
            <a:off x="1206627" y="2467837"/>
            <a:ext cx="3017520" cy="438912"/>
            <a:chOff x="0" y="0"/>
            <a:chExt cx="4023360" cy="585216"/>
          </a:xfrm>
        </p:grpSpPr>
        <p:sp>
          <p:nvSpPr>
            <p:cNvPr name="Freeform 16" id="16"/>
            <p:cNvSpPr/>
            <p:nvPr/>
          </p:nvSpPr>
          <p:spPr>
            <a:xfrm flipH="false" flipV="false" rot="0">
              <a:off x="0" y="0"/>
              <a:ext cx="4023360" cy="585216"/>
            </a:xfrm>
            <a:custGeom>
              <a:avLst/>
              <a:gdLst/>
              <a:ahLst/>
              <a:cxnLst/>
              <a:rect r="r" b="b" t="t" l="l"/>
              <a:pathLst>
                <a:path h="585216" w="4023360">
                  <a:moveTo>
                    <a:pt x="0" y="0"/>
                  </a:moveTo>
                  <a:lnTo>
                    <a:pt x="4023360" y="0"/>
                  </a:lnTo>
                  <a:lnTo>
                    <a:pt x="4023360" y="585216"/>
                  </a:lnTo>
                  <a:lnTo>
                    <a:pt x="0" y="585216"/>
                  </a:lnTo>
                  <a:close/>
                </a:path>
              </a:pathLst>
            </a:custGeom>
            <a:blipFill>
              <a:blip r:embed="rId9">
                <a:alphaModFix amt="0"/>
              </a:blip>
              <a:stretch>
                <a:fillRect l="0" t="-83959" r="0" b="-83959"/>
              </a:stretch>
            </a:blipFill>
          </p:spPr>
        </p:sp>
        <p:sp>
          <p:nvSpPr>
            <p:cNvPr name="TextBox 17" id="17"/>
            <p:cNvSpPr txBox="true"/>
            <p:nvPr/>
          </p:nvSpPr>
          <p:spPr>
            <a:xfrm>
              <a:off x="0" y="-19050"/>
              <a:ext cx="4023360" cy="604266"/>
            </a:xfrm>
            <a:prstGeom prst="rect">
              <a:avLst/>
            </a:prstGeom>
          </p:spPr>
          <p:txBody>
            <a:bodyPr anchor="ctr" rtlCol="false" tIns="0" lIns="0" bIns="0" rIns="0"/>
            <a:lstStyle/>
            <a:p>
              <a:pPr algn="ctr">
                <a:lnSpc>
                  <a:spcPts val="1620"/>
                </a:lnSpc>
              </a:pPr>
              <a:r>
                <a:rPr lang="en-US" sz="1350" b="true">
                  <a:solidFill>
                    <a:srgbClr val="FFFFFF"/>
                  </a:solidFill>
                  <a:latin typeface="Poppins Bold"/>
                  <a:ea typeface="Poppins Bold"/>
                  <a:cs typeface="Poppins Bold"/>
                  <a:sym typeface="Poppins Bold"/>
                </a:rPr>
                <a:t>THE SAME LINE, TWICE</a:t>
              </a:r>
            </a:p>
          </p:txBody>
        </p:sp>
      </p:grpSp>
      <p:grpSp>
        <p:nvGrpSpPr>
          <p:cNvPr name="Group 18" id="18"/>
          <p:cNvGrpSpPr/>
          <p:nvPr/>
        </p:nvGrpSpPr>
        <p:grpSpPr>
          <a:xfrm rot="0">
            <a:off x="1316355" y="3085057"/>
            <a:ext cx="13921740" cy="1920240"/>
            <a:chOff x="0" y="0"/>
            <a:chExt cx="18562320" cy="2560320"/>
          </a:xfrm>
        </p:grpSpPr>
        <p:sp>
          <p:nvSpPr>
            <p:cNvPr name="Freeform 19" id="19"/>
            <p:cNvSpPr/>
            <p:nvPr/>
          </p:nvSpPr>
          <p:spPr>
            <a:xfrm flipH="false" flipV="false" rot="0">
              <a:off x="0" y="0"/>
              <a:ext cx="18562320" cy="2560320"/>
            </a:xfrm>
            <a:custGeom>
              <a:avLst/>
              <a:gdLst/>
              <a:ahLst/>
              <a:cxnLst/>
              <a:rect r="r" b="b" t="t" l="l"/>
              <a:pathLst>
                <a:path h="2560320" w="18562320">
                  <a:moveTo>
                    <a:pt x="0" y="0"/>
                  </a:moveTo>
                  <a:lnTo>
                    <a:pt x="18562320" y="0"/>
                  </a:lnTo>
                  <a:lnTo>
                    <a:pt x="18562320" y="2560320"/>
                  </a:lnTo>
                  <a:lnTo>
                    <a:pt x="0" y="2560320"/>
                  </a:lnTo>
                  <a:close/>
                </a:path>
              </a:pathLst>
            </a:custGeom>
            <a:blipFill>
              <a:blip r:embed="rId9">
                <a:alphaModFix amt="0"/>
              </a:blip>
              <a:stretch>
                <a:fillRect l="0" t="-91266" r="0" b="-91266"/>
              </a:stretch>
            </a:blipFill>
          </p:spPr>
        </p:sp>
        <p:sp>
          <p:nvSpPr>
            <p:cNvPr name="TextBox 20" id="20"/>
            <p:cNvSpPr txBox="true"/>
            <p:nvPr/>
          </p:nvSpPr>
          <p:spPr>
            <a:xfrm>
              <a:off x="0" y="-57150"/>
              <a:ext cx="18562320" cy="2617470"/>
            </a:xfrm>
            <a:prstGeom prst="rect">
              <a:avLst/>
            </a:prstGeom>
          </p:spPr>
          <p:txBody>
            <a:bodyPr anchor="ctr" rtlCol="false" tIns="0" lIns="0" bIns="0" rIns="0"/>
            <a:lstStyle/>
            <a:p>
              <a:pPr algn="l">
                <a:lnSpc>
                  <a:spcPts val="2812"/>
                </a:lnSpc>
              </a:pPr>
              <a:r>
                <a:rPr lang="en-US" sz="1875">
                  <a:solidFill>
                    <a:srgbClr val="CFE6E3"/>
                  </a:solidFill>
                  <a:latin typeface="Roboto Mono"/>
                  <a:ea typeface="Roboto Mono"/>
                  <a:cs typeface="Roboto Mono"/>
                  <a:sym typeface="Roboto Mono"/>
                </a:rPr>
                <a:t>Late Rate =</a:t>
              </a:r>
            </a:p>
            <a:p>
              <a:pPr algn="l">
                <a:lnSpc>
                  <a:spcPts val="2812"/>
                </a:lnSpc>
              </a:pPr>
              <a:r>
                <a:rPr lang="en-US" sz="1875">
                  <a:solidFill>
                    <a:srgbClr val="CFE6E3"/>
                  </a:solidFill>
                  <a:latin typeface="Roboto Mono"/>
                  <a:ea typeface="Roboto Mono"/>
                  <a:cs typeface="Roboto Mono"/>
                  <a:sym typeface="Roboto Mono"/>
                </a:rPr>
                <a:t>DIVIDE (</a:t>
              </a:r>
            </a:p>
            <a:p>
              <a:pPr algn="l">
                <a:lnSpc>
                  <a:spcPts val="2812"/>
                </a:lnSpc>
              </a:pPr>
              <a:r>
                <a:rPr lang="en-US" sz="1875">
                  <a:solidFill>
                    <a:srgbClr val="CFE6E3"/>
                  </a:solidFill>
                  <a:latin typeface="Roboto Mono"/>
                  <a:ea typeface="Roboto Mono"/>
                  <a:cs typeface="Roboto Mono"/>
                  <a:sym typeface="Roboto Mono"/>
                </a:rPr>
                <a:t>    CALCULATE ( [Total Deliveries], swiftroute_deliveries[Status] = "Late" ),</a:t>
              </a:r>
            </a:p>
            <a:p>
              <a:pPr algn="l">
                <a:lnSpc>
                  <a:spcPts val="2812"/>
                </a:lnSpc>
              </a:pPr>
              <a:r>
                <a:rPr lang="en-US" sz="1875">
                  <a:solidFill>
                    <a:srgbClr val="CFE6E3"/>
                  </a:solidFill>
                  <a:latin typeface="Roboto Mono"/>
                  <a:ea typeface="Roboto Mono"/>
                  <a:cs typeface="Roboto Mono"/>
                  <a:sym typeface="Roboto Mono"/>
                </a:rPr>
                <a:t>    CALCULATE ( [Total Deliveries], swiftroute_deliveries[Status] = "Late" )</a:t>
              </a:r>
            </a:p>
            <a:p>
              <a:pPr algn="l">
                <a:lnSpc>
                  <a:spcPts val="2812"/>
                </a:lnSpc>
              </a:pPr>
              <a:r>
                <a:rPr lang="en-US" sz="1875">
                  <a:solidFill>
                    <a:srgbClr val="CFE6E3"/>
                  </a:solidFill>
                  <a:latin typeface="Roboto Mono"/>
                  <a:ea typeface="Roboto Mono"/>
                  <a:cs typeface="Roboto Mono"/>
                  <a:sym typeface="Roboto Mono"/>
                </a:rPr>
                <a:t>)</a:t>
              </a:r>
            </a:p>
          </p:txBody>
        </p:sp>
      </p:grpSp>
      <p:grpSp>
        <p:nvGrpSpPr>
          <p:cNvPr name="Group 21" id="21"/>
          <p:cNvGrpSpPr/>
          <p:nvPr/>
        </p:nvGrpSpPr>
        <p:grpSpPr>
          <a:xfrm rot="0">
            <a:off x="904875" y="5553937"/>
            <a:ext cx="7063740" cy="2606040"/>
            <a:chOff x="0" y="0"/>
            <a:chExt cx="9418320" cy="3474720"/>
          </a:xfrm>
        </p:grpSpPr>
        <p:sp>
          <p:nvSpPr>
            <p:cNvPr name="Freeform 22" id="22"/>
            <p:cNvSpPr/>
            <p:nvPr/>
          </p:nvSpPr>
          <p:spPr>
            <a:xfrm flipH="false" flipV="false" rot="0">
              <a:off x="0" y="0"/>
              <a:ext cx="9418320" cy="3474720"/>
            </a:xfrm>
            <a:custGeom>
              <a:avLst/>
              <a:gdLst/>
              <a:ahLst/>
              <a:cxnLst/>
              <a:rect r="r" b="b" t="t" l="l"/>
              <a:pathLst>
                <a:path h="3474720" w="9418320">
                  <a:moveTo>
                    <a:pt x="0" y="182880"/>
                  </a:moveTo>
                  <a:cubicBezTo>
                    <a:pt x="0" y="81915"/>
                    <a:pt x="81915" y="0"/>
                    <a:pt x="182880" y="0"/>
                  </a:cubicBezTo>
                  <a:lnTo>
                    <a:pt x="9235440" y="0"/>
                  </a:lnTo>
                  <a:cubicBezTo>
                    <a:pt x="9336405" y="0"/>
                    <a:pt x="9418320" y="81915"/>
                    <a:pt x="9418320" y="182880"/>
                  </a:cubicBezTo>
                  <a:lnTo>
                    <a:pt x="9418320" y="3291840"/>
                  </a:lnTo>
                  <a:cubicBezTo>
                    <a:pt x="9418320" y="3392805"/>
                    <a:pt x="9336405" y="3474720"/>
                    <a:pt x="9235440" y="3474720"/>
                  </a:cubicBezTo>
                  <a:lnTo>
                    <a:pt x="182880" y="3474720"/>
                  </a:lnTo>
                  <a:cubicBezTo>
                    <a:pt x="81915" y="3474720"/>
                    <a:pt x="0" y="3392805"/>
                    <a:pt x="0" y="3291840"/>
                  </a:cubicBezTo>
                  <a:close/>
                </a:path>
              </a:pathLst>
            </a:custGeom>
            <a:solidFill>
              <a:srgbClr val="FFFFFF"/>
            </a:solidFill>
          </p:spPr>
        </p:sp>
      </p:grpSp>
      <p:sp>
        <p:nvSpPr>
          <p:cNvPr name="TextBox 23" id="23"/>
          <p:cNvSpPr txBox="true"/>
          <p:nvPr/>
        </p:nvSpPr>
        <p:spPr>
          <a:xfrm rot="0">
            <a:off x="1316355" y="5752057"/>
            <a:ext cx="6240780" cy="487680"/>
          </a:xfrm>
          <a:prstGeom prst="rect">
            <a:avLst/>
          </a:prstGeom>
        </p:spPr>
        <p:txBody>
          <a:bodyPr anchor="t" rtlCol="false" tIns="0" lIns="0" bIns="0" rIns="0">
            <a:spAutoFit/>
          </a:bodyPr>
          <a:lstStyle/>
          <a:p>
            <a:pPr algn="l">
              <a:lnSpc>
                <a:spcPts val="2673"/>
              </a:lnSpc>
            </a:pPr>
            <a:r>
              <a:rPr lang="en-US" sz="1650" b="true">
                <a:solidFill>
                  <a:srgbClr val="64748B"/>
                </a:solidFill>
                <a:latin typeface="Poppins Bold"/>
                <a:ea typeface="Poppins Bold"/>
                <a:cs typeface="Poppins Bold"/>
                <a:sym typeface="Poppins Bold"/>
              </a:rPr>
              <a:t>What it looks like it does</a:t>
            </a:r>
          </a:p>
        </p:txBody>
      </p:sp>
      <p:sp>
        <p:nvSpPr>
          <p:cNvPr name="TextBox 24" id="24"/>
          <p:cNvSpPr txBox="true"/>
          <p:nvPr/>
        </p:nvSpPr>
        <p:spPr>
          <a:xfrm rot="0">
            <a:off x="1316355" y="6232117"/>
            <a:ext cx="6240780" cy="1722120"/>
          </a:xfrm>
          <a:prstGeom prst="rect">
            <a:avLst/>
          </a:prstGeom>
        </p:spPr>
        <p:txBody>
          <a:bodyPr anchor="t" rtlCol="false" tIns="0" lIns="0" bIns="0" rIns="0">
            <a:spAutoFit/>
          </a:bodyPr>
          <a:lstStyle/>
          <a:p>
            <a:pPr algn="l">
              <a:lnSpc>
                <a:spcPts val="2995"/>
              </a:lnSpc>
            </a:pPr>
            <a:r>
              <a:rPr lang="en-US" sz="1950">
                <a:solidFill>
                  <a:srgbClr val="475569"/>
                </a:solidFill>
                <a:latin typeface="Poppins"/>
                <a:ea typeface="Poppins"/>
                <a:cs typeface="Poppins"/>
                <a:sym typeface="Poppins"/>
              </a:rPr>
              <a:t>Late deliveries divided by all deliveries. A normal, sensible rate.</a:t>
            </a:r>
          </a:p>
        </p:txBody>
      </p:sp>
      <p:grpSp>
        <p:nvGrpSpPr>
          <p:cNvPr name="Group 25" id="25"/>
          <p:cNvGrpSpPr/>
          <p:nvPr/>
        </p:nvGrpSpPr>
        <p:grpSpPr>
          <a:xfrm rot="0">
            <a:off x="8585835" y="5553937"/>
            <a:ext cx="7063740" cy="2606040"/>
            <a:chOff x="0" y="0"/>
            <a:chExt cx="9418320" cy="3474720"/>
          </a:xfrm>
        </p:grpSpPr>
        <p:sp>
          <p:nvSpPr>
            <p:cNvPr name="Freeform 26" id="26"/>
            <p:cNvSpPr/>
            <p:nvPr/>
          </p:nvSpPr>
          <p:spPr>
            <a:xfrm flipH="false" flipV="false" rot="0">
              <a:off x="0" y="0"/>
              <a:ext cx="9418320" cy="3474720"/>
            </a:xfrm>
            <a:custGeom>
              <a:avLst/>
              <a:gdLst/>
              <a:ahLst/>
              <a:cxnLst/>
              <a:rect r="r" b="b" t="t" l="l"/>
              <a:pathLst>
                <a:path h="3474720" w="9418320">
                  <a:moveTo>
                    <a:pt x="0" y="182880"/>
                  </a:moveTo>
                  <a:cubicBezTo>
                    <a:pt x="0" y="81915"/>
                    <a:pt x="81915" y="0"/>
                    <a:pt x="182880" y="0"/>
                  </a:cubicBezTo>
                  <a:lnTo>
                    <a:pt x="9235440" y="0"/>
                  </a:lnTo>
                  <a:cubicBezTo>
                    <a:pt x="9336405" y="0"/>
                    <a:pt x="9418320" y="81915"/>
                    <a:pt x="9418320" y="182880"/>
                  </a:cubicBezTo>
                  <a:lnTo>
                    <a:pt x="9418320" y="3291840"/>
                  </a:lnTo>
                  <a:cubicBezTo>
                    <a:pt x="9418320" y="3392805"/>
                    <a:pt x="9336405" y="3474720"/>
                    <a:pt x="9235440" y="3474720"/>
                  </a:cubicBezTo>
                  <a:lnTo>
                    <a:pt x="182880" y="3474720"/>
                  </a:lnTo>
                  <a:cubicBezTo>
                    <a:pt x="81915" y="3474720"/>
                    <a:pt x="0" y="3392805"/>
                    <a:pt x="0" y="3291840"/>
                  </a:cubicBezTo>
                  <a:close/>
                </a:path>
              </a:pathLst>
            </a:custGeom>
            <a:solidFill>
              <a:srgbClr val="A8322D"/>
            </a:solidFill>
          </p:spPr>
        </p:sp>
      </p:grpSp>
      <p:sp>
        <p:nvSpPr>
          <p:cNvPr name="TextBox 27" id="27"/>
          <p:cNvSpPr txBox="true"/>
          <p:nvPr/>
        </p:nvSpPr>
        <p:spPr>
          <a:xfrm rot="0">
            <a:off x="8997315" y="5752057"/>
            <a:ext cx="6240780" cy="487680"/>
          </a:xfrm>
          <a:prstGeom prst="rect">
            <a:avLst/>
          </a:prstGeom>
        </p:spPr>
        <p:txBody>
          <a:bodyPr anchor="t" rtlCol="false" tIns="0" lIns="0" bIns="0" rIns="0">
            <a:spAutoFit/>
          </a:bodyPr>
          <a:lstStyle/>
          <a:p>
            <a:pPr algn="l">
              <a:lnSpc>
                <a:spcPts val="2673"/>
              </a:lnSpc>
            </a:pPr>
            <a:r>
              <a:rPr lang="en-US" sz="1650" b="true">
                <a:solidFill>
                  <a:srgbClr val="F2C9C4"/>
                </a:solidFill>
                <a:latin typeface="Poppins Bold"/>
                <a:ea typeface="Poppins Bold"/>
                <a:cs typeface="Poppins Bold"/>
                <a:sym typeface="Poppins Bold"/>
              </a:rPr>
              <a:t>What it actually does</a:t>
            </a:r>
          </a:p>
        </p:txBody>
      </p:sp>
      <p:sp>
        <p:nvSpPr>
          <p:cNvPr name="TextBox 28" id="28"/>
          <p:cNvSpPr txBox="true"/>
          <p:nvPr/>
        </p:nvSpPr>
        <p:spPr>
          <a:xfrm rot="0">
            <a:off x="8997315" y="6232117"/>
            <a:ext cx="6240780" cy="1859280"/>
          </a:xfrm>
          <a:prstGeom prst="rect">
            <a:avLst/>
          </a:prstGeom>
        </p:spPr>
        <p:txBody>
          <a:bodyPr anchor="t" rtlCol="false" tIns="0" lIns="0" bIns="0" rIns="0">
            <a:spAutoFit/>
          </a:bodyPr>
          <a:lstStyle/>
          <a:p>
            <a:pPr algn="l">
              <a:lnSpc>
                <a:spcPts val="2995"/>
              </a:lnSpc>
            </a:pPr>
            <a:r>
              <a:rPr lang="en-US" sz="1950" b="true">
                <a:solidFill>
                  <a:srgbClr val="FFFFFF"/>
                </a:solidFill>
                <a:latin typeface="Poppins Bold"/>
                <a:ea typeface="Poppins Bold"/>
                <a:cs typeface="Poppins Bold"/>
                <a:sym typeface="Poppins Bold"/>
              </a:rPr>
              <a:t>Late deliveries divided by late deliveries. Always 100 percent. In every filter context, every route, every rider.</a:t>
            </a:r>
          </a:p>
        </p:txBody>
      </p:sp>
      <p:grpSp>
        <p:nvGrpSpPr>
          <p:cNvPr name="Group 29" id="29"/>
          <p:cNvGrpSpPr/>
          <p:nvPr/>
        </p:nvGrpSpPr>
        <p:grpSpPr>
          <a:xfrm rot="0">
            <a:off x="904875" y="8434297"/>
            <a:ext cx="14744700" cy="1165860"/>
            <a:chOff x="0" y="0"/>
            <a:chExt cx="19659600" cy="1554480"/>
          </a:xfrm>
        </p:grpSpPr>
        <p:sp>
          <p:nvSpPr>
            <p:cNvPr name="Freeform 30" id="30"/>
            <p:cNvSpPr/>
            <p:nvPr/>
          </p:nvSpPr>
          <p:spPr>
            <a:xfrm flipH="false" flipV="false" rot="0">
              <a:off x="0" y="0"/>
              <a:ext cx="19659600" cy="1554480"/>
            </a:xfrm>
            <a:custGeom>
              <a:avLst/>
              <a:gdLst/>
              <a:ahLst/>
              <a:cxnLst/>
              <a:rect r="r" b="b" t="t" l="l"/>
              <a:pathLst>
                <a:path h="1554480" w="19659600">
                  <a:moveTo>
                    <a:pt x="0" y="164592"/>
                  </a:moveTo>
                  <a:cubicBezTo>
                    <a:pt x="0" y="73660"/>
                    <a:pt x="73660" y="0"/>
                    <a:pt x="164592" y="0"/>
                  </a:cubicBezTo>
                  <a:lnTo>
                    <a:pt x="19495008" y="0"/>
                  </a:lnTo>
                  <a:cubicBezTo>
                    <a:pt x="19585939" y="0"/>
                    <a:pt x="19659600" y="73660"/>
                    <a:pt x="19659600" y="164592"/>
                  </a:cubicBezTo>
                  <a:lnTo>
                    <a:pt x="19659600" y="1389888"/>
                  </a:lnTo>
                  <a:cubicBezTo>
                    <a:pt x="19659600" y="1480820"/>
                    <a:pt x="19585939" y="1554480"/>
                    <a:pt x="19495008" y="1554480"/>
                  </a:cubicBezTo>
                  <a:lnTo>
                    <a:pt x="164592" y="1554480"/>
                  </a:lnTo>
                  <a:cubicBezTo>
                    <a:pt x="73660" y="1554480"/>
                    <a:pt x="0" y="1480820"/>
                    <a:pt x="0" y="1389888"/>
                  </a:cubicBezTo>
                  <a:close/>
                </a:path>
              </a:pathLst>
            </a:custGeom>
            <a:solidFill>
              <a:srgbClr val="FBF3E6"/>
            </a:solidFill>
          </p:spPr>
        </p:sp>
      </p:grpSp>
      <p:grpSp>
        <p:nvGrpSpPr>
          <p:cNvPr name="Group 31" id="31"/>
          <p:cNvGrpSpPr/>
          <p:nvPr/>
        </p:nvGrpSpPr>
        <p:grpSpPr>
          <a:xfrm rot="0">
            <a:off x="904875" y="8434297"/>
            <a:ext cx="102870" cy="1165860"/>
            <a:chOff x="0" y="0"/>
            <a:chExt cx="137160" cy="1554480"/>
          </a:xfrm>
        </p:grpSpPr>
        <p:sp>
          <p:nvSpPr>
            <p:cNvPr name="Freeform 32" id="32"/>
            <p:cNvSpPr/>
            <p:nvPr/>
          </p:nvSpPr>
          <p:spPr>
            <a:xfrm flipH="false" flipV="false" rot="0">
              <a:off x="0" y="0"/>
              <a:ext cx="137160" cy="1554480"/>
            </a:xfrm>
            <a:custGeom>
              <a:avLst/>
              <a:gdLst/>
              <a:ahLst/>
              <a:cxnLst/>
              <a:rect r="r" b="b" t="t" l="l"/>
              <a:pathLst>
                <a:path h="1554480" w="137160">
                  <a:moveTo>
                    <a:pt x="0" y="0"/>
                  </a:moveTo>
                  <a:lnTo>
                    <a:pt x="137160" y="0"/>
                  </a:lnTo>
                  <a:lnTo>
                    <a:pt x="137160" y="1554480"/>
                  </a:lnTo>
                  <a:lnTo>
                    <a:pt x="0" y="1554480"/>
                  </a:lnTo>
                  <a:close/>
                </a:path>
              </a:pathLst>
            </a:custGeom>
            <a:solidFill>
              <a:srgbClr val="C9821F"/>
            </a:solidFill>
          </p:spPr>
        </p:sp>
      </p:grpSp>
      <p:grpSp>
        <p:nvGrpSpPr>
          <p:cNvPr name="Group 33" id="33"/>
          <p:cNvGrpSpPr/>
          <p:nvPr/>
        </p:nvGrpSpPr>
        <p:grpSpPr>
          <a:xfrm rot="0">
            <a:off x="1316355" y="8736049"/>
            <a:ext cx="685800" cy="685800"/>
            <a:chOff x="0" y="0"/>
            <a:chExt cx="914400" cy="914400"/>
          </a:xfrm>
        </p:grpSpPr>
        <p:sp>
          <p:nvSpPr>
            <p:cNvPr name="Freeform 34" id="3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C9821F"/>
            </a:solidFill>
          </p:spPr>
        </p:sp>
      </p:grpSp>
      <p:grpSp>
        <p:nvGrpSpPr>
          <p:cNvPr name="Group 35" id="35"/>
          <p:cNvGrpSpPr/>
          <p:nvPr/>
        </p:nvGrpSpPr>
        <p:grpSpPr>
          <a:xfrm rot="0">
            <a:off x="1316355" y="8736049"/>
            <a:ext cx="685800" cy="685800"/>
            <a:chOff x="0" y="0"/>
            <a:chExt cx="914400" cy="914400"/>
          </a:xfrm>
        </p:grpSpPr>
        <p:sp>
          <p:nvSpPr>
            <p:cNvPr name="Freeform 36" id="3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9">
                <a:alphaModFix amt="0"/>
              </a:blip>
              <a:stretch>
                <a:fillRect l="-78303" t="0" r="-78303" b="0"/>
              </a:stretch>
            </a:blipFill>
          </p:spPr>
        </p:sp>
        <p:sp>
          <p:nvSpPr>
            <p:cNvPr name="TextBox 37" id="37"/>
            <p:cNvSpPr txBox="true"/>
            <p:nvPr/>
          </p:nvSpPr>
          <p:spPr>
            <a:xfrm>
              <a:off x="0" y="-38100"/>
              <a:ext cx="914400" cy="952500"/>
            </a:xfrm>
            <a:prstGeom prst="rect">
              <a:avLst/>
            </a:prstGeom>
          </p:spPr>
          <p:txBody>
            <a:bodyPr anchor="ctr" rtlCol="false" tIns="0" lIns="0" bIns="0" rIns="0"/>
            <a:lstStyle/>
            <a:p>
              <a:pPr algn="ctr">
                <a:lnSpc>
                  <a:spcPts val="3419"/>
                </a:lnSpc>
              </a:pPr>
              <a:r>
                <a:rPr lang="en-US" sz="2850" b="true">
                  <a:solidFill>
                    <a:srgbClr val="FFFFFF"/>
                  </a:solidFill>
                  <a:latin typeface="Poppins Bold"/>
                  <a:ea typeface="Poppins Bold"/>
                  <a:cs typeface="Poppins Bold"/>
                  <a:sym typeface="Poppins Bold"/>
                </a:rPr>
                <a:t>!</a:t>
              </a:r>
            </a:p>
          </p:txBody>
        </p:sp>
      </p:grpSp>
      <p:grpSp>
        <p:nvGrpSpPr>
          <p:cNvPr name="Group 38" id="38"/>
          <p:cNvGrpSpPr/>
          <p:nvPr/>
        </p:nvGrpSpPr>
        <p:grpSpPr>
          <a:xfrm rot="0">
            <a:off x="2345055" y="8571457"/>
            <a:ext cx="12893040" cy="960120"/>
            <a:chOff x="0" y="0"/>
            <a:chExt cx="17190720" cy="1280160"/>
          </a:xfrm>
        </p:grpSpPr>
        <p:sp>
          <p:nvSpPr>
            <p:cNvPr name="Freeform 39" id="39"/>
            <p:cNvSpPr/>
            <p:nvPr/>
          </p:nvSpPr>
          <p:spPr>
            <a:xfrm flipH="false" flipV="false" rot="0">
              <a:off x="0" y="0"/>
              <a:ext cx="17190720" cy="1280160"/>
            </a:xfrm>
            <a:custGeom>
              <a:avLst/>
              <a:gdLst/>
              <a:ahLst/>
              <a:cxnLst/>
              <a:rect r="r" b="b" t="t" l="l"/>
              <a:pathLst>
                <a:path h="1280160" w="17190720">
                  <a:moveTo>
                    <a:pt x="0" y="0"/>
                  </a:moveTo>
                  <a:lnTo>
                    <a:pt x="17190720" y="0"/>
                  </a:lnTo>
                  <a:lnTo>
                    <a:pt x="17190720" y="1280160"/>
                  </a:lnTo>
                  <a:lnTo>
                    <a:pt x="0" y="1280160"/>
                  </a:lnTo>
                  <a:close/>
                </a:path>
              </a:pathLst>
            </a:custGeom>
            <a:blipFill>
              <a:blip r:embed="rId9">
                <a:alphaModFix amt="0"/>
              </a:blip>
              <a:stretch>
                <a:fillRect l="0" t="-211656" r="0" b="-211656"/>
              </a:stretch>
            </a:blipFill>
          </p:spPr>
        </p:sp>
        <p:sp>
          <p:nvSpPr>
            <p:cNvPr name="TextBox 40" id="40"/>
            <p:cNvSpPr txBox="true"/>
            <p:nvPr/>
          </p:nvSpPr>
          <p:spPr>
            <a:xfrm>
              <a:off x="0" y="-66675"/>
              <a:ext cx="17190720" cy="1346835"/>
            </a:xfrm>
            <a:prstGeom prst="rect">
              <a:avLst/>
            </a:prstGeom>
          </p:spPr>
          <p:txBody>
            <a:bodyPr anchor="ctr" rtlCol="false" tIns="0" lIns="0" bIns="0" rIns="0"/>
            <a:lstStyle/>
            <a:p>
              <a:pPr algn="l">
                <a:lnSpc>
                  <a:spcPts val="2700"/>
                </a:lnSpc>
              </a:pPr>
              <a:r>
                <a:rPr lang="en-US" sz="1875">
                  <a:solidFill>
                    <a:srgbClr val="7A5410"/>
                  </a:solidFill>
                  <a:latin typeface="Poppins"/>
                  <a:ea typeface="Poppins"/>
                  <a:cs typeface="Poppins"/>
                  <a:sym typeface="Poppins"/>
                </a:rPr>
                <a:t>A classic copy-paste fault: the numerator's CALCULATE was pasted into the denominator instead of a plain grand total.</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258510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Three things to carry out of this</a:t>
            </a:r>
            <a:r>
              <a:rPr lang="en-US" sz="5000">
                <a:solidFill>
                  <a:srgbClr val="388080"/>
                </a:solidFill>
                <a:latin typeface="Poppins"/>
                <a:ea typeface="Poppins"/>
                <a:cs typeface="Poppins"/>
                <a:sym typeface="Poppins"/>
              </a:rPr>
              <a:t> exercise</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904875" y="2554605"/>
            <a:ext cx="14744700" cy="1851660"/>
            <a:chOff x="0" y="0"/>
            <a:chExt cx="19659600" cy="2468880"/>
          </a:xfrm>
        </p:grpSpPr>
        <p:sp>
          <p:nvSpPr>
            <p:cNvPr name="Freeform 12" id="12"/>
            <p:cNvSpPr/>
            <p:nvPr/>
          </p:nvSpPr>
          <p:spPr>
            <a:xfrm flipH="false" flipV="false" rot="0">
              <a:off x="0" y="0"/>
              <a:ext cx="19659600" cy="2468880"/>
            </a:xfrm>
            <a:custGeom>
              <a:avLst/>
              <a:gdLst/>
              <a:ahLst/>
              <a:cxnLst/>
              <a:rect r="r" b="b" t="t" l="l"/>
              <a:pathLst>
                <a:path h="2468880" w="19659600">
                  <a:moveTo>
                    <a:pt x="0" y="182880"/>
                  </a:moveTo>
                  <a:cubicBezTo>
                    <a:pt x="0" y="81915"/>
                    <a:pt x="81915" y="0"/>
                    <a:pt x="182880" y="0"/>
                  </a:cubicBezTo>
                  <a:lnTo>
                    <a:pt x="19476720" y="0"/>
                  </a:lnTo>
                  <a:cubicBezTo>
                    <a:pt x="19577684" y="0"/>
                    <a:pt x="19659600" y="81915"/>
                    <a:pt x="19659600" y="182880"/>
                  </a:cubicBezTo>
                  <a:lnTo>
                    <a:pt x="19659600" y="2286000"/>
                  </a:lnTo>
                  <a:cubicBezTo>
                    <a:pt x="19659600" y="2386965"/>
                    <a:pt x="19577684" y="2468880"/>
                    <a:pt x="19476720" y="2468880"/>
                  </a:cubicBezTo>
                  <a:lnTo>
                    <a:pt x="182880" y="2468880"/>
                  </a:lnTo>
                  <a:cubicBezTo>
                    <a:pt x="81915" y="2468880"/>
                    <a:pt x="0" y="2386965"/>
                    <a:pt x="0" y="2286000"/>
                  </a:cubicBezTo>
                  <a:close/>
                </a:path>
              </a:pathLst>
            </a:custGeom>
            <a:solidFill>
              <a:srgbClr val="FFFFFF"/>
            </a:solidFill>
          </p:spPr>
        </p:sp>
      </p:grpSp>
      <p:grpSp>
        <p:nvGrpSpPr>
          <p:cNvPr name="Group 13" id="13"/>
          <p:cNvGrpSpPr/>
          <p:nvPr/>
        </p:nvGrpSpPr>
        <p:grpSpPr>
          <a:xfrm rot="0">
            <a:off x="1275207" y="2938653"/>
            <a:ext cx="754380" cy="754380"/>
            <a:chOff x="0" y="0"/>
            <a:chExt cx="1005840" cy="1005840"/>
          </a:xfrm>
        </p:grpSpPr>
        <p:sp>
          <p:nvSpPr>
            <p:cNvPr name="Freeform 14" id="14"/>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387F7F"/>
            </a:solidFill>
          </p:spPr>
        </p:sp>
      </p:grpSp>
      <p:grpSp>
        <p:nvGrpSpPr>
          <p:cNvPr name="Group 15" id="15"/>
          <p:cNvGrpSpPr/>
          <p:nvPr/>
        </p:nvGrpSpPr>
        <p:grpSpPr>
          <a:xfrm rot="0">
            <a:off x="1275207" y="2938653"/>
            <a:ext cx="754380" cy="754380"/>
            <a:chOff x="0" y="0"/>
            <a:chExt cx="1005840" cy="1005840"/>
          </a:xfrm>
        </p:grpSpPr>
        <p:sp>
          <p:nvSpPr>
            <p:cNvPr name="Freeform 16" id="16"/>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9">
                <a:alphaModFix amt="0"/>
              </a:blip>
              <a:stretch>
                <a:fillRect l="-78303" t="0" r="-78303" b="0"/>
              </a:stretch>
            </a:blipFill>
          </p:spPr>
        </p:sp>
        <p:sp>
          <p:nvSpPr>
            <p:cNvPr name="TextBox 17" id="17"/>
            <p:cNvSpPr txBox="true"/>
            <p:nvPr/>
          </p:nvSpPr>
          <p:spPr>
            <a:xfrm>
              <a:off x="0" y="-28575"/>
              <a:ext cx="1005840" cy="1034415"/>
            </a:xfrm>
            <a:prstGeom prst="rect">
              <a:avLst/>
            </a:prstGeom>
          </p:spPr>
          <p:txBody>
            <a:bodyPr anchor="ctr" rtlCol="false" tIns="0" lIns="0" bIns="0" rIns="0"/>
            <a:lstStyle/>
            <a:p>
              <a:pPr algn="ctr">
                <a:lnSpc>
                  <a:spcPts val="3600"/>
                </a:lnSpc>
              </a:pPr>
              <a:r>
                <a:rPr lang="en-US" sz="3000" b="true">
                  <a:solidFill>
                    <a:srgbClr val="FFFFFF"/>
                  </a:solidFill>
                  <a:latin typeface="Poppins Bold"/>
                  <a:ea typeface="Poppins Bold"/>
                  <a:cs typeface="Poppins Bold"/>
                  <a:sym typeface="Poppins Bold"/>
                </a:rPr>
                <a:t>1</a:t>
              </a:r>
            </a:p>
          </p:txBody>
        </p:sp>
      </p:grpSp>
      <p:grpSp>
        <p:nvGrpSpPr>
          <p:cNvPr name="Group 18" id="18"/>
          <p:cNvGrpSpPr/>
          <p:nvPr/>
        </p:nvGrpSpPr>
        <p:grpSpPr>
          <a:xfrm rot="0">
            <a:off x="2413635" y="2719197"/>
            <a:ext cx="12893040" cy="754380"/>
            <a:chOff x="0" y="0"/>
            <a:chExt cx="17190720" cy="1005840"/>
          </a:xfrm>
        </p:grpSpPr>
        <p:sp>
          <p:nvSpPr>
            <p:cNvPr name="Freeform 19" id="19"/>
            <p:cNvSpPr/>
            <p:nvPr/>
          </p:nvSpPr>
          <p:spPr>
            <a:xfrm flipH="false" flipV="false" rot="0">
              <a:off x="0" y="0"/>
              <a:ext cx="17190720" cy="1005840"/>
            </a:xfrm>
            <a:custGeom>
              <a:avLst/>
              <a:gdLst/>
              <a:ahLst/>
              <a:cxnLst/>
              <a:rect r="r" b="b" t="t" l="l"/>
              <a:pathLst>
                <a:path h="1005840" w="17190720">
                  <a:moveTo>
                    <a:pt x="0" y="0"/>
                  </a:moveTo>
                  <a:lnTo>
                    <a:pt x="17190720" y="0"/>
                  </a:lnTo>
                  <a:lnTo>
                    <a:pt x="17190720" y="1005840"/>
                  </a:lnTo>
                  <a:lnTo>
                    <a:pt x="0" y="1005840"/>
                  </a:lnTo>
                  <a:close/>
                </a:path>
              </a:pathLst>
            </a:custGeom>
            <a:blipFill>
              <a:blip r:embed="rId9">
                <a:alphaModFix amt="0"/>
              </a:blip>
              <a:stretch>
                <a:fillRect l="0" t="-283017" r="0" b="-283016"/>
              </a:stretch>
            </a:blipFill>
          </p:spPr>
        </p:sp>
        <p:sp>
          <p:nvSpPr>
            <p:cNvPr name="TextBox 20" id="20"/>
            <p:cNvSpPr txBox="true"/>
            <p:nvPr/>
          </p:nvSpPr>
          <p:spPr>
            <a:xfrm>
              <a:off x="0" y="-47625"/>
              <a:ext cx="17190720" cy="1053465"/>
            </a:xfrm>
            <a:prstGeom prst="rect">
              <a:avLst/>
            </a:prstGeom>
          </p:spPr>
          <p:txBody>
            <a:bodyPr anchor="ctr" rtlCol="false" tIns="0" lIns="0" bIns="0" rIns="0"/>
            <a:lstStyle/>
            <a:p>
              <a:pPr algn="l">
                <a:lnSpc>
                  <a:spcPts val="2897"/>
                </a:lnSpc>
              </a:pPr>
              <a:r>
                <a:rPr lang="en-US" sz="2100" b="true">
                  <a:solidFill>
                    <a:srgbClr val="0A1A23"/>
                  </a:solidFill>
                  <a:latin typeface="Poppins Bold"/>
                  <a:ea typeface="Poppins Bold"/>
                  <a:cs typeface="Poppins Bold"/>
                  <a:sym typeface="Poppins Bold"/>
                </a:rPr>
                <a:t>The dangerous error is the one that returns a number.</a:t>
              </a:r>
            </a:p>
          </p:txBody>
        </p:sp>
      </p:grpSp>
      <p:sp>
        <p:nvSpPr>
          <p:cNvPr name="TextBox 21" id="21"/>
          <p:cNvSpPr txBox="true"/>
          <p:nvPr/>
        </p:nvSpPr>
        <p:spPr>
          <a:xfrm rot="0">
            <a:off x="2413635" y="3430143"/>
            <a:ext cx="12893040" cy="880110"/>
          </a:xfrm>
          <a:prstGeom prst="rect">
            <a:avLst/>
          </a:prstGeom>
        </p:spPr>
        <p:txBody>
          <a:bodyPr anchor="t" rtlCol="false" tIns="0" lIns="0" bIns="0" rIns="0">
            <a:spAutoFit/>
          </a:bodyPr>
          <a:lstStyle/>
          <a:p>
            <a:pPr algn="l">
              <a:lnSpc>
                <a:spcPts val="2587"/>
              </a:lnSpc>
            </a:pPr>
            <a:r>
              <a:rPr lang="en-US" sz="1725">
                <a:solidFill>
                  <a:srgbClr val="64748B"/>
                </a:solidFill>
                <a:latin typeface="Poppins"/>
                <a:ea typeface="Poppins"/>
                <a:cs typeface="Poppins"/>
                <a:sym typeface="Poppins"/>
              </a:rPr>
              <a:t>An error message stops you immediately. A plausible 5.1 percent does not; it waits for someone to notice.</a:t>
            </a:r>
          </a:p>
        </p:txBody>
      </p:sp>
      <p:grpSp>
        <p:nvGrpSpPr>
          <p:cNvPr name="Group 22" id="22"/>
          <p:cNvGrpSpPr/>
          <p:nvPr/>
        </p:nvGrpSpPr>
        <p:grpSpPr>
          <a:xfrm rot="0">
            <a:off x="904875" y="4680585"/>
            <a:ext cx="14744700" cy="1851660"/>
            <a:chOff x="0" y="0"/>
            <a:chExt cx="19659600" cy="2468880"/>
          </a:xfrm>
        </p:grpSpPr>
        <p:sp>
          <p:nvSpPr>
            <p:cNvPr name="Freeform 23" id="23"/>
            <p:cNvSpPr/>
            <p:nvPr/>
          </p:nvSpPr>
          <p:spPr>
            <a:xfrm flipH="false" flipV="false" rot="0">
              <a:off x="0" y="0"/>
              <a:ext cx="19659600" cy="2468880"/>
            </a:xfrm>
            <a:custGeom>
              <a:avLst/>
              <a:gdLst/>
              <a:ahLst/>
              <a:cxnLst/>
              <a:rect r="r" b="b" t="t" l="l"/>
              <a:pathLst>
                <a:path h="2468880" w="19659600">
                  <a:moveTo>
                    <a:pt x="0" y="182880"/>
                  </a:moveTo>
                  <a:cubicBezTo>
                    <a:pt x="0" y="81915"/>
                    <a:pt x="81915" y="0"/>
                    <a:pt x="182880" y="0"/>
                  </a:cubicBezTo>
                  <a:lnTo>
                    <a:pt x="19476720" y="0"/>
                  </a:lnTo>
                  <a:cubicBezTo>
                    <a:pt x="19577684" y="0"/>
                    <a:pt x="19659600" y="81915"/>
                    <a:pt x="19659600" y="182880"/>
                  </a:cubicBezTo>
                  <a:lnTo>
                    <a:pt x="19659600" y="2286000"/>
                  </a:lnTo>
                  <a:cubicBezTo>
                    <a:pt x="19659600" y="2386965"/>
                    <a:pt x="19577684" y="2468880"/>
                    <a:pt x="19476720" y="2468880"/>
                  </a:cubicBezTo>
                  <a:lnTo>
                    <a:pt x="182880" y="2468880"/>
                  </a:lnTo>
                  <a:cubicBezTo>
                    <a:pt x="81915" y="2468880"/>
                    <a:pt x="0" y="2386965"/>
                    <a:pt x="0" y="2286000"/>
                  </a:cubicBezTo>
                  <a:close/>
                </a:path>
              </a:pathLst>
            </a:custGeom>
            <a:solidFill>
              <a:srgbClr val="FFFFFF"/>
            </a:solidFill>
          </p:spPr>
        </p:sp>
      </p:grpSp>
      <p:grpSp>
        <p:nvGrpSpPr>
          <p:cNvPr name="Group 24" id="24"/>
          <p:cNvGrpSpPr/>
          <p:nvPr/>
        </p:nvGrpSpPr>
        <p:grpSpPr>
          <a:xfrm rot="0">
            <a:off x="1275207" y="5064633"/>
            <a:ext cx="754380" cy="754380"/>
            <a:chOff x="0" y="0"/>
            <a:chExt cx="1005840" cy="1005840"/>
          </a:xfrm>
        </p:grpSpPr>
        <p:sp>
          <p:nvSpPr>
            <p:cNvPr name="Freeform 25" id="25"/>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387F7F"/>
            </a:solidFill>
          </p:spPr>
        </p:sp>
      </p:grpSp>
      <p:grpSp>
        <p:nvGrpSpPr>
          <p:cNvPr name="Group 26" id="26"/>
          <p:cNvGrpSpPr/>
          <p:nvPr/>
        </p:nvGrpSpPr>
        <p:grpSpPr>
          <a:xfrm rot="0">
            <a:off x="1275207" y="5064633"/>
            <a:ext cx="754380" cy="754380"/>
            <a:chOff x="0" y="0"/>
            <a:chExt cx="1005840" cy="1005840"/>
          </a:xfrm>
        </p:grpSpPr>
        <p:sp>
          <p:nvSpPr>
            <p:cNvPr name="Freeform 27" id="27"/>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9">
                <a:alphaModFix amt="0"/>
              </a:blip>
              <a:stretch>
                <a:fillRect l="-78303" t="0" r="-78303" b="0"/>
              </a:stretch>
            </a:blipFill>
          </p:spPr>
        </p:sp>
        <p:sp>
          <p:nvSpPr>
            <p:cNvPr name="TextBox 28" id="28"/>
            <p:cNvSpPr txBox="true"/>
            <p:nvPr/>
          </p:nvSpPr>
          <p:spPr>
            <a:xfrm>
              <a:off x="0" y="-28575"/>
              <a:ext cx="1005840" cy="1034415"/>
            </a:xfrm>
            <a:prstGeom prst="rect">
              <a:avLst/>
            </a:prstGeom>
          </p:spPr>
          <p:txBody>
            <a:bodyPr anchor="ctr" rtlCol="false" tIns="0" lIns="0" bIns="0" rIns="0"/>
            <a:lstStyle/>
            <a:p>
              <a:pPr algn="ctr">
                <a:lnSpc>
                  <a:spcPts val="3600"/>
                </a:lnSpc>
              </a:pPr>
              <a:r>
                <a:rPr lang="en-US" sz="3000" b="true">
                  <a:solidFill>
                    <a:srgbClr val="FFFFFF"/>
                  </a:solidFill>
                  <a:latin typeface="Poppins Bold"/>
                  <a:ea typeface="Poppins Bold"/>
                  <a:cs typeface="Poppins Bold"/>
                  <a:sym typeface="Poppins Bold"/>
                </a:rPr>
                <a:t>2</a:t>
              </a:r>
            </a:p>
          </p:txBody>
        </p:sp>
      </p:grpSp>
      <p:grpSp>
        <p:nvGrpSpPr>
          <p:cNvPr name="Group 29" id="29"/>
          <p:cNvGrpSpPr/>
          <p:nvPr/>
        </p:nvGrpSpPr>
        <p:grpSpPr>
          <a:xfrm rot="0">
            <a:off x="2413635" y="4845177"/>
            <a:ext cx="12893040" cy="754380"/>
            <a:chOff x="0" y="0"/>
            <a:chExt cx="17190720" cy="1005840"/>
          </a:xfrm>
        </p:grpSpPr>
        <p:sp>
          <p:nvSpPr>
            <p:cNvPr name="Freeform 30" id="30"/>
            <p:cNvSpPr/>
            <p:nvPr/>
          </p:nvSpPr>
          <p:spPr>
            <a:xfrm flipH="false" flipV="false" rot="0">
              <a:off x="0" y="0"/>
              <a:ext cx="17190720" cy="1005840"/>
            </a:xfrm>
            <a:custGeom>
              <a:avLst/>
              <a:gdLst/>
              <a:ahLst/>
              <a:cxnLst/>
              <a:rect r="r" b="b" t="t" l="l"/>
              <a:pathLst>
                <a:path h="1005840" w="17190720">
                  <a:moveTo>
                    <a:pt x="0" y="0"/>
                  </a:moveTo>
                  <a:lnTo>
                    <a:pt x="17190720" y="0"/>
                  </a:lnTo>
                  <a:lnTo>
                    <a:pt x="17190720" y="1005840"/>
                  </a:lnTo>
                  <a:lnTo>
                    <a:pt x="0" y="1005840"/>
                  </a:lnTo>
                  <a:close/>
                </a:path>
              </a:pathLst>
            </a:custGeom>
            <a:blipFill>
              <a:blip r:embed="rId9">
                <a:alphaModFix amt="0"/>
              </a:blip>
              <a:stretch>
                <a:fillRect l="0" t="-283017" r="0" b="-283016"/>
              </a:stretch>
            </a:blipFill>
          </p:spPr>
        </p:sp>
        <p:sp>
          <p:nvSpPr>
            <p:cNvPr name="TextBox 31" id="31"/>
            <p:cNvSpPr txBox="true"/>
            <p:nvPr/>
          </p:nvSpPr>
          <p:spPr>
            <a:xfrm>
              <a:off x="0" y="-47625"/>
              <a:ext cx="17190720" cy="1053465"/>
            </a:xfrm>
            <a:prstGeom prst="rect">
              <a:avLst/>
            </a:prstGeom>
          </p:spPr>
          <p:txBody>
            <a:bodyPr anchor="ctr" rtlCol="false" tIns="0" lIns="0" bIns="0" rIns="0"/>
            <a:lstStyle/>
            <a:p>
              <a:pPr algn="l">
                <a:lnSpc>
                  <a:spcPts val="2897"/>
                </a:lnSpc>
              </a:pPr>
              <a:r>
                <a:rPr lang="en-US" sz="2100" b="true">
                  <a:solidFill>
                    <a:srgbClr val="0A1A23"/>
                  </a:solidFill>
                  <a:latin typeface="Poppins Bold"/>
                  <a:ea typeface="Poppins Bold"/>
                  <a:cs typeface="Poppins Bold"/>
                  <a:sym typeface="Poppins Bold"/>
                </a:rPr>
                <a:t>You caught both faults by reconciling against source, not by reading the code more carefully.</a:t>
              </a:r>
            </a:p>
          </p:txBody>
        </p:sp>
      </p:grpSp>
      <p:sp>
        <p:nvSpPr>
          <p:cNvPr name="TextBox 32" id="32"/>
          <p:cNvSpPr txBox="true"/>
          <p:nvPr/>
        </p:nvSpPr>
        <p:spPr>
          <a:xfrm rot="0">
            <a:off x="2413635" y="5556123"/>
            <a:ext cx="12893040" cy="880110"/>
          </a:xfrm>
          <a:prstGeom prst="rect">
            <a:avLst/>
          </a:prstGeom>
        </p:spPr>
        <p:txBody>
          <a:bodyPr anchor="t" rtlCol="false" tIns="0" lIns="0" bIns="0" rIns="0">
            <a:spAutoFit/>
          </a:bodyPr>
          <a:lstStyle/>
          <a:p>
            <a:pPr algn="l">
              <a:lnSpc>
                <a:spcPts val="2587"/>
              </a:lnSpc>
            </a:pPr>
            <a:r>
              <a:rPr lang="en-US" sz="1725">
                <a:solidFill>
                  <a:srgbClr val="64748B"/>
                </a:solidFill>
                <a:latin typeface="Poppins"/>
                <a:ea typeface="Poppins"/>
                <a:cs typeface="Poppins"/>
                <a:sym typeface="Poppins"/>
              </a:rPr>
              <a:t>Verification beats scrutiny. Predicting and running found what staring at syntax would not.</a:t>
            </a:r>
          </a:p>
        </p:txBody>
      </p:sp>
      <p:grpSp>
        <p:nvGrpSpPr>
          <p:cNvPr name="Group 33" id="33"/>
          <p:cNvGrpSpPr/>
          <p:nvPr/>
        </p:nvGrpSpPr>
        <p:grpSpPr>
          <a:xfrm rot="0">
            <a:off x="904875" y="6806565"/>
            <a:ext cx="14744700" cy="1851660"/>
            <a:chOff x="0" y="0"/>
            <a:chExt cx="19659600" cy="2468880"/>
          </a:xfrm>
        </p:grpSpPr>
        <p:sp>
          <p:nvSpPr>
            <p:cNvPr name="Freeform 34" id="34"/>
            <p:cNvSpPr/>
            <p:nvPr/>
          </p:nvSpPr>
          <p:spPr>
            <a:xfrm flipH="false" flipV="false" rot="0">
              <a:off x="0" y="0"/>
              <a:ext cx="19659600" cy="2468880"/>
            </a:xfrm>
            <a:custGeom>
              <a:avLst/>
              <a:gdLst/>
              <a:ahLst/>
              <a:cxnLst/>
              <a:rect r="r" b="b" t="t" l="l"/>
              <a:pathLst>
                <a:path h="2468880" w="19659600">
                  <a:moveTo>
                    <a:pt x="0" y="182880"/>
                  </a:moveTo>
                  <a:cubicBezTo>
                    <a:pt x="0" y="81915"/>
                    <a:pt x="81915" y="0"/>
                    <a:pt x="182880" y="0"/>
                  </a:cubicBezTo>
                  <a:lnTo>
                    <a:pt x="19476720" y="0"/>
                  </a:lnTo>
                  <a:cubicBezTo>
                    <a:pt x="19577684" y="0"/>
                    <a:pt x="19659600" y="81915"/>
                    <a:pt x="19659600" y="182880"/>
                  </a:cubicBezTo>
                  <a:lnTo>
                    <a:pt x="19659600" y="2286000"/>
                  </a:lnTo>
                  <a:cubicBezTo>
                    <a:pt x="19659600" y="2386965"/>
                    <a:pt x="19577684" y="2468880"/>
                    <a:pt x="19476720" y="2468880"/>
                  </a:cubicBezTo>
                  <a:lnTo>
                    <a:pt x="182880" y="2468880"/>
                  </a:lnTo>
                  <a:cubicBezTo>
                    <a:pt x="81915" y="2468880"/>
                    <a:pt x="0" y="2386965"/>
                    <a:pt x="0" y="2286000"/>
                  </a:cubicBezTo>
                  <a:close/>
                </a:path>
              </a:pathLst>
            </a:custGeom>
            <a:solidFill>
              <a:srgbClr val="FFFFFF"/>
            </a:solidFill>
          </p:spPr>
        </p:sp>
      </p:grpSp>
      <p:grpSp>
        <p:nvGrpSpPr>
          <p:cNvPr name="Group 35" id="35"/>
          <p:cNvGrpSpPr/>
          <p:nvPr/>
        </p:nvGrpSpPr>
        <p:grpSpPr>
          <a:xfrm rot="0">
            <a:off x="1275207" y="7190613"/>
            <a:ext cx="754380" cy="754380"/>
            <a:chOff x="0" y="0"/>
            <a:chExt cx="1005840" cy="1005840"/>
          </a:xfrm>
        </p:grpSpPr>
        <p:sp>
          <p:nvSpPr>
            <p:cNvPr name="Freeform 36" id="36"/>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387F7F"/>
            </a:solidFill>
          </p:spPr>
        </p:sp>
      </p:grpSp>
      <p:grpSp>
        <p:nvGrpSpPr>
          <p:cNvPr name="Group 37" id="37"/>
          <p:cNvGrpSpPr/>
          <p:nvPr/>
        </p:nvGrpSpPr>
        <p:grpSpPr>
          <a:xfrm rot="0">
            <a:off x="1275207" y="7190613"/>
            <a:ext cx="754380" cy="754380"/>
            <a:chOff x="0" y="0"/>
            <a:chExt cx="1005840" cy="1005840"/>
          </a:xfrm>
        </p:grpSpPr>
        <p:sp>
          <p:nvSpPr>
            <p:cNvPr name="Freeform 38" id="38"/>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9">
                <a:alphaModFix amt="0"/>
              </a:blip>
              <a:stretch>
                <a:fillRect l="-78303" t="0" r="-78303" b="0"/>
              </a:stretch>
            </a:blipFill>
          </p:spPr>
        </p:sp>
        <p:sp>
          <p:nvSpPr>
            <p:cNvPr name="TextBox 39" id="39"/>
            <p:cNvSpPr txBox="true"/>
            <p:nvPr/>
          </p:nvSpPr>
          <p:spPr>
            <a:xfrm>
              <a:off x="0" y="-28575"/>
              <a:ext cx="1005840" cy="1034415"/>
            </a:xfrm>
            <a:prstGeom prst="rect">
              <a:avLst/>
            </a:prstGeom>
          </p:spPr>
          <p:txBody>
            <a:bodyPr anchor="ctr" rtlCol="false" tIns="0" lIns="0" bIns="0" rIns="0"/>
            <a:lstStyle/>
            <a:p>
              <a:pPr algn="ctr">
                <a:lnSpc>
                  <a:spcPts val="3600"/>
                </a:lnSpc>
              </a:pPr>
              <a:r>
                <a:rPr lang="en-US" sz="3000" b="true">
                  <a:solidFill>
                    <a:srgbClr val="FFFFFF"/>
                  </a:solidFill>
                  <a:latin typeface="Poppins Bold"/>
                  <a:ea typeface="Poppins Bold"/>
                  <a:cs typeface="Poppins Bold"/>
                  <a:sym typeface="Poppins Bold"/>
                </a:rPr>
                <a:t>3</a:t>
              </a:r>
            </a:p>
          </p:txBody>
        </p:sp>
      </p:grpSp>
      <p:grpSp>
        <p:nvGrpSpPr>
          <p:cNvPr name="Group 40" id="40"/>
          <p:cNvGrpSpPr/>
          <p:nvPr/>
        </p:nvGrpSpPr>
        <p:grpSpPr>
          <a:xfrm rot="0">
            <a:off x="2413635" y="6971157"/>
            <a:ext cx="12893040" cy="754380"/>
            <a:chOff x="0" y="0"/>
            <a:chExt cx="17190720" cy="1005840"/>
          </a:xfrm>
        </p:grpSpPr>
        <p:sp>
          <p:nvSpPr>
            <p:cNvPr name="Freeform 41" id="41"/>
            <p:cNvSpPr/>
            <p:nvPr/>
          </p:nvSpPr>
          <p:spPr>
            <a:xfrm flipH="false" flipV="false" rot="0">
              <a:off x="0" y="0"/>
              <a:ext cx="17190720" cy="1005840"/>
            </a:xfrm>
            <a:custGeom>
              <a:avLst/>
              <a:gdLst/>
              <a:ahLst/>
              <a:cxnLst/>
              <a:rect r="r" b="b" t="t" l="l"/>
              <a:pathLst>
                <a:path h="1005840" w="17190720">
                  <a:moveTo>
                    <a:pt x="0" y="0"/>
                  </a:moveTo>
                  <a:lnTo>
                    <a:pt x="17190720" y="0"/>
                  </a:lnTo>
                  <a:lnTo>
                    <a:pt x="17190720" y="1005840"/>
                  </a:lnTo>
                  <a:lnTo>
                    <a:pt x="0" y="1005840"/>
                  </a:lnTo>
                  <a:close/>
                </a:path>
              </a:pathLst>
            </a:custGeom>
            <a:blipFill>
              <a:blip r:embed="rId9">
                <a:alphaModFix amt="0"/>
              </a:blip>
              <a:stretch>
                <a:fillRect l="0" t="-283017" r="0" b="-283016"/>
              </a:stretch>
            </a:blipFill>
          </p:spPr>
        </p:sp>
        <p:sp>
          <p:nvSpPr>
            <p:cNvPr name="TextBox 42" id="42"/>
            <p:cNvSpPr txBox="true"/>
            <p:nvPr/>
          </p:nvSpPr>
          <p:spPr>
            <a:xfrm>
              <a:off x="0" y="-47625"/>
              <a:ext cx="17190720" cy="1053465"/>
            </a:xfrm>
            <a:prstGeom prst="rect">
              <a:avLst/>
            </a:prstGeom>
          </p:spPr>
          <p:txBody>
            <a:bodyPr anchor="ctr" rtlCol="false" tIns="0" lIns="0" bIns="0" rIns="0"/>
            <a:lstStyle/>
            <a:p>
              <a:pPr algn="l">
                <a:lnSpc>
                  <a:spcPts val="2897"/>
                </a:lnSpc>
              </a:pPr>
              <a:r>
                <a:rPr lang="en-US" sz="2100" b="true">
                  <a:solidFill>
                    <a:srgbClr val="0A1A23"/>
                  </a:solidFill>
                  <a:latin typeface="Poppins Bold"/>
                  <a:ea typeface="Poppins Bold"/>
                  <a:cs typeface="Poppins Bold"/>
                  <a:sym typeface="Poppins Bold"/>
                </a:rPr>
                <a:t>Both faults came from context the assistant did not have, or a mistake in adapting a working measure.</a:t>
              </a:r>
            </a:p>
          </p:txBody>
        </p:sp>
      </p:grpSp>
      <p:sp>
        <p:nvSpPr>
          <p:cNvPr name="TextBox 43" id="43"/>
          <p:cNvSpPr txBox="true"/>
          <p:nvPr/>
        </p:nvSpPr>
        <p:spPr>
          <a:xfrm rot="0">
            <a:off x="2413635" y="7682103"/>
            <a:ext cx="12893040" cy="880110"/>
          </a:xfrm>
          <a:prstGeom prst="rect">
            <a:avLst/>
          </a:prstGeom>
        </p:spPr>
        <p:txBody>
          <a:bodyPr anchor="t" rtlCol="false" tIns="0" lIns="0" bIns="0" rIns="0">
            <a:spAutoFit/>
          </a:bodyPr>
          <a:lstStyle/>
          <a:p>
            <a:pPr algn="l">
              <a:lnSpc>
                <a:spcPts val="2587"/>
              </a:lnSpc>
            </a:pPr>
            <a:r>
              <a:rPr lang="en-US" sz="1725">
                <a:solidFill>
                  <a:srgbClr val="64748B"/>
                </a:solidFill>
                <a:latin typeface="Poppins"/>
                <a:ea typeface="Poppins"/>
                <a:cs typeface="Poppins"/>
                <a:sym typeface="Poppins"/>
              </a:rPr>
              <a:t>Better prompts and slower editing prevent more errors than better proofreading does.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51012"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308804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The other</a:t>
            </a:r>
            <a:r>
              <a:rPr lang="en-US" sz="5000">
                <a:solidFill>
                  <a:srgbClr val="388080"/>
                </a:solidFill>
                <a:latin typeface="Poppins"/>
                <a:ea typeface="Poppins"/>
                <a:cs typeface="Poppins"/>
                <a:sym typeface="Poppins"/>
              </a:rPr>
              <a:t> use: asking it about your model</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57250" y="2572612"/>
            <a:ext cx="14744700" cy="4114800"/>
            <a:chOff x="0" y="0"/>
            <a:chExt cx="19659600" cy="5486400"/>
          </a:xfrm>
        </p:grpSpPr>
        <p:sp>
          <p:nvSpPr>
            <p:cNvPr name="Freeform 12" id="12"/>
            <p:cNvSpPr/>
            <p:nvPr/>
          </p:nvSpPr>
          <p:spPr>
            <a:xfrm flipH="false" flipV="false" rot="0">
              <a:off x="0" y="0"/>
              <a:ext cx="19659600" cy="5486400"/>
            </a:xfrm>
            <a:custGeom>
              <a:avLst/>
              <a:gdLst/>
              <a:ahLst/>
              <a:cxnLst/>
              <a:rect r="r" b="b" t="t" l="l"/>
              <a:pathLst>
                <a:path h="5486400" w="19659600">
                  <a:moveTo>
                    <a:pt x="0" y="164592"/>
                  </a:moveTo>
                  <a:cubicBezTo>
                    <a:pt x="0" y="73660"/>
                    <a:pt x="73660" y="0"/>
                    <a:pt x="164592" y="0"/>
                  </a:cubicBezTo>
                  <a:lnTo>
                    <a:pt x="19495008" y="0"/>
                  </a:lnTo>
                  <a:cubicBezTo>
                    <a:pt x="19585939" y="0"/>
                    <a:pt x="19659600" y="73660"/>
                    <a:pt x="19659600" y="164592"/>
                  </a:cubicBezTo>
                  <a:lnTo>
                    <a:pt x="19659600" y="5321808"/>
                  </a:lnTo>
                  <a:cubicBezTo>
                    <a:pt x="19659600" y="5412740"/>
                    <a:pt x="19585939" y="5486400"/>
                    <a:pt x="19495008" y="5486400"/>
                  </a:cubicBezTo>
                  <a:lnTo>
                    <a:pt x="164592" y="5486400"/>
                  </a:lnTo>
                  <a:cubicBezTo>
                    <a:pt x="73660" y="5486400"/>
                    <a:pt x="0" y="5412740"/>
                    <a:pt x="0" y="5321808"/>
                  </a:cubicBezTo>
                  <a:close/>
                </a:path>
              </a:pathLst>
            </a:custGeom>
            <a:solidFill>
              <a:srgbClr val="10312F"/>
            </a:solidFill>
          </p:spPr>
        </p:sp>
      </p:grpSp>
      <p:grpSp>
        <p:nvGrpSpPr>
          <p:cNvPr name="Group 13" id="13"/>
          <p:cNvGrpSpPr/>
          <p:nvPr/>
        </p:nvGrpSpPr>
        <p:grpSpPr>
          <a:xfrm rot="0">
            <a:off x="1159002" y="2366872"/>
            <a:ext cx="1783080" cy="438912"/>
            <a:chOff x="0" y="0"/>
            <a:chExt cx="2377440" cy="585216"/>
          </a:xfrm>
        </p:grpSpPr>
        <p:sp>
          <p:nvSpPr>
            <p:cNvPr name="Freeform 14" id="14"/>
            <p:cNvSpPr/>
            <p:nvPr/>
          </p:nvSpPr>
          <p:spPr>
            <a:xfrm flipH="false" flipV="false" rot="0">
              <a:off x="0" y="0"/>
              <a:ext cx="2377440" cy="585216"/>
            </a:xfrm>
            <a:custGeom>
              <a:avLst/>
              <a:gdLst/>
              <a:ahLst/>
              <a:cxnLst/>
              <a:rect r="r" b="b" t="t" l="l"/>
              <a:pathLst>
                <a:path h="585216" w="2377440">
                  <a:moveTo>
                    <a:pt x="0" y="292608"/>
                  </a:moveTo>
                  <a:cubicBezTo>
                    <a:pt x="0" y="131064"/>
                    <a:pt x="131064" y="0"/>
                    <a:pt x="292608" y="0"/>
                  </a:cubicBezTo>
                  <a:lnTo>
                    <a:pt x="2084832" y="0"/>
                  </a:lnTo>
                  <a:cubicBezTo>
                    <a:pt x="2246376" y="0"/>
                    <a:pt x="2377440" y="131064"/>
                    <a:pt x="2377440" y="292608"/>
                  </a:cubicBezTo>
                  <a:cubicBezTo>
                    <a:pt x="2377440" y="454152"/>
                    <a:pt x="2246376" y="585216"/>
                    <a:pt x="2084832" y="585216"/>
                  </a:cubicBezTo>
                  <a:lnTo>
                    <a:pt x="292608" y="585216"/>
                  </a:lnTo>
                  <a:cubicBezTo>
                    <a:pt x="131064" y="585216"/>
                    <a:pt x="0" y="454152"/>
                    <a:pt x="0" y="292608"/>
                  </a:cubicBezTo>
                  <a:close/>
                </a:path>
              </a:pathLst>
            </a:custGeom>
            <a:solidFill>
              <a:srgbClr val="387F7F"/>
            </a:solidFill>
          </p:spPr>
        </p:sp>
      </p:grpSp>
      <p:grpSp>
        <p:nvGrpSpPr>
          <p:cNvPr name="Group 15" id="15"/>
          <p:cNvGrpSpPr/>
          <p:nvPr/>
        </p:nvGrpSpPr>
        <p:grpSpPr>
          <a:xfrm rot="0">
            <a:off x="1159002" y="2366872"/>
            <a:ext cx="1783080" cy="438912"/>
            <a:chOff x="0" y="0"/>
            <a:chExt cx="2377440" cy="585216"/>
          </a:xfrm>
        </p:grpSpPr>
        <p:sp>
          <p:nvSpPr>
            <p:cNvPr name="Freeform 16" id="16"/>
            <p:cNvSpPr/>
            <p:nvPr/>
          </p:nvSpPr>
          <p:spPr>
            <a:xfrm flipH="false" flipV="false" rot="0">
              <a:off x="0" y="0"/>
              <a:ext cx="2377440" cy="585216"/>
            </a:xfrm>
            <a:custGeom>
              <a:avLst/>
              <a:gdLst/>
              <a:ahLst/>
              <a:cxnLst/>
              <a:rect r="r" b="b" t="t" l="l"/>
              <a:pathLst>
                <a:path h="585216" w="2377440">
                  <a:moveTo>
                    <a:pt x="0" y="0"/>
                  </a:moveTo>
                  <a:lnTo>
                    <a:pt x="2377440" y="0"/>
                  </a:lnTo>
                  <a:lnTo>
                    <a:pt x="2377440" y="585216"/>
                  </a:lnTo>
                  <a:lnTo>
                    <a:pt x="0" y="585216"/>
                  </a:lnTo>
                  <a:close/>
                </a:path>
              </a:pathLst>
            </a:custGeom>
            <a:blipFill>
              <a:blip r:embed="rId9">
                <a:alphaModFix amt="0"/>
              </a:blip>
              <a:stretch>
                <a:fillRect l="0" t="-29157" r="0" b="-29157"/>
              </a:stretch>
            </a:blipFill>
          </p:spPr>
        </p:sp>
        <p:sp>
          <p:nvSpPr>
            <p:cNvPr name="TextBox 17" id="17"/>
            <p:cNvSpPr txBox="true"/>
            <p:nvPr/>
          </p:nvSpPr>
          <p:spPr>
            <a:xfrm>
              <a:off x="0" y="-19050"/>
              <a:ext cx="2377440" cy="604266"/>
            </a:xfrm>
            <a:prstGeom prst="rect">
              <a:avLst/>
            </a:prstGeom>
          </p:spPr>
          <p:txBody>
            <a:bodyPr anchor="ctr" rtlCol="false" tIns="0" lIns="0" bIns="0" rIns="0"/>
            <a:lstStyle/>
            <a:p>
              <a:pPr algn="ctr">
                <a:lnSpc>
                  <a:spcPts val="1620"/>
                </a:lnSpc>
              </a:pPr>
              <a:r>
                <a:rPr lang="en-US" sz="1350" b="true">
                  <a:solidFill>
                    <a:srgbClr val="FFFFFF"/>
                  </a:solidFill>
                  <a:latin typeface="Poppins Bold"/>
                  <a:ea typeface="Poppins Bold"/>
                  <a:cs typeface="Poppins Bold"/>
                  <a:sym typeface="Poppins Bold"/>
                </a:rPr>
                <a:t>PROMPT</a:t>
              </a:r>
            </a:p>
          </p:txBody>
        </p:sp>
      </p:grpSp>
      <p:grpSp>
        <p:nvGrpSpPr>
          <p:cNvPr name="Group 18" id="18"/>
          <p:cNvGrpSpPr/>
          <p:nvPr/>
        </p:nvGrpSpPr>
        <p:grpSpPr>
          <a:xfrm rot="0">
            <a:off x="1268730" y="2984092"/>
            <a:ext cx="13921740" cy="3429000"/>
            <a:chOff x="0" y="0"/>
            <a:chExt cx="18562320" cy="4572000"/>
          </a:xfrm>
        </p:grpSpPr>
        <p:sp>
          <p:nvSpPr>
            <p:cNvPr name="Freeform 19" id="19"/>
            <p:cNvSpPr/>
            <p:nvPr/>
          </p:nvSpPr>
          <p:spPr>
            <a:xfrm flipH="false" flipV="false" rot="0">
              <a:off x="0" y="0"/>
              <a:ext cx="18562320" cy="4572000"/>
            </a:xfrm>
            <a:custGeom>
              <a:avLst/>
              <a:gdLst/>
              <a:ahLst/>
              <a:cxnLst/>
              <a:rect r="r" b="b" t="t" l="l"/>
              <a:pathLst>
                <a:path h="4572000" w="18562320">
                  <a:moveTo>
                    <a:pt x="0" y="0"/>
                  </a:moveTo>
                  <a:lnTo>
                    <a:pt x="18562320" y="0"/>
                  </a:lnTo>
                  <a:lnTo>
                    <a:pt x="18562320" y="4572000"/>
                  </a:lnTo>
                  <a:lnTo>
                    <a:pt x="0" y="4572000"/>
                  </a:lnTo>
                  <a:close/>
                </a:path>
              </a:pathLst>
            </a:custGeom>
            <a:blipFill>
              <a:blip r:embed="rId9">
                <a:alphaModFix amt="0"/>
              </a:blip>
              <a:stretch>
                <a:fillRect l="0" t="-29109" r="0" b="-29109"/>
              </a:stretch>
            </a:blipFill>
          </p:spPr>
        </p:sp>
        <p:sp>
          <p:nvSpPr>
            <p:cNvPr name="TextBox 20" id="20"/>
            <p:cNvSpPr txBox="true"/>
            <p:nvPr/>
          </p:nvSpPr>
          <p:spPr>
            <a:xfrm>
              <a:off x="0" y="-66675"/>
              <a:ext cx="18562320" cy="4638675"/>
            </a:xfrm>
            <a:prstGeom prst="rect">
              <a:avLst/>
            </a:prstGeom>
          </p:spPr>
          <p:txBody>
            <a:bodyPr anchor="ctr" rtlCol="false" tIns="0" lIns="0" bIns="0" rIns="0"/>
            <a:lstStyle/>
            <a:p>
              <a:pPr algn="l">
                <a:lnSpc>
                  <a:spcPts val="2700"/>
                </a:lnSpc>
              </a:pPr>
              <a:r>
                <a:rPr lang="en-US" sz="1800">
                  <a:solidFill>
                    <a:srgbClr val="CFE6E3"/>
                  </a:solidFill>
                  <a:latin typeface="Roboto Mono"/>
                  <a:ea typeface="Roboto Mono"/>
                  <a:cs typeface="Roboto Mono"/>
                  <a:sym typeface="Roboto Mono"/>
                </a:rPr>
                <a:t>I have five tables for a last-mile delivery business:</a:t>
              </a:r>
            </a:p>
            <a:p>
              <a:pPr algn="l">
                <a:lnSpc>
                  <a:spcPts val="2700"/>
                </a:lnSpc>
              </a:pPr>
              <a:r>
                <a:rPr lang="en-US" sz="1800">
                  <a:solidFill>
                    <a:srgbClr val="CFE6E3"/>
                  </a:solidFill>
                  <a:latin typeface="Roboto Mono"/>
                  <a:ea typeface="Roboto Mono"/>
                  <a:cs typeface="Roboto Mono"/>
                  <a:sym typeface="Roboto Mono"/>
                </a:rPr>
                <a:t>deliveries (41,280 rows, one per delivery), riders (68),</a:t>
              </a:r>
            </a:p>
            <a:p>
              <a:pPr algn="l">
                <a:lnSpc>
                  <a:spcPts val="2700"/>
                </a:lnSpc>
              </a:pPr>
              <a:r>
                <a:rPr lang="en-US" sz="1800">
                  <a:solidFill>
                    <a:srgbClr val="CFE6E3"/>
                  </a:solidFill>
                  <a:latin typeface="Roboto Mono"/>
                  <a:ea typeface="Roboto Mono"/>
                  <a:cs typeface="Roboto Mono"/>
                  <a:sym typeface="Roboto Mono"/>
                </a:rPr>
                <a:t>routes (24), customers (310), dates (365).</a:t>
              </a:r>
            </a:p>
            <a:p>
              <a:pPr algn="l">
                <a:lnSpc>
                  <a:spcPts val="2700"/>
                </a:lnSpc>
              </a:pPr>
            </a:p>
            <a:p>
              <a:pPr algn="l">
                <a:lnSpc>
                  <a:spcPts val="2700"/>
                </a:lnSpc>
              </a:pPr>
              <a:r>
                <a:rPr lang="en-US" sz="1800">
                  <a:solidFill>
                    <a:srgbClr val="CFE6E3"/>
                  </a:solidFill>
                  <a:latin typeface="Roboto Mono"/>
                  <a:ea typeface="Roboto Mono"/>
                  <a:cs typeface="Roboto Mono"/>
                  <a:sym typeface="Roboto Mono"/>
                </a:rPr>
                <a:t>Propose a star schema. For each relationship state the</a:t>
              </a:r>
            </a:p>
            <a:p>
              <a:pPr algn="l">
                <a:lnSpc>
                  <a:spcPts val="2700"/>
                </a:lnSpc>
              </a:pPr>
              <a:r>
                <a:rPr lang="en-US" sz="1800">
                  <a:solidFill>
                    <a:srgbClr val="CFE6E3"/>
                  </a:solidFill>
                  <a:latin typeface="Roboto Mono"/>
                  <a:ea typeface="Roboto Mono"/>
                  <a:cs typeface="Roboto Mono"/>
                  <a:sym typeface="Roboto Mono"/>
                </a:rPr>
                <a:t>cardinality and direction, and explain which questions the</a:t>
              </a:r>
            </a:p>
            <a:p>
              <a:pPr algn="l">
                <a:lnSpc>
                  <a:spcPts val="2700"/>
                </a:lnSpc>
              </a:pPr>
              <a:r>
                <a:rPr lang="en-US" sz="1800">
                  <a:solidFill>
                    <a:srgbClr val="CFE6E3"/>
                  </a:solidFill>
                  <a:latin typeface="Roboto Mono"/>
                  <a:ea typeface="Roboto Mono"/>
                  <a:cs typeface="Roboto Mono"/>
                  <a:sym typeface="Roboto Mono"/>
                </a:rPr>
                <a:t>design makes easy and which it makes hard.</a:t>
              </a:r>
            </a:p>
            <a:p>
              <a:pPr algn="l">
                <a:lnSpc>
                  <a:spcPts val="2700"/>
                </a:lnSpc>
              </a:pPr>
            </a:p>
            <a:p>
              <a:pPr algn="l">
                <a:lnSpc>
                  <a:spcPts val="2700"/>
                </a:lnSpc>
              </a:pPr>
              <a:r>
                <a:rPr lang="en-US" sz="1800">
                  <a:solidFill>
                    <a:srgbClr val="CFE6E3"/>
                  </a:solidFill>
                  <a:latin typeface="Roboto Mono"/>
                  <a:ea typeface="Roboto Mono"/>
                  <a:cs typeface="Roboto Mono"/>
                  <a:sym typeface="Roboto Mono"/>
                </a:rPr>
                <a:t>Then tell me what you would need to know about my data to</a:t>
              </a:r>
            </a:p>
            <a:p>
              <a:pPr algn="l">
                <a:lnSpc>
                  <a:spcPts val="2700"/>
                </a:lnSpc>
              </a:pPr>
              <a:r>
                <a:rPr lang="en-US" sz="1800">
                  <a:solidFill>
                    <a:srgbClr val="CFE6E3"/>
                  </a:solidFill>
                  <a:latin typeface="Roboto Mono"/>
                  <a:ea typeface="Roboto Mono"/>
                  <a:cs typeface="Roboto Mono"/>
                  <a:sym typeface="Roboto Mono"/>
                </a:rPr>
                <a:t>be confident this is right.</a:t>
              </a:r>
            </a:p>
          </p:txBody>
        </p:sp>
      </p:grpSp>
      <p:sp>
        <p:nvSpPr>
          <p:cNvPr name="TextBox 21" id="21"/>
          <p:cNvSpPr txBox="true"/>
          <p:nvPr/>
        </p:nvSpPr>
        <p:spPr>
          <a:xfrm rot="0">
            <a:off x="857250" y="7013167"/>
            <a:ext cx="14744700" cy="1457325"/>
          </a:xfrm>
          <a:prstGeom prst="rect">
            <a:avLst/>
          </a:prstGeom>
        </p:spPr>
        <p:txBody>
          <a:bodyPr anchor="t" rtlCol="false" tIns="0" lIns="0" bIns="0" rIns="0">
            <a:spAutoFit/>
          </a:bodyPr>
          <a:lstStyle/>
          <a:p>
            <a:pPr algn="l">
              <a:lnSpc>
                <a:spcPts val="3276"/>
              </a:lnSpc>
            </a:pPr>
            <a:r>
              <a:rPr lang="en-US" sz="2100">
                <a:solidFill>
                  <a:srgbClr val="475569"/>
                </a:solidFill>
                <a:latin typeface="Poppins"/>
                <a:ea typeface="Poppins"/>
                <a:cs typeface="Poppins"/>
                <a:sym typeface="Poppins"/>
              </a:rPr>
              <a:t>Model design is where AI assistance is genuinely most useful, because it is a reasoning task with few facts to hallucinate. The last instruction is the important one: asking what it would need to know surfaces the assumptions before they become defects.</a:t>
            </a:r>
          </a:p>
        </p:txBody>
      </p:sp>
      <p:grpSp>
        <p:nvGrpSpPr>
          <p:cNvPr name="Group 22" id="22"/>
          <p:cNvGrpSpPr/>
          <p:nvPr/>
        </p:nvGrpSpPr>
        <p:grpSpPr>
          <a:xfrm rot="0">
            <a:off x="857250" y="8607652"/>
            <a:ext cx="14744700" cy="960120"/>
            <a:chOff x="0" y="0"/>
            <a:chExt cx="19659600" cy="1280160"/>
          </a:xfrm>
        </p:grpSpPr>
        <p:sp>
          <p:nvSpPr>
            <p:cNvPr name="Freeform 23" id="23"/>
            <p:cNvSpPr/>
            <p:nvPr/>
          </p:nvSpPr>
          <p:spPr>
            <a:xfrm flipH="false" flipV="false" rot="0">
              <a:off x="0" y="0"/>
              <a:ext cx="19659600" cy="1280160"/>
            </a:xfrm>
            <a:custGeom>
              <a:avLst/>
              <a:gdLst/>
              <a:ahLst/>
              <a:cxnLst/>
              <a:rect r="r" b="b" t="t" l="l"/>
              <a:pathLst>
                <a:path h="1280160" w="19659600">
                  <a:moveTo>
                    <a:pt x="0" y="164592"/>
                  </a:moveTo>
                  <a:cubicBezTo>
                    <a:pt x="0" y="73660"/>
                    <a:pt x="73660" y="0"/>
                    <a:pt x="164592" y="0"/>
                  </a:cubicBezTo>
                  <a:lnTo>
                    <a:pt x="19495008" y="0"/>
                  </a:lnTo>
                  <a:cubicBezTo>
                    <a:pt x="19585939" y="0"/>
                    <a:pt x="19659600" y="73660"/>
                    <a:pt x="19659600" y="164592"/>
                  </a:cubicBezTo>
                  <a:lnTo>
                    <a:pt x="19659600" y="1115568"/>
                  </a:lnTo>
                  <a:cubicBezTo>
                    <a:pt x="19659600" y="1206500"/>
                    <a:pt x="19585939" y="1280160"/>
                    <a:pt x="19495008" y="1280160"/>
                  </a:cubicBezTo>
                  <a:lnTo>
                    <a:pt x="164592" y="1280160"/>
                  </a:lnTo>
                  <a:cubicBezTo>
                    <a:pt x="73660" y="1280160"/>
                    <a:pt x="0" y="1206500"/>
                    <a:pt x="0" y="1115568"/>
                  </a:cubicBezTo>
                  <a:close/>
                </a:path>
              </a:pathLst>
            </a:custGeom>
            <a:solidFill>
              <a:srgbClr val="EEF4F4"/>
            </a:solidFill>
          </p:spPr>
        </p:sp>
      </p:grpSp>
      <p:grpSp>
        <p:nvGrpSpPr>
          <p:cNvPr name="Group 24" id="24"/>
          <p:cNvGrpSpPr/>
          <p:nvPr/>
        </p:nvGrpSpPr>
        <p:grpSpPr>
          <a:xfrm rot="0">
            <a:off x="857250" y="8607652"/>
            <a:ext cx="102870" cy="960120"/>
            <a:chOff x="0" y="0"/>
            <a:chExt cx="137160" cy="1280160"/>
          </a:xfrm>
        </p:grpSpPr>
        <p:sp>
          <p:nvSpPr>
            <p:cNvPr name="Freeform 25" id="25"/>
            <p:cNvSpPr/>
            <p:nvPr/>
          </p:nvSpPr>
          <p:spPr>
            <a:xfrm flipH="false" flipV="false" rot="0">
              <a:off x="0" y="0"/>
              <a:ext cx="137160" cy="1280160"/>
            </a:xfrm>
            <a:custGeom>
              <a:avLst/>
              <a:gdLst/>
              <a:ahLst/>
              <a:cxnLst/>
              <a:rect r="r" b="b" t="t" l="l"/>
              <a:pathLst>
                <a:path h="1280160" w="137160">
                  <a:moveTo>
                    <a:pt x="0" y="0"/>
                  </a:moveTo>
                  <a:lnTo>
                    <a:pt x="137160" y="0"/>
                  </a:lnTo>
                  <a:lnTo>
                    <a:pt x="137160" y="1280160"/>
                  </a:lnTo>
                  <a:lnTo>
                    <a:pt x="0" y="1280160"/>
                  </a:lnTo>
                  <a:close/>
                </a:path>
              </a:pathLst>
            </a:custGeom>
            <a:solidFill>
              <a:srgbClr val="387F7F"/>
            </a:solidFill>
          </p:spPr>
        </p:sp>
      </p:grpSp>
      <p:grpSp>
        <p:nvGrpSpPr>
          <p:cNvPr name="Group 26" id="26"/>
          <p:cNvGrpSpPr/>
          <p:nvPr/>
        </p:nvGrpSpPr>
        <p:grpSpPr>
          <a:xfrm rot="0">
            <a:off x="1405890" y="8607652"/>
            <a:ext cx="13853160" cy="960120"/>
            <a:chOff x="0" y="0"/>
            <a:chExt cx="18470880" cy="1280160"/>
          </a:xfrm>
        </p:grpSpPr>
        <p:sp>
          <p:nvSpPr>
            <p:cNvPr name="Freeform 27" id="27"/>
            <p:cNvSpPr/>
            <p:nvPr/>
          </p:nvSpPr>
          <p:spPr>
            <a:xfrm flipH="false" flipV="false" rot="0">
              <a:off x="0" y="0"/>
              <a:ext cx="18470880" cy="1280160"/>
            </a:xfrm>
            <a:custGeom>
              <a:avLst/>
              <a:gdLst/>
              <a:ahLst/>
              <a:cxnLst/>
              <a:rect r="r" b="b" t="t" l="l"/>
              <a:pathLst>
                <a:path h="1280160" w="18470880">
                  <a:moveTo>
                    <a:pt x="0" y="0"/>
                  </a:moveTo>
                  <a:lnTo>
                    <a:pt x="18470880" y="0"/>
                  </a:lnTo>
                  <a:lnTo>
                    <a:pt x="18470880" y="1280160"/>
                  </a:lnTo>
                  <a:lnTo>
                    <a:pt x="0" y="1280160"/>
                  </a:lnTo>
                  <a:close/>
                </a:path>
              </a:pathLst>
            </a:custGeom>
            <a:blipFill>
              <a:blip r:embed="rId9">
                <a:alphaModFix amt="0"/>
              </a:blip>
              <a:stretch>
                <a:fillRect l="0" t="-231141" r="0" b="-231141"/>
              </a:stretch>
            </a:blipFill>
          </p:spPr>
        </p:sp>
        <p:sp>
          <p:nvSpPr>
            <p:cNvPr name="TextBox 28" id="28"/>
            <p:cNvSpPr txBox="true"/>
            <p:nvPr/>
          </p:nvSpPr>
          <p:spPr>
            <a:xfrm>
              <a:off x="0" y="-57150"/>
              <a:ext cx="18470880" cy="1337310"/>
            </a:xfrm>
            <a:prstGeom prst="rect">
              <a:avLst/>
            </a:prstGeom>
          </p:spPr>
          <p:txBody>
            <a:bodyPr anchor="ctr" rtlCol="false" tIns="0" lIns="0" bIns="0" rIns="0"/>
            <a:lstStyle/>
            <a:p>
              <a:pPr algn="l">
                <a:lnSpc>
                  <a:spcPts val="2761"/>
                </a:lnSpc>
              </a:pPr>
              <a:r>
                <a:rPr lang="en-US" sz="1950" b="true">
                  <a:solidFill>
                    <a:srgbClr val="387F7F"/>
                  </a:solidFill>
                  <a:latin typeface="Poppins Bold"/>
                  <a:ea typeface="Poppins Bold"/>
                  <a:cs typeface="Poppins Bold"/>
                  <a:sym typeface="Poppins Bold"/>
                </a:rPr>
                <a:t>Designing is a reasoning task. Drafting a measure is a facts-about-your-data task. That is why the failure rates differ.</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5" id="5"/>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6497824" y="8924125"/>
            <a:ext cx="647224" cy="571500"/>
            <a:chOff x="0" y="0"/>
            <a:chExt cx="862965" cy="762000"/>
          </a:xfrm>
        </p:grpSpPr>
        <p:sp>
          <p:nvSpPr>
            <p:cNvPr name="Freeform 7" id="7"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8" id="8"/>
          <p:cNvGrpSpPr/>
          <p:nvPr/>
        </p:nvGrpSpPr>
        <p:grpSpPr>
          <a:xfrm rot="0">
            <a:off x="0" y="0"/>
            <a:ext cx="18287543" cy="10287000"/>
            <a:chOff x="0" y="0"/>
            <a:chExt cx="24383390" cy="13716000"/>
          </a:xfrm>
        </p:grpSpPr>
        <p:sp>
          <p:nvSpPr>
            <p:cNvPr name="Freeform 9" id="9"/>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20494A"/>
            </a:solidFill>
          </p:spPr>
        </p:sp>
      </p:grpSp>
      <p:sp>
        <p:nvSpPr>
          <p:cNvPr name="Freeform 10" id="10"/>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850392" y="480060"/>
            <a:ext cx="4389120" cy="2880360"/>
            <a:chOff x="0" y="0"/>
            <a:chExt cx="5852160" cy="3840480"/>
          </a:xfrm>
        </p:grpSpPr>
        <p:sp>
          <p:nvSpPr>
            <p:cNvPr name="Freeform 12" id="12"/>
            <p:cNvSpPr/>
            <p:nvPr/>
          </p:nvSpPr>
          <p:spPr>
            <a:xfrm flipH="false" flipV="false" rot="0">
              <a:off x="0" y="0"/>
              <a:ext cx="5852160" cy="3840480"/>
            </a:xfrm>
            <a:custGeom>
              <a:avLst/>
              <a:gdLst/>
              <a:ahLst/>
              <a:cxnLst/>
              <a:rect r="r" b="b" t="t" l="l"/>
              <a:pathLst>
                <a:path h="3840480" w="5852160">
                  <a:moveTo>
                    <a:pt x="0" y="0"/>
                  </a:moveTo>
                  <a:lnTo>
                    <a:pt x="5852160" y="0"/>
                  </a:lnTo>
                  <a:lnTo>
                    <a:pt x="5852160" y="3840480"/>
                  </a:lnTo>
                  <a:lnTo>
                    <a:pt x="0" y="3840480"/>
                  </a:lnTo>
                  <a:close/>
                </a:path>
              </a:pathLst>
            </a:custGeom>
            <a:blipFill>
              <a:blip r:embed="rId9">
                <a:alphaModFix amt="0"/>
              </a:blip>
              <a:stretch>
                <a:fillRect l="-34199" t="0" r="-34199" b="0"/>
              </a:stretch>
            </a:blipFill>
          </p:spPr>
        </p:sp>
        <p:sp>
          <p:nvSpPr>
            <p:cNvPr name="TextBox 13" id="13"/>
            <p:cNvSpPr txBox="true"/>
            <p:nvPr/>
          </p:nvSpPr>
          <p:spPr>
            <a:xfrm>
              <a:off x="0" y="-190500"/>
              <a:ext cx="5852160" cy="4030980"/>
            </a:xfrm>
            <a:prstGeom prst="rect">
              <a:avLst/>
            </a:prstGeom>
          </p:spPr>
          <p:txBody>
            <a:bodyPr anchor="ctr" rtlCol="false" tIns="0" lIns="0" bIns="0" rIns="0"/>
            <a:lstStyle/>
            <a:p>
              <a:pPr algn="l">
                <a:lnSpc>
                  <a:spcPts val="23400"/>
                </a:lnSpc>
              </a:pPr>
              <a:r>
                <a:rPr lang="en-US" sz="19500" b="true">
                  <a:solidFill>
                    <a:srgbClr val="2F6364"/>
                  </a:solidFill>
                  <a:latin typeface="Poppins Bold"/>
                  <a:ea typeface="Poppins Bold"/>
                  <a:cs typeface="Poppins Bold"/>
                  <a:sym typeface="Poppins Bold"/>
                </a:rPr>
                <a:t>02</a:t>
              </a:r>
            </a:p>
          </p:txBody>
        </p:sp>
      </p:grpSp>
      <p:grpSp>
        <p:nvGrpSpPr>
          <p:cNvPr name="Group 14" id="14"/>
          <p:cNvGrpSpPr/>
          <p:nvPr/>
        </p:nvGrpSpPr>
        <p:grpSpPr>
          <a:xfrm rot="0">
            <a:off x="1069848" y="3730752"/>
            <a:ext cx="10149840" cy="466344"/>
            <a:chOff x="0" y="0"/>
            <a:chExt cx="13533120" cy="621792"/>
          </a:xfrm>
        </p:grpSpPr>
        <p:sp>
          <p:nvSpPr>
            <p:cNvPr name="Freeform 15" id="15"/>
            <p:cNvSpPr/>
            <p:nvPr/>
          </p:nvSpPr>
          <p:spPr>
            <a:xfrm flipH="false" flipV="false" rot="0">
              <a:off x="0" y="0"/>
              <a:ext cx="13533120" cy="621792"/>
            </a:xfrm>
            <a:custGeom>
              <a:avLst/>
              <a:gdLst/>
              <a:ahLst/>
              <a:cxnLst/>
              <a:rect r="r" b="b" t="t" l="l"/>
              <a:pathLst>
                <a:path h="621792" w="13533120">
                  <a:moveTo>
                    <a:pt x="0" y="0"/>
                  </a:moveTo>
                  <a:lnTo>
                    <a:pt x="13533120" y="0"/>
                  </a:lnTo>
                  <a:lnTo>
                    <a:pt x="13533120" y="621792"/>
                  </a:lnTo>
                  <a:lnTo>
                    <a:pt x="0" y="621792"/>
                  </a:lnTo>
                  <a:close/>
                </a:path>
              </a:pathLst>
            </a:custGeom>
            <a:blipFill>
              <a:blip r:embed="rId9">
                <a:alphaModFix amt="0"/>
              </a:blip>
              <a:stretch>
                <a:fillRect l="0" t="-374086" r="0" b="-374086"/>
              </a:stretch>
            </a:blipFill>
          </p:spPr>
        </p:sp>
        <p:sp>
          <p:nvSpPr>
            <p:cNvPr name="TextBox 16" id="16"/>
            <p:cNvSpPr txBox="true"/>
            <p:nvPr/>
          </p:nvSpPr>
          <p:spPr>
            <a:xfrm>
              <a:off x="0" y="-19050"/>
              <a:ext cx="13533120" cy="640842"/>
            </a:xfrm>
            <a:prstGeom prst="rect">
              <a:avLst/>
            </a:prstGeom>
          </p:spPr>
          <p:txBody>
            <a:bodyPr anchor="ctr" rtlCol="false" tIns="0" lIns="0" bIns="0" rIns="0"/>
            <a:lstStyle/>
            <a:p>
              <a:pPr algn="l">
                <a:lnSpc>
                  <a:spcPts val="2340"/>
                </a:lnSpc>
              </a:pPr>
              <a:r>
                <a:rPr lang="en-US" b="true" sz="1950" spc="375">
                  <a:solidFill>
                    <a:srgbClr val="8FBEBE"/>
                  </a:solidFill>
                  <a:latin typeface="Poppins Bold"/>
                  <a:ea typeface="Poppins Bold"/>
                  <a:cs typeface="Poppins Bold"/>
                  <a:sym typeface="Poppins Bold"/>
                </a:rPr>
                <a:t>PART TWO</a:t>
              </a:r>
            </a:p>
          </p:txBody>
        </p:sp>
      </p:grpSp>
      <p:grpSp>
        <p:nvGrpSpPr>
          <p:cNvPr name="Group 17" id="17"/>
          <p:cNvGrpSpPr/>
          <p:nvPr/>
        </p:nvGrpSpPr>
        <p:grpSpPr>
          <a:xfrm rot="0">
            <a:off x="1069848" y="4361688"/>
            <a:ext cx="1851660" cy="116586"/>
            <a:chOff x="0" y="0"/>
            <a:chExt cx="2468880" cy="155448"/>
          </a:xfrm>
        </p:grpSpPr>
        <p:sp>
          <p:nvSpPr>
            <p:cNvPr name="Freeform 18" id="18"/>
            <p:cNvSpPr/>
            <p:nvPr/>
          </p:nvSpPr>
          <p:spPr>
            <a:xfrm flipH="false" flipV="false" rot="0">
              <a:off x="0" y="0"/>
              <a:ext cx="2468880" cy="155448"/>
            </a:xfrm>
            <a:custGeom>
              <a:avLst/>
              <a:gdLst/>
              <a:ahLst/>
              <a:cxnLst/>
              <a:rect r="r" b="b" t="t" l="l"/>
              <a:pathLst>
                <a:path h="155448" w="2468880">
                  <a:moveTo>
                    <a:pt x="0" y="0"/>
                  </a:moveTo>
                  <a:lnTo>
                    <a:pt x="2468880" y="0"/>
                  </a:lnTo>
                  <a:lnTo>
                    <a:pt x="2468880" y="155448"/>
                  </a:lnTo>
                  <a:lnTo>
                    <a:pt x="0" y="155448"/>
                  </a:lnTo>
                  <a:close/>
                </a:path>
              </a:pathLst>
            </a:custGeom>
            <a:solidFill>
              <a:srgbClr val="387F7F"/>
            </a:solidFill>
          </p:spPr>
        </p:sp>
      </p:grpSp>
      <p:grpSp>
        <p:nvGrpSpPr>
          <p:cNvPr name="Group 19" id="19"/>
          <p:cNvGrpSpPr/>
          <p:nvPr/>
        </p:nvGrpSpPr>
        <p:grpSpPr>
          <a:xfrm rot="0">
            <a:off x="1069848" y="4732020"/>
            <a:ext cx="11109960" cy="2194560"/>
            <a:chOff x="0" y="0"/>
            <a:chExt cx="14813280" cy="2926080"/>
          </a:xfrm>
        </p:grpSpPr>
        <p:sp>
          <p:nvSpPr>
            <p:cNvPr name="Freeform 20" id="20"/>
            <p:cNvSpPr/>
            <p:nvPr/>
          </p:nvSpPr>
          <p:spPr>
            <a:xfrm flipH="false" flipV="false" rot="0">
              <a:off x="0" y="0"/>
              <a:ext cx="14813280" cy="2926080"/>
            </a:xfrm>
            <a:custGeom>
              <a:avLst/>
              <a:gdLst/>
              <a:ahLst/>
              <a:cxnLst/>
              <a:rect r="r" b="b" t="t" l="l"/>
              <a:pathLst>
                <a:path h="2926080" w="14813280">
                  <a:moveTo>
                    <a:pt x="0" y="0"/>
                  </a:moveTo>
                  <a:lnTo>
                    <a:pt x="14813280" y="0"/>
                  </a:lnTo>
                  <a:lnTo>
                    <a:pt x="14813280" y="2926080"/>
                  </a:lnTo>
                  <a:lnTo>
                    <a:pt x="0" y="2926080"/>
                  </a:lnTo>
                  <a:close/>
                </a:path>
              </a:pathLst>
            </a:custGeom>
            <a:blipFill>
              <a:blip r:embed="rId9">
                <a:alphaModFix amt="0"/>
              </a:blip>
              <a:stretch>
                <a:fillRect l="0" t="-48643" r="0" b="-48643"/>
              </a:stretch>
            </a:blipFill>
          </p:spPr>
        </p:sp>
        <p:sp>
          <p:nvSpPr>
            <p:cNvPr name="TextBox 21" id="21"/>
            <p:cNvSpPr txBox="true"/>
            <p:nvPr/>
          </p:nvSpPr>
          <p:spPr>
            <a:xfrm>
              <a:off x="0" y="-104775"/>
              <a:ext cx="14813280" cy="3030855"/>
            </a:xfrm>
            <a:prstGeom prst="rect">
              <a:avLst/>
            </a:prstGeom>
          </p:spPr>
          <p:txBody>
            <a:bodyPr anchor="ctr" rtlCol="false" tIns="0" lIns="0" bIns="0" rIns="0"/>
            <a:lstStyle/>
            <a:p>
              <a:pPr algn="l">
                <a:lnSpc>
                  <a:spcPts val="6998"/>
                </a:lnSpc>
              </a:pPr>
              <a:r>
                <a:rPr lang="en-US" sz="5400" b="true">
                  <a:solidFill>
                    <a:srgbClr val="FFFFFF"/>
                  </a:solidFill>
                  <a:latin typeface="Poppins Bold"/>
                  <a:ea typeface="Poppins Bold"/>
                  <a:cs typeface="Poppins Bold"/>
                  <a:sym typeface="Poppins Bold"/>
                </a:rPr>
                <a:t>Copilot in Power BI</a:t>
              </a:r>
            </a:p>
          </p:txBody>
        </p:sp>
      </p:grpSp>
      <p:grpSp>
        <p:nvGrpSpPr>
          <p:cNvPr name="Group 22" id="22"/>
          <p:cNvGrpSpPr/>
          <p:nvPr/>
        </p:nvGrpSpPr>
        <p:grpSpPr>
          <a:xfrm rot="0">
            <a:off x="1645920" y="7283196"/>
            <a:ext cx="9875520" cy="466344"/>
            <a:chOff x="0" y="0"/>
            <a:chExt cx="13167360" cy="621792"/>
          </a:xfrm>
        </p:grpSpPr>
        <p:sp>
          <p:nvSpPr>
            <p:cNvPr name="Freeform 23" id="23"/>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24" id="24"/>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What it adds when you have it</a:t>
              </a:r>
            </a:p>
          </p:txBody>
        </p:sp>
      </p:grpSp>
      <p:grpSp>
        <p:nvGrpSpPr>
          <p:cNvPr name="Group 25" id="25"/>
          <p:cNvGrpSpPr/>
          <p:nvPr/>
        </p:nvGrpSpPr>
        <p:grpSpPr>
          <a:xfrm rot="0">
            <a:off x="1645920" y="7859268"/>
            <a:ext cx="9875520" cy="466344"/>
            <a:chOff x="0" y="0"/>
            <a:chExt cx="13167360" cy="621792"/>
          </a:xfrm>
        </p:grpSpPr>
        <p:sp>
          <p:nvSpPr>
            <p:cNvPr name="Freeform 26" id="26"/>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27" id="27"/>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What to do in this room, honestly, since we do not</a:t>
              </a:r>
            </a:p>
          </p:txBody>
        </p:sp>
      </p:grpSp>
      <p:grpSp>
        <p:nvGrpSpPr>
          <p:cNvPr name="Group 28" id="28"/>
          <p:cNvGrpSpPr/>
          <p:nvPr/>
        </p:nvGrpSpPr>
        <p:grpSpPr>
          <a:xfrm rot="0">
            <a:off x="1645920" y="8435340"/>
            <a:ext cx="9875520" cy="466344"/>
            <a:chOff x="0" y="0"/>
            <a:chExt cx="13167360" cy="621792"/>
          </a:xfrm>
        </p:grpSpPr>
        <p:sp>
          <p:nvSpPr>
            <p:cNvPr name="Freeform 29" id="29"/>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30" id="30"/>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The line to use in an interview either way</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6533614"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What</a:t>
            </a:r>
            <a:r>
              <a:rPr lang="en-US" sz="5000">
                <a:solidFill>
                  <a:srgbClr val="388080"/>
                </a:solidFill>
                <a:latin typeface="Poppins"/>
                <a:ea typeface="Poppins"/>
                <a:cs typeface="Poppins"/>
                <a:sym typeface="Poppins"/>
              </a:rPr>
              <a:t> Copilot adds, and an honest note about today</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904875" y="2447925"/>
            <a:ext cx="14744700" cy="2743200"/>
            <a:chOff x="0" y="0"/>
            <a:chExt cx="19659600" cy="3657600"/>
          </a:xfrm>
        </p:grpSpPr>
        <p:sp>
          <p:nvSpPr>
            <p:cNvPr name="Freeform 12" id="12"/>
            <p:cNvSpPr/>
            <p:nvPr/>
          </p:nvSpPr>
          <p:spPr>
            <a:xfrm flipH="false" flipV="false" rot="0">
              <a:off x="0" y="0"/>
              <a:ext cx="19659600" cy="3657600"/>
            </a:xfrm>
            <a:custGeom>
              <a:avLst/>
              <a:gdLst/>
              <a:ahLst/>
              <a:cxnLst/>
              <a:rect r="r" b="b" t="t" l="l"/>
              <a:pathLst>
                <a:path h="3657600" w="19659600">
                  <a:moveTo>
                    <a:pt x="0" y="182880"/>
                  </a:moveTo>
                  <a:cubicBezTo>
                    <a:pt x="0" y="81915"/>
                    <a:pt x="81915" y="0"/>
                    <a:pt x="182880" y="0"/>
                  </a:cubicBezTo>
                  <a:lnTo>
                    <a:pt x="19476720" y="0"/>
                  </a:lnTo>
                  <a:cubicBezTo>
                    <a:pt x="19577684" y="0"/>
                    <a:pt x="19659600" y="81915"/>
                    <a:pt x="19659600" y="182880"/>
                  </a:cubicBezTo>
                  <a:lnTo>
                    <a:pt x="19659600" y="3474720"/>
                  </a:lnTo>
                  <a:cubicBezTo>
                    <a:pt x="19659600" y="3575685"/>
                    <a:pt x="19577684" y="3657600"/>
                    <a:pt x="19476720" y="3657600"/>
                  </a:cubicBezTo>
                  <a:lnTo>
                    <a:pt x="182880" y="3657600"/>
                  </a:lnTo>
                  <a:cubicBezTo>
                    <a:pt x="81915" y="3657600"/>
                    <a:pt x="0" y="3575685"/>
                    <a:pt x="0" y="3474720"/>
                  </a:cubicBezTo>
                  <a:close/>
                </a:path>
              </a:pathLst>
            </a:custGeom>
            <a:solidFill>
              <a:srgbClr val="FFFFFF"/>
            </a:solidFill>
          </p:spPr>
        </p:sp>
      </p:grpSp>
      <p:sp>
        <p:nvSpPr>
          <p:cNvPr name="TextBox 13" id="13"/>
          <p:cNvSpPr txBox="true"/>
          <p:nvPr/>
        </p:nvSpPr>
        <p:spPr>
          <a:xfrm rot="0">
            <a:off x="1316355" y="2636520"/>
            <a:ext cx="13921740" cy="2417445"/>
          </a:xfrm>
          <a:prstGeom prst="rect">
            <a:avLst/>
          </a:prstGeom>
        </p:spPr>
        <p:txBody>
          <a:bodyPr anchor="t" rtlCol="false" tIns="0" lIns="0" bIns="0" rIns="0">
            <a:spAutoFit/>
          </a:bodyPr>
          <a:lstStyle/>
          <a:p>
            <a:pPr algn="l">
              <a:lnSpc>
                <a:spcPts val="3276"/>
              </a:lnSpc>
            </a:pPr>
            <a:r>
              <a:rPr lang="en-US" sz="2100">
                <a:solidFill>
                  <a:srgbClr val="475569"/>
                </a:solidFill>
                <a:latin typeface="Poppins"/>
                <a:ea typeface="Poppins"/>
                <a:cs typeface="Poppins"/>
                <a:sym typeface="Poppins"/>
              </a:rPr>
              <a:t>Copilot in Power BI can see your model. It knows your table names, your columns and your relationships without being told, which removes exactly the context problem from earlier in this topic. It is faster, and it makes fewer structural mistakes than a general assistant working blind.</a:t>
            </a:r>
          </a:p>
          <a:p>
            <a:pPr algn="l">
              <a:lnSpc>
                <a:spcPts val="3276"/>
              </a:lnSpc>
            </a:pPr>
          </a:p>
          <a:p>
            <a:pPr algn="l">
              <a:lnSpc>
                <a:spcPts val="3276"/>
              </a:lnSpc>
            </a:pPr>
            <a:r>
              <a:rPr lang="en-US" sz="2100">
                <a:solidFill>
                  <a:srgbClr val="475569"/>
                </a:solidFill>
                <a:latin typeface="Poppins"/>
                <a:ea typeface="Poppins"/>
                <a:cs typeface="Poppins"/>
                <a:sym typeface="Poppins"/>
              </a:rPr>
              <a:t>It does not know your business definitions, and it is just as confident when it is wrong. The verification obligation does not move.</a:t>
            </a:r>
          </a:p>
        </p:txBody>
      </p:sp>
      <p:grpSp>
        <p:nvGrpSpPr>
          <p:cNvPr name="Group 14" id="14"/>
          <p:cNvGrpSpPr/>
          <p:nvPr/>
        </p:nvGrpSpPr>
        <p:grpSpPr>
          <a:xfrm rot="0">
            <a:off x="904875" y="5465445"/>
            <a:ext cx="14744700" cy="2606040"/>
            <a:chOff x="0" y="0"/>
            <a:chExt cx="19659600" cy="3474720"/>
          </a:xfrm>
        </p:grpSpPr>
        <p:sp>
          <p:nvSpPr>
            <p:cNvPr name="Freeform 15" id="15"/>
            <p:cNvSpPr/>
            <p:nvPr/>
          </p:nvSpPr>
          <p:spPr>
            <a:xfrm flipH="false" flipV="false" rot="0">
              <a:off x="0" y="0"/>
              <a:ext cx="19659600" cy="3474720"/>
            </a:xfrm>
            <a:custGeom>
              <a:avLst/>
              <a:gdLst/>
              <a:ahLst/>
              <a:cxnLst/>
              <a:rect r="r" b="b" t="t" l="l"/>
              <a:pathLst>
                <a:path h="3474720" w="19659600">
                  <a:moveTo>
                    <a:pt x="0" y="164592"/>
                  </a:moveTo>
                  <a:cubicBezTo>
                    <a:pt x="0" y="73660"/>
                    <a:pt x="73660" y="0"/>
                    <a:pt x="164592" y="0"/>
                  </a:cubicBezTo>
                  <a:lnTo>
                    <a:pt x="19495008" y="0"/>
                  </a:lnTo>
                  <a:cubicBezTo>
                    <a:pt x="19585939" y="0"/>
                    <a:pt x="19659600" y="73660"/>
                    <a:pt x="19659600" y="164592"/>
                  </a:cubicBezTo>
                  <a:lnTo>
                    <a:pt x="19659600" y="3310128"/>
                  </a:lnTo>
                  <a:cubicBezTo>
                    <a:pt x="19659600" y="3401060"/>
                    <a:pt x="19585939" y="3474720"/>
                    <a:pt x="19495008" y="3474720"/>
                  </a:cubicBezTo>
                  <a:lnTo>
                    <a:pt x="164592" y="3474720"/>
                  </a:lnTo>
                  <a:cubicBezTo>
                    <a:pt x="73660" y="3474720"/>
                    <a:pt x="0" y="3401060"/>
                    <a:pt x="0" y="3310128"/>
                  </a:cubicBezTo>
                  <a:close/>
                </a:path>
              </a:pathLst>
            </a:custGeom>
            <a:solidFill>
              <a:srgbClr val="FBF3E6"/>
            </a:solidFill>
          </p:spPr>
        </p:sp>
      </p:grpSp>
      <p:grpSp>
        <p:nvGrpSpPr>
          <p:cNvPr name="Group 16" id="16"/>
          <p:cNvGrpSpPr/>
          <p:nvPr/>
        </p:nvGrpSpPr>
        <p:grpSpPr>
          <a:xfrm rot="0">
            <a:off x="904875" y="5465445"/>
            <a:ext cx="102870" cy="2606040"/>
            <a:chOff x="0" y="0"/>
            <a:chExt cx="137160" cy="3474720"/>
          </a:xfrm>
        </p:grpSpPr>
        <p:sp>
          <p:nvSpPr>
            <p:cNvPr name="Freeform 17" id="17"/>
            <p:cNvSpPr/>
            <p:nvPr/>
          </p:nvSpPr>
          <p:spPr>
            <a:xfrm flipH="false" flipV="false" rot="0">
              <a:off x="0" y="0"/>
              <a:ext cx="137160" cy="3474720"/>
            </a:xfrm>
            <a:custGeom>
              <a:avLst/>
              <a:gdLst/>
              <a:ahLst/>
              <a:cxnLst/>
              <a:rect r="r" b="b" t="t" l="l"/>
              <a:pathLst>
                <a:path h="3474720" w="137160">
                  <a:moveTo>
                    <a:pt x="0" y="0"/>
                  </a:moveTo>
                  <a:lnTo>
                    <a:pt x="137160" y="0"/>
                  </a:lnTo>
                  <a:lnTo>
                    <a:pt x="137160" y="3474720"/>
                  </a:lnTo>
                  <a:lnTo>
                    <a:pt x="0" y="3474720"/>
                  </a:lnTo>
                  <a:close/>
                </a:path>
              </a:pathLst>
            </a:custGeom>
            <a:solidFill>
              <a:srgbClr val="C9821F"/>
            </a:solidFill>
          </p:spPr>
        </p:sp>
      </p:grpSp>
      <p:grpSp>
        <p:nvGrpSpPr>
          <p:cNvPr name="Group 18" id="18"/>
          <p:cNvGrpSpPr/>
          <p:nvPr/>
        </p:nvGrpSpPr>
        <p:grpSpPr>
          <a:xfrm rot="0">
            <a:off x="1316355" y="5808345"/>
            <a:ext cx="754380" cy="754380"/>
            <a:chOff x="0" y="0"/>
            <a:chExt cx="1005840" cy="1005840"/>
          </a:xfrm>
        </p:grpSpPr>
        <p:sp>
          <p:nvSpPr>
            <p:cNvPr name="Freeform 19" id="19"/>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C9821F"/>
            </a:solidFill>
          </p:spPr>
        </p:sp>
      </p:grpSp>
      <p:grpSp>
        <p:nvGrpSpPr>
          <p:cNvPr name="Group 20" id="20"/>
          <p:cNvGrpSpPr/>
          <p:nvPr/>
        </p:nvGrpSpPr>
        <p:grpSpPr>
          <a:xfrm rot="0">
            <a:off x="1316355" y="5808345"/>
            <a:ext cx="754380" cy="754380"/>
            <a:chOff x="0" y="0"/>
            <a:chExt cx="1005840" cy="1005840"/>
          </a:xfrm>
        </p:grpSpPr>
        <p:sp>
          <p:nvSpPr>
            <p:cNvPr name="Freeform 21" id="21"/>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9">
                <a:alphaModFix amt="0"/>
              </a:blip>
              <a:stretch>
                <a:fillRect l="-78303" t="0" r="-78303" b="0"/>
              </a:stretch>
            </a:blipFill>
          </p:spPr>
        </p:sp>
        <p:sp>
          <p:nvSpPr>
            <p:cNvPr name="TextBox 22" id="22"/>
            <p:cNvSpPr txBox="true"/>
            <p:nvPr/>
          </p:nvSpPr>
          <p:spPr>
            <a:xfrm>
              <a:off x="0" y="-28575"/>
              <a:ext cx="1005840" cy="1034415"/>
            </a:xfrm>
            <a:prstGeom prst="rect">
              <a:avLst/>
            </a:prstGeom>
          </p:spPr>
          <p:txBody>
            <a:bodyPr anchor="ctr" rtlCol="false" tIns="0" lIns="0" bIns="0" rIns="0"/>
            <a:lstStyle/>
            <a:p>
              <a:pPr algn="ctr">
                <a:lnSpc>
                  <a:spcPts val="3600"/>
                </a:lnSpc>
              </a:pPr>
              <a:r>
                <a:rPr lang="en-US" sz="3000" b="true">
                  <a:solidFill>
                    <a:srgbClr val="FFFFFF"/>
                  </a:solidFill>
                  <a:latin typeface="Poppins Bold"/>
                  <a:ea typeface="Poppins Bold"/>
                  <a:cs typeface="Poppins Bold"/>
                  <a:sym typeface="Poppins Bold"/>
                </a:rPr>
                <a:t>!</a:t>
              </a:r>
            </a:p>
          </p:txBody>
        </p:sp>
      </p:grpSp>
      <p:sp>
        <p:nvSpPr>
          <p:cNvPr name="TextBox 23" id="23"/>
          <p:cNvSpPr txBox="true"/>
          <p:nvPr/>
        </p:nvSpPr>
        <p:spPr>
          <a:xfrm rot="0">
            <a:off x="2413635" y="5585460"/>
            <a:ext cx="12824460" cy="2417445"/>
          </a:xfrm>
          <a:prstGeom prst="rect">
            <a:avLst/>
          </a:prstGeom>
        </p:spPr>
        <p:txBody>
          <a:bodyPr anchor="t" rtlCol="false" tIns="0" lIns="0" bIns="0" rIns="0">
            <a:spAutoFit/>
          </a:bodyPr>
          <a:lstStyle/>
          <a:p>
            <a:pPr algn="l">
              <a:lnSpc>
                <a:spcPts val="3159"/>
              </a:lnSpc>
            </a:pPr>
            <a:r>
              <a:rPr lang="en-US" sz="2025">
                <a:solidFill>
                  <a:srgbClr val="7A5410"/>
                </a:solidFill>
                <a:latin typeface="Poppins"/>
                <a:ea typeface="Poppins"/>
                <a:cs typeface="Poppins"/>
                <a:sym typeface="Poppins"/>
              </a:rPr>
              <a:t>Honestly, for this room: Copilot in Power BI needs a paid tier above the free version this course runs on, so we are not demonstrating it live today. Everything about verification, filter context and the four moves you just used on the audit applies to it exactly the same way. If your own employer has it, the workflow does not change; only the window does.</a:t>
            </a:r>
          </a:p>
        </p:txBody>
      </p:sp>
      <p:grpSp>
        <p:nvGrpSpPr>
          <p:cNvPr name="Group 24" id="24"/>
          <p:cNvGrpSpPr/>
          <p:nvPr/>
        </p:nvGrpSpPr>
        <p:grpSpPr>
          <a:xfrm rot="0">
            <a:off x="904875" y="8345805"/>
            <a:ext cx="14744700" cy="1097280"/>
            <a:chOff x="0" y="0"/>
            <a:chExt cx="19659600" cy="1463040"/>
          </a:xfrm>
        </p:grpSpPr>
        <p:sp>
          <p:nvSpPr>
            <p:cNvPr name="Freeform 25" id="25"/>
            <p:cNvSpPr/>
            <p:nvPr/>
          </p:nvSpPr>
          <p:spPr>
            <a:xfrm flipH="false" flipV="false" rot="0">
              <a:off x="0" y="0"/>
              <a:ext cx="19659600" cy="1463040"/>
            </a:xfrm>
            <a:custGeom>
              <a:avLst/>
              <a:gdLst/>
              <a:ahLst/>
              <a:cxnLst/>
              <a:rect r="r" b="b" t="t" l="l"/>
              <a:pathLst>
                <a:path h="1463040" w="19659600">
                  <a:moveTo>
                    <a:pt x="0" y="164592"/>
                  </a:moveTo>
                  <a:cubicBezTo>
                    <a:pt x="0" y="73660"/>
                    <a:pt x="73660" y="0"/>
                    <a:pt x="164592" y="0"/>
                  </a:cubicBezTo>
                  <a:lnTo>
                    <a:pt x="19495008" y="0"/>
                  </a:lnTo>
                  <a:cubicBezTo>
                    <a:pt x="19585939" y="0"/>
                    <a:pt x="19659600" y="73660"/>
                    <a:pt x="19659600" y="164592"/>
                  </a:cubicBezTo>
                  <a:lnTo>
                    <a:pt x="19659600" y="1298448"/>
                  </a:lnTo>
                  <a:cubicBezTo>
                    <a:pt x="19659600" y="1389380"/>
                    <a:pt x="19585939" y="1463040"/>
                    <a:pt x="19495008" y="1463040"/>
                  </a:cubicBezTo>
                  <a:lnTo>
                    <a:pt x="164592" y="1463040"/>
                  </a:lnTo>
                  <a:cubicBezTo>
                    <a:pt x="73660" y="1463040"/>
                    <a:pt x="0" y="1389380"/>
                    <a:pt x="0" y="1298448"/>
                  </a:cubicBezTo>
                  <a:close/>
                </a:path>
              </a:pathLst>
            </a:custGeom>
            <a:solidFill>
              <a:srgbClr val="EEF4F4"/>
            </a:solidFill>
          </p:spPr>
        </p:sp>
      </p:grpSp>
      <p:grpSp>
        <p:nvGrpSpPr>
          <p:cNvPr name="Group 26" id="26"/>
          <p:cNvGrpSpPr/>
          <p:nvPr/>
        </p:nvGrpSpPr>
        <p:grpSpPr>
          <a:xfrm rot="0">
            <a:off x="904875" y="8345805"/>
            <a:ext cx="102870" cy="1097280"/>
            <a:chOff x="0" y="0"/>
            <a:chExt cx="137160" cy="1463040"/>
          </a:xfrm>
        </p:grpSpPr>
        <p:sp>
          <p:nvSpPr>
            <p:cNvPr name="Freeform 27" id="27"/>
            <p:cNvSpPr/>
            <p:nvPr/>
          </p:nvSpPr>
          <p:spPr>
            <a:xfrm flipH="false" flipV="false" rot="0">
              <a:off x="0" y="0"/>
              <a:ext cx="137160" cy="1463040"/>
            </a:xfrm>
            <a:custGeom>
              <a:avLst/>
              <a:gdLst/>
              <a:ahLst/>
              <a:cxnLst/>
              <a:rect r="r" b="b" t="t" l="l"/>
              <a:pathLst>
                <a:path h="1463040" w="137160">
                  <a:moveTo>
                    <a:pt x="0" y="0"/>
                  </a:moveTo>
                  <a:lnTo>
                    <a:pt x="137160" y="0"/>
                  </a:lnTo>
                  <a:lnTo>
                    <a:pt x="137160" y="1463040"/>
                  </a:lnTo>
                  <a:lnTo>
                    <a:pt x="0" y="1463040"/>
                  </a:lnTo>
                  <a:close/>
                </a:path>
              </a:pathLst>
            </a:custGeom>
            <a:solidFill>
              <a:srgbClr val="387F7F"/>
            </a:solidFill>
          </p:spPr>
        </p:sp>
      </p:grpSp>
      <p:grpSp>
        <p:nvGrpSpPr>
          <p:cNvPr name="Group 28" id="28"/>
          <p:cNvGrpSpPr/>
          <p:nvPr/>
        </p:nvGrpSpPr>
        <p:grpSpPr>
          <a:xfrm rot="0">
            <a:off x="1453515" y="8345805"/>
            <a:ext cx="13853160" cy="1097280"/>
            <a:chOff x="0" y="0"/>
            <a:chExt cx="18470880" cy="1463040"/>
          </a:xfrm>
        </p:grpSpPr>
        <p:sp>
          <p:nvSpPr>
            <p:cNvPr name="Freeform 29" id="29"/>
            <p:cNvSpPr/>
            <p:nvPr/>
          </p:nvSpPr>
          <p:spPr>
            <a:xfrm flipH="false" flipV="false" rot="0">
              <a:off x="0" y="0"/>
              <a:ext cx="18470880" cy="1463040"/>
            </a:xfrm>
            <a:custGeom>
              <a:avLst/>
              <a:gdLst/>
              <a:ahLst/>
              <a:cxnLst/>
              <a:rect r="r" b="b" t="t" l="l"/>
              <a:pathLst>
                <a:path h="1463040" w="18470880">
                  <a:moveTo>
                    <a:pt x="0" y="0"/>
                  </a:moveTo>
                  <a:lnTo>
                    <a:pt x="18470880" y="0"/>
                  </a:lnTo>
                  <a:lnTo>
                    <a:pt x="18470880" y="1463040"/>
                  </a:lnTo>
                  <a:lnTo>
                    <a:pt x="0" y="1463040"/>
                  </a:lnTo>
                  <a:close/>
                </a:path>
              </a:pathLst>
            </a:custGeom>
            <a:blipFill>
              <a:blip r:embed="rId9">
                <a:alphaModFix amt="0"/>
              </a:blip>
              <a:stretch>
                <a:fillRect l="0" t="-195998" r="0" b="-195998"/>
              </a:stretch>
            </a:blipFill>
          </p:spPr>
        </p:sp>
        <p:sp>
          <p:nvSpPr>
            <p:cNvPr name="TextBox 30" id="30"/>
            <p:cNvSpPr txBox="true"/>
            <p:nvPr/>
          </p:nvSpPr>
          <p:spPr>
            <a:xfrm>
              <a:off x="0" y="-114300"/>
              <a:ext cx="18470880" cy="1577340"/>
            </a:xfrm>
            <a:prstGeom prst="rect">
              <a:avLst/>
            </a:prstGeom>
          </p:spPr>
          <p:txBody>
            <a:bodyPr anchor="ctr" rtlCol="false" tIns="0" lIns="0" bIns="0" rIns="0"/>
            <a:lstStyle/>
            <a:p>
              <a:pPr algn="l">
                <a:lnSpc>
                  <a:spcPts val="3523"/>
                </a:lnSpc>
              </a:pPr>
              <a:r>
                <a:rPr lang="en-US" sz="2175" b="true">
                  <a:solidFill>
                    <a:srgbClr val="387F7F"/>
                  </a:solidFill>
                  <a:latin typeface="Poppins Bold"/>
                  <a:ea typeface="Poppins Bold"/>
                  <a:cs typeface="Poppins Bold"/>
                  <a:sym typeface="Poppins Bold"/>
                </a:rPr>
                <a:t>Same workflow. Different window. That is true whether or not you have ever seen it.</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3056989"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What</a:t>
            </a:r>
            <a:r>
              <a:rPr lang="en-US" sz="5000">
                <a:solidFill>
                  <a:srgbClr val="388080"/>
                </a:solidFill>
                <a:latin typeface="Poppins"/>
                <a:ea typeface="Poppins"/>
                <a:cs typeface="Poppins"/>
                <a:sym typeface="Poppins"/>
              </a:rPr>
              <a:t> to say in an interview about Copilot</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933450" y="2670805"/>
            <a:ext cx="14744700" cy="4251960"/>
            <a:chOff x="0" y="0"/>
            <a:chExt cx="19659600" cy="5669280"/>
          </a:xfrm>
        </p:grpSpPr>
        <p:sp>
          <p:nvSpPr>
            <p:cNvPr name="Freeform 12" id="12"/>
            <p:cNvSpPr/>
            <p:nvPr/>
          </p:nvSpPr>
          <p:spPr>
            <a:xfrm flipH="false" flipV="false" rot="0">
              <a:off x="0" y="0"/>
              <a:ext cx="19659600" cy="5669280"/>
            </a:xfrm>
            <a:custGeom>
              <a:avLst/>
              <a:gdLst/>
              <a:ahLst/>
              <a:cxnLst/>
              <a:rect r="r" b="b" t="t" l="l"/>
              <a:pathLst>
                <a:path h="5669280" w="19659600">
                  <a:moveTo>
                    <a:pt x="0" y="182880"/>
                  </a:moveTo>
                  <a:cubicBezTo>
                    <a:pt x="0" y="81915"/>
                    <a:pt x="81915" y="0"/>
                    <a:pt x="182880" y="0"/>
                  </a:cubicBezTo>
                  <a:lnTo>
                    <a:pt x="19476720" y="0"/>
                  </a:lnTo>
                  <a:cubicBezTo>
                    <a:pt x="19577684" y="0"/>
                    <a:pt x="19659600" y="81915"/>
                    <a:pt x="19659600" y="182880"/>
                  </a:cubicBezTo>
                  <a:lnTo>
                    <a:pt x="19659600" y="5486400"/>
                  </a:lnTo>
                  <a:cubicBezTo>
                    <a:pt x="19659600" y="5587365"/>
                    <a:pt x="19577684" y="5669280"/>
                    <a:pt x="19476720" y="5669280"/>
                  </a:cubicBezTo>
                  <a:lnTo>
                    <a:pt x="182880" y="5669280"/>
                  </a:lnTo>
                  <a:cubicBezTo>
                    <a:pt x="81915" y="5669280"/>
                    <a:pt x="0" y="5587365"/>
                    <a:pt x="0" y="5486400"/>
                  </a:cubicBezTo>
                  <a:close/>
                </a:path>
              </a:pathLst>
            </a:custGeom>
            <a:solidFill>
              <a:srgbClr val="FFFFFF"/>
            </a:solidFill>
          </p:spPr>
        </p:sp>
      </p:grpSp>
      <p:sp>
        <p:nvSpPr>
          <p:cNvPr name="TextBox 13" id="13"/>
          <p:cNvSpPr txBox="true"/>
          <p:nvPr/>
        </p:nvSpPr>
        <p:spPr>
          <a:xfrm rot="0">
            <a:off x="1413510" y="2908930"/>
            <a:ext cx="13921740" cy="1339215"/>
          </a:xfrm>
          <a:prstGeom prst="rect">
            <a:avLst/>
          </a:prstGeom>
        </p:spPr>
        <p:txBody>
          <a:bodyPr anchor="t" rtlCol="false" tIns="0" lIns="0" bIns="0" rIns="0">
            <a:spAutoFit/>
          </a:bodyPr>
          <a:lstStyle/>
          <a:p>
            <a:pPr algn="l">
              <a:lnSpc>
                <a:spcPts val="3564"/>
              </a:lnSpc>
            </a:pPr>
            <a:r>
              <a:rPr lang="en-US" sz="2250">
                <a:solidFill>
                  <a:srgbClr val="475569"/>
                </a:solidFill>
                <a:latin typeface="Poppins"/>
                <a:ea typeface="Poppins"/>
                <a:cs typeface="Poppins"/>
                <a:sym typeface="Poppins"/>
              </a:rPr>
              <a:t>You should be able to say what it does, what it adds, and what it does not change, because employers who have it will ask and employers who do not will want to know you can work without it.</a:t>
            </a:r>
          </a:p>
        </p:txBody>
      </p:sp>
      <p:grpSp>
        <p:nvGrpSpPr>
          <p:cNvPr name="Group 14" id="14"/>
          <p:cNvGrpSpPr/>
          <p:nvPr/>
        </p:nvGrpSpPr>
        <p:grpSpPr>
          <a:xfrm rot="0">
            <a:off x="1413510" y="4453885"/>
            <a:ext cx="13647420" cy="2194560"/>
            <a:chOff x="0" y="0"/>
            <a:chExt cx="18196560" cy="2926080"/>
          </a:xfrm>
        </p:grpSpPr>
        <p:sp>
          <p:nvSpPr>
            <p:cNvPr name="Freeform 15" id="15"/>
            <p:cNvSpPr/>
            <p:nvPr/>
          </p:nvSpPr>
          <p:spPr>
            <a:xfrm flipH="false" flipV="false" rot="0">
              <a:off x="0" y="0"/>
              <a:ext cx="18196561" cy="2926080"/>
            </a:xfrm>
            <a:custGeom>
              <a:avLst/>
              <a:gdLst/>
              <a:ahLst/>
              <a:cxnLst/>
              <a:rect r="r" b="b" t="t" l="l"/>
              <a:pathLst>
                <a:path h="2926080" w="18196561">
                  <a:moveTo>
                    <a:pt x="0" y="146304"/>
                  </a:moveTo>
                  <a:cubicBezTo>
                    <a:pt x="0" y="65532"/>
                    <a:pt x="65532" y="0"/>
                    <a:pt x="146304" y="0"/>
                  </a:cubicBezTo>
                  <a:lnTo>
                    <a:pt x="18050256" y="0"/>
                  </a:lnTo>
                  <a:cubicBezTo>
                    <a:pt x="18131028" y="0"/>
                    <a:pt x="18196561" y="65532"/>
                    <a:pt x="18196561" y="146304"/>
                  </a:cubicBezTo>
                  <a:lnTo>
                    <a:pt x="18196561" y="2779776"/>
                  </a:lnTo>
                  <a:cubicBezTo>
                    <a:pt x="18196561" y="2860548"/>
                    <a:pt x="18131028" y="2926080"/>
                    <a:pt x="18050256" y="2926080"/>
                  </a:cubicBezTo>
                  <a:lnTo>
                    <a:pt x="146304" y="2926080"/>
                  </a:lnTo>
                  <a:cubicBezTo>
                    <a:pt x="65532" y="2926080"/>
                    <a:pt x="0" y="2860548"/>
                    <a:pt x="0" y="2779776"/>
                  </a:cubicBezTo>
                  <a:close/>
                </a:path>
              </a:pathLst>
            </a:custGeom>
            <a:solidFill>
              <a:srgbClr val="EEF4F4"/>
            </a:solidFill>
          </p:spPr>
        </p:sp>
      </p:grpSp>
      <p:sp>
        <p:nvSpPr>
          <p:cNvPr name="TextBox 16" id="16"/>
          <p:cNvSpPr txBox="true"/>
          <p:nvPr/>
        </p:nvSpPr>
        <p:spPr>
          <a:xfrm rot="0">
            <a:off x="1824990" y="4711060"/>
            <a:ext cx="12824460" cy="1663065"/>
          </a:xfrm>
          <a:prstGeom prst="rect">
            <a:avLst/>
          </a:prstGeom>
        </p:spPr>
        <p:txBody>
          <a:bodyPr anchor="t" rtlCol="false" tIns="0" lIns="0" bIns="0" rIns="0">
            <a:spAutoFit/>
          </a:bodyPr>
          <a:lstStyle/>
          <a:p>
            <a:pPr algn="l">
              <a:lnSpc>
                <a:spcPts val="3276"/>
              </a:lnSpc>
            </a:pPr>
            <a:r>
              <a:rPr lang="en-US" b="true" sz="2100" i="true">
                <a:solidFill>
                  <a:srgbClr val="0A1A23"/>
                </a:solidFill>
                <a:latin typeface="Poppins Bold Italics"/>
                <a:ea typeface="Poppins Bold Italics"/>
                <a:cs typeface="Poppins Bold Italics"/>
                <a:sym typeface="Poppins Bold Italics"/>
              </a:rPr>
              <a:t>“The workflow I use is the same either way. Copilot changes which window I type into and how much context I have to supply automatically. It does not change the model design, the verification I run, or the fact that I am accountable for the number.”</a:t>
            </a:r>
          </a:p>
        </p:txBody>
      </p:sp>
      <p:grpSp>
        <p:nvGrpSpPr>
          <p:cNvPr name="Group 17" id="17"/>
          <p:cNvGrpSpPr/>
          <p:nvPr/>
        </p:nvGrpSpPr>
        <p:grpSpPr>
          <a:xfrm rot="0">
            <a:off x="933450" y="7265665"/>
            <a:ext cx="14744700" cy="1371600"/>
            <a:chOff x="0" y="0"/>
            <a:chExt cx="19659600" cy="1828800"/>
          </a:xfrm>
        </p:grpSpPr>
        <p:sp>
          <p:nvSpPr>
            <p:cNvPr name="Freeform 18" id="18"/>
            <p:cNvSpPr/>
            <p:nvPr/>
          </p:nvSpPr>
          <p:spPr>
            <a:xfrm flipH="false" flipV="false" rot="0">
              <a:off x="0" y="0"/>
              <a:ext cx="19659600" cy="1828800"/>
            </a:xfrm>
            <a:custGeom>
              <a:avLst/>
              <a:gdLst/>
              <a:ahLst/>
              <a:cxnLst/>
              <a:rect r="r" b="b" t="t" l="l"/>
              <a:pathLst>
                <a:path h="1828800" w="19659600">
                  <a:moveTo>
                    <a:pt x="0" y="164592"/>
                  </a:moveTo>
                  <a:cubicBezTo>
                    <a:pt x="0" y="73660"/>
                    <a:pt x="73660" y="0"/>
                    <a:pt x="164592" y="0"/>
                  </a:cubicBezTo>
                  <a:lnTo>
                    <a:pt x="19495008" y="0"/>
                  </a:lnTo>
                  <a:cubicBezTo>
                    <a:pt x="19585939" y="0"/>
                    <a:pt x="19659600" y="73660"/>
                    <a:pt x="19659600" y="164592"/>
                  </a:cubicBezTo>
                  <a:lnTo>
                    <a:pt x="19659600" y="1664208"/>
                  </a:lnTo>
                  <a:cubicBezTo>
                    <a:pt x="19659600" y="1755140"/>
                    <a:pt x="19585939" y="1828800"/>
                    <a:pt x="19495008" y="1828800"/>
                  </a:cubicBezTo>
                  <a:lnTo>
                    <a:pt x="164592" y="1828800"/>
                  </a:lnTo>
                  <a:cubicBezTo>
                    <a:pt x="73660" y="1828800"/>
                    <a:pt x="0" y="1755140"/>
                    <a:pt x="0" y="1664208"/>
                  </a:cubicBezTo>
                  <a:close/>
                </a:path>
              </a:pathLst>
            </a:custGeom>
            <a:solidFill>
              <a:srgbClr val="EEF4F4"/>
            </a:solidFill>
          </p:spPr>
        </p:sp>
      </p:grpSp>
      <p:grpSp>
        <p:nvGrpSpPr>
          <p:cNvPr name="Group 19" id="19"/>
          <p:cNvGrpSpPr/>
          <p:nvPr/>
        </p:nvGrpSpPr>
        <p:grpSpPr>
          <a:xfrm rot="0">
            <a:off x="933450" y="7265665"/>
            <a:ext cx="102870" cy="1371600"/>
            <a:chOff x="0" y="0"/>
            <a:chExt cx="137160" cy="1828800"/>
          </a:xfrm>
        </p:grpSpPr>
        <p:sp>
          <p:nvSpPr>
            <p:cNvPr name="Freeform 20" id="20"/>
            <p:cNvSpPr/>
            <p:nvPr/>
          </p:nvSpPr>
          <p:spPr>
            <a:xfrm flipH="false" flipV="false" rot="0">
              <a:off x="0" y="0"/>
              <a:ext cx="137160" cy="1828800"/>
            </a:xfrm>
            <a:custGeom>
              <a:avLst/>
              <a:gdLst/>
              <a:ahLst/>
              <a:cxnLst/>
              <a:rect r="r" b="b" t="t" l="l"/>
              <a:pathLst>
                <a:path h="1828800" w="137160">
                  <a:moveTo>
                    <a:pt x="0" y="0"/>
                  </a:moveTo>
                  <a:lnTo>
                    <a:pt x="137160" y="0"/>
                  </a:lnTo>
                  <a:lnTo>
                    <a:pt x="137160" y="1828800"/>
                  </a:lnTo>
                  <a:lnTo>
                    <a:pt x="0" y="1828800"/>
                  </a:lnTo>
                  <a:close/>
                </a:path>
              </a:pathLst>
            </a:custGeom>
            <a:solidFill>
              <a:srgbClr val="387F7F"/>
            </a:solidFill>
          </p:spPr>
        </p:sp>
      </p:grpSp>
      <p:grpSp>
        <p:nvGrpSpPr>
          <p:cNvPr name="Group 21" id="21"/>
          <p:cNvGrpSpPr/>
          <p:nvPr/>
        </p:nvGrpSpPr>
        <p:grpSpPr>
          <a:xfrm rot="0">
            <a:off x="1482090" y="7265665"/>
            <a:ext cx="13853160" cy="1371600"/>
            <a:chOff x="0" y="0"/>
            <a:chExt cx="18470880" cy="1828800"/>
          </a:xfrm>
        </p:grpSpPr>
        <p:sp>
          <p:nvSpPr>
            <p:cNvPr name="Freeform 22" id="22"/>
            <p:cNvSpPr/>
            <p:nvPr/>
          </p:nvSpPr>
          <p:spPr>
            <a:xfrm flipH="false" flipV="false" rot="0">
              <a:off x="0" y="0"/>
              <a:ext cx="18470880" cy="1828800"/>
            </a:xfrm>
            <a:custGeom>
              <a:avLst/>
              <a:gdLst/>
              <a:ahLst/>
              <a:cxnLst/>
              <a:rect r="r" b="b" t="t" l="l"/>
              <a:pathLst>
                <a:path h="1828800" w="18470880">
                  <a:moveTo>
                    <a:pt x="0" y="0"/>
                  </a:moveTo>
                  <a:lnTo>
                    <a:pt x="18470880" y="0"/>
                  </a:lnTo>
                  <a:lnTo>
                    <a:pt x="18470880" y="1828800"/>
                  </a:lnTo>
                  <a:lnTo>
                    <a:pt x="0" y="1828800"/>
                  </a:lnTo>
                  <a:close/>
                </a:path>
              </a:pathLst>
            </a:custGeom>
            <a:blipFill>
              <a:blip r:embed="rId9">
                <a:alphaModFix amt="0"/>
              </a:blip>
              <a:stretch>
                <a:fillRect l="0" t="-146798" r="0" b="-146798"/>
              </a:stretch>
            </a:blipFill>
          </p:spPr>
        </p:sp>
        <p:sp>
          <p:nvSpPr>
            <p:cNvPr name="TextBox 23" id="23"/>
            <p:cNvSpPr txBox="true"/>
            <p:nvPr/>
          </p:nvSpPr>
          <p:spPr>
            <a:xfrm>
              <a:off x="0" y="-114300"/>
              <a:ext cx="18470880" cy="1943100"/>
            </a:xfrm>
            <a:prstGeom prst="rect">
              <a:avLst/>
            </a:prstGeom>
          </p:spPr>
          <p:txBody>
            <a:bodyPr anchor="ctr" rtlCol="false" tIns="0" lIns="0" bIns="0" rIns="0"/>
            <a:lstStyle/>
            <a:p>
              <a:pPr algn="l">
                <a:lnSpc>
                  <a:spcPts val="3523"/>
                </a:lnSpc>
              </a:pPr>
              <a:r>
                <a:rPr lang="en-US" sz="2175" b="true">
                  <a:solidFill>
                    <a:srgbClr val="387F7F"/>
                  </a:solidFill>
                  <a:latin typeface="Poppins Bold"/>
                  <a:ea typeface="Poppins Bold"/>
                  <a:cs typeface="Poppins Bold"/>
                  <a:sym typeface="Poppins Bold"/>
                </a:rPr>
                <a:t>This connects directly to positioning your AI fluency to employers, later in the programme.</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3914180"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Topic Recap</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85825" y="2635720"/>
            <a:ext cx="9796182" cy="1069848"/>
            <a:chOff x="0" y="0"/>
            <a:chExt cx="13061576" cy="1426464"/>
          </a:xfrm>
        </p:grpSpPr>
        <p:sp>
          <p:nvSpPr>
            <p:cNvPr name="Freeform 12" id="12"/>
            <p:cNvSpPr/>
            <p:nvPr/>
          </p:nvSpPr>
          <p:spPr>
            <a:xfrm flipH="false" flipV="false" rot="0">
              <a:off x="0" y="0"/>
              <a:ext cx="13061576" cy="1426464"/>
            </a:xfrm>
            <a:custGeom>
              <a:avLst/>
              <a:gdLst/>
              <a:ahLst/>
              <a:cxnLst/>
              <a:rect r="r" b="b" t="t" l="l"/>
              <a:pathLst>
                <a:path h="1426464" w="13061576">
                  <a:moveTo>
                    <a:pt x="0" y="182880"/>
                  </a:moveTo>
                  <a:cubicBezTo>
                    <a:pt x="0" y="81915"/>
                    <a:pt x="54423" y="0"/>
                    <a:pt x="121503" y="0"/>
                  </a:cubicBezTo>
                  <a:lnTo>
                    <a:pt x="12940073" y="0"/>
                  </a:lnTo>
                  <a:cubicBezTo>
                    <a:pt x="13007153" y="0"/>
                    <a:pt x="13061576" y="81915"/>
                    <a:pt x="13061576" y="182880"/>
                  </a:cubicBezTo>
                  <a:lnTo>
                    <a:pt x="13061576" y="1243584"/>
                  </a:lnTo>
                  <a:cubicBezTo>
                    <a:pt x="13061576" y="1344549"/>
                    <a:pt x="13007153" y="1426464"/>
                    <a:pt x="12940073" y="1426464"/>
                  </a:cubicBezTo>
                  <a:lnTo>
                    <a:pt x="121503" y="1426464"/>
                  </a:lnTo>
                  <a:cubicBezTo>
                    <a:pt x="54423" y="1426464"/>
                    <a:pt x="0" y="1344549"/>
                    <a:pt x="0" y="1243584"/>
                  </a:cubicBezTo>
                  <a:close/>
                </a:path>
              </a:pathLst>
            </a:custGeom>
            <a:solidFill>
              <a:srgbClr val="FFFFFF"/>
            </a:solidFill>
          </p:spPr>
        </p:sp>
      </p:grpSp>
      <p:grpSp>
        <p:nvGrpSpPr>
          <p:cNvPr name="Group 13" id="13"/>
          <p:cNvGrpSpPr/>
          <p:nvPr/>
        </p:nvGrpSpPr>
        <p:grpSpPr>
          <a:xfrm rot="0">
            <a:off x="1256157" y="2855176"/>
            <a:ext cx="617220" cy="617220"/>
            <a:chOff x="0" y="0"/>
            <a:chExt cx="822960" cy="822960"/>
          </a:xfrm>
        </p:grpSpPr>
        <p:sp>
          <p:nvSpPr>
            <p:cNvPr name="Freeform 14" id="14"/>
            <p:cNvSpPr/>
            <p:nvPr/>
          </p:nvSpPr>
          <p:spPr>
            <a:xfrm flipH="false" flipV="false" rot="0">
              <a:off x="0" y="0"/>
              <a:ext cx="822960" cy="822960"/>
            </a:xfrm>
            <a:custGeom>
              <a:avLst/>
              <a:gdLst/>
              <a:ahLst/>
              <a:cxnLst/>
              <a:rect r="r" b="b" t="t" l="l"/>
              <a:pathLst>
                <a:path h="822960" w="822960">
                  <a:moveTo>
                    <a:pt x="0" y="411480"/>
                  </a:moveTo>
                  <a:cubicBezTo>
                    <a:pt x="0" y="184277"/>
                    <a:pt x="184277" y="0"/>
                    <a:pt x="411480" y="0"/>
                  </a:cubicBezTo>
                  <a:cubicBezTo>
                    <a:pt x="638683" y="0"/>
                    <a:pt x="822960" y="184277"/>
                    <a:pt x="822960" y="411480"/>
                  </a:cubicBezTo>
                  <a:cubicBezTo>
                    <a:pt x="822960" y="638683"/>
                    <a:pt x="638683" y="822960"/>
                    <a:pt x="411480" y="822960"/>
                  </a:cubicBezTo>
                  <a:cubicBezTo>
                    <a:pt x="184277" y="822960"/>
                    <a:pt x="0" y="638683"/>
                    <a:pt x="0" y="411480"/>
                  </a:cubicBezTo>
                  <a:close/>
                </a:path>
              </a:pathLst>
            </a:custGeom>
            <a:solidFill>
              <a:srgbClr val="387F7F"/>
            </a:solidFill>
          </p:spPr>
        </p:sp>
      </p:grpSp>
      <p:grpSp>
        <p:nvGrpSpPr>
          <p:cNvPr name="Group 15" id="15"/>
          <p:cNvGrpSpPr/>
          <p:nvPr/>
        </p:nvGrpSpPr>
        <p:grpSpPr>
          <a:xfrm rot="0">
            <a:off x="1256157" y="2855176"/>
            <a:ext cx="617220" cy="617220"/>
            <a:chOff x="0" y="0"/>
            <a:chExt cx="822960" cy="822960"/>
          </a:xfrm>
        </p:grpSpPr>
        <p:sp>
          <p:nvSpPr>
            <p:cNvPr name="Freeform 16" id="16"/>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close/>
                </a:path>
              </a:pathLst>
            </a:custGeom>
            <a:blipFill>
              <a:blip r:embed="rId9">
                <a:alphaModFix amt="0"/>
              </a:blip>
              <a:stretch>
                <a:fillRect l="-78303" t="0" r="-78303" b="0"/>
              </a:stretch>
            </a:blipFill>
          </p:spPr>
        </p:sp>
        <p:sp>
          <p:nvSpPr>
            <p:cNvPr name="TextBox 17" id="17"/>
            <p:cNvSpPr txBox="true"/>
            <p:nvPr/>
          </p:nvSpPr>
          <p:spPr>
            <a:xfrm>
              <a:off x="0" y="-28575"/>
              <a:ext cx="822960" cy="851535"/>
            </a:xfrm>
            <a:prstGeom prst="rect">
              <a:avLst/>
            </a:prstGeom>
          </p:spPr>
          <p:txBody>
            <a:bodyPr anchor="ctr" rtlCol="false" tIns="0" lIns="0" bIns="0" rIns="0"/>
            <a:lstStyle/>
            <a:p>
              <a:pPr algn="ctr">
                <a:lnSpc>
                  <a:spcPts val="3060"/>
                </a:lnSpc>
              </a:pPr>
              <a:r>
                <a:rPr lang="en-US" sz="2550" b="true">
                  <a:solidFill>
                    <a:srgbClr val="FFFFFF"/>
                  </a:solidFill>
                  <a:latin typeface="Poppins Bold"/>
                  <a:ea typeface="Poppins Bold"/>
                  <a:cs typeface="Poppins Bold"/>
                  <a:sym typeface="Poppins Bold"/>
                </a:rPr>
                <a:t>✓</a:t>
              </a:r>
            </a:p>
          </p:txBody>
        </p:sp>
      </p:grpSp>
      <p:grpSp>
        <p:nvGrpSpPr>
          <p:cNvPr name="Group 18" id="18"/>
          <p:cNvGrpSpPr/>
          <p:nvPr/>
        </p:nvGrpSpPr>
        <p:grpSpPr>
          <a:xfrm rot="0">
            <a:off x="2271191" y="2663152"/>
            <a:ext cx="8210336" cy="987552"/>
            <a:chOff x="0" y="0"/>
            <a:chExt cx="10947115" cy="1316736"/>
          </a:xfrm>
        </p:grpSpPr>
        <p:sp>
          <p:nvSpPr>
            <p:cNvPr name="Freeform 19" id="19"/>
            <p:cNvSpPr/>
            <p:nvPr/>
          </p:nvSpPr>
          <p:spPr>
            <a:xfrm flipH="false" flipV="false" rot="0">
              <a:off x="0" y="0"/>
              <a:ext cx="10947116" cy="1316736"/>
            </a:xfrm>
            <a:custGeom>
              <a:avLst/>
              <a:gdLst/>
              <a:ahLst/>
              <a:cxnLst/>
              <a:rect r="r" b="b" t="t" l="l"/>
              <a:pathLst>
                <a:path h="1316736" w="10947116">
                  <a:moveTo>
                    <a:pt x="0" y="0"/>
                  </a:moveTo>
                  <a:lnTo>
                    <a:pt x="10947116" y="0"/>
                  </a:lnTo>
                  <a:lnTo>
                    <a:pt x="10947116" y="1316736"/>
                  </a:lnTo>
                  <a:lnTo>
                    <a:pt x="0" y="1316736"/>
                  </a:lnTo>
                  <a:close/>
                </a:path>
              </a:pathLst>
            </a:custGeom>
            <a:blipFill>
              <a:blip r:embed="rId9">
                <a:alphaModFix amt="0"/>
              </a:blip>
              <a:stretch>
                <a:fillRect l="0" t="-209800" r="-60375" b="-209800"/>
              </a:stretch>
            </a:blipFill>
          </p:spPr>
        </p:sp>
        <p:sp>
          <p:nvSpPr>
            <p:cNvPr name="TextBox 20" id="20"/>
            <p:cNvSpPr txBox="true"/>
            <p:nvPr/>
          </p:nvSpPr>
          <p:spPr>
            <a:xfrm>
              <a:off x="0" y="-57150"/>
              <a:ext cx="10947115" cy="1373886"/>
            </a:xfrm>
            <a:prstGeom prst="rect">
              <a:avLst/>
            </a:prstGeom>
          </p:spPr>
          <p:txBody>
            <a:bodyPr anchor="ctr" rtlCol="false" tIns="0" lIns="0" bIns="0" rIns="0"/>
            <a:lstStyle/>
            <a:p>
              <a:pPr algn="l">
                <a:lnSpc>
                  <a:spcPts val="2761"/>
                </a:lnSpc>
              </a:pPr>
              <a:r>
                <a:rPr lang="en-US" sz="1950">
                  <a:solidFill>
                    <a:srgbClr val="475569"/>
                  </a:solidFill>
                  <a:latin typeface="Poppins"/>
                  <a:ea typeface="Poppins"/>
                  <a:cs typeface="Poppins"/>
                  <a:sym typeface="Poppins"/>
                </a:rPr>
                <a:t>Use an AI assistant to draft DAX, with a prompt that supplies schema, grain, column values and business rules.</a:t>
              </a:r>
            </a:p>
          </p:txBody>
        </p:sp>
      </p:grpSp>
      <p:grpSp>
        <p:nvGrpSpPr>
          <p:cNvPr name="Group 21" id="21"/>
          <p:cNvGrpSpPr/>
          <p:nvPr/>
        </p:nvGrpSpPr>
        <p:grpSpPr>
          <a:xfrm rot="0">
            <a:off x="885825" y="3897592"/>
            <a:ext cx="9796182" cy="1069848"/>
            <a:chOff x="0" y="0"/>
            <a:chExt cx="13061576" cy="1426464"/>
          </a:xfrm>
        </p:grpSpPr>
        <p:sp>
          <p:nvSpPr>
            <p:cNvPr name="Freeform 22" id="22"/>
            <p:cNvSpPr/>
            <p:nvPr/>
          </p:nvSpPr>
          <p:spPr>
            <a:xfrm flipH="false" flipV="false" rot="0">
              <a:off x="0" y="0"/>
              <a:ext cx="13061576" cy="1426464"/>
            </a:xfrm>
            <a:custGeom>
              <a:avLst/>
              <a:gdLst/>
              <a:ahLst/>
              <a:cxnLst/>
              <a:rect r="r" b="b" t="t" l="l"/>
              <a:pathLst>
                <a:path h="1426464" w="13061576">
                  <a:moveTo>
                    <a:pt x="0" y="182880"/>
                  </a:moveTo>
                  <a:cubicBezTo>
                    <a:pt x="0" y="81915"/>
                    <a:pt x="54423" y="0"/>
                    <a:pt x="121503" y="0"/>
                  </a:cubicBezTo>
                  <a:lnTo>
                    <a:pt x="12940073" y="0"/>
                  </a:lnTo>
                  <a:cubicBezTo>
                    <a:pt x="13007153" y="0"/>
                    <a:pt x="13061576" y="81915"/>
                    <a:pt x="13061576" y="182880"/>
                  </a:cubicBezTo>
                  <a:lnTo>
                    <a:pt x="13061576" y="1243584"/>
                  </a:lnTo>
                  <a:cubicBezTo>
                    <a:pt x="13061576" y="1344549"/>
                    <a:pt x="13007153" y="1426464"/>
                    <a:pt x="12940073" y="1426464"/>
                  </a:cubicBezTo>
                  <a:lnTo>
                    <a:pt x="121503" y="1426464"/>
                  </a:lnTo>
                  <a:cubicBezTo>
                    <a:pt x="54423" y="1426464"/>
                    <a:pt x="0" y="1344549"/>
                    <a:pt x="0" y="1243584"/>
                  </a:cubicBezTo>
                  <a:close/>
                </a:path>
              </a:pathLst>
            </a:custGeom>
            <a:solidFill>
              <a:srgbClr val="FFFFFF"/>
            </a:solidFill>
          </p:spPr>
        </p:sp>
      </p:grpSp>
      <p:grpSp>
        <p:nvGrpSpPr>
          <p:cNvPr name="Group 23" id="23"/>
          <p:cNvGrpSpPr/>
          <p:nvPr/>
        </p:nvGrpSpPr>
        <p:grpSpPr>
          <a:xfrm rot="0">
            <a:off x="1256157" y="4117048"/>
            <a:ext cx="617220" cy="617220"/>
            <a:chOff x="0" y="0"/>
            <a:chExt cx="822960" cy="822960"/>
          </a:xfrm>
        </p:grpSpPr>
        <p:sp>
          <p:nvSpPr>
            <p:cNvPr name="Freeform 24" id="24"/>
            <p:cNvSpPr/>
            <p:nvPr/>
          </p:nvSpPr>
          <p:spPr>
            <a:xfrm flipH="false" flipV="false" rot="0">
              <a:off x="0" y="0"/>
              <a:ext cx="822960" cy="822960"/>
            </a:xfrm>
            <a:custGeom>
              <a:avLst/>
              <a:gdLst/>
              <a:ahLst/>
              <a:cxnLst/>
              <a:rect r="r" b="b" t="t" l="l"/>
              <a:pathLst>
                <a:path h="822960" w="822960">
                  <a:moveTo>
                    <a:pt x="0" y="411480"/>
                  </a:moveTo>
                  <a:cubicBezTo>
                    <a:pt x="0" y="184277"/>
                    <a:pt x="184277" y="0"/>
                    <a:pt x="411480" y="0"/>
                  </a:cubicBezTo>
                  <a:cubicBezTo>
                    <a:pt x="638683" y="0"/>
                    <a:pt x="822960" y="184277"/>
                    <a:pt x="822960" y="411480"/>
                  </a:cubicBezTo>
                  <a:cubicBezTo>
                    <a:pt x="822960" y="638683"/>
                    <a:pt x="638683" y="822960"/>
                    <a:pt x="411480" y="822960"/>
                  </a:cubicBezTo>
                  <a:cubicBezTo>
                    <a:pt x="184277" y="822960"/>
                    <a:pt x="0" y="638683"/>
                    <a:pt x="0" y="411480"/>
                  </a:cubicBezTo>
                  <a:close/>
                </a:path>
              </a:pathLst>
            </a:custGeom>
            <a:solidFill>
              <a:srgbClr val="387F7F"/>
            </a:solidFill>
          </p:spPr>
        </p:sp>
      </p:grpSp>
      <p:grpSp>
        <p:nvGrpSpPr>
          <p:cNvPr name="Group 25" id="25"/>
          <p:cNvGrpSpPr/>
          <p:nvPr/>
        </p:nvGrpSpPr>
        <p:grpSpPr>
          <a:xfrm rot="0">
            <a:off x="1256157" y="4117048"/>
            <a:ext cx="617220" cy="617220"/>
            <a:chOff x="0" y="0"/>
            <a:chExt cx="822960" cy="822960"/>
          </a:xfrm>
        </p:grpSpPr>
        <p:sp>
          <p:nvSpPr>
            <p:cNvPr name="Freeform 26" id="26"/>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close/>
                </a:path>
              </a:pathLst>
            </a:custGeom>
            <a:blipFill>
              <a:blip r:embed="rId9">
                <a:alphaModFix amt="0"/>
              </a:blip>
              <a:stretch>
                <a:fillRect l="-78303" t="0" r="-78303" b="0"/>
              </a:stretch>
            </a:blipFill>
          </p:spPr>
        </p:sp>
        <p:sp>
          <p:nvSpPr>
            <p:cNvPr name="TextBox 27" id="27"/>
            <p:cNvSpPr txBox="true"/>
            <p:nvPr/>
          </p:nvSpPr>
          <p:spPr>
            <a:xfrm>
              <a:off x="0" y="-28575"/>
              <a:ext cx="822960" cy="851535"/>
            </a:xfrm>
            <a:prstGeom prst="rect">
              <a:avLst/>
            </a:prstGeom>
          </p:spPr>
          <p:txBody>
            <a:bodyPr anchor="ctr" rtlCol="false" tIns="0" lIns="0" bIns="0" rIns="0"/>
            <a:lstStyle/>
            <a:p>
              <a:pPr algn="ctr">
                <a:lnSpc>
                  <a:spcPts val="3060"/>
                </a:lnSpc>
              </a:pPr>
              <a:r>
                <a:rPr lang="en-US" sz="2550" b="true">
                  <a:solidFill>
                    <a:srgbClr val="FFFFFF"/>
                  </a:solidFill>
                  <a:latin typeface="Poppins Bold"/>
                  <a:ea typeface="Poppins Bold"/>
                  <a:cs typeface="Poppins Bold"/>
                  <a:sym typeface="Poppins Bold"/>
                </a:rPr>
                <a:t>✓</a:t>
              </a:r>
            </a:p>
          </p:txBody>
        </p:sp>
      </p:grpSp>
      <p:grpSp>
        <p:nvGrpSpPr>
          <p:cNvPr name="Group 28" id="28"/>
          <p:cNvGrpSpPr/>
          <p:nvPr/>
        </p:nvGrpSpPr>
        <p:grpSpPr>
          <a:xfrm rot="0">
            <a:off x="2271191" y="3925024"/>
            <a:ext cx="8210336" cy="987552"/>
            <a:chOff x="0" y="0"/>
            <a:chExt cx="10947115" cy="1316736"/>
          </a:xfrm>
        </p:grpSpPr>
        <p:sp>
          <p:nvSpPr>
            <p:cNvPr name="Freeform 29" id="29"/>
            <p:cNvSpPr/>
            <p:nvPr/>
          </p:nvSpPr>
          <p:spPr>
            <a:xfrm flipH="false" flipV="false" rot="0">
              <a:off x="0" y="0"/>
              <a:ext cx="10947116" cy="1316736"/>
            </a:xfrm>
            <a:custGeom>
              <a:avLst/>
              <a:gdLst/>
              <a:ahLst/>
              <a:cxnLst/>
              <a:rect r="r" b="b" t="t" l="l"/>
              <a:pathLst>
                <a:path h="1316736" w="10947116">
                  <a:moveTo>
                    <a:pt x="0" y="0"/>
                  </a:moveTo>
                  <a:lnTo>
                    <a:pt x="10947116" y="0"/>
                  </a:lnTo>
                  <a:lnTo>
                    <a:pt x="10947116" y="1316736"/>
                  </a:lnTo>
                  <a:lnTo>
                    <a:pt x="0" y="1316736"/>
                  </a:lnTo>
                  <a:close/>
                </a:path>
              </a:pathLst>
            </a:custGeom>
            <a:blipFill>
              <a:blip r:embed="rId9">
                <a:alphaModFix amt="0"/>
              </a:blip>
              <a:stretch>
                <a:fillRect l="0" t="-209800" r="-60375" b="-209800"/>
              </a:stretch>
            </a:blipFill>
          </p:spPr>
        </p:sp>
        <p:sp>
          <p:nvSpPr>
            <p:cNvPr name="TextBox 30" id="30"/>
            <p:cNvSpPr txBox="true"/>
            <p:nvPr/>
          </p:nvSpPr>
          <p:spPr>
            <a:xfrm>
              <a:off x="0" y="-57150"/>
              <a:ext cx="10947115" cy="1373886"/>
            </a:xfrm>
            <a:prstGeom prst="rect">
              <a:avLst/>
            </a:prstGeom>
          </p:spPr>
          <p:txBody>
            <a:bodyPr anchor="ctr" rtlCol="false" tIns="0" lIns="0" bIns="0" rIns="0"/>
            <a:lstStyle/>
            <a:p>
              <a:pPr algn="l">
                <a:lnSpc>
                  <a:spcPts val="2761"/>
                </a:lnSpc>
              </a:pPr>
              <a:r>
                <a:rPr lang="en-US" sz="1950">
                  <a:solidFill>
                    <a:srgbClr val="475569"/>
                  </a:solidFill>
                  <a:latin typeface="Poppins"/>
                  <a:ea typeface="Poppins"/>
                  <a:cs typeface="Poppins"/>
                  <a:sym typeface="Poppins"/>
                </a:rPr>
                <a:t>Interrogate output using the four moves: assumptions, alternatives, failure modes, real results brought back.</a:t>
              </a:r>
            </a:p>
          </p:txBody>
        </p:sp>
      </p:grpSp>
      <p:grpSp>
        <p:nvGrpSpPr>
          <p:cNvPr name="Group 31" id="31"/>
          <p:cNvGrpSpPr/>
          <p:nvPr/>
        </p:nvGrpSpPr>
        <p:grpSpPr>
          <a:xfrm rot="0">
            <a:off x="885825" y="5159464"/>
            <a:ext cx="9796182" cy="1069848"/>
            <a:chOff x="0" y="0"/>
            <a:chExt cx="13061576" cy="1426464"/>
          </a:xfrm>
        </p:grpSpPr>
        <p:sp>
          <p:nvSpPr>
            <p:cNvPr name="Freeform 32" id="32"/>
            <p:cNvSpPr/>
            <p:nvPr/>
          </p:nvSpPr>
          <p:spPr>
            <a:xfrm flipH="false" flipV="false" rot="0">
              <a:off x="0" y="0"/>
              <a:ext cx="13061576" cy="1426464"/>
            </a:xfrm>
            <a:custGeom>
              <a:avLst/>
              <a:gdLst/>
              <a:ahLst/>
              <a:cxnLst/>
              <a:rect r="r" b="b" t="t" l="l"/>
              <a:pathLst>
                <a:path h="1426464" w="13061576">
                  <a:moveTo>
                    <a:pt x="0" y="182880"/>
                  </a:moveTo>
                  <a:cubicBezTo>
                    <a:pt x="0" y="81915"/>
                    <a:pt x="54423" y="0"/>
                    <a:pt x="121503" y="0"/>
                  </a:cubicBezTo>
                  <a:lnTo>
                    <a:pt x="12940073" y="0"/>
                  </a:lnTo>
                  <a:cubicBezTo>
                    <a:pt x="13007153" y="0"/>
                    <a:pt x="13061576" y="81915"/>
                    <a:pt x="13061576" y="182880"/>
                  </a:cubicBezTo>
                  <a:lnTo>
                    <a:pt x="13061576" y="1243584"/>
                  </a:lnTo>
                  <a:cubicBezTo>
                    <a:pt x="13061576" y="1344549"/>
                    <a:pt x="13007153" y="1426464"/>
                    <a:pt x="12940073" y="1426464"/>
                  </a:cubicBezTo>
                  <a:lnTo>
                    <a:pt x="121503" y="1426464"/>
                  </a:lnTo>
                  <a:cubicBezTo>
                    <a:pt x="54423" y="1426464"/>
                    <a:pt x="0" y="1344549"/>
                    <a:pt x="0" y="1243584"/>
                  </a:cubicBezTo>
                  <a:close/>
                </a:path>
              </a:pathLst>
            </a:custGeom>
            <a:solidFill>
              <a:srgbClr val="FFFFFF"/>
            </a:solidFill>
          </p:spPr>
        </p:sp>
      </p:grpSp>
      <p:grpSp>
        <p:nvGrpSpPr>
          <p:cNvPr name="Group 33" id="33"/>
          <p:cNvGrpSpPr/>
          <p:nvPr/>
        </p:nvGrpSpPr>
        <p:grpSpPr>
          <a:xfrm rot="0">
            <a:off x="1256157" y="5378920"/>
            <a:ext cx="617220" cy="617220"/>
            <a:chOff x="0" y="0"/>
            <a:chExt cx="822960" cy="822960"/>
          </a:xfrm>
        </p:grpSpPr>
        <p:sp>
          <p:nvSpPr>
            <p:cNvPr name="Freeform 34" id="34"/>
            <p:cNvSpPr/>
            <p:nvPr/>
          </p:nvSpPr>
          <p:spPr>
            <a:xfrm flipH="false" flipV="false" rot="0">
              <a:off x="0" y="0"/>
              <a:ext cx="822960" cy="822960"/>
            </a:xfrm>
            <a:custGeom>
              <a:avLst/>
              <a:gdLst/>
              <a:ahLst/>
              <a:cxnLst/>
              <a:rect r="r" b="b" t="t" l="l"/>
              <a:pathLst>
                <a:path h="822960" w="822960">
                  <a:moveTo>
                    <a:pt x="0" y="411480"/>
                  </a:moveTo>
                  <a:cubicBezTo>
                    <a:pt x="0" y="184277"/>
                    <a:pt x="184277" y="0"/>
                    <a:pt x="411480" y="0"/>
                  </a:cubicBezTo>
                  <a:cubicBezTo>
                    <a:pt x="638683" y="0"/>
                    <a:pt x="822960" y="184277"/>
                    <a:pt x="822960" y="411480"/>
                  </a:cubicBezTo>
                  <a:cubicBezTo>
                    <a:pt x="822960" y="638683"/>
                    <a:pt x="638683" y="822960"/>
                    <a:pt x="411480" y="822960"/>
                  </a:cubicBezTo>
                  <a:cubicBezTo>
                    <a:pt x="184277" y="822960"/>
                    <a:pt x="0" y="638683"/>
                    <a:pt x="0" y="411480"/>
                  </a:cubicBezTo>
                  <a:close/>
                </a:path>
              </a:pathLst>
            </a:custGeom>
            <a:solidFill>
              <a:srgbClr val="387F7F"/>
            </a:solidFill>
          </p:spPr>
        </p:sp>
      </p:grpSp>
      <p:grpSp>
        <p:nvGrpSpPr>
          <p:cNvPr name="Group 35" id="35"/>
          <p:cNvGrpSpPr/>
          <p:nvPr/>
        </p:nvGrpSpPr>
        <p:grpSpPr>
          <a:xfrm rot="0">
            <a:off x="1256157" y="5378920"/>
            <a:ext cx="617220" cy="617220"/>
            <a:chOff x="0" y="0"/>
            <a:chExt cx="822960" cy="822960"/>
          </a:xfrm>
        </p:grpSpPr>
        <p:sp>
          <p:nvSpPr>
            <p:cNvPr name="Freeform 36" id="36"/>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close/>
                </a:path>
              </a:pathLst>
            </a:custGeom>
            <a:blipFill>
              <a:blip r:embed="rId9">
                <a:alphaModFix amt="0"/>
              </a:blip>
              <a:stretch>
                <a:fillRect l="-78303" t="0" r="-78303" b="0"/>
              </a:stretch>
            </a:blipFill>
          </p:spPr>
        </p:sp>
        <p:sp>
          <p:nvSpPr>
            <p:cNvPr name="TextBox 37" id="37"/>
            <p:cNvSpPr txBox="true"/>
            <p:nvPr/>
          </p:nvSpPr>
          <p:spPr>
            <a:xfrm>
              <a:off x="0" y="-28575"/>
              <a:ext cx="822960" cy="851535"/>
            </a:xfrm>
            <a:prstGeom prst="rect">
              <a:avLst/>
            </a:prstGeom>
          </p:spPr>
          <p:txBody>
            <a:bodyPr anchor="ctr" rtlCol="false" tIns="0" lIns="0" bIns="0" rIns="0"/>
            <a:lstStyle/>
            <a:p>
              <a:pPr algn="ctr">
                <a:lnSpc>
                  <a:spcPts val="3060"/>
                </a:lnSpc>
              </a:pPr>
              <a:r>
                <a:rPr lang="en-US" sz="2550" b="true">
                  <a:solidFill>
                    <a:srgbClr val="FFFFFF"/>
                  </a:solidFill>
                  <a:latin typeface="Poppins Bold"/>
                  <a:ea typeface="Poppins Bold"/>
                  <a:cs typeface="Poppins Bold"/>
                  <a:sym typeface="Poppins Bold"/>
                </a:rPr>
                <a:t>✓</a:t>
              </a:r>
            </a:p>
          </p:txBody>
        </p:sp>
      </p:grpSp>
      <p:grpSp>
        <p:nvGrpSpPr>
          <p:cNvPr name="Group 38" id="38"/>
          <p:cNvGrpSpPr/>
          <p:nvPr/>
        </p:nvGrpSpPr>
        <p:grpSpPr>
          <a:xfrm rot="0">
            <a:off x="2271191" y="5186896"/>
            <a:ext cx="8210336" cy="987552"/>
            <a:chOff x="0" y="0"/>
            <a:chExt cx="10947115" cy="1316736"/>
          </a:xfrm>
        </p:grpSpPr>
        <p:sp>
          <p:nvSpPr>
            <p:cNvPr name="Freeform 39" id="39"/>
            <p:cNvSpPr/>
            <p:nvPr/>
          </p:nvSpPr>
          <p:spPr>
            <a:xfrm flipH="false" flipV="false" rot="0">
              <a:off x="0" y="0"/>
              <a:ext cx="10947116" cy="1316736"/>
            </a:xfrm>
            <a:custGeom>
              <a:avLst/>
              <a:gdLst/>
              <a:ahLst/>
              <a:cxnLst/>
              <a:rect r="r" b="b" t="t" l="l"/>
              <a:pathLst>
                <a:path h="1316736" w="10947116">
                  <a:moveTo>
                    <a:pt x="0" y="0"/>
                  </a:moveTo>
                  <a:lnTo>
                    <a:pt x="10947116" y="0"/>
                  </a:lnTo>
                  <a:lnTo>
                    <a:pt x="10947116" y="1316736"/>
                  </a:lnTo>
                  <a:lnTo>
                    <a:pt x="0" y="1316736"/>
                  </a:lnTo>
                  <a:close/>
                </a:path>
              </a:pathLst>
            </a:custGeom>
            <a:blipFill>
              <a:blip r:embed="rId9">
                <a:alphaModFix amt="0"/>
              </a:blip>
              <a:stretch>
                <a:fillRect l="0" t="-209800" r="-60375" b="-209800"/>
              </a:stretch>
            </a:blipFill>
          </p:spPr>
        </p:sp>
        <p:sp>
          <p:nvSpPr>
            <p:cNvPr name="TextBox 40" id="40"/>
            <p:cNvSpPr txBox="true"/>
            <p:nvPr/>
          </p:nvSpPr>
          <p:spPr>
            <a:xfrm>
              <a:off x="0" y="-57150"/>
              <a:ext cx="10947115" cy="1373886"/>
            </a:xfrm>
            <a:prstGeom prst="rect">
              <a:avLst/>
            </a:prstGeom>
          </p:spPr>
          <p:txBody>
            <a:bodyPr anchor="ctr" rtlCol="false" tIns="0" lIns="0" bIns="0" rIns="0"/>
            <a:lstStyle/>
            <a:p>
              <a:pPr algn="l">
                <a:lnSpc>
                  <a:spcPts val="2761"/>
                </a:lnSpc>
              </a:pPr>
              <a:r>
                <a:rPr lang="en-US" sz="1950">
                  <a:solidFill>
                    <a:srgbClr val="475569"/>
                  </a:solidFill>
                  <a:latin typeface="Poppins"/>
                  <a:ea typeface="Poppins"/>
                  <a:cs typeface="Poppins"/>
                  <a:sym typeface="Poppins"/>
                </a:rPr>
                <a:t>Verify an AI-written measure against source data, at more than one filter state, and prove your verdict.</a:t>
              </a:r>
            </a:p>
          </p:txBody>
        </p:sp>
      </p:grpSp>
      <p:grpSp>
        <p:nvGrpSpPr>
          <p:cNvPr name="Group 41" id="41"/>
          <p:cNvGrpSpPr/>
          <p:nvPr/>
        </p:nvGrpSpPr>
        <p:grpSpPr>
          <a:xfrm rot="0">
            <a:off x="885825" y="6421336"/>
            <a:ext cx="9796182" cy="1069848"/>
            <a:chOff x="0" y="0"/>
            <a:chExt cx="13061576" cy="1426464"/>
          </a:xfrm>
        </p:grpSpPr>
        <p:sp>
          <p:nvSpPr>
            <p:cNvPr name="Freeform 42" id="42"/>
            <p:cNvSpPr/>
            <p:nvPr/>
          </p:nvSpPr>
          <p:spPr>
            <a:xfrm flipH="false" flipV="false" rot="0">
              <a:off x="0" y="0"/>
              <a:ext cx="13061576" cy="1426464"/>
            </a:xfrm>
            <a:custGeom>
              <a:avLst/>
              <a:gdLst/>
              <a:ahLst/>
              <a:cxnLst/>
              <a:rect r="r" b="b" t="t" l="l"/>
              <a:pathLst>
                <a:path h="1426464" w="13061576">
                  <a:moveTo>
                    <a:pt x="0" y="182880"/>
                  </a:moveTo>
                  <a:cubicBezTo>
                    <a:pt x="0" y="81915"/>
                    <a:pt x="54423" y="0"/>
                    <a:pt x="121503" y="0"/>
                  </a:cubicBezTo>
                  <a:lnTo>
                    <a:pt x="12940073" y="0"/>
                  </a:lnTo>
                  <a:cubicBezTo>
                    <a:pt x="13007153" y="0"/>
                    <a:pt x="13061576" y="81915"/>
                    <a:pt x="13061576" y="182880"/>
                  </a:cubicBezTo>
                  <a:lnTo>
                    <a:pt x="13061576" y="1243584"/>
                  </a:lnTo>
                  <a:cubicBezTo>
                    <a:pt x="13061576" y="1344549"/>
                    <a:pt x="13007153" y="1426464"/>
                    <a:pt x="12940073" y="1426464"/>
                  </a:cubicBezTo>
                  <a:lnTo>
                    <a:pt x="121503" y="1426464"/>
                  </a:lnTo>
                  <a:cubicBezTo>
                    <a:pt x="54423" y="1426464"/>
                    <a:pt x="0" y="1344549"/>
                    <a:pt x="0" y="1243584"/>
                  </a:cubicBezTo>
                  <a:close/>
                </a:path>
              </a:pathLst>
            </a:custGeom>
            <a:solidFill>
              <a:srgbClr val="FFFFFF"/>
            </a:solidFill>
          </p:spPr>
        </p:sp>
      </p:grpSp>
      <p:grpSp>
        <p:nvGrpSpPr>
          <p:cNvPr name="Group 43" id="43"/>
          <p:cNvGrpSpPr/>
          <p:nvPr/>
        </p:nvGrpSpPr>
        <p:grpSpPr>
          <a:xfrm rot="0">
            <a:off x="1256157" y="6640792"/>
            <a:ext cx="617220" cy="617220"/>
            <a:chOff x="0" y="0"/>
            <a:chExt cx="822960" cy="822960"/>
          </a:xfrm>
        </p:grpSpPr>
        <p:sp>
          <p:nvSpPr>
            <p:cNvPr name="Freeform 44" id="44"/>
            <p:cNvSpPr/>
            <p:nvPr/>
          </p:nvSpPr>
          <p:spPr>
            <a:xfrm flipH="false" flipV="false" rot="0">
              <a:off x="0" y="0"/>
              <a:ext cx="822960" cy="822960"/>
            </a:xfrm>
            <a:custGeom>
              <a:avLst/>
              <a:gdLst/>
              <a:ahLst/>
              <a:cxnLst/>
              <a:rect r="r" b="b" t="t" l="l"/>
              <a:pathLst>
                <a:path h="822960" w="822960">
                  <a:moveTo>
                    <a:pt x="0" y="411480"/>
                  </a:moveTo>
                  <a:cubicBezTo>
                    <a:pt x="0" y="184277"/>
                    <a:pt x="184277" y="0"/>
                    <a:pt x="411480" y="0"/>
                  </a:cubicBezTo>
                  <a:cubicBezTo>
                    <a:pt x="638683" y="0"/>
                    <a:pt x="822960" y="184277"/>
                    <a:pt x="822960" y="411480"/>
                  </a:cubicBezTo>
                  <a:cubicBezTo>
                    <a:pt x="822960" y="638683"/>
                    <a:pt x="638683" y="822960"/>
                    <a:pt x="411480" y="822960"/>
                  </a:cubicBezTo>
                  <a:cubicBezTo>
                    <a:pt x="184277" y="822960"/>
                    <a:pt x="0" y="638683"/>
                    <a:pt x="0" y="411480"/>
                  </a:cubicBezTo>
                  <a:close/>
                </a:path>
              </a:pathLst>
            </a:custGeom>
            <a:solidFill>
              <a:srgbClr val="387F7F"/>
            </a:solidFill>
          </p:spPr>
        </p:sp>
      </p:grpSp>
      <p:grpSp>
        <p:nvGrpSpPr>
          <p:cNvPr name="Group 45" id="45"/>
          <p:cNvGrpSpPr/>
          <p:nvPr/>
        </p:nvGrpSpPr>
        <p:grpSpPr>
          <a:xfrm rot="0">
            <a:off x="1256157" y="6640792"/>
            <a:ext cx="617220" cy="617220"/>
            <a:chOff x="0" y="0"/>
            <a:chExt cx="822960" cy="822960"/>
          </a:xfrm>
        </p:grpSpPr>
        <p:sp>
          <p:nvSpPr>
            <p:cNvPr name="Freeform 46" id="46"/>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close/>
                </a:path>
              </a:pathLst>
            </a:custGeom>
            <a:blipFill>
              <a:blip r:embed="rId9">
                <a:alphaModFix amt="0"/>
              </a:blip>
              <a:stretch>
                <a:fillRect l="-78303" t="0" r="-78303" b="0"/>
              </a:stretch>
            </a:blipFill>
          </p:spPr>
        </p:sp>
        <p:sp>
          <p:nvSpPr>
            <p:cNvPr name="TextBox 47" id="47"/>
            <p:cNvSpPr txBox="true"/>
            <p:nvPr/>
          </p:nvSpPr>
          <p:spPr>
            <a:xfrm>
              <a:off x="0" y="-28575"/>
              <a:ext cx="822960" cy="851535"/>
            </a:xfrm>
            <a:prstGeom prst="rect">
              <a:avLst/>
            </a:prstGeom>
          </p:spPr>
          <p:txBody>
            <a:bodyPr anchor="ctr" rtlCol="false" tIns="0" lIns="0" bIns="0" rIns="0"/>
            <a:lstStyle/>
            <a:p>
              <a:pPr algn="ctr">
                <a:lnSpc>
                  <a:spcPts val="3060"/>
                </a:lnSpc>
              </a:pPr>
              <a:r>
                <a:rPr lang="en-US" sz="2550" b="true">
                  <a:solidFill>
                    <a:srgbClr val="FFFFFF"/>
                  </a:solidFill>
                  <a:latin typeface="Poppins Bold"/>
                  <a:ea typeface="Poppins Bold"/>
                  <a:cs typeface="Poppins Bold"/>
                  <a:sym typeface="Poppins Bold"/>
                </a:rPr>
                <a:t>✓</a:t>
              </a:r>
            </a:p>
          </p:txBody>
        </p:sp>
      </p:grpSp>
      <p:grpSp>
        <p:nvGrpSpPr>
          <p:cNvPr name="Group 48" id="48"/>
          <p:cNvGrpSpPr/>
          <p:nvPr/>
        </p:nvGrpSpPr>
        <p:grpSpPr>
          <a:xfrm rot="0">
            <a:off x="2271191" y="6448768"/>
            <a:ext cx="8210336" cy="987552"/>
            <a:chOff x="0" y="0"/>
            <a:chExt cx="10947115" cy="1316736"/>
          </a:xfrm>
        </p:grpSpPr>
        <p:sp>
          <p:nvSpPr>
            <p:cNvPr name="Freeform 49" id="49"/>
            <p:cNvSpPr/>
            <p:nvPr/>
          </p:nvSpPr>
          <p:spPr>
            <a:xfrm flipH="false" flipV="false" rot="0">
              <a:off x="0" y="0"/>
              <a:ext cx="10947116" cy="1316736"/>
            </a:xfrm>
            <a:custGeom>
              <a:avLst/>
              <a:gdLst/>
              <a:ahLst/>
              <a:cxnLst/>
              <a:rect r="r" b="b" t="t" l="l"/>
              <a:pathLst>
                <a:path h="1316736" w="10947116">
                  <a:moveTo>
                    <a:pt x="0" y="0"/>
                  </a:moveTo>
                  <a:lnTo>
                    <a:pt x="10947116" y="0"/>
                  </a:lnTo>
                  <a:lnTo>
                    <a:pt x="10947116" y="1316736"/>
                  </a:lnTo>
                  <a:lnTo>
                    <a:pt x="0" y="1316736"/>
                  </a:lnTo>
                  <a:close/>
                </a:path>
              </a:pathLst>
            </a:custGeom>
            <a:blipFill>
              <a:blip r:embed="rId9">
                <a:alphaModFix amt="0"/>
              </a:blip>
              <a:stretch>
                <a:fillRect l="0" t="-209800" r="-60375" b="-209800"/>
              </a:stretch>
            </a:blipFill>
          </p:spPr>
        </p:sp>
        <p:sp>
          <p:nvSpPr>
            <p:cNvPr name="TextBox 50" id="50"/>
            <p:cNvSpPr txBox="true"/>
            <p:nvPr/>
          </p:nvSpPr>
          <p:spPr>
            <a:xfrm>
              <a:off x="0" y="-57150"/>
              <a:ext cx="10947115" cy="1373886"/>
            </a:xfrm>
            <a:prstGeom prst="rect">
              <a:avLst/>
            </a:prstGeom>
          </p:spPr>
          <p:txBody>
            <a:bodyPr anchor="ctr" rtlCol="false" tIns="0" lIns="0" bIns="0" rIns="0"/>
            <a:lstStyle/>
            <a:p>
              <a:pPr algn="l">
                <a:lnSpc>
                  <a:spcPts val="2761"/>
                </a:lnSpc>
              </a:pPr>
              <a:r>
                <a:rPr lang="en-US" sz="1950">
                  <a:solidFill>
                    <a:srgbClr val="475569"/>
                  </a:solidFill>
                  <a:latin typeface="Poppins"/>
                  <a:ea typeface="Poppins"/>
                  <a:cs typeface="Poppins"/>
                  <a:sym typeface="Poppins"/>
                </a:rPr>
                <a:t>Describe what Copilot adds and what it does not change, whether or not you have used it.</a:t>
              </a:r>
            </a:p>
          </p:txBody>
        </p:sp>
      </p:grpSp>
      <p:grpSp>
        <p:nvGrpSpPr>
          <p:cNvPr name="Group 51" id="51"/>
          <p:cNvGrpSpPr/>
          <p:nvPr/>
        </p:nvGrpSpPr>
        <p:grpSpPr>
          <a:xfrm rot="0">
            <a:off x="885825" y="7847800"/>
            <a:ext cx="14744700" cy="1371600"/>
            <a:chOff x="0" y="0"/>
            <a:chExt cx="19659600" cy="1828800"/>
          </a:xfrm>
        </p:grpSpPr>
        <p:sp>
          <p:nvSpPr>
            <p:cNvPr name="Freeform 52" id="52"/>
            <p:cNvSpPr/>
            <p:nvPr/>
          </p:nvSpPr>
          <p:spPr>
            <a:xfrm flipH="false" flipV="false" rot="0">
              <a:off x="0" y="0"/>
              <a:ext cx="19659600" cy="1828800"/>
            </a:xfrm>
            <a:custGeom>
              <a:avLst/>
              <a:gdLst/>
              <a:ahLst/>
              <a:cxnLst/>
              <a:rect r="r" b="b" t="t" l="l"/>
              <a:pathLst>
                <a:path h="1828800" w="19659600">
                  <a:moveTo>
                    <a:pt x="0" y="164592"/>
                  </a:moveTo>
                  <a:cubicBezTo>
                    <a:pt x="0" y="73660"/>
                    <a:pt x="73660" y="0"/>
                    <a:pt x="164592" y="0"/>
                  </a:cubicBezTo>
                  <a:lnTo>
                    <a:pt x="19495008" y="0"/>
                  </a:lnTo>
                  <a:cubicBezTo>
                    <a:pt x="19585939" y="0"/>
                    <a:pt x="19659600" y="73660"/>
                    <a:pt x="19659600" y="164592"/>
                  </a:cubicBezTo>
                  <a:lnTo>
                    <a:pt x="19659600" y="1664208"/>
                  </a:lnTo>
                  <a:cubicBezTo>
                    <a:pt x="19659600" y="1755140"/>
                    <a:pt x="19585939" y="1828800"/>
                    <a:pt x="19495008" y="1828800"/>
                  </a:cubicBezTo>
                  <a:lnTo>
                    <a:pt x="164592" y="1828800"/>
                  </a:lnTo>
                  <a:cubicBezTo>
                    <a:pt x="73660" y="1828800"/>
                    <a:pt x="0" y="1755140"/>
                    <a:pt x="0" y="1664208"/>
                  </a:cubicBezTo>
                  <a:close/>
                </a:path>
              </a:pathLst>
            </a:custGeom>
            <a:solidFill>
              <a:srgbClr val="EEF4F4"/>
            </a:solidFill>
          </p:spPr>
        </p:sp>
      </p:grpSp>
      <p:grpSp>
        <p:nvGrpSpPr>
          <p:cNvPr name="Group 53" id="53"/>
          <p:cNvGrpSpPr/>
          <p:nvPr/>
        </p:nvGrpSpPr>
        <p:grpSpPr>
          <a:xfrm rot="0">
            <a:off x="885825" y="7847800"/>
            <a:ext cx="102870" cy="1371600"/>
            <a:chOff x="0" y="0"/>
            <a:chExt cx="137160" cy="1828800"/>
          </a:xfrm>
        </p:grpSpPr>
        <p:sp>
          <p:nvSpPr>
            <p:cNvPr name="Freeform 54" id="54"/>
            <p:cNvSpPr/>
            <p:nvPr/>
          </p:nvSpPr>
          <p:spPr>
            <a:xfrm flipH="false" flipV="false" rot="0">
              <a:off x="0" y="0"/>
              <a:ext cx="137160" cy="1828800"/>
            </a:xfrm>
            <a:custGeom>
              <a:avLst/>
              <a:gdLst/>
              <a:ahLst/>
              <a:cxnLst/>
              <a:rect r="r" b="b" t="t" l="l"/>
              <a:pathLst>
                <a:path h="1828800" w="137160">
                  <a:moveTo>
                    <a:pt x="0" y="0"/>
                  </a:moveTo>
                  <a:lnTo>
                    <a:pt x="137160" y="0"/>
                  </a:lnTo>
                  <a:lnTo>
                    <a:pt x="137160" y="1828800"/>
                  </a:lnTo>
                  <a:lnTo>
                    <a:pt x="0" y="1828800"/>
                  </a:lnTo>
                  <a:close/>
                </a:path>
              </a:pathLst>
            </a:custGeom>
            <a:solidFill>
              <a:srgbClr val="387F7F"/>
            </a:solidFill>
          </p:spPr>
        </p:sp>
      </p:grpSp>
      <p:grpSp>
        <p:nvGrpSpPr>
          <p:cNvPr name="Group 55" id="55"/>
          <p:cNvGrpSpPr/>
          <p:nvPr/>
        </p:nvGrpSpPr>
        <p:grpSpPr>
          <a:xfrm rot="0">
            <a:off x="1434465" y="7847800"/>
            <a:ext cx="13853160" cy="1371600"/>
            <a:chOff x="0" y="0"/>
            <a:chExt cx="18470880" cy="1828800"/>
          </a:xfrm>
        </p:grpSpPr>
        <p:sp>
          <p:nvSpPr>
            <p:cNvPr name="Freeform 56" id="56"/>
            <p:cNvSpPr/>
            <p:nvPr/>
          </p:nvSpPr>
          <p:spPr>
            <a:xfrm flipH="false" flipV="false" rot="0">
              <a:off x="0" y="0"/>
              <a:ext cx="18470880" cy="1828800"/>
            </a:xfrm>
            <a:custGeom>
              <a:avLst/>
              <a:gdLst/>
              <a:ahLst/>
              <a:cxnLst/>
              <a:rect r="r" b="b" t="t" l="l"/>
              <a:pathLst>
                <a:path h="1828800" w="18470880">
                  <a:moveTo>
                    <a:pt x="0" y="0"/>
                  </a:moveTo>
                  <a:lnTo>
                    <a:pt x="18470880" y="0"/>
                  </a:lnTo>
                  <a:lnTo>
                    <a:pt x="18470880" y="1828800"/>
                  </a:lnTo>
                  <a:lnTo>
                    <a:pt x="0" y="1828800"/>
                  </a:lnTo>
                  <a:close/>
                </a:path>
              </a:pathLst>
            </a:custGeom>
            <a:blipFill>
              <a:blip r:embed="rId9">
                <a:alphaModFix amt="0"/>
              </a:blip>
              <a:stretch>
                <a:fillRect l="0" t="-146798" r="0" b="-146798"/>
              </a:stretch>
            </a:blipFill>
          </p:spPr>
        </p:sp>
        <p:sp>
          <p:nvSpPr>
            <p:cNvPr name="TextBox 57" id="57"/>
            <p:cNvSpPr txBox="true"/>
            <p:nvPr/>
          </p:nvSpPr>
          <p:spPr>
            <a:xfrm>
              <a:off x="0" y="-104775"/>
              <a:ext cx="18470880" cy="1933575"/>
            </a:xfrm>
            <a:prstGeom prst="rect">
              <a:avLst/>
            </a:prstGeom>
          </p:spPr>
          <p:txBody>
            <a:bodyPr anchor="ctr" rtlCol="false" tIns="0" lIns="0" bIns="0" rIns="0"/>
            <a:lstStyle/>
            <a:p>
              <a:pPr algn="ctr">
                <a:lnSpc>
                  <a:spcPts val="3766"/>
                </a:lnSpc>
              </a:pPr>
              <a:r>
                <a:rPr lang="en-US" sz="2325" b="true">
                  <a:solidFill>
                    <a:srgbClr val="387F7F"/>
                  </a:solidFill>
                  <a:latin typeface="Poppins Bold"/>
                  <a:ea typeface="Poppins Bold"/>
                  <a:cs typeface="Poppins Bold"/>
                  <a:sym typeface="Poppins Bold"/>
                </a:rPr>
                <a:t>You marked up an AI draft and found what was wrong in it. That is Level 3, evidenced.</a:t>
              </a:r>
            </a:p>
          </p:txBody>
        </p:sp>
      </p:grpSp>
      <p:grpSp>
        <p:nvGrpSpPr>
          <p:cNvPr name="Group 58" id="58"/>
          <p:cNvGrpSpPr/>
          <p:nvPr/>
        </p:nvGrpSpPr>
        <p:grpSpPr>
          <a:xfrm rot="0">
            <a:off x="16364236" y="4004843"/>
            <a:ext cx="457200" cy="457200"/>
            <a:chOff x="0" y="0"/>
            <a:chExt cx="609600" cy="609600"/>
          </a:xfrm>
        </p:grpSpPr>
        <p:sp>
          <p:nvSpPr>
            <p:cNvPr name="Freeform 59" id="59" descr="image.png"/>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10"/>
              <a:stretch>
                <a:fillRect l="0" t="-1562" r="0" b="-1562"/>
              </a:stretch>
            </a:blipFill>
          </p:spPr>
        </p:sp>
      </p:grpSp>
      <p:sp>
        <p:nvSpPr>
          <p:cNvPr name="TextBox 60" id="60"/>
          <p:cNvSpPr txBox="true"/>
          <p:nvPr/>
        </p:nvSpPr>
        <p:spPr>
          <a:xfrm rot="0">
            <a:off x="12080962" y="3838156"/>
            <a:ext cx="3949898" cy="1348740"/>
          </a:xfrm>
          <a:prstGeom prst="rect">
            <a:avLst/>
          </a:prstGeom>
        </p:spPr>
        <p:txBody>
          <a:bodyPr anchor="t" rtlCol="false" tIns="0" lIns="0" bIns="0" rIns="0">
            <a:spAutoFit/>
          </a:bodyPr>
          <a:lstStyle/>
          <a:p>
            <a:pPr algn="r">
              <a:lnSpc>
                <a:spcPts val="5400"/>
              </a:lnSpc>
            </a:pPr>
            <a:r>
              <a:rPr lang="en-US" sz="3600">
                <a:solidFill>
                  <a:srgbClr val="387F7F"/>
                </a:solidFill>
                <a:latin typeface="Inter"/>
                <a:ea typeface="Inter"/>
                <a:cs typeface="Inter"/>
                <a:sym typeface="Inter"/>
              </a:rPr>
              <a:t>Up Next:</a:t>
            </a:r>
          </a:p>
          <a:p>
            <a:pPr algn="r">
              <a:lnSpc>
                <a:spcPts val="5400"/>
              </a:lnSpc>
            </a:pPr>
            <a:r>
              <a:rPr lang="en-US" sz="3600">
                <a:solidFill>
                  <a:srgbClr val="387F7F"/>
                </a:solidFill>
                <a:latin typeface="Inter"/>
                <a:ea typeface="Inter"/>
                <a:cs typeface="Inter"/>
                <a:sym typeface="Inter"/>
              </a:rPr>
              <a:t>Capstone kick-off.</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3888879"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What is</a:t>
            </a:r>
            <a:r>
              <a:rPr lang="en-US" sz="5000">
                <a:solidFill>
                  <a:srgbClr val="388080"/>
                </a:solidFill>
                <a:latin typeface="Poppins"/>
                <a:ea typeface="Poppins"/>
                <a:cs typeface="Poppins"/>
                <a:sym typeface="Poppins"/>
              </a:rPr>
              <a:t> Next</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000125" y="2762250"/>
            <a:ext cx="4594860" cy="4800600"/>
            <a:chOff x="0" y="0"/>
            <a:chExt cx="6126480" cy="6400800"/>
          </a:xfrm>
        </p:grpSpPr>
        <p:sp>
          <p:nvSpPr>
            <p:cNvPr name="Freeform 12" id="12"/>
            <p:cNvSpPr/>
            <p:nvPr/>
          </p:nvSpPr>
          <p:spPr>
            <a:xfrm flipH="false" flipV="false" rot="0">
              <a:off x="0" y="0"/>
              <a:ext cx="6126480" cy="6400800"/>
            </a:xfrm>
            <a:custGeom>
              <a:avLst/>
              <a:gdLst/>
              <a:ahLst/>
              <a:cxnLst/>
              <a:rect r="r" b="b" t="t" l="l"/>
              <a:pathLst>
                <a:path h="6400800" w="6126480">
                  <a:moveTo>
                    <a:pt x="0" y="182880"/>
                  </a:moveTo>
                  <a:cubicBezTo>
                    <a:pt x="0" y="81915"/>
                    <a:pt x="81915" y="0"/>
                    <a:pt x="182880" y="0"/>
                  </a:cubicBezTo>
                  <a:lnTo>
                    <a:pt x="5943600" y="0"/>
                  </a:lnTo>
                  <a:cubicBezTo>
                    <a:pt x="6044565" y="0"/>
                    <a:pt x="6126480" y="81915"/>
                    <a:pt x="6126480" y="182880"/>
                  </a:cubicBezTo>
                  <a:lnTo>
                    <a:pt x="6126480" y="6217920"/>
                  </a:lnTo>
                  <a:cubicBezTo>
                    <a:pt x="6126480" y="6318885"/>
                    <a:pt x="6044565" y="6400800"/>
                    <a:pt x="5943600" y="6400800"/>
                  </a:cubicBezTo>
                  <a:lnTo>
                    <a:pt x="182880" y="6400800"/>
                  </a:lnTo>
                  <a:cubicBezTo>
                    <a:pt x="81915" y="6400800"/>
                    <a:pt x="0" y="6318885"/>
                    <a:pt x="0" y="6217920"/>
                  </a:cubicBezTo>
                  <a:close/>
                </a:path>
              </a:pathLst>
            </a:custGeom>
            <a:solidFill>
              <a:srgbClr val="FFFFFF"/>
            </a:solidFill>
          </p:spPr>
        </p:sp>
      </p:grpSp>
      <p:grpSp>
        <p:nvGrpSpPr>
          <p:cNvPr name="Group 13" id="13"/>
          <p:cNvGrpSpPr/>
          <p:nvPr/>
        </p:nvGrpSpPr>
        <p:grpSpPr>
          <a:xfrm rot="0">
            <a:off x="1000125" y="2762250"/>
            <a:ext cx="4594860" cy="713232"/>
            <a:chOff x="0" y="0"/>
            <a:chExt cx="6126480" cy="950976"/>
          </a:xfrm>
        </p:grpSpPr>
        <p:sp>
          <p:nvSpPr>
            <p:cNvPr name="Freeform 14" id="14"/>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solidFill>
              <a:srgbClr val="387F7F"/>
            </a:solidFill>
          </p:spPr>
        </p:sp>
      </p:grpSp>
      <p:grpSp>
        <p:nvGrpSpPr>
          <p:cNvPr name="Group 15" id="15"/>
          <p:cNvGrpSpPr/>
          <p:nvPr/>
        </p:nvGrpSpPr>
        <p:grpSpPr>
          <a:xfrm rot="0">
            <a:off x="1000125" y="2762250"/>
            <a:ext cx="4594860" cy="713232"/>
            <a:chOff x="0" y="0"/>
            <a:chExt cx="6126480" cy="950976"/>
          </a:xfrm>
        </p:grpSpPr>
        <p:sp>
          <p:nvSpPr>
            <p:cNvPr name="Freeform 16" id="16"/>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blipFill>
              <a:blip r:embed="rId9">
                <a:alphaModFix amt="0"/>
              </a:blip>
              <a:stretch>
                <a:fillRect l="0" t="-75528" r="0" b="-75528"/>
              </a:stretch>
            </a:blipFill>
          </p:spPr>
        </p:sp>
        <p:sp>
          <p:nvSpPr>
            <p:cNvPr name="TextBox 17" id="17"/>
            <p:cNvSpPr txBox="true"/>
            <p:nvPr/>
          </p:nvSpPr>
          <p:spPr>
            <a:xfrm>
              <a:off x="0" y="-9525"/>
              <a:ext cx="6126480" cy="960501"/>
            </a:xfrm>
            <a:prstGeom prst="rect">
              <a:avLst/>
            </a:prstGeom>
          </p:spPr>
          <p:txBody>
            <a:bodyPr anchor="ctr" rtlCol="false" tIns="0" lIns="0" bIns="0" rIns="0"/>
            <a:lstStyle/>
            <a:p>
              <a:pPr algn="ctr">
                <a:lnSpc>
                  <a:spcPts val="2070"/>
                </a:lnSpc>
              </a:pPr>
              <a:r>
                <a:rPr lang="en-US" b="true" sz="1725" spc="149">
                  <a:solidFill>
                    <a:srgbClr val="FFFFFF"/>
                  </a:solidFill>
                  <a:latin typeface="Poppins Bold"/>
                  <a:ea typeface="Poppins Bold"/>
                  <a:cs typeface="Poppins Bold"/>
                  <a:sym typeface="Poppins Bold"/>
                </a:rPr>
                <a:t>TOPIC 7.6</a:t>
              </a:r>
            </a:p>
          </p:txBody>
        </p:sp>
      </p:grpSp>
      <p:grpSp>
        <p:nvGrpSpPr>
          <p:cNvPr name="Group 18" id="18"/>
          <p:cNvGrpSpPr/>
          <p:nvPr/>
        </p:nvGrpSpPr>
        <p:grpSpPr>
          <a:xfrm rot="0">
            <a:off x="2787110" y="3911441"/>
            <a:ext cx="1020890" cy="1020890"/>
            <a:chOff x="0" y="0"/>
            <a:chExt cx="1361186" cy="1361186"/>
          </a:xfrm>
        </p:grpSpPr>
        <p:sp>
          <p:nvSpPr>
            <p:cNvPr name="Freeform 19" id="19"/>
            <p:cNvSpPr/>
            <p:nvPr/>
          </p:nvSpPr>
          <p:spPr>
            <a:xfrm flipH="false" flipV="false" rot="0">
              <a:off x="0" y="0"/>
              <a:ext cx="1361186" cy="1361186"/>
            </a:xfrm>
            <a:custGeom>
              <a:avLst/>
              <a:gdLst/>
              <a:ahLst/>
              <a:cxnLst/>
              <a:rect r="r" b="b" t="t" l="l"/>
              <a:pathLst>
                <a:path h="1361186" w="1361186">
                  <a:moveTo>
                    <a:pt x="0" y="680593"/>
                  </a:moveTo>
                  <a:cubicBezTo>
                    <a:pt x="0" y="304673"/>
                    <a:pt x="304673" y="0"/>
                    <a:pt x="680593" y="0"/>
                  </a:cubicBezTo>
                  <a:cubicBezTo>
                    <a:pt x="1056513" y="0"/>
                    <a:pt x="1361186" y="304673"/>
                    <a:pt x="1361186" y="680593"/>
                  </a:cubicBezTo>
                  <a:cubicBezTo>
                    <a:pt x="1361186" y="1056513"/>
                    <a:pt x="1056513" y="1361186"/>
                    <a:pt x="680593" y="1361186"/>
                  </a:cubicBezTo>
                  <a:cubicBezTo>
                    <a:pt x="304673" y="1361186"/>
                    <a:pt x="0" y="1056513"/>
                    <a:pt x="0" y="680593"/>
                  </a:cubicBezTo>
                  <a:close/>
                </a:path>
              </a:pathLst>
            </a:custGeom>
            <a:solidFill>
              <a:srgbClr val="FFFFFF"/>
            </a:solidFill>
            <a:ln w="33338" cap="sq">
              <a:solidFill>
                <a:srgbClr val="387F7F"/>
              </a:solidFill>
              <a:prstDash val="solid"/>
              <a:miter/>
            </a:ln>
          </p:spPr>
        </p:sp>
      </p:grpSp>
      <p:grpSp>
        <p:nvGrpSpPr>
          <p:cNvPr name="Group 20" id="20"/>
          <p:cNvGrpSpPr/>
          <p:nvPr/>
        </p:nvGrpSpPr>
        <p:grpSpPr>
          <a:xfrm rot="0">
            <a:off x="2803779" y="3928110"/>
            <a:ext cx="987552" cy="987552"/>
            <a:chOff x="0" y="0"/>
            <a:chExt cx="1316736" cy="1316736"/>
          </a:xfrm>
        </p:grpSpPr>
        <p:sp>
          <p:nvSpPr>
            <p:cNvPr name="Freeform 21" id="21"/>
            <p:cNvSpPr/>
            <p:nvPr/>
          </p:nvSpPr>
          <p:spPr>
            <a:xfrm flipH="false" flipV="false" rot="0">
              <a:off x="0" y="0"/>
              <a:ext cx="1316736" cy="1316736"/>
            </a:xfrm>
            <a:custGeom>
              <a:avLst/>
              <a:gdLst/>
              <a:ahLst/>
              <a:cxnLst/>
              <a:rect r="r" b="b" t="t" l="l"/>
              <a:pathLst>
                <a:path h="1316736" w="1316736">
                  <a:moveTo>
                    <a:pt x="0" y="0"/>
                  </a:moveTo>
                  <a:lnTo>
                    <a:pt x="1316736" y="0"/>
                  </a:lnTo>
                  <a:lnTo>
                    <a:pt x="1316736" y="1316736"/>
                  </a:lnTo>
                  <a:lnTo>
                    <a:pt x="0" y="1316736"/>
                  </a:lnTo>
                  <a:close/>
                </a:path>
              </a:pathLst>
            </a:custGeom>
            <a:blipFill>
              <a:blip r:embed="rId9">
                <a:alphaModFix amt="0"/>
              </a:blip>
              <a:stretch>
                <a:fillRect l="-78303" t="0" r="-78303" b="0"/>
              </a:stretch>
            </a:blipFill>
          </p:spPr>
        </p:sp>
        <p:sp>
          <p:nvSpPr>
            <p:cNvPr name="TextBox 22" id="22"/>
            <p:cNvSpPr txBox="true"/>
            <p:nvPr/>
          </p:nvSpPr>
          <p:spPr>
            <a:xfrm>
              <a:off x="0" y="-38100"/>
              <a:ext cx="1316736" cy="1354836"/>
            </a:xfrm>
            <a:prstGeom prst="rect">
              <a:avLst/>
            </a:prstGeom>
          </p:spPr>
          <p:txBody>
            <a:bodyPr anchor="ctr" rtlCol="false" tIns="0" lIns="0" bIns="0" rIns="0"/>
            <a:lstStyle/>
            <a:p>
              <a:pPr algn="ctr">
                <a:lnSpc>
                  <a:spcPts val="4320"/>
                </a:lnSpc>
              </a:pPr>
              <a:r>
                <a:rPr lang="en-US" sz="3600" b="true">
                  <a:solidFill>
                    <a:srgbClr val="387F7F"/>
                  </a:solidFill>
                  <a:latin typeface="Poppins Bold"/>
                  <a:ea typeface="Poppins Bold"/>
                  <a:cs typeface="Poppins Bold"/>
                  <a:sym typeface="Poppins Bold"/>
                </a:rPr>
                <a:t>→</a:t>
              </a:r>
            </a:p>
          </p:txBody>
        </p:sp>
      </p:grpSp>
      <p:sp>
        <p:nvSpPr>
          <p:cNvPr name="TextBox 23" id="23"/>
          <p:cNvSpPr txBox="true"/>
          <p:nvPr/>
        </p:nvSpPr>
        <p:spPr>
          <a:xfrm rot="0">
            <a:off x="1411605" y="5154930"/>
            <a:ext cx="3771900" cy="2133600"/>
          </a:xfrm>
          <a:prstGeom prst="rect">
            <a:avLst/>
          </a:prstGeom>
        </p:spPr>
        <p:txBody>
          <a:bodyPr anchor="t" rtlCol="false" tIns="0" lIns="0" bIns="0" rIns="0">
            <a:spAutoFit/>
          </a:bodyPr>
          <a:lstStyle/>
          <a:p>
            <a:pPr algn="ctr">
              <a:lnSpc>
                <a:spcPts val="2764"/>
              </a:lnSpc>
            </a:pPr>
            <a:r>
              <a:rPr lang="en-US" sz="1800">
                <a:solidFill>
                  <a:srgbClr val="475569"/>
                </a:solidFill>
                <a:latin typeface="Poppins"/>
                <a:ea typeface="Poppins"/>
                <a:cs typeface="Poppins"/>
                <a:sym typeface="Poppins"/>
              </a:rPr>
              <a:t>The capstone starts. This is the hour that decides how the next four weeks go.</a:t>
            </a:r>
          </a:p>
        </p:txBody>
      </p:sp>
      <p:grpSp>
        <p:nvGrpSpPr>
          <p:cNvPr name="Group 24" id="24"/>
          <p:cNvGrpSpPr/>
          <p:nvPr/>
        </p:nvGrpSpPr>
        <p:grpSpPr>
          <a:xfrm rot="0">
            <a:off x="5979033" y="2762250"/>
            <a:ext cx="4594860" cy="4800600"/>
            <a:chOff x="0" y="0"/>
            <a:chExt cx="6126480" cy="6400800"/>
          </a:xfrm>
        </p:grpSpPr>
        <p:sp>
          <p:nvSpPr>
            <p:cNvPr name="Freeform 25" id="25"/>
            <p:cNvSpPr/>
            <p:nvPr/>
          </p:nvSpPr>
          <p:spPr>
            <a:xfrm flipH="false" flipV="false" rot="0">
              <a:off x="0" y="0"/>
              <a:ext cx="6126480" cy="6400800"/>
            </a:xfrm>
            <a:custGeom>
              <a:avLst/>
              <a:gdLst/>
              <a:ahLst/>
              <a:cxnLst/>
              <a:rect r="r" b="b" t="t" l="l"/>
              <a:pathLst>
                <a:path h="6400800" w="6126480">
                  <a:moveTo>
                    <a:pt x="0" y="182880"/>
                  </a:moveTo>
                  <a:cubicBezTo>
                    <a:pt x="0" y="81915"/>
                    <a:pt x="81915" y="0"/>
                    <a:pt x="182880" y="0"/>
                  </a:cubicBezTo>
                  <a:lnTo>
                    <a:pt x="5943600" y="0"/>
                  </a:lnTo>
                  <a:cubicBezTo>
                    <a:pt x="6044565" y="0"/>
                    <a:pt x="6126480" y="81915"/>
                    <a:pt x="6126480" y="182880"/>
                  </a:cubicBezTo>
                  <a:lnTo>
                    <a:pt x="6126480" y="6217920"/>
                  </a:lnTo>
                  <a:cubicBezTo>
                    <a:pt x="6126480" y="6318885"/>
                    <a:pt x="6044565" y="6400800"/>
                    <a:pt x="5943600" y="6400800"/>
                  </a:cubicBezTo>
                  <a:lnTo>
                    <a:pt x="182880" y="6400800"/>
                  </a:lnTo>
                  <a:cubicBezTo>
                    <a:pt x="81915" y="6400800"/>
                    <a:pt x="0" y="6318885"/>
                    <a:pt x="0" y="6217920"/>
                  </a:cubicBezTo>
                  <a:close/>
                </a:path>
              </a:pathLst>
            </a:custGeom>
            <a:solidFill>
              <a:srgbClr val="FFFFFF"/>
            </a:solidFill>
          </p:spPr>
        </p:sp>
      </p:grpSp>
      <p:grpSp>
        <p:nvGrpSpPr>
          <p:cNvPr name="Group 26" id="26"/>
          <p:cNvGrpSpPr/>
          <p:nvPr/>
        </p:nvGrpSpPr>
        <p:grpSpPr>
          <a:xfrm rot="0">
            <a:off x="5979033" y="2762250"/>
            <a:ext cx="4594860" cy="713232"/>
            <a:chOff x="0" y="0"/>
            <a:chExt cx="6126480" cy="950976"/>
          </a:xfrm>
        </p:grpSpPr>
        <p:sp>
          <p:nvSpPr>
            <p:cNvPr name="Freeform 27" id="27"/>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solidFill>
              <a:srgbClr val="387F7F"/>
            </a:solidFill>
          </p:spPr>
        </p:sp>
      </p:grpSp>
      <p:grpSp>
        <p:nvGrpSpPr>
          <p:cNvPr name="Group 28" id="28"/>
          <p:cNvGrpSpPr/>
          <p:nvPr/>
        </p:nvGrpSpPr>
        <p:grpSpPr>
          <a:xfrm rot="0">
            <a:off x="5979033" y="2762250"/>
            <a:ext cx="4594860" cy="713232"/>
            <a:chOff x="0" y="0"/>
            <a:chExt cx="6126480" cy="950976"/>
          </a:xfrm>
        </p:grpSpPr>
        <p:sp>
          <p:nvSpPr>
            <p:cNvPr name="Freeform 29" id="29"/>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blipFill>
              <a:blip r:embed="rId9">
                <a:alphaModFix amt="0"/>
              </a:blip>
              <a:stretch>
                <a:fillRect l="0" t="-75528" r="0" b="-75528"/>
              </a:stretch>
            </a:blipFill>
          </p:spPr>
        </p:sp>
        <p:sp>
          <p:nvSpPr>
            <p:cNvPr name="TextBox 30" id="30"/>
            <p:cNvSpPr txBox="true"/>
            <p:nvPr/>
          </p:nvSpPr>
          <p:spPr>
            <a:xfrm>
              <a:off x="0" y="-9525"/>
              <a:ext cx="6126480" cy="960501"/>
            </a:xfrm>
            <a:prstGeom prst="rect">
              <a:avLst/>
            </a:prstGeom>
          </p:spPr>
          <p:txBody>
            <a:bodyPr anchor="ctr" rtlCol="false" tIns="0" lIns="0" bIns="0" rIns="0"/>
            <a:lstStyle/>
            <a:p>
              <a:pPr algn="ctr">
                <a:lnSpc>
                  <a:spcPts val="2070"/>
                </a:lnSpc>
              </a:pPr>
              <a:r>
                <a:rPr lang="en-US" b="true" sz="1725" spc="149">
                  <a:solidFill>
                    <a:srgbClr val="FFFFFF"/>
                  </a:solidFill>
                  <a:latin typeface="Poppins Bold"/>
                  <a:ea typeface="Poppins Bold"/>
                  <a:cs typeface="Poppins Bold"/>
                  <a:sym typeface="Poppins Bold"/>
                </a:rPr>
                <a:t>SUBMIT TODAY</a:t>
              </a:r>
            </a:p>
          </p:txBody>
        </p:sp>
      </p:grpSp>
      <p:grpSp>
        <p:nvGrpSpPr>
          <p:cNvPr name="Group 31" id="31"/>
          <p:cNvGrpSpPr/>
          <p:nvPr/>
        </p:nvGrpSpPr>
        <p:grpSpPr>
          <a:xfrm rot="0">
            <a:off x="7766018" y="3911441"/>
            <a:ext cx="1020890" cy="1020890"/>
            <a:chOff x="0" y="0"/>
            <a:chExt cx="1361186" cy="1361186"/>
          </a:xfrm>
        </p:grpSpPr>
        <p:sp>
          <p:nvSpPr>
            <p:cNvPr name="Freeform 32" id="32"/>
            <p:cNvSpPr/>
            <p:nvPr/>
          </p:nvSpPr>
          <p:spPr>
            <a:xfrm flipH="false" flipV="false" rot="0">
              <a:off x="0" y="0"/>
              <a:ext cx="1361186" cy="1361186"/>
            </a:xfrm>
            <a:custGeom>
              <a:avLst/>
              <a:gdLst/>
              <a:ahLst/>
              <a:cxnLst/>
              <a:rect r="r" b="b" t="t" l="l"/>
              <a:pathLst>
                <a:path h="1361186" w="1361186">
                  <a:moveTo>
                    <a:pt x="0" y="680593"/>
                  </a:moveTo>
                  <a:cubicBezTo>
                    <a:pt x="0" y="304673"/>
                    <a:pt x="304673" y="0"/>
                    <a:pt x="680593" y="0"/>
                  </a:cubicBezTo>
                  <a:cubicBezTo>
                    <a:pt x="1056513" y="0"/>
                    <a:pt x="1361186" y="304673"/>
                    <a:pt x="1361186" y="680593"/>
                  </a:cubicBezTo>
                  <a:cubicBezTo>
                    <a:pt x="1361186" y="1056513"/>
                    <a:pt x="1056513" y="1361186"/>
                    <a:pt x="680593" y="1361186"/>
                  </a:cubicBezTo>
                  <a:cubicBezTo>
                    <a:pt x="304673" y="1361186"/>
                    <a:pt x="0" y="1056513"/>
                    <a:pt x="0" y="680593"/>
                  </a:cubicBezTo>
                  <a:close/>
                </a:path>
              </a:pathLst>
            </a:custGeom>
            <a:solidFill>
              <a:srgbClr val="FFFFFF"/>
            </a:solidFill>
            <a:ln w="33338" cap="sq">
              <a:solidFill>
                <a:srgbClr val="387F7F"/>
              </a:solidFill>
              <a:prstDash val="solid"/>
              <a:miter/>
            </a:ln>
          </p:spPr>
        </p:sp>
      </p:grpSp>
      <p:grpSp>
        <p:nvGrpSpPr>
          <p:cNvPr name="Group 33" id="33"/>
          <p:cNvGrpSpPr/>
          <p:nvPr/>
        </p:nvGrpSpPr>
        <p:grpSpPr>
          <a:xfrm rot="0">
            <a:off x="7782687" y="3928110"/>
            <a:ext cx="987552" cy="987552"/>
            <a:chOff x="0" y="0"/>
            <a:chExt cx="1316736" cy="1316736"/>
          </a:xfrm>
        </p:grpSpPr>
        <p:sp>
          <p:nvSpPr>
            <p:cNvPr name="Freeform 34" id="34"/>
            <p:cNvSpPr/>
            <p:nvPr/>
          </p:nvSpPr>
          <p:spPr>
            <a:xfrm flipH="false" flipV="false" rot="0">
              <a:off x="0" y="0"/>
              <a:ext cx="1316736" cy="1316736"/>
            </a:xfrm>
            <a:custGeom>
              <a:avLst/>
              <a:gdLst/>
              <a:ahLst/>
              <a:cxnLst/>
              <a:rect r="r" b="b" t="t" l="l"/>
              <a:pathLst>
                <a:path h="1316736" w="1316736">
                  <a:moveTo>
                    <a:pt x="0" y="0"/>
                  </a:moveTo>
                  <a:lnTo>
                    <a:pt x="1316736" y="0"/>
                  </a:lnTo>
                  <a:lnTo>
                    <a:pt x="1316736" y="1316736"/>
                  </a:lnTo>
                  <a:lnTo>
                    <a:pt x="0" y="1316736"/>
                  </a:lnTo>
                  <a:close/>
                </a:path>
              </a:pathLst>
            </a:custGeom>
            <a:blipFill>
              <a:blip r:embed="rId9">
                <a:alphaModFix amt="0"/>
              </a:blip>
              <a:stretch>
                <a:fillRect l="-78303" t="0" r="-78303" b="0"/>
              </a:stretch>
            </a:blipFill>
          </p:spPr>
        </p:sp>
        <p:sp>
          <p:nvSpPr>
            <p:cNvPr name="TextBox 35" id="35"/>
            <p:cNvSpPr txBox="true"/>
            <p:nvPr/>
          </p:nvSpPr>
          <p:spPr>
            <a:xfrm>
              <a:off x="0" y="-38100"/>
              <a:ext cx="1316736" cy="1354836"/>
            </a:xfrm>
            <a:prstGeom prst="rect">
              <a:avLst/>
            </a:prstGeom>
          </p:spPr>
          <p:txBody>
            <a:bodyPr anchor="ctr" rtlCol="false" tIns="0" lIns="0" bIns="0" rIns="0"/>
            <a:lstStyle/>
            <a:p>
              <a:pPr algn="ctr">
                <a:lnSpc>
                  <a:spcPts val="4320"/>
                </a:lnSpc>
              </a:pPr>
              <a:r>
                <a:rPr lang="en-US" sz="3600" b="true">
                  <a:solidFill>
                    <a:srgbClr val="387F7F"/>
                  </a:solidFill>
                  <a:latin typeface="Poppins Bold"/>
                  <a:ea typeface="Poppins Bold"/>
                  <a:cs typeface="Poppins Bold"/>
                  <a:sym typeface="Poppins Bold"/>
                </a:rPr>
                <a:t>✓</a:t>
              </a:r>
            </a:p>
          </p:txBody>
        </p:sp>
      </p:grpSp>
      <p:sp>
        <p:nvSpPr>
          <p:cNvPr name="TextBox 36" id="36"/>
          <p:cNvSpPr txBox="true"/>
          <p:nvPr/>
        </p:nvSpPr>
        <p:spPr>
          <a:xfrm rot="0">
            <a:off x="6390513" y="5154930"/>
            <a:ext cx="3771900" cy="2133600"/>
          </a:xfrm>
          <a:prstGeom prst="rect">
            <a:avLst/>
          </a:prstGeom>
        </p:spPr>
        <p:txBody>
          <a:bodyPr anchor="t" rtlCol="false" tIns="0" lIns="0" bIns="0" rIns="0">
            <a:spAutoFit/>
          </a:bodyPr>
          <a:lstStyle/>
          <a:p>
            <a:pPr algn="ctr">
              <a:lnSpc>
                <a:spcPts val="2764"/>
              </a:lnSpc>
            </a:pPr>
            <a:r>
              <a:rPr lang="en-US" sz="1800">
                <a:solidFill>
                  <a:srgbClr val="475569"/>
                </a:solidFill>
                <a:latin typeface="Poppins"/>
                <a:ea typeface="Poppins"/>
                <a:cs typeface="Poppins"/>
                <a:sym typeface="Poppins"/>
              </a:rPr>
              <a:t>Your marked-up DAX audit sheet. It is your Level 3 evidence artefact.</a:t>
            </a:r>
          </a:p>
        </p:txBody>
      </p:sp>
      <p:grpSp>
        <p:nvGrpSpPr>
          <p:cNvPr name="Group 37" id="37"/>
          <p:cNvGrpSpPr/>
          <p:nvPr/>
        </p:nvGrpSpPr>
        <p:grpSpPr>
          <a:xfrm rot="0">
            <a:off x="10957941" y="2762250"/>
            <a:ext cx="4594860" cy="4800600"/>
            <a:chOff x="0" y="0"/>
            <a:chExt cx="6126480" cy="6400800"/>
          </a:xfrm>
        </p:grpSpPr>
        <p:sp>
          <p:nvSpPr>
            <p:cNvPr name="Freeform 38" id="38"/>
            <p:cNvSpPr/>
            <p:nvPr/>
          </p:nvSpPr>
          <p:spPr>
            <a:xfrm flipH="false" flipV="false" rot="0">
              <a:off x="0" y="0"/>
              <a:ext cx="6126480" cy="6400800"/>
            </a:xfrm>
            <a:custGeom>
              <a:avLst/>
              <a:gdLst/>
              <a:ahLst/>
              <a:cxnLst/>
              <a:rect r="r" b="b" t="t" l="l"/>
              <a:pathLst>
                <a:path h="6400800" w="6126480">
                  <a:moveTo>
                    <a:pt x="0" y="182880"/>
                  </a:moveTo>
                  <a:cubicBezTo>
                    <a:pt x="0" y="81915"/>
                    <a:pt x="81915" y="0"/>
                    <a:pt x="182880" y="0"/>
                  </a:cubicBezTo>
                  <a:lnTo>
                    <a:pt x="5943600" y="0"/>
                  </a:lnTo>
                  <a:cubicBezTo>
                    <a:pt x="6044565" y="0"/>
                    <a:pt x="6126480" y="81915"/>
                    <a:pt x="6126480" y="182880"/>
                  </a:cubicBezTo>
                  <a:lnTo>
                    <a:pt x="6126480" y="6217920"/>
                  </a:lnTo>
                  <a:cubicBezTo>
                    <a:pt x="6126480" y="6318885"/>
                    <a:pt x="6044565" y="6400800"/>
                    <a:pt x="5943600" y="6400800"/>
                  </a:cubicBezTo>
                  <a:lnTo>
                    <a:pt x="182880" y="6400800"/>
                  </a:lnTo>
                  <a:cubicBezTo>
                    <a:pt x="81915" y="6400800"/>
                    <a:pt x="0" y="6318885"/>
                    <a:pt x="0" y="6217920"/>
                  </a:cubicBezTo>
                  <a:close/>
                </a:path>
              </a:pathLst>
            </a:custGeom>
            <a:solidFill>
              <a:srgbClr val="387F7F"/>
            </a:solidFill>
          </p:spPr>
        </p:sp>
      </p:grpSp>
      <p:grpSp>
        <p:nvGrpSpPr>
          <p:cNvPr name="Group 39" id="39"/>
          <p:cNvGrpSpPr/>
          <p:nvPr/>
        </p:nvGrpSpPr>
        <p:grpSpPr>
          <a:xfrm rot="0">
            <a:off x="10957941" y="2762250"/>
            <a:ext cx="4594860" cy="713232"/>
            <a:chOff x="0" y="0"/>
            <a:chExt cx="6126480" cy="950976"/>
          </a:xfrm>
        </p:grpSpPr>
        <p:sp>
          <p:nvSpPr>
            <p:cNvPr name="Freeform 40" id="40"/>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solidFill>
              <a:srgbClr val="20494A"/>
            </a:solidFill>
          </p:spPr>
        </p:sp>
      </p:grpSp>
      <p:grpSp>
        <p:nvGrpSpPr>
          <p:cNvPr name="Group 41" id="41"/>
          <p:cNvGrpSpPr/>
          <p:nvPr/>
        </p:nvGrpSpPr>
        <p:grpSpPr>
          <a:xfrm rot="0">
            <a:off x="10957941" y="2762250"/>
            <a:ext cx="4594860" cy="713232"/>
            <a:chOff x="0" y="0"/>
            <a:chExt cx="6126480" cy="950976"/>
          </a:xfrm>
        </p:grpSpPr>
        <p:sp>
          <p:nvSpPr>
            <p:cNvPr name="Freeform 42" id="42"/>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blipFill>
              <a:blip r:embed="rId9">
                <a:alphaModFix amt="0"/>
              </a:blip>
              <a:stretch>
                <a:fillRect l="0" t="-75528" r="0" b="-75528"/>
              </a:stretch>
            </a:blipFill>
          </p:spPr>
        </p:sp>
        <p:sp>
          <p:nvSpPr>
            <p:cNvPr name="TextBox 43" id="43"/>
            <p:cNvSpPr txBox="true"/>
            <p:nvPr/>
          </p:nvSpPr>
          <p:spPr>
            <a:xfrm>
              <a:off x="0" y="-9525"/>
              <a:ext cx="6126480" cy="960501"/>
            </a:xfrm>
            <a:prstGeom prst="rect">
              <a:avLst/>
            </a:prstGeom>
          </p:spPr>
          <p:txBody>
            <a:bodyPr anchor="ctr" rtlCol="false" tIns="0" lIns="0" bIns="0" rIns="0"/>
            <a:lstStyle/>
            <a:p>
              <a:pPr algn="ctr">
                <a:lnSpc>
                  <a:spcPts val="2070"/>
                </a:lnSpc>
              </a:pPr>
              <a:r>
                <a:rPr lang="en-US" b="true" sz="1725" spc="149">
                  <a:solidFill>
                    <a:srgbClr val="FFFFFF"/>
                  </a:solidFill>
                  <a:latin typeface="Poppins Bold"/>
                  <a:ea typeface="Poppins Bold"/>
                  <a:cs typeface="Poppins Bold"/>
                  <a:sym typeface="Poppins Bold"/>
                </a:rPr>
                <a:t>MODULE 8</a:t>
              </a:r>
            </a:p>
          </p:txBody>
        </p:sp>
      </p:grpSp>
      <p:grpSp>
        <p:nvGrpSpPr>
          <p:cNvPr name="Group 44" id="44"/>
          <p:cNvGrpSpPr/>
          <p:nvPr/>
        </p:nvGrpSpPr>
        <p:grpSpPr>
          <a:xfrm rot="0">
            <a:off x="12744926" y="3911441"/>
            <a:ext cx="1020890" cy="1020890"/>
            <a:chOff x="0" y="0"/>
            <a:chExt cx="1361186" cy="1361186"/>
          </a:xfrm>
        </p:grpSpPr>
        <p:sp>
          <p:nvSpPr>
            <p:cNvPr name="Freeform 45" id="45"/>
            <p:cNvSpPr/>
            <p:nvPr/>
          </p:nvSpPr>
          <p:spPr>
            <a:xfrm flipH="false" flipV="false" rot="0">
              <a:off x="0" y="0"/>
              <a:ext cx="1361186" cy="1361186"/>
            </a:xfrm>
            <a:custGeom>
              <a:avLst/>
              <a:gdLst/>
              <a:ahLst/>
              <a:cxnLst/>
              <a:rect r="r" b="b" t="t" l="l"/>
              <a:pathLst>
                <a:path h="1361186" w="1361186">
                  <a:moveTo>
                    <a:pt x="0" y="680593"/>
                  </a:moveTo>
                  <a:cubicBezTo>
                    <a:pt x="0" y="304673"/>
                    <a:pt x="304673" y="0"/>
                    <a:pt x="680593" y="0"/>
                  </a:cubicBezTo>
                  <a:cubicBezTo>
                    <a:pt x="1056513" y="0"/>
                    <a:pt x="1361186" y="304673"/>
                    <a:pt x="1361186" y="680593"/>
                  </a:cubicBezTo>
                  <a:cubicBezTo>
                    <a:pt x="1361186" y="1056513"/>
                    <a:pt x="1056513" y="1361186"/>
                    <a:pt x="680593" y="1361186"/>
                  </a:cubicBezTo>
                  <a:cubicBezTo>
                    <a:pt x="304673" y="1361186"/>
                    <a:pt x="0" y="1056513"/>
                    <a:pt x="0" y="680593"/>
                  </a:cubicBezTo>
                  <a:close/>
                </a:path>
              </a:pathLst>
            </a:custGeom>
            <a:solidFill>
              <a:srgbClr val="1B4041"/>
            </a:solidFill>
            <a:ln w="33338" cap="sq">
              <a:solidFill>
                <a:srgbClr val="FFFFFF"/>
              </a:solidFill>
              <a:prstDash val="solid"/>
              <a:miter/>
            </a:ln>
          </p:spPr>
        </p:sp>
      </p:grpSp>
      <p:grpSp>
        <p:nvGrpSpPr>
          <p:cNvPr name="Group 46" id="46"/>
          <p:cNvGrpSpPr/>
          <p:nvPr/>
        </p:nvGrpSpPr>
        <p:grpSpPr>
          <a:xfrm rot="0">
            <a:off x="12761595" y="3928110"/>
            <a:ext cx="987552" cy="987552"/>
            <a:chOff x="0" y="0"/>
            <a:chExt cx="1316736" cy="1316736"/>
          </a:xfrm>
        </p:grpSpPr>
        <p:sp>
          <p:nvSpPr>
            <p:cNvPr name="Freeform 47" id="47"/>
            <p:cNvSpPr/>
            <p:nvPr/>
          </p:nvSpPr>
          <p:spPr>
            <a:xfrm flipH="false" flipV="false" rot="0">
              <a:off x="0" y="0"/>
              <a:ext cx="1316736" cy="1316736"/>
            </a:xfrm>
            <a:custGeom>
              <a:avLst/>
              <a:gdLst/>
              <a:ahLst/>
              <a:cxnLst/>
              <a:rect r="r" b="b" t="t" l="l"/>
              <a:pathLst>
                <a:path h="1316736" w="1316736">
                  <a:moveTo>
                    <a:pt x="0" y="0"/>
                  </a:moveTo>
                  <a:lnTo>
                    <a:pt x="1316736" y="0"/>
                  </a:lnTo>
                  <a:lnTo>
                    <a:pt x="1316736" y="1316736"/>
                  </a:lnTo>
                  <a:lnTo>
                    <a:pt x="0" y="1316736"/>
                  </a:lnTo>
                  <a:close/>
                </a:path>
              </a:pathLst>
            </a:custGeom>
            <a:blipFill>
              <a:blip r:embed="rId9">
                <a:alphaModFix amt="0"/>
              </a:blip>
              <a:stretch>
                <a:fillRect l="-78303" t="0" r="-78303" b="0"/>
              </a:stretch>
            </a:blipFill>
          </p:spPr>
        </p:sp>
        <p:sp>
          <p:nvSpPr>
            <p:cNvPr name="TextBox 48" id="48"/>
            <p:cNvSpPr txBox="true"/>
            <p:nvPr/>
          </p:nvSpPr>
          <p:spPr>
            <a:xfrm>
              <a:off x="0" y="-38100"/>
              <a:ext cx="1316736" cy="1354836"/>
            </a:xfrm>
            <a:prstGeom prst="rect">
              <a:avLst/>
            </a:prstGeom>
          </p:spPr>
          <p:txBody>
            <a:bodyPr anchor="ctr" rtlCol="false" tIns="0" lIns="0" bIns="0" rIns="0"/>
            <a:lstStyle/>
            <a:p>
              <a:pPr algn="ctr">
                <a:lnSpc>
                  <a:spcPts val="4320"/>
                </a:lnSpc>
              </a:pPr>
              <a:r>
                <a:rPr lang="en-US" sz="3600" b="true">
                  <a:solidFill>
                    <a:srgbClr val="FFFFFF"/>
                  </a:solidFill>
                  <a:latin typeface="Poppins Bold"/>
                  <a:ea typeface="Poppins Bold"/>
                  <a:cs typeface="Poppins Bold"/>
                  <a:sym typeface="Poppins Bold"/>
                </a:rPr>
                <a:t>ƒ</a:t>
              </a:r>
            </a:p>
          </p:txBody>
        </p:sp>
      </p:grpSp>
      <p:sp>
        <p:nvSpPr>
          <p:cNvPr name="TextBox 49" id="49"/>
          <p:cNvSpPr txBox="true"/>
          <p:nvPr/>
        </p:nvSpPr>
        <p:spPr>
          <a:xfrm rot="0">
            <a:off x="11369421" y="5154930"/>
            <a:ext cx="3771900" cy="2133600"/>
          </a:xfrm>
          <a:prstGeom prst="rect">
            <a:avLst/>
          </a:prstGeom>
        </p:spPr>
        <p:txBody>
          <a:bodyPr anchor="t" rtlCol="false" tIns="0" lIns="0" bIns="0" rIns="0">
            <a:spAutoFit/>
          </a:bodyPr>
          <a:lstStyle/>
          <a:p>
            <a:pPr algn="ctr">
              <a:lnSpc>
                <a:spcPts val="2764"/>
              </a:lnSpc>
            </a:pPr>
            <a:r>
              <a:rPr lang="en-US" sz="1800">
                <a:solidFill>
                  <a:srgbClr val="FFFFFF"/>
                </a:solidFill>
                <a:latin typeface="Poppins"/>
                <a:ea typeface="Poppins"/>
                <a:cs typeface="Poppins"/>
                <a:sym typeface="Poppins"/>
              </a:rPr>
              <a:t>Level 4. A full pipeline, AI-assisted at every stage, run as a race with a quality gate. Any unverified claim fails the exercise.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DAHTwNikzTM</dc:identifier>
  <dcterms:modified xsi:type="dcterms:W3CDTF">2011-08-01T06:04:30Z</dcterms:modified>
  <cp:revision>1</cp:revision>
  <dc:title>7.5_AI-Augmented BI</dc:title>
</cp:coreProperties>
</file>